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81b500beb6e4a23" /><Relationship Type="http://schemas.openxmlformats.org/officeDocument/2006/relationships/extended-properties" Target="/docProps/app.xml" Id="R49151c45fac44f6d" /><Relationship Type="http://schemas.openxmlformats.org/officeDocument/2006/relationships/officeDocument" Target="/ppt/presentation.xml" Id="R7a27105c4d064f0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0671b25bb2a4eb3"/>
  </p:sldMasterIdLst>
  <p:notesMasterIdLst>
    <p:notesMasterId xmlns:r="http://schemas.openxmlformats.org/officeDocument/2006/relationships" r:id="R01dd7e89025b4cc4"/>
  </p:notesMasterIdLst>
  <p:sldIdLst>
    <p:sldId xmlns:r="http://schemas.openxmlformats.org/officeDocument/2006/relationships" id="256" r:id="R76f740ebef084d46"/>
    <p:sldId xmlns:r="http://schemas.openxmlformats.org/officeDocument/2006/relationships" id="257" r:id="Rac8d30f164f44295"/>
    <p:sldId xmlns:r="http://schemas.openxmlformats.org/officeDocument/2006/relationships" id="258" r:id="R138ebeb4cb5d4de0"/>
    <p:sldId xmlns:r="http://schemas.openxmlformats.org/officeDocument/2006/relationships" id="259" r:id="Re1bc66978d9e4edb"/>
    <p:sldId xmlns:r="http://schemas.openxmlformats.org/officeDocument/2006/relationships" id="260" r:id="R5c6d113fc561427d"/>
    <p:sldId xmlns:r="http://schemas.openxmlformats.org/officeDocument/2006/relationships" id="261" r:id="Rda98c9c3e3804185"/>
    <p:sldId xmlns:r="http://schemas.openxmlformats.org/officeDocument/2006/relationships" id="262" r:id="Rc881e134215a401d"/>
    <p:sldId xmlns:r="http://schemas.openxmlformats.org/officeDocument/2006/relationships" id="263" r:id="R8a04a86587464d5f"/>
    <p:sldId xmlns:r="http://schemas.openxmlformats.org/officeDocument/2006/relationships" id="264" r:id="R091f03ee530541b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488fbf61bb4489c" /><Relationship Type="http://schemas.openxmlformats.org/officeDocument/2006/relationships/slideMaster" Target="/ppt/slideMasters/slideMaster1.xml" Id="R00671b25bb2a4eb3" /><Relationship Type="http://schemas.openxmlformats.org/officeDocument/2006/relationships/notesMaster" Target="/ppt/notesMasters/notesMaster1.xml" Id="R01dd7e89025b4cc4" /><Relationship Type="http://schemas.openxmlformats.org/officeDocument/2006/relationships/presProps" Target="/ppt/presProps.xml" Id="Re78dfa84c75645da" /><Relationship Type="http://schemas.openxmlformats.org/officeDocument/2006/relationships/tableStyles" Target="/ppt/tableStyles.xml" Id="Rce6de9c17ba84ca7" /><Relationship Type="http://schemas.openxmlformats.org/officeDocument/2006/relationships/slide" Target="/ppt/slides/slide1.xml" Id="R76f740ebef084d46" /><Relationship Type="http://schemas.openxmlformats.org/officeDocument/2006/relationships/slide" Target="/ppt/slides/slide2.xml" Id="Rac8d30f164f44295" /><Relationship Type="http://schemas.openxmlformats.org/officeDocument/2006/relationships/slide" Target="/ppt/slides/slide3.xml" Id="R138ebeb4cb5d4de0" /><Relationship Type="http://schemas.openxmlformats.org/officeDocument/2006/relationships/slide" Target="/ppt/slides/slide4.xml" Id="Re1bc66978d9e4edb" /><Relationship Type="http://schemas.openxmlformats.org/officeDocument/2006/relationships/slide" Target="/ppt/slides/slide5.xml" Id="R5c6d113fc561427d" /><Relationship Type="http://schemas.openxmlformats.org/officeDocument/2006/relationships/slide" Target="/ppt/slides/slide6.xml" Id="Rda98c9c3e3804185" /><Relationship Type="http://schemas.openxmlformats.org/officeDocument/2006/relationships/slide" Target="/ppt/slides/slide7.xml" Id="Rc881e134215a401d" /><Relationship Type="http://schemas.openxmlformats.org/officeDocument/2006/relationships/slide" Target="/ppt/slides/slide8.xml" Id="R8a04a86587464d5f" /><Relationship Type="http://schemas.openxmlformats.org/officeDocument/2006/relationships/slide" Target="/ppt/slides/slide9.xml" Id="R091f03ee530541b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d999934803c493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f15820f5e9e4e66" /><Relationship Type="http://schemas.openxmlformats.org/officeDocument/2006/relationships/notesMaster" Target="/ppt/notesMasters/notesMaster1.xml" Id="R82dff5ba160648e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6548fc3e1de4eab" /><Relationship Type="http://schemas.openxmlformats.org/officeDocument/2006/relationships/notesMaster" Target="/ppt/notesMasters/notesMaster1.xml" Id="R264a23fee0474f9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0998bfe050845e4" /><Relationship Type="http://schemas.openxmlformats.org/officeDocument/2006/relationships/notesMaster" Target="/ppt/notesMasters/notesMaster1.xml" Id="R5715b74698bd4f6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a4c7286bcab4c69" /><Relationship Type="http://schemas.openxmlformats.org/officeDocument/2006/relationships/notesMaster" Target="/ppt/notesMasters/notesMaster1.xml" Id="R697291205ec84af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887cb65dcf44fb7" /><Relationship Type="http://schemas.openxmlformats.org/officeDocument/2006/relationships/notesMaster" Target="/ppt/notesMasters/notesMaster1.xml" Id="Ra3436d2ad61548f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4534251ef894e5b" /><Relationship Type="http://schemas.openxmlformats.org/officeDocument/2006/relationships/notesMaster" Target="/ppt/notesMasters/notesMaster1.xml" Id="R7767fa796dcb4c1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85b0008d10c44aa" /><Relationship Type="http://schemas.openxmlformats.org/officeDocument/2006/relationships/notesMaster" Target="/ppt/notesMasters/notesMaster1.xml" Id="Rcc150ef4cd7249e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c25e763bcfd4a04" /><Relationship Type="http://schemas.openxmlformats.org/officeDocument/2006/relationships/notesMaster" Target="/ppt/notesMasters/notesMaster1.xml" Id="R2650913bf91d446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3808368f9894992" /><Relationship Type="http://schemas.openxmlformats.org/officeDocument/2006/relationships/notesMaster" Target="/ppt/notesMasters/notesMaster1.xml" Id="Rd5aee134250444e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Portada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Presentar al equipo y anunciar que la exposición seguirá los siete apartados de la estructura entregada. El criterio IV de la rúbrica evalúa la claridad y el dominio durante toda la exposición.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Fuentes: Informe parcial, portada; rúbrica, criterio IV.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I. Resumen ejecutivo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Resumir el objetivo y la organización del proyecto sin explicar aún cada clase. State organiza los estados de la partida y Observer comunica los cambios del puntaje.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Fuentes: README.md; src/estados.py; src/puntuacion.py; estructura del informe, apartado 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II. Introducción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Explicar el contexto del curso y el objetivo académico. Señalar brevemente al jugador, la llave y la salida en la captura. Las tecnologías se presentan por su función, sin entrar en detalles de instalación.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Fuentes: README.md; requirements.txt; captura 01_inicio.png; estructura del informe, apartado II.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III. Diseño de arquitectura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El diagrama resume ocho de las 25 clases del juego. Juego coordina la campaña. Nivel reúne las reglas de una etapa. Vista dibuja. Mapa resuelve paredes y recorridos. Puntaje conserva los puntos. Personaje es la base abstracta de Prisionero y Guardia. El rombo negro indica composición, el blanco agregación, el triángulo herencia y la flecha discontinua dependencia. El UML completo con atributos está en el punto 7.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Fuentes: src/; docs/diagramas/modelo_parcial.mmd; estructura III y criterio I de la rúbrica.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IV. Asociación, agregación y composición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Asociación: Personaje conserva una referencia a Nivel para consultar el mapa. Agregación: Juego crea Puntaje y se lo entrega a cada Nivel, conservando el mismo objeto durante la campaña. Composición: Nivel construye su Mapa al cargar la etapa. La diferencia se explica por cómo se obtiene el objeto y la responsabilidad de crearlo.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Fuentes: src/personajes.py: Personaje.__init__; src/nivel.py: Nivel.__init__; src/juego.py; estructura IV.a.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IV. Herencia, polimorfismo y encapsulamiento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Personaje define una base abstracta. Prisionero responde al teclado y Guardia decide su movimiento. Nivel.actualizar llama a update sin distinguir su tipo. Puntaje protege la regla de los enteros no negativos mediante sus métodos. El guion bajo de _valor señala uso interno por convención de Python, no una barrera de acceso. El fragmento completo del setter está en anexos.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Fuentes: src/personajes.py; src/nivel.py: Nivel.actualizar; src/puntuacion.py; estructura IV.b y IV.c.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VI. Resultados parciales y Git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Demostrar en el juego una función breve, por ejemplo abrir la celda y pausar. La verificación automática completó los cuatro niveles y pasó 54 pruebas. La rúbrica pide evidenciar al menos el avance señalado, pero no define una fórmula: mostrar funciones ejecutables sin inventar un porcentaje. Abrir el historial de Git: cfaba6e registra el plan, 8917f20 el prototipo y f3cd9fe la documentación. Cada integrante debe explicar un aporte real, sin deducirlo de los nombres configurados de los autores.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Fuentes: docs/evidencias/13_celda_abierta.png; tools/verificar.py; git log; estructura VI y criterio III.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VII. Conclusiones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Relacionar cada conclusión con un ejemplo presentado. Los fundamentos se observan en objetos reales del juego. La separación de Mapa, SistemaRuido y Nivel permitió comprobar reglas de movimiento y vigilancia. Cerrar destacando lo aprendido, sin afirmar una calificación o un porcentaje de avance no medido.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Fuentes: Informe parcial, conclusiones; código y pruebas; estructura VII.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VIII. Anexos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 de apoyo para las preguntas. El UML íntegro reúne las 25 clases del juego y puede ampliarse desde el enlace. El setter rechaza valores inválidos, cambia _valor y notifica a los observadores. La estructura entregada omite el apartado V, por eso los siete puntos son I, II, III, IV, VI, VII y VIII.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Fuentes: docs/diagramas/modelo_parcial.png; src/puntuacion.py: Puntaje.set_valor; estructura VIII.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4ce183e3484ec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c05f252e9c4fb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cb4e88e9d24bf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5eeb9f86f04e8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4a0c634b384e8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aec1cccb5f41d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7535EDB-96CB-4BC0-BEBA-A6DC34828D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6CFF035-5229-4A92-A470-C63E2DBB4BD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1D27778B-9F60-4339-84C5-369B2D57DE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4DFEF29-0C90-44CE-8A61-6571645B332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B9CBBC1-EA0E-4960-9FFB-FFDB4B0D0E5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766DDA3-C571-423A-8FCD-5302DD44FE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B6C979D-C28F-4063-BC18-865CCF48112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D103F0F-C6AA-43E8-BB6C-202CE9055E2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97525D0-6932-422F-A312-1D85C48E14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D18E496-D079-4288-B322-E8031D00D45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efb64edca5346fc" /><Relationship Type="http://schemas.openxmlformats.org/officeDocument/2006/relationships/slideLayout" Target="/ppt/slideLayouts/slideLayout1.xml" Id="Ree6a5ad5291845c8" /><Relationship Type="http://schemas.openxmlformats.org/officeDocument/2006/relationships/slideLayout" Target="/ppt/slideLayouts/slideLayout2.xml" Id="R8baff2a9bee545c7" /><Relationship Type="http://schemas.openxmlformats.org/officeDocument/2006/relationships/slideLayout" Target="/ppt/slideLayouts/slideLayout3.xml" Id="R061f6c8e309645ee" /><Relationship Type="http://schemas.openxmlformats.org/officeDocument/2006/relationships/slideLayout" Target="/ppt/slideLayouts/slideLayout4.xml" Id="R672a11230818419d" /><Relationship Type="http://schemas.openxmlformats.org/officeDocument/2006/relationships/slideLayout" Target="/ppt/slideLayouts/slideLayout5.xml" Id="R595d9c0b335746b5" /><Relationship Type="http://schemas.openxmlformats.org/officeDocument/2006/relationships/slideLayout" Target="/ppt/slideLayouts/slideLayout6.xml" Id="R4bdf6239935347a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e6a5ad5291845c8"/>
    <p:sldLayoutId xmlns:r="http://schemas.openxmlformats.org/officeDocument/2006/relationships" id="2147483650" r:id="R8baff2a9bee545c7"/>
    <p:sldLayoutId xmlns:r="http://schemas.openxmlformats.org/officeDocument/2006/relationships" id="2147483651" r:id="R061f6c8e309645ee"/>
    <p:sldLayoutId xmlns:r="http://schemas.openxmlformats.org/officeDocument/2006/relationships" id="2147483652" r:id="R672a11230818419d"/>
    <p:sldLayoutId xmlns:r="http://schemas.openxmlformats.org/officeDocument/2006/relationships" id="2147483653" r:id="R595d9c0b335746b5"/>
    <p:sldLayoutId xmlns:r="http://schemas.openxmlformats.org/officeDocument/2006/relationships" id="2147483654" r:id="R4bdf6239935347a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dcd768230254bb9" /><Relationship Type="http://schemas.openxmlformats.org/officeDocument/2006/relationships/notesSlide" Target="/ppt/notesSlides/notesSlide1.xml" Id="Rcd5f5038421e4e2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85c49bca0840dc" /><Relationship Type="http://schemas.openxmlformats.org/officeDocument/2006/relationships/notesSlide" Target="/ppt/notesSlides/notesSlide2.xml" Id="Ra8f33029ffcb4ee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e95cc481146442e" /><Relationship Type="http://schemas.openxmlformats.org/officeDocument/2006/relationships/image" Target="/ppt/media/image.png" Id="Rda94c51d6b9b4611" /><Relationship Type="http://schemas.openxmlformats.org/officeDocument/2006/relationships/notesSlide" Target="/ppt/notesSlides/notesSlide3.xml" Id="Rc4d59c1eee434c0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52c811275b4503" /><Relationship Type="http://schemas.openxmlformats.org/officeDocument/2006/relationships/notesSlide" Target="/ppt/notesSlides/notesSlide4.xml" Id="Ree16c3bc4acc4ab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2fe60c516a64060" /><Relationship Type="http://schemas.openxmlformats.org/officeDocument/2006/relationships/notesSlide" Target="/ppt/notesSlides/notesSlide5.xml" Id="R382773a1cc124c3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e661652f5284015" /><Relationship Type="http://schemas.openxmlformats.org/officeDocument/2006/relationships/notesSlide" Target="/ppt/notesSlides/notesSlide6.xml" Id="Re5729aa6b9f6449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0ff800424884634" /><Relationship Type="http://schemas.openxmlformats.org/officeDocument/2006/relationships/image" Target="/ppt/media/image2.png" Id="R2a66bf89dd91405b" /><Relationship Type="http://schemas.openxmlformats.org/officeDocument/2006/relationships/hyperlink" Target="https://github.com/JhosFcL/FugaPrision/commits/main/" TargetMode="External" Id="R234061b2580a466b" /><Relationship Type="http://schemas.openxmlformats.org/officeDocument/2006/relationships/notesSlide" Target="/ppt/notesSlides/notesSlide7.xml" Id="R9e1ce3b5efbf47a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74eec2780404776" /><Relationship Type="http://schemas.openxmlformats.org/officeDocument/2006/relationships/notesSlide" Target="/ppt/notesSlides/notesSlide8.xml" Id="Ra5db62fc4f604e0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36ab2bbdcb3409b" /><Relationship Type="http://schemas.openxmlformats.org/officeDocument/2006/relationships/image" Target="/ppt/media/image3.png" Id="R204edad4dc8644e2" /><Relationship Type="http://schemas.openxmlformats.org/officeDocument/2006/relationships/hyperlink" Target="https://github.com/JhosFcL/FugaPrision/blob/main/docs/diagramas/modelo_parcial.png" TargetMode="External" Id="Re79452521a6244d7" /><Relationship Type="http://schemas.openxmlformats.org/officeDocument/2006/relationships/hyperlink" Target="https://github.com/JhosFcL/FugaPrision/blob/main/src/puntuacion.py" TargetMode="External" Id="R56d9e92481204409" /><Relationship Type="http://schemas.openxmlformats.org/officeDocument/2006/relationships/notesSlide" Target="/ppt/notesSlides/notesSlide9.xml" Id="R26f6ca64c4f6448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apartado-rubrica">
            <a:extLst xmlns:a="http://schemas.openxmlformats.org/drawingml/2006/main">
              <a:ext uri="{FF2B5EF4-FFF2-40B4-BE49-F238E27FC236}">
                <a16:creationId xmlns:a16="http://schemas.microsoft.com/office/drawing/2014/main" id="{697E64ED-28E3-4247-A74F-6A5765542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95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00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16735D"/>
                </a:solidFill>
                <a:latin typeface="DejaVu Sans"/>
                <a:ea typeface="DejaVu Sans"/>
                <a:cs typeface="DejaVu Sans"/>
              </a:rPr>
              <a:t>Proyecto parcial de Programación Orientada a Objetos</a:t>
            </a:r>
          </a:p>
        </p:txBody>
      </p:sp>
      <p:sp>
        <p:nvSpPr>
          <p:cNvPr id="2" name="titulo">
            <a:extLst xmlns:a="http://schemas.openxmlformats.org/drawingml/2006/main">
              <a:ext uri="{FF2B5EF4-FFF2-40B4-BE49-F238E27FC236}">
                <a16:creationId xmlns:a16="http://schemas.microsoft.com/office/drawing/2014/main" id="{B91D86AA-2A03-4E5C-BFC5-333F57ABF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53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4350" b="1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4350" b="1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4350" b="1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Fuga de la Prisión</a:t>
            </a:r>
          </a:p>
        </p:txBody>
      </p:sp>
      <p:sp>
        <p:nvSpPr>
          <p:cNvPr id="3" name="numero">
            <a:extLst xmlns:a="http://schemas.openxmlformats.org/drawingml/2006/main">
              <a:ext uri="{FF2B5EF4-FFF2-40B4-BE49-F238E27FC236}">
                <a16:creationId xmlns:a16="http://schemas.microsoft.com/office/drawing/2014/main" id="{D02ECDFE-9523-464F-B312-3A8E5958F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10925" y="64770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4" name="texto">
            <a:extLst xmlns:a="http://schemas.openxmlformats.org/drawingml/2006/main">
              <a:ext uri="{FF2B5EF4-FFF2-40B4-BE49-F238E27FC236}">
                <a16:creationId xmlns:a16="http://schemas.microsoft.com/office/drawing/2014/main" id="{566B58B6-6D19-43BD-A2E9-5B485B8D0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10763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Diseño e implementación de un videojuego 2D</a:t>
            </a:r>
          </a:p>
        </p:txBody>
      </p:sp>
      <p:sp>
        <p:nvSpPr>
          <p:cNvPr id="5" name="texto">
            <a:extLst xmlns:a="http://schemas.openxmlformats.org/drawingml/2006/main">
              <a:ext uri="{FF2B5EF4-FFF2-40B4-BE49-F238E27FC236}">
                <a16:creationId xmlns:a16="http://schemas.microsoft.com/office/drawing/2014/main" id="{44E8322F-CF58-4DDB-B620-A25E6A9B2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90875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Universidad Peruana Cayetano Heredia</a:t>
            </a:r>
          </a:p>
          <a:p xmlns:a="http://schemas.openxmlformats.org/drawingml/2006/main">
            <a:pPr>
              <a:defRPr sz="180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Ingeniería Informática</a:t>
            </a:r>
          </a:p>
        </p:txBody>
      </p:sp>
      <p:sp>
        <p:nvSpPr>
          <p:cNvPr id="6" name="texto">
            <a:extLst xmlns:a="http://schemas.openxmlformats.org/drawingml/2006/main">
              <a:ext uri="{FF2B5EF4-FFF2-40B4-BE49-F238E27FC236}">
                <a16:creationId xmlns:a16="http://schemas.microsoft.com/office/drawing/2014/main" id="{0FA38C52-DD40-4E37-9124-B086544E9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1066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Jose Fernando Chavez Lozano</a:t>
            </a:r>
          </a:p>
          <a:p xmlns:a="http://schemas.openxmlformats.org/drawingml/2006/main">
            <a:pPr>
              <a:defRPr sz="1650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Mickele Carlos Torres Velazco</a:t>
            </a:r>
          </a:p>
          <a:p xmlns:a="http://schemas.openxmlformats.org/drawingml/2006/main">
            <a:pPr>
              <a:defRPr sz="1650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Piero Cemei Romero Meza</a:t>
            </a:r>
          </a:p>
          <a:p xmlns:a="http://schemas.openxmlformats.org/drawingml/2006/main">
            <a:pPr>
              <a:defRPr sz="1650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Richard Aaron Soriano Cordova</a:t>
            </a:r>
          </a:p>
        </p:txBody>
      </p:sp>
      <p:sp>
        <p:nvSpPr>
          <p:cNvPr id="7" name="texto">
            <a:extLst xmlns:a="http://schemas.openxmlformats.org/drawingml/2006/main">
              <a:ext uri="{FF2B5EF4-FFF2-40B4-BE49-F238E27FC236}">
                <a16:creationId xmlns:a16="http://schemas.microsoft.com/office/drawing/2014/main" id="{D1AD6C31-437E-48E8-AD55-529BBF52F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24575"/>
            <a:ext cx="1076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Ciclo IV. Período académico 2026-II</a:t>
            </a:r>
          </a:p>
        </p:txBody>
      </p:sp>
    </p:spTree>
    <p:extLst>
      <p:ext uri="{BB962C8B-B14F-4D97-AF65-F5344CB8AC3E}">
        <p14:creationId xmlns:p14="http://schemas.microsoft.com/office/powerpoint/2010/main" val="15089444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apartado-rubrica">
            <a:extLst xmlns:a="http://schemas.openxmlformats.org/drawingml/2006/main">
              <a:ext uri="{FF2B5EF4-FFF2-40B4-BE49-F238E27FC236}">
                <a16:creationId xmlns:a16="http://schemas.microsoft.com/office/drawing/2014/main" id="{DA9BE330-7799-4431-8E20-F06A17D22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95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00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16735D"/>
                </a:solidFill>
                <a:latin typeface="DejaVu Sans"/>
                <a:ea typeface="DejaVu Sans"/>
                <a:cs typeface="DejaVu Sans"/>
              </a:rPr>
              <a:t>Punto 1 de 7</a:t>
            </a:r>
          </a:p>
        </p:txBody>
      </p:sp>
      <p:sp>
        <p:nvSpPr>
          <p:cNvPr id="2" name="titulo">
            <a:extLst xmlns:a="http://schemas.openxmlformats.org/drawingml/2006/main">
              <a:ext uri="{FF2B5EF4-FFF2-40B4-BE49-F238E27FC236}">
                <a16:creationId xmlns:a16="http://schemas.microsoft.com/office/drawing/2014/main" id="{DDB512D1-B8D6-4CB2-8B0F-BE65B03E7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53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I. Resumen ejecutivo</a:t>
            </a:r>
          </a:p>
        </p:txBody>
      </p:sp>
      <p:sp>
        <p:nvSpPr>
          <p:cNvPr id="3" name="numero">
            <a:extLst xmlns:a="http://schemas.openxmlformats.org/drawingml/2006/main">
              <a:ext uri="{FF2B5EF4-FFF2-40B4-BE49-F238E27FC236}">
                <a16:creationId xmlns:a16="http://schemas.microsoft.com/office/drawing/2014/main" id="{FA76EAA5-D037-4751-840F-4D3BF10D5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10925" y="64770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4" name="texto">
            <a:extLst xmlns:a="http://schemas.openxmlformats.org/drawingml/2006/main">
              <a:ext uri="{FF2B5EF4-FFF2-40B4-BE49-F238E27FC236}">
                <a16:creationId xmlns:a16="http://schemas.microsoft.com/office/drawing/2014/main" id="{A5CE7EFC-F703-42BE-8D6F-F65F62C9C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Videojuego 2D de escape y sigilo con cuatro niveles.</a:t>
            </a:r>
          </a:p>
        </p:txBody>
      </p:sp>
      <p:sp>
        <p:nvSpPr>
          <p:cNvPr id="5" name="texto">
            <a:extLst xmlns:a="http://schemas.openxmlformats.org/drawingml/2006/main">
              <a:ext uri="{FF2B5EF4-FFF2-40B4-BE49-F238E27FC236}">
                <a16:creationId xmlns:a16="http://schemas.microsoft.com/office/drawing/2014/main" id="{64603F56-A23A-4834-A083-E9B0BF282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57475"/>
            <a:ext cx="10858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Su objetivo es demostrar POO mediante un juego funcional.</a:t>
            </a:r>
          </a:p>
        </p:txBody>
      </p:sp>
      <p:sp>
        <p:nvSpPr>
          <p:cNvPr id="6" name="texto">
            <a:extLst xmlns:a="http://schemas.openxmlformats.org/drawingml/2006/main">
              <a:ext uri="{FF2B5EF4-FFF2-40B4-BE49-F238E27FC236}">
                <a16:creationId xmlns:a16="http://schemas.microsoft.com/office/drawing/2014/main" id="{9956AE68-E48D-498A-9365-38CD4AE83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858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La arquitectura separa reglas, personajes e interfaz.</a:t>
            </a:r>
          </a:p>
        </p:txBody>
      </p:sp>
      <p:sp>
        <p:nvSpPr>
          <p:cNvPr id="7" name="texto">
            <a:extLst xmlns:a="http://schemas.openxmlformats.org/drawingml/2006/main">
              <a:ext uri="{FF2B5EF4-FFF2-40B4-BE49-F238E27FC236}">
                <a16:creationId xmlns:a16="http://schemas.microsoft.com/office/drawing/2014/main" id="{C2C5D25F-357F-42E0-BCCC-916A286C0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9525"/>
            <a:ext cx="10858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Aplica asociación, agregación y composición,</a:t>
            </a:r>
          </a:p>
        </p:txBody>
      </p:sp>
      <p:sp>
        <p:nvSpPr>
          <p:cNvPr id="8" name="texto">
            <a:extLst xmlns:a="http://schemas.openxmlformats.org/drawingml/2006/main">
              <a:ext uri="{FF2B5EF4-FFF2-40B4-BE49-F238E27FC236}">
                <a16:creationId xmlns:a16="http://schemas.microsoft.com/office/drawing/2014/main" id="{B469125F-FB76-4806-B7A3-DBB42D82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10858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además de encapsulamiento, herencia y polimorfismo.</a:t>
            </a:r>
          </a:p>
        </p:txBody>
      </p:sp>
      <p:sp>
        <p:nvSpPr>
          <p:cNvPr id="9" name="texto">
            <a:extLst xmlns:a="http://schemas.openxmlformats.org/drawingml/2006/main">
              <a:ext uri="{FF2B5EF4-FFF2-40B4-BE49-F238E27FC236}">
                <a16:creationId xmlns:a16="http://schemas.microsoft.com/office/drawing/2014/main" id="{EF0C6395-D6AC-4ED4-B26B-01BD15781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81575"/>
            <a:ext cx="10858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Implementa los patrones State y Observer.</a:t>
            </a:r>
          </a:p>
        </p:txBody>
      </p:sp>
    </p:spTree>
    <p:extLst>
      <p:ext uri="{BB962C8B-B14F-4D97-AF65-F5344CB8AC3E}">
        <p14:creationId xmlns:p14="http://schemas.microsoft.com/office/powerpoint/2010/main" val="163248295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apartado-rubrica">
            <a:extLst xmlns:a="http://schemas.openxmlformats.org/drawingml/2006/main">
              <a:ext uri="{FF2B5EF4-FFF2-40B4-BE49-F238E27FC236}">
                <a16:creationId xmlns:a16="http://schemas.microsoft.com/office/drawing/2014/main" id="{C3C70213-6116-4558-87E6-F66F3FFB9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95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00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16735D"/>
                </a:solidFill>
                <a:latin typeface="DejaVu Sans"/>
                <a:ea typeface="DejaVu Sans"/>
                <a:cs typeface="DejaVu Sans"/>
              </a:rPr>
              <a:t>Punto 2 de 7</a:t>
            </a:r>
          </a:p>
        </p:txBody>
      </p:sp>
      <p:sp>
        <p:nvSpPr>
          <p:cNvPr id="2" name="titulo">
            <a:extLst xmlns:a="http://schemas.openxmlformats.org/drawingml/2006/main">
              <a:ext uri="{FF2B5EF4-FFF2-40B4-BE49-F238E27FC236}">
                <a16:creationId xmlns:a16="http://schemas.microsoft.com/office/drawing/2014/main" id="{CCA4A4AA-476B-4496-B86E-A7EDE70D1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53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II. Introducción</a:t>
            </a:r>
          </a:p>
        </p:txBody>
      </p:sp>
      <p:sp>
        <p:nvSpPr>
          <p:cNvPr id="3" name="numero">
            <a:extLst xmlns:a="http://schemas.openxmlformats.org/drawingml/2006/main">
              <a:ext uri="{FF2B5EF4-FFF2-40B4-BE49-F238E27FC236}">
                <a16:creationId xmlns:a16="http://schemas.microsoft.com/office/drawing/2014/main" id="{90DEC80C-61BE-4F2D-B1F7-3C7D5C478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10925" y="64770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4" name="texto">
            <a:extLst xmlns:a="http://schemas.openxmlformats.org/drawingml/2006/main">
              <a:ext uri="{FF2B5EF4-FFF2-40B4-BE49-F238E27FC236}">
                <a16:creationId xmlns:a16="http://schemas.microsoft.com/office/drawing/2014/main" id="{342E4C0B-AA8B-4383-9D23-9EC74DA48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16735D"/>
                </a:solidFill>
                <a:latin typeface="DejaVu Sans"/>
                <a:ea typeface="DejaVu Sans"/>
                <a:cs typeface="DejaVu Sans"/>
              </a:rPr>
              <a:t>Contexto y objetivo</a:t>
            </a:r>
          </a:p>
        </p:txBody>
      </p:sp>
      <p:sp>
        <p:nvSpPr>
          <p:cNvPr id="5" name="texto">
            <a:extLst xmlns:a="http://schemas.openxmlformats.org/drawingml/2006/main">
              <a:ext uri="{FF2B5EF4-FFF2-40B4-BE49-F238E27FC236}">
                <a16:creationId xmlns:a16="http://schemas.microsoft.com/office/drawing/2014/main" id="{4ACB3395-A6F6-48B9-91F0-95EFF1CAF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5095875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Proyecto del curso de POO.</a:t>
            </a:r>
          </a:p>
          <a:p xmlns:a="http://schemas.openxmlformats.org/drawingml/2006/main">
            <a:pPr>
              <a:defRPr sz="1875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Demostrar sus fundamentos y</a:t>
            </a:r>
          </a:p>
          <a:p xmlns:a="http://schemas.openxmlformats.org/drawingml/2006/main">
            <a:pPr>
              <a:defRPr sz="1875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patrones en un juego de escape.</a:t>
            </a:r>
          </a:p>
        </p:txBody>
      </p:sp>
      <p:sp>
        <p:nvSpPr>
          <p:cNvPr id="6" name="texto">
            <a:extLst xmlns:a="http://schemas.openxmlformats.org/drawingml/2006/main">
              <a:ext uri="{FF2B5EF4-FFF2-40B4-BE49-F238E27FC236}">
                <a16:creationId xmlns:a16="http://schemas.microsoft.com/office/drawing/2014/main" id="{F34044A7-4073-4930-9180-E568469A3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5095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16735D"/>
                </a:solidFill>
                <a:latin typeface="DejaVu Sans"/>
                <a:ea typeface="DejaVu Sans"/>
                <a:cs typeface="DejaVu Sans"/>
              </a:rPr>
              <a:t>Tecnologías utilizadas</a:t>
            </a:r>
          </a:p>
        </p:txBody>
      </p:sp>
      <p:sp>
        <p:nvSpPr>
          <p:cNvPr id="7" name="texto">
            <a:extLst xmlns:a="http://schemas.openxmlformats.org/drawingml/2006/main">
              <a:ext uri="{FF2B5EF4-FFF2-40B4-BE49-F238E27FC236}">
                <a16:creationId xmlns:a16="http://schemas.microsoft.com/office/drawing/2014/main" id="{690E5276-4A52-45AD-BAF4-6EBCA5358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5095875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Python y Pygame: juego e interfaz.</a:t>
            </a:r>
          </a:p>
          <a:p xmlns:a="http://schemas.openxmlformats.org/drawingml/2006/main">
            <a:pPr>
              <a:defRPr sz="1725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Mermaid: diagrama UML.</a:t>
            </a:r>
          </a:p>
          <a:p xmlns:a="http://schemas.openxmlformats.org/drawingml/2006/main">
            <a:pPr>
              <a:defRPr sz="1725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Git y GitHub: control de versiones.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252481-317B-4A47-AD92-305E097C741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94c51d6b9b4611"/>
          <a:stretch xmlns:a="http://schemas.openxmlformats.org/drawingml/2006/main"/>
        </p:blipFill>
        <p:spPr>
          <a:xfrm xmlns:a="http://schemas.openxmlformats.org/drawingml/2006/main">
            <a:off x="6191250" y="2002155"/>
            <a:ext cx="5334000" cy="405384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90405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5" name="apartado-rubrica">
            <a:extLst xmlns:a="http://schemas.openxmlformats.org/drawingml/2006/main">
              <a:ext uri="{FF2B5EF4-FFF2-40B4-BE49-F238E27FC236}">
                <a16:creationId xmlns:a16="http://schemas.microsoft.com/office/drawing/2014/main" id="{718CD666-9174-43CF-BB81-0B0AA0817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95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00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16735D"/>
                </a:solidFill>
                <a:latin typeface="DejaVu Sans"/>
                <a:ea typeface="DejaVu Sans"/>
                <a:cs typeface="DejaVu Sans"/>
              </a:rPr>
              <a:t>Punto 3 de 7. Criterio I: arquitectura, 6 puntos</a:t>
            </a:r>
          </a:p>
        </p:txBody>
      </p:sp>
      <p:sp>
        <p:nvSpPr>
          <p:cNvPr id="2" name="titulo">
            <a:extLst xmlns:a="http://schemas.openxmlformats.org/drawingml/2006/main">
              <a:ext uri="{FF2B5EF4-FFF2-40B4-BE49-F238E27FC236}">
                <a16:creationId xmlns:a16="http://schemas.microsoft.com/office/drawing/2014/main" id="{08A6F1FE-FF38-4B3E-93D0-5014A6F62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53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III. Diseño de arquitectura</a:t>
            </a:r>
          </a:p>
        </p:txBody>
      </p:sp>
      <p:sp>
        <p:nvSpPr>
          <p:cNvPr id="3" name="numero">
            <a:extLst xmlns:a="http://schemas.openxmlformats.org/drawingml/2006/main">
              <a:ext uri="{FF2B5EF4-FFF2-40B4-BE49-F238E27FC236}">
                <a16:creationId xmlns:a16="http://schemas.microsoft.com/office/drawing/2014/main" id="{66D3937B-4498-4DB0-8AD4-312CAFC15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10925" y="64770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sp>
        <p:nvSpPr>
          <p:cNvPr id="4" name="texto">
            <a:extLst xmlns:a="http://schemas.openxmlformats.org/drawingml/2006/main">
              <a:ext uri="{FF2B5EF4-FFF2-40B4-BE49-F238E27FC236}">
                <a16:creationId xmlns:a16="http://schemas.microsoft.com/office/drawing/2014/main" id="{D5E6C243-908D-445E-B83F-40B35C9F1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95425"/>
            <a:ext cx="1085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Clases principales y sus operaciones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FA3764-CA91-4269-9139-49AE699AC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2305050"/>
            <a:ext cx="2286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B8C9CD"/>
            </a:solidFill>
          </a:ln>
        </p:spPr>
      </p:sp>
      <p:sp>
        <p:nvSpPr>
          <p:cNvPr id="6" name="clase-Juego">
            <a:extLst xmlns:a="http://schemas.openxmlformats.org/drawingml/2006/main">
              <a:ext uri="{FF2B5EF4-FFF2-40B4-BE49-F238E27FC236}">
                <a16:creationId xmlns:a16="http://schemas.microsoft.com/office/drawing/2014/main" id="{12C20EB7-9737-4904-AA6A-9A768B653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00300"/>
            <a:ext cx="20574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Juego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9041AC-F6DB-41E9-B943-2463D6568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8C9CD"/>
            </a:solidFill>
            <a:prstDash val="solid"/>
          </a:ln>
        </p:spPr>
      </p:sp>
      <p:sp>
        <p:nvSpPr>
          <p:cNvPr id="8" name="metodo-Juego">
            <a:extLst xmlns:a="http://schemas.openxmlformats.org/drawingml/2006/main">
              <a:ext uri="{FF2B5EF4-FFF2-40B4-BE49-F238E27FC236}">
                <a16:creationId xmlns:a16="http://schemas.microsoft.com/office/drawing/2014/main" id="{BF16FF00-FE1B-406F-A190-5FB7F2196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76550"/>
            <a:ext cx="2057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16735D"/>
                </a:solidFill>
                <a:latin typeface="DejaVu Sans Mono"/>
                <a:ea typeface="DejaVu Sans Mono"/>
                <a:cs typeface="DejaVu Sans Mono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6735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16735D"/>
                </a:solidFill>
                <a:latin typeface="DejaVu Sans Mono"/>
                <a:ea typeface="DejaVu Sans Mono"/>
                <a:cs typeface="DejaVu Sans Mono"/>
              </a:rPr>
              <a:t>+actualizar()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3D8A52-2667-4671-AA67-9B2330C10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53000" y="2305050"/>
            <a:ext cx="2286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B8C9CD"/>
            </a:solidFill>
          </a:ln>
        </p:spPr>
      </p:sp>
      <p:sp>
        <p:nvSpPr>
          <p:cNvPr id="10" name="clase-Nivel">
            <a:extLst xmlns:a="http://schemas.openxmlformats.org/drawingml/2006/main">
              <a:ext uri="{FF2B5EF4-FFF2-40B4-BE49-F238E27FC236}">
                <a16:creationId xmlns:a16="http://schemas.microsoft.com/office/drawing/2014/main" id="{927F7135-4243-45E4-A791-167DF59D3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400300"/>
            <a:ext cx="20574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Nivel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C536CA-1527-4916-9D56-E7DDC4A5E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762250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8C9CD"/>
            </a:solidFill>
            <a:prstDash val="solid"/>
          </a:ln>
        </p:spPr>
      </p:sp>
      <p:sp>
        <p:nvSpPr>
          <p:cNvPr id="12" name="metodo-Nivel">
            <a:extLst xmlns:a="http://schemas.openxmlformats.org/drawingml/2006/main">
              <a:ext uri="{FF2B5EF4-FFF2-40B4-BE49-F238E27FC236}">
                <a16:creationId xmlns:a16="http://schemas.microsoft.com/office/drawing/2014/main" id="{E4EFFB8E-00F2-4467-9E00-B99AFB656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876550"/>
            <a:ext cx="2057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16735D"/>
                </a:solidFill>
                <a:latin typeface="DejaVu Sans Mono"/>
                <a:ea typeface="DejaVu Sans Mono"/>
                <a:cs typeface="DejaVu Sans Mono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6735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16735D"/>
                </a:solidFill>
                <a:latin typeface="DejaVu Sans Mono"/>
                <a:ea typeface="DejaVu Sans Mono"/>
                <a:cs typeface="DejaVu Sans Mono"/>
              </a:rPr>
              <a:t>+actualizar()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DEE7B6-A151-489B-83E9-383091220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39250" y="2305050"/>
            <a:ext cx="2286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B8C9CD"/>
            </a:solidFill>
          </a:ln>
        </p:spPr>
      </p:sp>
      <p:sp>
        <p:nvSpPr>
          <p:cNvPr id="14" name="clase-Vista">
            <a:extLst xmlns:a="http://schemas.openxmlformats.org/drawingml/2006/main">
              <a:ext uri="{FF2B5EF4-FFF2-40B4-BE49-F238E27FC236}">
                <a16:creationId xmlns:a16="http://schemas.microsoft.com/office/drawing/2014/main" id="{9F28B2BB-0728-468F-AE32-56726BAD7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400300"/>
            <a:ext cx="20574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Vista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53316A-C157-425B-B332-7E5A9832C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762250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8C9CD"/>
            </a:solidFill>
            <a:prstDash val="solid"/>
          </a:ln>
        </p:spPr>
      </p:sp>
      <p:sp>
        <p:nvSpPr>
          <p:cNvPr id="16" name="metodo-Vista">
            <a:extLst xmlns:a="http://schemas.openxmlformats.org/drawingml/2006/main">
              <a:ext uri="{FF2B5EF4-FFF2-40B4-BE49-F238E27FC236}">
                <a16:creationId xmlns:a16="http://schemas.microsoft.com/office/drawing/2014/main" id="{E74C82E3-21CF-4861-A38C-BF9582048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876550"/>
            <a:ext cx="2057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16735D"/>
                </a:solidFill>
                <a:latin typeface="DejaVu Sans Mono"/>
                <a:ea typeface="DejaVu Sans Mono"/>
                <a:cs typeface="DejaVu Sans Mono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6735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16735D"/>
                </a:solidFill>
                <a:latin typeface="DejaVu Sans Mono"/>
                <a:ea typeface="DejaVu Sans Mono"/>
                <a:cs typeface="DejaVu Sans Mono"/>
              </a:rPr>
              <a:t>+dibujar(juego)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4B3C2E-66BB-4AFF-B1CF-1650B3FAE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4048125"/>
            <a:ext cx="2286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B8C9CD"/>
            </a:solidFill>
          </a:ln>
        </p:spPr>
      </p:sp>
      <p:sp>
        <p:nvSpPr>
          <p:cNvPr id="18" name="clase-Puntaje">
            <a:extLst xmlns:a="http://schemas.openxmlformats.org/drawingml/2006/main">
              <a:ext uri="{FF2B5EF4-FFF2-40B4-BE49-F238E27FC236}">
                <a16:creationId xmlns:a16="http://schemas.microsoft.com/office/drawing/2014/main" id="{20AE914F-5C0D-4EB0-BE7F-95D2245F7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43375"/>
            <a:ext cx="20574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Puntaje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472BCE-2954-423C-B716-604C07CC6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05325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8C9CD"/>
            </a:solidFill>
            <a:prstDash val="solid"/>
          </a:ln>
        </p:spPr>
      </p:sp>
      <p:sp>
        <p:nvSpPr>
          <p:cNvPr id="20" name="metodo-Puntaje">
            <a:extLst xmlns:a="http://schemas.openxmlformats.org/drawingml/2006/main">
              <a:ext uri="{FF2B5EF4-FFF2-40B4-BE49-F238E27FC236}">
                <a16:creationId xmlns:a16="http://schemas.microsoft.com/office/drawing/2014/main" id="{F9D6C15C-E016-4120-AA3E-076E15402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19625"/>
            <a:ext cx="2057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16735D"/>
                </a:solidFill>
                <a:latin typeface="DejaVu Sans Mono"/>
                <a:ea typeface="DejaVu Sans Mono"/>
                <a:cs typeface="DejaVu Sans Mono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6735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16735D"/>
                </a:solidFill>
                <a:latin typeface="DejaVu Sans Mono"/>
                <a:ea typeface="DejaVu Sans Mono"/>
                <a:cs typeface="DejaVu Sans Mono"/>
              </a:rPr>
              <a:t>+sumar(cantidad)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BD51CD-C66E-464C-88AB-F0EDB982F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53000" y="4048125"/>
            <a:ext cx="2286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B8C9CD"/>
            </a:solidFill>
          </a:ln>
        </p:spPr>
      </p:sp>
      <p:sp>
        <p:nvSpPr>
          <p:cNvPr id="22" name="clase-Personaje">
            <a:extLst xmlns:a="http://schemas.openxmlformats.org/drawingml/2006/main">
              <a:ext uri="{FF2B5EF4-FFF2-40B4-BE49-F238E27FC236}">
                <a16:creationId xmlns:a16="http://schemas.microsoft.com/office/drawing/2014/main" id="{924F255A-0484-4254-BF4D-C10CFB135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143375"/>
            <a:ext cx="20574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Personaje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396683-39FC-4F5A-80F9-17216DBA1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505325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8C9CD"/>
            </a:solidFill>
            <a:prstDash val="solid"/>
          </a:ln>
        </p:spPr>
      </p:sp>
      <p:sp>
        <p:nvSpPr>
          <p:cNvPr id="24" name="metodo-Personaje">
            <a:extLst xmlns:a="http://schemas.openxmlformats.org/drawingml/2006/main">
              <a:ext uri="{FF2B5EF4-FFF2-40B4-BE49-F238E27FC236}">
                <a16:creationId xmlns:a16="http://schemas.microsoft.com/office/drawing/2014/main" id="{4EDD9F79-C467-453E-9786-BED79E0B4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619625"/>
            <a:ext cx="2057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16735D"/>
                </a:solidFill>
                <a:latin typeface="DejaVu Sans Mono"/>
                <a:ea typeface="DejaVu Sans Mono"/>
                <a:cs typeface="DejaVu Sans Mono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6735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16735D"/>
                </a:solidFill>
                <a:latin typeface="DejaVu Sans Mono"/>
                <a:ea typeface="DejaVu Sans Mono"/>
                <a:cs typeface="DejaVu Sans Mono"/>
              </a:rPr>
              <a:t>+update()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5BAB08-9E78-4C0C-9229-4B760946F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39250" y="4048125"/>
            <a:ext cx="2286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B8C9CD"/>
            </a:solidFill>
          </a:ln>
        </p:spPr>
      </p:sp>
      <p:sp>
        <p:nvSpPr>
          <p:cNvPr id="26" name="clase-Mapa">
            <a:extLst xmlns:a="http://schemas.openxmlformats.org/drawingml/2006/main">
              <a:ext uri="{FF2B5EF4-FFF2-40B4-BE49-F238E27FC236}">
                <a16:creationId xmlns:a16="http://schemas.microsoft.com/office/drawing/2014/main" id="{C8A00208-F8C8-4229-90DA-8F3B13066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143375"/>
            <a:ext cx="20574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Mapa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1216AA2-036F-42BC-9585-CB69DEF26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505325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8C9CD"/>
            </a:solidFill>
            <a:prstDash val="solid"/>
          </a:ln>
        </p:spPr>
      </p:sp>
      <p:sp>
        <p:nvSpPr>
          <p:cNvPr id="28" name="metodo-Mapa">
            <a:extLst xmlns:a="http://schemas.openxmlformats.org/drawingml/2006/main">
              <a:ext uri="{FF2B5EF4-FFF2-40B4-BE49-F238E27FC236}">
                <a16:creationId xmlns:a16="http://schemas.microsoft.com/office/drawing/2014/main" id="{2372A267-7807-4074-9908-982403DEA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619625"/>
            <a:ext cx="2057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16735D"/>
                </a:solidFill>
                <a:latin typeface="DejaVu Sans Mono"/>
                <a:ea typeface="DejaVu Sans Mono"/>
                <a:cs typeface="DejaVu Sans Mono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6735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16735D"/>
                </a:solidFill>
                <a:latin typeface="DejaVu Sans Mono"/>
                <a:ea typeface="DejaVu Sans Mono"/>
                <a:cs typeface="DejaVu Sans Mono"/>
              </a:rPr>
              <a:t>+desplazar(...)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ABA7A8-F9F8-4704-A63B-DC7E0CDF1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14750" y="5581650"/>
            <a:ext cx="2286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B8C9CD"/>
            </a:solidFill>
          </a:ln>
        </p:spPr>
      </p:sp>
      <p:sp>
        <p:nvSpPr>
          <p:cNvPr id="30" name="clase-Prisionero">
            <a:extLst xmlns:a="http://schemas.openxmlformats.org/drawingml/2006/main">
              <a:ext uri="{FF2B5EF4-FFF2-40B4-BE49-F238E27FC236}">
                <a16:creationId xmlns:a16="http://schemas.microsoft.com/office/drawing/2014/main" id="{368E3F6B-9BB9-4E05-AF09-6DA0B717D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5676900"/>
            <a:ext cx="20574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Prisionero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F63B1E8-CC35-46C5-8425-7425B707E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6038850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8C9CD"/>
            </a:solidFill>
            <a:prstDash val="solid"/>
          </a:ln>
        </p:spPr>
      </p:sp>
      <p:sp>
        <p:nvSpPr>
          <p:cNvPr id="32" name="metodo-Prisionero">
            <a:extLst xmlns:a="http://schemas.openxmlformats.org/drawingml/2006/main">
              <a:ext uri="{FF2B5EF4-FFF2-40B4-BE49-F238E27FC236}">
                <a16:creationId xmlns:a16="http://schemas.microsoft.com/office/drawing/2014/main" id="{7B5371BD-D225-483F-A3E3-A9F8D15EE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6153150"/>
            <a:ext cx="2057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16735D"/>
                </a:solidFill>
                <a:latin typeface="DejaVu Sans Mono"/>
                <a:ea typeface="DejaVu Sans Mono"/>
                <a:cs typeface="DejaVu Sans Mono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6735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16735D"/>
                </a:solidFill>
                <a:latin typeface="DejaVu Sans Mono"/>
                <a:ea typeface="DejaVu Sans Mono"/>
                <a:cs typeface="DejaVu Sans Mono"/>
              </a:rPr>
              <a:t>+update()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8E87157-E978-4F82-A9A1-900CD3E6B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62750" y="5581650"/>
            <a:ext cx="2286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B8C9CD"/>
            </a:solidFill>
          </a:ln>
        </p:spPr>
      </p:sp>
      <p:sp>
        <p:nvSpPr>
          <p:cNvPr id="34" name="clase-Guardia">
            <a:extLst xmlns:a="http://schemas.openxmlformats.org/drawingml/2006/main">
              <a:ext uri="{FF2B5EF4-FFF2-40B4-BE49-F238E27FC236}">
                <a16:creationId xmlns:a16="http://schemas.microsoft.com/office/drawing/2014/main" id="{C32D49ED-B2A7-470B-B06E-A175138D5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5676900"/>
            <a:ext cx="20574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Guardia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2CD83C6-32CD-46B6-9DC0-2ED0233F5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6038850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8C9CD"/>
            </a:solidFill>
            <a:prstDash val="solid"/>
          </a:ln>
        </p:spPr>
      </p:sp>
      <p:sp>
        <p:nvSpPr>
          <p:cNvPr id="36" name="metodo-Guardia">
            <a:extLst xmlns:a="http://schemas.openxmlformats.org/drawingml/2006/main">
              <a:ext uri="{FF2B5EF4-FFF2-40B4-BE49-F238E27FC236}">
                <a16:creationId xmlns:a16="http://schemas.microsoft.com/office/drawing/2014/main" id="{72AFAE23-44AE-46D5-81AD-E63845A95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6153150"/>
            <a:ext cx="2057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16735D"/>
                </a:solidFill>
                <a:latin typeface="DejaVu Sans Mono"/>
                <a:ea typeface="DejaVu Sans Mono"/>
                <a:cs typeface="DejaVu Sans Mono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6735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16735D"/>
                </a:solidFill>
                <a:latin typeface="DejaVu Sans Mono"/>
                <a:ea typeface="DejaVu Sans Mono"/>
                <a:cs typeface="DejaVu Sans Mono"/>
              </a:rPr>
              <a:t>+update()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50FBAAE-12D1-4338-8C0D-9D0E5487D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62250"/>
            <a:ext cx="200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6735D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5766964-A1EB-489A-9A32-ED2742E13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09900" y="2695575"/>
            <a:ext cx="133350" cy="1333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6735D"/>
          </a:solidFill>
          <a:ln xmlns:a="http://schemas.openxmlformats.org/drawingml/2006/main" w="15240">
            <a:solidFill>
              <a:srgbClr val="16735D"/>
            </a:solidFill>
          </a:ln>
        </p:spPr>
      </p:sp>
      <p:sp>
        <p:nvSpPr>
          <p:cNvPr id="39" name="texto">
            <a:extLst xmlns:a="http://schemas.openxmlformats.org/drawingml/2006/main">
              <a:ext uri="{FF2B5EF4-FFF2-40B4-BE49-F238E27FC236}">
                <a16:creationId xmlns:a16="http://schemas.microsoft.com/office/drawing/2014/main" id="{9B1BEED0-1371-4AEC-8AC5-CB918A519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428875"/>
            <a:ext cx="1304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crea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9435CF0-65C6-4DE9-A695-70F7277B6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219450"/>
            <a:ext cx="0" cy="8286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6735D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31BD0B5-637B-496F-BE40-D60135CAD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29325" y="3276600"/>
            <a:ext cx="133350" cy="1333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6735D"/>
          </a:solidFill>
          <a:ln xmlns:a="http://schemas.openxmlformats.org/drawingml/2006/main" w="15240">
            <a:solidFill>
              <a:srgbClr val="16735D"/>
            </a:solidFill>
          </a:ln>
        </p:spPr>
      </p:sp>
      <p:sp>
        <p:nvSpPr>
          <p:cNvPr id="42" name="texto">
            <a:extLst xmlns:a="http://schemas.openxmlformats.org/drawingml/2006/main">
              <a:ext uri="{FF2B5EF4-FFF2-40B4-BE49-F238E27FC236}">
                <a16:creationId xmlns:a16="http://schemas.microsoft.com/office/drawing/2014/main" id="{4B968F32-9BF1-4B8D-9201-8CD85E2CE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514725"/>
            <a:ext cx="190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personajes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53A60CA-731D-45B0-8099-E445576A3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1945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6735D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DAA865B-6C29-440F-907D-05DED9AEB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3619500"/>
            <a:ext cx="14382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6735D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F8C1D71-C31F-4DAB-A450-26C9E147B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3619500"/>
            <a:ext cx="0" cy="885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6735D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77297EB-6D85-4C11-AB24-1EAF44A46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505325"/>
            <a:ext cx="9429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6735D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6735CC6-5E48-486C-A2B0-713A3079B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67325" y="3276600"/>
            <a:ext cx="133350" cy="1333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6735D"/>
            </a:solidFill>
          </a:ln>
        </p:spPr>
      </p:sp>
      <p:sp>
        <p:nvSpPr>
          <p:cNvPr id="48" name="texto">
            <a:extLst xmlns:a="http://schemas.openxmlformats.org/drawingml/2006/main">
              <a:ext uri="{FF2B5EF4-FFF2-40B4-BE49-F238E27FC236}">
                <a16:creationId xmlns:a16="http://schemas.microsoft.com/office/drawing/2014/main" id="{37CE38C8-B1A4-46E7-9A49-E296098C2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3771900"/>
            <a:ext cx="1619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comparte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776A607-D02B-4D28-88CD-C545A46BA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762250"/>
            <a:ext cx="9429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6735D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D107832-CE56-4858-A27A-F2F05D51D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762250"/>
            <a:ext cx="0" cy="17430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6735D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A05E3A5-1FB3-4661-921A-CCEF3640C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505325"/>
            <a:ext cx="10572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6735D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5B36755-7723-4332-8FA7-337125F87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96150" y="2695575"/>
            <a:ext cx="133350" cy="1333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6735D"/>
          </a:solidFill>
          <a:ln xmlns:a="http://schemas.openxmlformats.org/drawingml/2006/main" w="15240">
            <a:solidFill>
              <a:srgbClr val="16735D"/>
            </a:solidFill>
          </a:ln>
        </p:spPr>
      </p:sp>
      <p:sp>
        <p:nvSpPr>
          <p:cNvPr id="53" name="texto">
            <a:extLst xmlns:a="http://schemas.openxmlformats.org/drawingml/2006/main">
              <a:ext uri="{FF2B5EF4-FFF2-40B4-BE49-F238E27FC236}">
                <a16:creationId xmlns:a16="http://schemas.microsoft.com/office/drawing/2014/main" id="{8C355E38-8CC3-4A96-B362-0622708FA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629025"/>
            <a:ext cx="85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mapa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554493B-BDF4-4ABA-BB72-5473C198D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019300"/>
            <a:ext cx="0" cy="285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6735D"/>
            </a:solidFill>
            <a:prstDash val="dash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62D4772-31EB-4950-BADA-A7F9227F9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019300"/>
            <a:ext cx="857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6735D"/>
            </a:solidFill>
            <a:prstDash val="dash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ADF366B-2AAD-4ED8-BFFF-B502469F8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019300"/>
            <a:ext cx="0" cy="285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6735D"/>
            </a:solidFill>
            <a:prstDash val="dash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E376F3C-D95B-44C8-8DC9-42E05FAE3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28850"/>
            <a:ext cx="57150" cy="76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6735D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55A327C-1B7A-4FDD-A266-30A8EA002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228850"/>
            <a:ext cx="57150" cy="76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6735D"/>
            </a:solidFill>
            <a:prstDash val="solid"/>
          </a:ln>
        </p:spPr>
      </p:sp>
      <p:sp>
        <p:nvSpPr>
          <p:cNvPr id="59" name="texto">
            <a:extLst xmlns:a="http://schemas.openxmlformats.org/drawingml/2006/main">
              <a:ext uri="{FF2B5EF4-FFF2-40B4-BE49-F238E27FC236}">
                <a16:creationId xmlns:a16="http://schemas.microsoft.com/office/drawing/2014/main" id="{DBA0F39B-FC59-4875-AAD3-86CCF8DDA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69545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dibuja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DD5B1A7-DAD2-45EC-A8BE-8442655F7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962525"/>
            <a:ext cx="0" cy="2762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6735D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D88C55A-5244-486D-ADF1-0067E942A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238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6735D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926EB11-ECDD-446E-9FCC-F46246AA2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238750"/>
            <a:ext cx="0" cy="3429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6735D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42E07D9-BFCD-4BA8-A76F-9D4A0CAC9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238750"/>
            <a:ext cx="0" cy="3429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6735D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059B637-612A-487F-A3C1-5D514CEDC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19800" y="4962525"/>
            <a:ext cx="15240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6735D"/>
            </a:solidFill>
          </a:ln>
        </p:spPr>
      </p:sp>
    </p:spTree>
    <p:extLst>
      <p:ext uri="{BB962C8B-B14F-4D97-AF65-F5344CB8AC3E}">
        <p14:creationId xmlns:p14="http://schemas.microsoft.com/office/powerpoint/2010/main" val="209711239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apartado-rubrica">
            <a:extLst xmlns:a="http://schemas.openxmlformats.org/drawingml/2006/main">
              <a:ext uri="{FF2B5EF4-FFF2-40B4-BE49-F238E27FC236}">
                <a16:creationId xmlns:a16="http://schemas.microsoft.com/office/drawing/2014/main" id="{CE7C0756-C550-40E1-85DF-E8227617B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95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00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16735D"/>
                </a:solidFill>
                <a:latin typeface="DejaVu Sans"/>
                <a:ea typeface="DejaVu Sans"/>
                <a:cs typeface="DejaVu Sans"/>
              </a:rPr>
              <a:t>Punto 4 de 7. Criterio II: fundamentos POO, 6 puntos</a:t>
            </a:r>
          </a:p>
        </p:txBody>
      </p:sp>
      <p:sp>
        <p:nvSpPr>
          <p:cNvPr id="2" name="titulo">
            <a:extLst xmlns:a="http://schemas.openxmlformats.org/drawingml/2006/main">
              <a:ext uri="{FF2B5EF4-FFF2-40B4-BE49-F238E27FC236}">
                <a16:creationId xmlns:a16="http://schemas.microsoft.com/office/drawing/2014/main" id="{65C9C37E-F06F-4533-A5D1-E0CD68706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53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IV. Fundamentos de POO</a:t>
            </a:r>
          </a:p>
        </p:txBody>
      </p:sp>
      <p:sp>
        <p:nvSpPr>
          <p:cNvPr id="3" name="numero">
            <a:extLst xmlns:a="http://schemas.openxmlformats.org/drawingml/2006/main">
              <a:ext uri="{FF2B5EF4-FFF2-40B4-BE49-F238E27FC236}">
                <a16:creationId xmlns:a16="http://schemas.microsoft.com/office/drawing/2014/main" id="{E5F91AD4-5929-4912-BA08-BEDC535CE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10925" y="64770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  <p:sp>
        <p:nvSpPr>
          <p:cNvPr id="4" name="texto">
            <a:extLst xmlns:a="http://schemas.openxmlformats.org/drawingml/2006/main">
              <a:ext uri="{FF2B5EF4-FFF2-40B4-BE49-F238E27FC236}">
                <a16:creationId xmlns:a16="http://schemas.microsoft.com/office/drawing/2014/main" id="{3B6D82BB-3435-4400-B6DF-4377C85BA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3238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16735D"/>
                </a:solidFill>
                <a:latin typeface="DejaVu Sans"/>
                <a:ea typeface="DejaVu Sans"/>
                <a:cs typeface="DejaVu Sans"/>
              </a:rPr>
              <a:t>Asociación</a:t>
            </a:r>
          </a:p>
        </p:txBody>
      </p:sp>
      <p:sp>
        <p:nvSpPr>
          <p:cNvPr id="5" name="texto">
            <a:extLst xmlns:a="http://schemas.openxmlformats.org/drawingml/2006/main">
              <a:ext uri="{FF2B5EF4-FFF2-40B4-BE49-F238E27FC236}">
                <a16:creationId xmlns:a16="http://schemas.microsoft.com/office/drawing/2014/main" id="{0E3A8BD0-8ABA-4788-8DD3-1BC061EB9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43225"/>
            <a:ext cx="32385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Personaje guarda su Nivel.</a:t>
            </a:r>
          </a:p>
        </p:txBody>
      </p:sp>
      <p:sp>
        <p:nvSpPr>
          <p:cNvPr id="6" name="fragmento-Asociación">
            <a:extLst xmlns:a="http://schemas.openxmlformats.org/drawingml/2006/main">
              <a:ext uri="{FF2B5EF4-FFF2-40B4-BE49-F238E27FC236}">
                <a16:creationId xmlns:a16="http://schemas.microsoft.com/office/drawing/2014/main" id="{7BC16F7A-3C0F-4E01-AA90-E34B116D2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3238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72F3C"/>
                </a:solidFill>
                <a:latin typeface="DejaVu Sans Mono"/>
                <a:ea typeface="DejaVu Sans Mono"/>
                <a:cs typeface="DejaVu Sans Mono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72F3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172F3C"/>
                </a:solidFill>
                <a:latin typeface="DejaVu Sans Mono"/>
                <a:ea typeface="DejaVu Sans Mono"/>
                <a:cs typeface="DejaVu Sans Mono"/>
              </a:rPr>
              <a:t>self.nivel = nivel</a:t>
            </a:r>
          </a:p>
        </p:txBody>
      </p:sp>
      <p:sp>
        <p:nvSpPr>
          <p:cNvPr id="7" name="texto">
            <a:extLst xmlns:a="http://schemas.openxmlformats.org/drawingml/2006/main">
              <a:ext uri="{FF2B5EF4-FFF2-40B4-BE49-F238E27FC236}">
                <a16:creationId xmlns:a16="http://schemas.microsoft.com/office/drawing/2014/main" id="{225B5986-DB0E-4C41-AF86-C12ADA57B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200275"/>
            <a:ext cx="3238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16735D"/>
                </a:solidFill>
                <a:latin typeface="DejaVu Sans"/>
                <a:ea typeface="DejaVu Sans"/>
                <a:cs typeface="DejaVu Sans"/>
              </a:rPr>
              <a:t>Agregación</a:t>
            </a:r>
          </a:p>
        </p:txBody>
      </p:sp>
      <p:sp>
        <p:nvSpPr>
          <p:cNvPr id="8" name="texto">
            <a:extLst xmlns:a="http://schemas.openxmlformats.org/drawingml/2006/main">
              <a:ext uri="{FF2B5EF4-FFF2-40B4-BE49-F238E27FC236}">
                <a16:creationId xmlns:a16="http://schemas.microsoft.com/office/drawing/2014/main" id="{683F5065-0A8A-4B3A-B678-368E9088A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943225"/>
            <a:ext cx="32385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Nivel recibe el Puntaje</a:t>
            </a:r>
          </a:p>
          <a:p xmlns:a="http://schemas.openxmlformats.org/drawingml/2006/main">
            <a:pPr>
              <a:defRPr sz="1800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compartido de la campaña.</a:t>
            </a:r>
          </a:p>
        </p:txBody>
      </p:sp>
      <p:sp>
        <p:nvSpPr>
          <p:cNvPr id="9" name="fragmento-Agregación">
            <a:extLst xmlns:a="http://schemas.openxmlformats.org/drawingml/2006/main">
              <a:ext uri="{FF2B5EF4-FFF2-40B4-BE49-F238E27FC236}">
                <a16:creationId xmlns:a16="http://schemas.microsoft.com/office/drawing/2014/main" id="{7FBC1498-0884-465A-B87F-89C459740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667250"/>
            <a:ext cx="3238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72F3C"/>
                </a:solidFill>
                <a:latin typeface="DejaVu Sans Mono"/>
                <a:ea typeface="DejaVu Sans Mono"/>
                <a:cs typeface="DejaVu Sans Mono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72F3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172F3C"/>
                </a:solidFill>
                <a:latin typeface="DejaVu Sans Mono"/>
                <a:ea typeface="DejaVu Sans Mono"/>
                <a:cs typeface="DejaVu Sans Mono"/>
              </a:rPr>
              <a:t>self.puntaje = puntaje</a:t>
            </a:r>
          </a:p>
        </p:txBody>
      </p:sp>
      <p:sp>
        <p:nvSpPr>
          <p:cNvPr id="10" name="texto">
            <a:extLst xmlns:a="http://schemas.openxmlformats.org/drawingml/2006/main">
              <a:ext uri="{FF2B5EF4-FFF2-40B4-BE49-F238E27FC236}">
                <a16:creationId xmlns:a16="http://schemas.microsoft.com/office/drawing/2014/main" id="{67760C8F-AE4E-4AA8-B3A7-AEE7CFB68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200275"/>
            <a:ext cx="3238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16735D"/>
                </a:solidFill>
                <a:latin typeface="DejaVu Sans"/>
                <a:ea typeface="DejaVu Sans"/>
                <a:cs typeface="DejaVu Sans"/>
              </a:rPr>
              <a:t>Composición</a:t>
            </a:r>
          </a:p>
        </p:txBody>
      </p:sp>
      <p:sp>
        <p:nvSpPr>
          <p:cNvPr id="11" name="texto">
            <a:extLst xmlns:a="http://schemas.openxmlformats.org/drawingml/2006/main">
              <a:ext uri="{FF2B5EF4-FFF2-40B4-BE49-F238E27FC236}">
                <a16:creationId xmlns:a16="http://schemas.microsoft.com/office/drawing/2014/main" id="{737A4F6F-A38D-4FFC-B413-A3746F8DD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943225"/>
            <a:ext cx="32385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Nivel crea su propio Mapa.</a:t>
            </a:r>
          </a:p>
        </p:txBody>
      </p:sp>
      <p:sp>
        <p:nvSpPr>
          <p:cNvPr id="12" name="fragmento-Composición">
            <a:extLst xmlns:a="http://schemas.openxmlformats.org/drawingml/2006/main">
              <a:ext uri="{FF2B5EF4-FFF2-40B4-BE49-F238E27FC236}">
                <a16:creationId xmlns:a16="http://schemas.microsoft.com/office/drawing/2014/main" id="{606684E8-E4BD-4687-AD10-EC4CFCFF9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667250"/>
            <a:ext cx="3238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72F3C"/>
                </a:solidFill>
                <a:latin typeface="DejaVu Sans Mono"/>
                <a:ea typeface="DejaVu Sans Mono"/>
                <a:cs typeface="DejaVu Sans Mono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72F3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172F3C"/>
                </a:solidFill>
                <a:latin typeface="DejaVu Sans Mono"/>
                <a:ea typeface="DejaVu Sans Mono"/>
                <a:cs typeface="DejaVu Sans Mono"/>
              </a:rPr>
              <a:t>self.mapa = Mapa(</a:t>
            </a:r>
          </a:p>
          <a:p xmlns:a="http://schemas.openxmlformats.org/drawingml/2006/main">
            <a:pPr>
              <a:defRPr sz="1800" b="0">
                <a:solidFill>
                  <a:srgbClr val="172F3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172F3C"/>
                </a:solidFill>
                <a:latin typeface="DejaVu Sans Mono"/>
                <a:ea typeface="DejaVu Sans Mono"/>
                <a:cs typeface="DejaVu Sans Mono"/>
              </a:rPr>
              <a:t>    PLANOS[indice])</a:t>
            </a:r>
          </a:p>
        </p:txBody>
      </p:sp>
    </p:spTree>
    <p:extLst>
      <p:ext uri="{BB962C8B-B14F-4D97-AF65-F5344CB8AC3E}">
        <p14:creationId xmlns:p14="http://schemas.microsoft.com/office/powerpoint/2010/main" val="185244295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apartado-rubrica">
            <a:extLst xmlns:a="http://schemas.openxmlformats.org/drawingml/2006/main">
              <a:ext uri="{FF2B5EF4-FFF2-40B4-BE49-F238E27FC236}">
                <a16:creationId xmlns:a16="http://schemas.microsoft.com/office/drawing/2014/main" id="{9ED391B0-418B-4E3C-84BE-1D55910BC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95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00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16735D"/>
                </a:solidFill>
                <a:latin typeface="DejaVu Sans"/>
                <a:ea typeface="DejaVu Sans"/>
                <a:cs typeface="DejaVu Sans"/>
              </a:rPr>
              <a:t>Punto 4 de 7. Criterio II: fundamentos POO, 6 puntos</a:t>
            </a:r>
          </a:p>
        </p:txBody>
      </p:sp>
      <p:sp>
        <p:nvSpPr>
          <p:cNvPr id="2" name="titulo">
            <a:extLst xmlns:a="http://schemas.openxmlformats.org/drawingml/2006/main">
              <a:ext uri="{FF2B5EF4-FFF2-40B4-BE49-F238E27FC236}">
                <a16:creationId xmlns:a16="http://schemas.microsoft.com/office/drawing/2014/main" id="{790F612F-932E-4BFE-8B9A-94264794B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53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IV. Fundamentos de POO, continuación</a:t>
            </a:r>
          </a:p>
        </p:txBody>
      </p:sp>
      <p:sp>
        <p:nvSpPr>
          <p:cNvPr id="3" name="numero">
            <a:extLst xmlns:a="http://schemas.openxmlformats.org/drawingml/2006/main">
              <a:ext uri="{FF2B5EF4-FFF2-40B4-BE49-F238E27FC236}">
                <a16:creationId xmlns:a16="http://schemas.microsoft.com/office/drawing/2014/main" id="{37317646-9CEA-4A51-AAD2-70F42F55C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10925" y="64770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06</a:t>
            </a:r>
          </a:p>
        </p:txBody>
      </p:sp>
      <p:sp>
        <p:nvSpPr>
          <p:cNvPr id="4" name="texto">
            <a:extLst xmlns:a="http://schemas.openxmlformats.org/drawingml/2006/main">
              <a:ext uri="{FF2B5EF4-FFF2-40B4-BE49-F238E27FC236}">
                <a16:creationId xmlns:a16="http://schemas.microsoft.com/office/drawing/2014/main" id="{DE593C13-73B8-4A6A-BCEC-6B03E480C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16735D"/>
                </a:solidFill>
                <a:latin typeface="DejaVu Sans"/>
                <a:ea typeface="DejaVu Sans"/>
                <a:cs typeface="DejaVu Sans"/>
              </a:rPr>
              <a:t>Herencia y abstracción</a:t>
            </a:r>
          </a:p>
        </p:txBody>
      </p:sp>
      <p:sp>
        <p:nvSpPr>
          <p:cNvPr id="5" name="texto">
            <a:extLst xmlns:a="http://schemas.openxmlformats.org/drawingml/2006/main">
              <a:ext uri="{FF2B5EF4-FFF2-40B4-BE49-F238E27FC236}">
                <a16:creationId xmlns:a16="http://schemas.microsoft.com/office/drawing/2014/main" id="{C8C2B3B7-B3A7-4816-A1AD-687142078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6975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Prisionero y Guardia heredan de la clase abstracta Personaje.</a:t>
            </a:r>
          </a:p>
        </p:txBody>
      </p:sp>
      <p:sp>
        <p:nvSpPr>
          <p:cNvPr id="6" name="texto">
            <a:extLst xmlns:a="http://schemas.openxmlformats.org/drawingml/2006/main">
              <a:ext uri="{FF2B5EF4-FFF2-40B4-BE49-F238E27FC236}">
                <a16:creationId xmlns:a16="http://schemas.microsoft.com/office/drawing/2014/main" id="{AA96F310-7C56-410C-AE99-6D0B64D0D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16735D"/>
                </a:solidFill>
                <a:latin typeface="DejaVu Sans"/>
                <a:ea typeface="DejaVu Sans"/>
                <a:cs typeface="DejaVu Sans"/>
              </a:rPr>
              <a:t>Polimorfismo</a:t>
            </a:r>
          </a:p>
        </p:txBody>
      </p:sp>
      <p:sp>
        <p:nvSpPr>
          <p:cNvPr id="7" name="bucle-polimorfico">
            <a:extLst xmlns:a="http://schemas.openxmlformats.org/drawingml/2006/main">
              <a:ext uri="{FF2B5EF4-FFF2-40B4-BE49-F238E27FC236}">
                <a16:creationId xmlns:a16="http://schemas.microsoft.com/office/drawing/2014/main" id="{F2BC45C1-77A8-449D-BFB9-22A8D03AA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95725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172F3C"/>
                </a:solidFill>
                <a:latin typeface="DejaVu Sans Mono"/>
                <a:ea typeface="DejaVu Sans Mono"/>
                <a:cs typeface="DejaVu Sans Mono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72F3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725" b="0">
                <a:solidFill>
                  <a:srgbClr val="172F3C"/>
                </a:solidFill>
                <a:latin typeface="DejaVu Sans Mono"/>
                <a:ea typeface="DejaVu Sans Mono"/>
                <a:cs typeface="DejaVu Sans Mono"/>
              </a:rPr>
              <a:t>for personaje in self.personajes:</a:t>
            </a:r>
          </a:p>
          <a:p xmlns:a="http://schemas.openxmlformats.org/drawingml/2006/main">
            <a:pPr>
              <a:defRPr sz="1725" b="0">
                <a:solidFill>
                  <a:srgbClr val="172F3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725" b="0">
                <a:solidFill>
                  <a:srgbClr val="172F3C"/>
                </a:solidFill>
                <a:latin typeface="DejaVu Sans Mono"/>
                <a:ea typeface="DejaVu Sans Mono"/>
                <a:cs typeface="DejaVu Sans Mono"/>
              </a:rPr>
              <a:t>    personaje.update()</a:t>
            </a:r>
          </a:p>
        </p:txBody>
      </p:sp>
      <p:sp>
        <p:nvSpPr>
          <p:cNvPr id="8" name="texto">
            <a:extLst xmlns:a="http://schemas.openxmlformats.org/drawingml/2006/main">
              <a:ext uri="{FF2B5EF4-FFF2-40B4-BE49-F238E27FC236}">
                <a16:creationId xmlns:a16="http://schemas.microsoft.com/office/drawing/2014/main" id="{6B33A105-1913-45EC-B249-D5F552B00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00625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16735D"/>
                </a:solidFill>
                <a:latin typeface="DejaVu Sans"/>
                <a:ea typeface="DejaVu Sans"/>
                <a:cs typeface="DejaVu Sans"/>
              </a:rPr>
              <a:t>Encapsulamiento</a:t>
            </a:r>
          </a:p>
        </p:txBody>
      </p:sp>
      <p:sp>
        <p:nvSpPr>
          <p:cNvPr id="9" name="texto">
            <a:extLst xmlns:a="http://schemas.openxmlformats.org/drawingml/2006/main">
              <a:ext uri="{FF2B5EF4-FFF2-40B4-BE49-F238E27FC236}">
                <a16:creationId xmlns:a16="http://schemas.microsoft.com/office/drawing/2014/main" id="{9BA8052A-42AA-48AB-A892-1FAD7FAB5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Puntaje._valor se consulta con get_valor().</a:t>
            </a:r>
          </a:p>
          <a:p xmlns:a="http://schemas.openxmlformats.org/drawingml/2006/main">
            <a:pPr>
              <a:defRPr sz="1800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set_valor() valida el dato y notifica el cambio.</a:t>
            </a:r>
          </a:p>
        </p:txBody>
      </p:sp>
    </p:spTree>
    <p:extLst>
      <p:ext uri="{BB962C8B-B14F-4D97-AF65-F5344CB8AC3E}">
        <p14:creationId xmlns:p14="http://schemas.microsoft.com/office/powerpoint/2010/main" val="121864363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apartado-rubrica">
            <a:extLst xmlns:a="http://schemas.openxmlformats.org/drawingml/2006/main">
              <a:ext uri="{FF2B5EF4-FFF2-40B4-BE49-F238E27FC236}">
                <a16:creationId xmlns:a16="http://schemas.microsoft.com/office/drawing/2014/main" id="{D74FF4DC-9D08-4088-A1A3-A8A364EA5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95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00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16735D"/>
                </a:solidFill>
                <a:latin typeface="DejaVu Sans"/>
                <a:ea typeface="DejaVu Sans"/>
                <a:cs typeface="DejaVu Sans"/>
              </a:rPr>
              <a:t>Punto 5 de 7. Criterio III: resultados parciales, 3 puntos</a:t>
            </a:r>
          </a:p>
        </p:txBody>
      </p:sp>
      <p:sp>
        <p:nvSpPr>
          <p:cNvPr id="2" name="titulo">
            <a:extLst xmlns:a="http://schemas.openxmlformats.org/drawingml/2006/main">
              <a:ext uri="{FF2B5EF4-FFF2-40B4-BE49-F238E27FC236}">
                <a16:creationId xmlns:a16="http://schemas.microsoft.com/office/drawing/2014/main" id="{832B6B99-9116-42F0-93C3-0B91CE5A5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53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VI. Resultados parciales</a:t>
            </a:r>
          </a:p>
        </p:txBody>
      </p:sp>
      <p:sp>
        <p:nvSpPr>
          <p:cNvPr id="3" name="numero">
            <a:extLst xmlns:a="http://schemas.openxmlformats.org/drawingml/2006/main">
              <a:ext uri="{FF2B5EF4-FFF2-40B4-BE49-F238E27FC236}">
                <a16:creationId xmlns:a16="http://schemas.microsoft.com/office/drawing/2014/main" id="{9F5D2316-64D3-4118-A218-78696C822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10925" y="64770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07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C6066D-1380-46A9-B740-68A4E0B9D83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66bf89dd91405b"/>
          <a:stretch xmlns:a="http://schemas.openxmlformats.org/drawingml/2006/main"/>
        </p:blipFill>
        <p:spPr>
          <a:xfrm xmlns:a="http://schemas.openxmlformats.org/drawingml/2006/main">
            <a:off x="612107" y="2038350"/>
            <a:ext cx="5852862" cy="4448175"/>
          </a:xfrm>
          <a:prstGeom xmlns:a="http://schemas.openxmlformats.org/drawingml/2006/main" prst="rect">
            <a:avLst/>
          </a:prstGeom>
        </p:spPr>
      </p:pic>
      <p:sp>
        <p:nvSpPr>
          <p:cNvPr id="5" name="texto">
            <a:extLst xmlns:a="http://schemas.openxmlformats.org/drawingml/2006/main">
              <a:ext uri="{FF2B5EF4-FFF2-40B4-BE49-F238E27FC236}">
                <a16:creationId xmlns:a16="http://schemas.microsoft.com/office/drawing/2014/main" id="{191EE7C5-F5ED-41F6-AE3C-00CE2FD0E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057400"/>
            <a:ext cx="4524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16735D"/>
                </a:solidFill>
                <a:latin typeface="DejaVu Sans"/>
                <a:ea typeface="DejaVu Sans"/>
                <a:cs typeface="DejaVu Sans"/>
              </a:rPr>
              <a:t>Interfaces y funcionalidades</a:t>
            </a:r>
          </a:p>
        </p:txBody>
      </p:sp>
      <p:sp>
        <p:nvSpPr>
          <p:cNvPr id="6" name="texto">
            <a:extLst xmlns:a="http://schemas.openxmlformats.org/drawingml/2006/main">
              <a:ext uri="{FF2B5EF4-FFF2-40B4-BE49-F238E27FC236}">
                <a16:creationId xmlns:a16="http://schemas.microsoft.com/office/drawing/2014/main" id="{BFCE25EB-C35A-4970-B32B-70C1CF0F3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638425"/>
            <a:ext cx="452437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Apertura de celda, vigilancia,</a:t>
            </a:r>
          </a:p>
          <a:p xmlns:a="http://schemas.openxmlformats.org/drawingml/2006/main">
            <a:pPr>
              <a:defRPr sz="1800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llaves y salida.</a:t>
            </a:r>
          </a:p>
          <a:p xmlns:a="http://schemas.openxmlformats.org/drawingml/2006/main">
            <a:pPr>
              <a:defRPr sz="1800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Campaña de cuatro niveles.</a:t>
            </a:r>
          </a:p>
        </p:txBody>
      </p:sp>
      <p:sp>
        <p:nvSpPr>
          <p:cNvPr id="7" name="texto">
            <a:extLst xmlns:a="http://schemas.openxmlformats.org/drawingml/2006/main">
              <a:ext uri="{FF2B5EF4-FFF2-40B4-BE49-F238E27FC236}">
                <a16:creationId xmlns:a16="http://schemas.microsoft.com/office/drawing/2014/main" id="{8A09FAE8-F101-4FF7-8616-B564B51A4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105275"/>
            <a:ext cx="4524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16735D"/>
                </a:solidFill>
                <a:latin typeface="DejaVu Sans"/>
                <a:ea typeface="DejaVu Sans"/>
                <a:cs typeface="DejaVu Sans"/>
              </a:rPr>
              <a:t>Uso de Git</a:t>
            </a:r>
          </a:p>
        </p:txBody>
      </p:sp>
      <p:sp>
        <p:nvSpPr>
          <p:cNvPr id="8" name="texto">
            <a:extLst xmlns:a="http://schemas.openxmlformats.org/drawingml/2006/main">
              <a:ext uri="{FF2B5EF4-FFF2-40B4-BE49-F238E27FC236}">
                <a16:creationId xmlns:a16="http://schemas.microsoft.com/office/drawing/2014/main" id="{7C86F058-6747-4F3E-903E-67C8CB5D7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648200"/>
            <a:ext cx="4524375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cfaba6e   Plan inicial</a:t>
            </a:r>
          </a:p>
          <a:p xmlns:a="http://schemas.openxmlformats.org/drawingml/2006/main">
            <a:pPr>
              <a:defRPr sz="1575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8917f20   Prototipo y pruebas</a:t>
            </a:r>
          </a:p>
          <a:p xmlns:a="http://schemas.openxmlformats.org/drawingml/2006/main">
            <a:pPr>
              <a:defRPr sz="1575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f3cd9fe   Informe y diagramas</a:t>
            </a:r>
          </a:p>
        </p:txBody>
      </p:sp>
      <p:sp>
        <p:nvSpPr>
          <p:cNvPr id="9" name="texto">
            <a:extLst xmlns:a="http://schemas.openxmlformats.org/drawingml/2006/main">
              <a:ext uri="{FF2B5EF4-FFF2-40B4-BE49-F238E27FC236}">
                <a16:creationId xmlns:a16="http://schemas.microsoft.com/office/drawing/2014/main" id="{D93D10F0-48B0-4B31-86D4-F8552841E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6000750"/>
            <a:ext cx="4524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00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16735D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234061b2580a466b"/>
              </a:rPr>
              <a:t>Ver historial del repositorio</a:t>
            </a:r>
          </a:p>
        </p:txBody>
      </p:sp>
    </p:spTree>
    <p:extLst>
      <p:ext uri="{BB962C8B-B14F-4D97-AF65-F5344CB8AC3E}">
        <p14:creationId xmlns:p14="http://schemas.microsoft.com/office/powerpoint/2010/main" val="94302649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apartado-rubrica">
            <a:extLst xmlns:a="http://schemas.openxmlformats.org/drawingml/2006/main">
              <a:ext uri="{FF2B5EF4-FFF2-40B4-BE49-F238E27FC236}">
                <a16:creationId xmlns:a16="http://schemas.microsoft.com/office/drawing/2014/main" id="{2B5C39D4-D791-40C5-8AD0-C28B02A29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95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00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16735D"/>
                </a:solidFill>
                <a:latin typeface="DejaVu Sans"/>
                <a:ea typeface="DejaVu Sans"/>
                <a:cs typeface="DejaVu Sans"/>
              </a:rPr>
              <a:t>Punto 6 de 7</a:t>
            </a:r>
          </a:p>
        </p:txBody>
      </p:sp>
      <p:sp>
        <p:nvSpPr>
          <p:cNvPr id="2" name="titulo">
            <a:extLst xmlns:a="http://schemas.openxmlformats.org/drawingml/2006/main">
              <a:ext uri="{FF2B5EF4-FFF2-40B4-BE49-F238E27FC236}">
                <a16:creationId xmlns:a16="http://schemas.microsoft.com/office/drawing/2014/main" id="{DA4CA869-6C04-4580-94E7-01265226A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53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VII. Conclusiones</a:t>
            </a:r>
          </a:p>
        </p:txBody>
      </p:sp>
      <p:sp>
        <p:nvSpPr>
          <p:cNvPr id="3" name="numero">
            <a:extLst xmlns:a="http://schemas.openxmlformats.org/drawingml/2006/main">
              <a:ext uri="{FF2B5EF4-FFF2-40B4-BE49-F238E27FC236}">
                <a16:creationId xmlns:a16="http://schemas.microsoft.com/office/drawing/2014/main" id="{AE0B8A9B-9FF7-4603-8979-A8B830F68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10925" y="64770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08</a:t>
            </a:r>
          </a:p>
        </p:txBody>
      </p:sp>
      <p:sp>
        <p:nvSpPr>
          <p:cNvPr id="4" name="texto">
            <a:extLst xmlns:a="http://schemas.openxmlformats.org/drawingml/2006/main">
              <a:ext uri="{FF2B5EF4-FFF2-40B4-BE49-F238E27FC236}">
                <a16:creationId xmlns:a16="http://schemas.microsoft.com/office/drawing/2014/main" id="{DB8983EA-0C37-474C-88C4-D316CD436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16735D"/>
                </a:solidFill>
                <a:latin typeface="DejaVu Sans"/>
                <a:ea typeface="DejaVu Sans"/>
                <a:cs typeface="DejaVu Sans"/>
              </a:rPr>
              <a:t>Logro</a:t>
            </a:r>
          </a:p>
        </p:txBody>
      </p:sp>
      <p:sp>
        <p:nvSpPr>
          <p:cNvPr id="5" name="texto">
            <a:extLst xmlns:a="http://schemas.openxmlformats.org/drawingml/2006/main">
              <a:ext uri="{FF2B5EF4-FFF2-40B4-BE49-F238E27FC236}">
                <a16:creationId xmlns:a16="http://schemas.microsoft.com/office/drawing/2014/main" id="{055A0920-A55C-4AAA-BD86-C9C9687D6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143125"/>
            <a:ext cx="8382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Juego funcional con clases, relaciones y patrones de diseño.</a:t>
            </a:r>
          </a:p>
        </p:txBody>
      </p:sp>
      <p:sp>
        <p:nvSpPr>
          <p:cNvPr id="6" name="texto">
            <a:extLst xmlns:a="http://schemas.openxmlformats.org/drawingml/2006/main">
              <a:ext uri="{FF2B5EF4-FFF2-40B4-BE49-F238E27FC236}">
                <a16:creationId xmlns:a16="http://schemas.microsoft.com/office/drawing/2014/main" id="{AB6DAEB8-8C9B-49F4-B995-E5C9AF52D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33775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16735D"/>
                </a:solidFill>
                <a:latin typeface="DejaVu Sans"/>
                <a:ea typeface="DejaVu Sans"/>
                <a:cs typeface="DejaVu Sans"/>
              </a:rPr>
              <a:t>Aprendizaje</a:t>
            </a:r>
          </a:p>
        </p:txBody>
      </p:sp>
      <p:sp>
        <p:nvSpPr>
          <p:cNvPr id="7" name="texto">
            <a:extLst xmlns:a="http://schemas.openxmlformats.org/drawingml/2006/main">
              <a:ext uri="{FF2B5EF4-FFF2-40B4-BE49-F238E27FC236}">
                <a16:creationId xmlns:a16="http://schemas.microsoft.com/office/drawing/2014/main" id="{732CB38B-50E5-4CF7-B2C8-5730A5913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533775"/>
            <a:ext cx="8382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Separar responsabilidades facilita probar cada regla.</a:t>
            </a:r>
          </a:p>
        </p:txBody>
      </p:sp>
      <p:sp>
        <p:nvSpPr>
          <p:cNvPr id="8" name="texto">
            <a:extLst xmlns:a="http://schemas.openxmlformats.org/drawingml/2006/main">
              <a:ext uri="{FF2B5EF4-FFF2-40B4-BE49-F238E27FC236}">
                <a16:creationId xmlns:a16="http://schemas.microsoft.com/office/drawing/2014/main" id="{BCB52D4D-6C11-46E1-B1AC-DDA6A8D5F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24425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16735D"/>
                </a:solidFill>
                <a:latin typeface="DejaVu Sans"/>
                <a:ea typeface="DejaVu Sans"/>
                <a:cs typeface="DejaVu Sans"/>
              </a:rPr>
              <a:t>Dificultad</a:t>
            </a:r>
          </a:p>
        </p:txBody>
      </p:sp>
      <p:sp>
        <p:nvSpPr>
          <p:cNvPr id="9" name="texto">
            <a:extLst xmlns:a="http://schemas.openxmlformats.org/drawingml/2006/main">
              <a:ext uri="{FF2B5EF4-FFF2-40B4-BE49-F238E27FC236}">
                <a16:creationId xmlns:a16="http://schemas.microsoft.com/office/drawing/2014/main" id="{61C68ABA-2815-4761-A825-3E764F7AA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924425"/>
            <a:ext cx="8382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Mantener coherentes paredes, puertas, ruido y caminos.</a:t>
            </a:r>
          </a:p>
        </p:txBody>
      </p:sp>
    </p:spTree>
    <p:extLst>
      <p:ext uri="{BB962C8B-B14F-4D97-AF65-F5344CB8AC3E}">
        <p14:creationId xmlns:p14="http://schemas.microsoft.com/office/powerpoint/2010/main" val="93728679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apartado-rubrica">
            <a:extLst xmlns:a="http://schemas.openxmlformats.org/drawingml/2006/main">
              <a:ext uri="{FF2B5EF4-FFF2-40B4-BE49-F238E27FC236}">
                <a16:creationId xmlns:a16="http://schemas.microsoft.com/office/drawing/2014/main" id="{A26183F0-0640-4674-B529-45FFE401A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95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00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16735D"/>
                </a:solidFill>
                <a:latin typeface="DejaVu Sans"/>
                <a:ea typeface="DejaVu Sans"/>
                <a:cs typeface="DejaVu Sans"/>
              </a:rPr>
              <a:t>Punto 7 de 7</a:t>
            </a:r>
          </a:p>
        </p:txBody>
      </p:sp>
      <p:sp>
        <p:nvSpPr>
          <p:cNvPr id="2" name="titulo">
            <a:extLst xmlns:a="http://schemas.openxmlformats.org/drawingml/2006/main">
              <a:ext uri="{FF2B5EF4-FFF2-40B4-BE49-F238E27FC236}">
                <a16:creationId xmlns:a16="http://schemas.microsoft.com/office/drawing/2014/main" id="{F36F143D-8059-416E-AFB5-E1D1DBB69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53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F3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F3C"/>
                </a:solidFill>
                <a:latin typeface="DejaVu Sans"/>
                <a:ea typeface="DejaVu Sans"/>
                <a:cs typeface="DejaVu Sans"/>
              </a:rPr>
              <a:t>VIII. Anexos</a:t>
            </a:r>
          </a:p>
        </p:txBody>
      </p:sp>
      <p:sp>
        <p:nvSpPr>
          <p:cNvPr id="3" name="numero">
            <a:extLst xmlns:a="http://schemas.openxmlformats.org/drawingml/2006/main">
              <a:ext uri="{FF2B5EF4-FFF2-40B4-BE49-F238E27FC236}">
                <a16:creationId xmlns:a16="http://schemas.microsoft.com/office/drawing/2014/main" id="{9BFF43AC-9A72-4E30-A600-9E0A6FEB9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10925" y="64770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09</a:t>
            </a:r>
          </a:p>
        </p:txBody>
      </p:sp>
      <p:sp>
        <p:nvSpPr>
          <p:cNvPr id="4" name="texto">
            <a:extLst xmlns:a="http://schemas.openxmlformats.org/drawingml/2006/main">
              <a:ext uri="{FF2B5EF4-FFF2-40B4-BE49-F238E27FC236}">
                <a16:creationId xmlns:a16="http://schemas.microsoft.com/office/drawing/2014/main" id="{1A4ABAB5-E9D9-4B21-BA21-D54E56150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14525"/>
            <a:ext cx="5429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6735D"/>
                </a:solidFill>
                <a:latin typeface="DejaVu Sans"/>
                <a:ea typeface="DejaVu Sans"/>
                <a:cs typeface="DejaVu Sans"/>
              </a:rPr>
              <a:t>Fragmento de código: Puntaje</a:t>
            </a:r>
          </a:p>
        </p:txBody>
      </p:sp>
      <p:sp>
        <p:nvSpPr>
          <p:cNvPr id="5" name="codigo-setter-completo">
            <a:extLst xmlns:a="http://schemas.openxmlformats.org/drawingml/2006/main">
              <a:ext uri="{FF2B5EF4-FFF2-40B4-BE49-F238E27FC236}">
                <a16:creationId xmlns:a16="http://schemas.microsoft.com/office/drawing/2014/main" id="{D6503A54-337C-494D-98BB-825D5E66F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62225"/>
            <a:ext cx="6858000" cy="2257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172F3C"/>
                </a:solidFill>
                <a:latin typeface="DejaVu Sans Mono"/>
                <a:ea typeface="DejaVu Sans Mono"/>
                <a:cs typeface="DejaVu Sans Mono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172F3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>
                <a:solidFill>
                  <a:srgbClr val="172F3C"/>
                </a:solidFill>
                <a:latin typeface="DejaVu Sans Mono"/>
                <a:ea typeface="DejaVu Sans Mono"/>
                <a:cs typeface="DejaVu Sans Mono"/>
              </a:rPr>
              <a:t>def set_valor(self, valor):</a:t>
            </a:r>
          </a:p>
          <a:p xmlns:a="http://schemas.openxmlformats.org/drawingml/2006/main">
            <a:pPr>
              <a:defRPr sz="1425" b="0">
                <a:solidFill>
                  <a:srgbClr val="172F3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>
                <a:solidFill>
                  <a:srgbClr val="172F3C"/>
                </a:solidFill>
                <a:latin typeface="DejaVu Sans Mono"/>
                <a:ea typeface="DejaVu Sans Mono"/>
                <a:cs typeface="DejaVu Sans Mono"/>
              </a:rPr>
              <a:t>    if type(valor) is not int or valor &lt; 0:</a:t>
            </a:r>
          </a:p>
          <a:p xmlns:a="http://schemas.openxmlformats.org/drawingml/2006/main">
            <a:pPr>
              <a:defRPr sz="1425" b="0">
                <a:solidFill>
                  <a:srgbClr val="172F3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>
                <a:solidFill>
                  <a:srgbClr val="172F3C"/>
                </a:solidFill>
                <a:latin typeface="DejaVu Sans Mono"/>
                <a:ea typeface="DejaVu Sans Mono"/>
                <a:cs typeface="DejaVu Sans Mono"/>
              </a:rPr>
              <a:t>        raise ValueError(</a:t>
            </a:r>
          </a:p>
          <a:p xmlns:a="http://schemas.openxmlformats.org/drawingml/2006/main">
            <a:pPr>
              <a:defRPr sz="1425" b="0">
                <a:solidFill>
                  <a:srgbClr val="172F3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>
                <a:solidFill>
                  <a:srgbClr val="172F3C"/>
                </a:solidFill>
                <a:latin typeface="DejaVu Sans Mono"/>
                <a:ea typeface="DejaVu Sans Mono"/>
                <a:cs typeface="DejaVu Sans Mono"/>
              </a:rPr>
              <a:t>            "El puntaje debe ser un entero no negativo.")</a:t>
            </a:r>
          </a:p>
          <a:p xmlns:a="http://schemas.openxmlformats.org/drawingml/2006/main">
            <a:pPr>
              <a:defRPr sz="1425" b="0">
                <a:solidFill>
                  <a:srgbClr val="172F3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>
                <a:solidFill>
                  <a:srgbClr val="172F3C"/>
                </a:solidFill>
                <a:latin typeface="DejaVu Sans Mono"/>
                <a:ea typeface="DejaVu Sans Mono"/>
                <a:cs typeface="DejaVu Sans Mono"/>
              </a:rPr>
              <a:t>    self._valor = valor</a:t>
            </a:r>
          </a:p>
          <a:p xmlns:a="http://schemas.openxmlformats.org/drawingml/2006/main">
            <a:pPr>
              <a:defRPr sz="1425" b="0">
                <a:solidFill>
                  <a:srgbClr val="172F3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>
                <a:solidFill>
                  <a:srgbClr val="172F3C"/>
                </a:solidFill>
                <a:latin typeface="DejaVu Sans Mono"/>
                <a:ea typeface="DejaVu Sans Mono"/>
                <a:cs typeface="DejaVu Sans Mono"/>
              </a:rPr>
              <a:t>    self._notificar()</a:t>
            </a:r>
          </a:p>
        </p:txBody>
      </p:sp>
      <p:sp>
        <p:nvSpPr>
          <p:cNvPr id="6" name="texto">
            <a:extLst xmlns:a="http://schemas.openxmlformats.org/drawingml/2006/main">
              <a:ext uri="{FF2B5EF4-FFF2-40B4-BE49-F238E27FC236}">
                <a16:creationId xmlns:a16="http://schemas.microsoft.com/office/drawing/2014/main" id="{19FDDAE9-CE0A-4F73-AF36-2C25204AA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14525"/>
            <a:ext cx="34956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6735D"/>
                </a:solidFill>
                <a:latin typeface="DejaVu Sans"/>
                <a:ea typeface="DejaVu Sans"/>
                <a:cs typeface="DejaVu Sans"/>
              </a:rPr>
              <a:t>Diagrama de clases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6BA5D1-2483-49F1-B92E-5F51780FF39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4edad4dc8644e2"/>
          <a:stretch xmlns:a="http://schemas.openxmlformats.org/drawingml/2006/main"/>
        </p:blipFill>
        <p:spPr>
          <a:xfrm xmlns:a="http://schemas.openxmlformats.org/drawingml/2006/main">
            <a:off x="8001441" y="2476500"/>
            <a:ext cx="3494794" cy="2819400"/>
          </a:xfrm>
          <a:prstGeom xmlns:a="http://schemas.openxmlformats.org/drawingml/2006/main" prst="rect">
            <a:avLst/>
          </a:prstGeom>
        </p:spPr>
      </p:pic>
      <p:sp>
        <p:nvSpPr>
          <p:cNvPr id="8" name="texto">
            <a:extLst xmlns:a="http://schemas.openxmlformats.org/drawingml/2006/main">
              <a:ext uri="{FF2B5EF4-FFF2-40B4-BE49-F238E27FC236}">
                <a16:creationId xmlns:a16="http://schemas.microsoft.com/office/drawing/2014/main" id="{57FD0672-F110-4A38-A2E1-6D6C391EA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572125"/>
            <a:ext cx="34956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00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16735D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e79452521a6244d7"/>
              </a:rPr>
              <a:t>Abrir UML completo</a:t>
            </a:r>
          </a:p>
        </p:txBody>
      </p:sp>
      <p:sp>
        <p:nvSpPr>
          <p:cNvPr id="9" name="texto">
            <a:extLst xmlns:a="http://schemas.openxmlformats.org/drawingml/2006/main">
              <a:ext uri="{FF2B5EF4-FFF2-40B4-BE49-F238E27FC236}">
                <a16:creationId xmlns:a16="http://schemas.microsoft.com/office/drawing/2014/main" id="{1225CD33-A78C-4E83-8BD6-75993CE36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72125"/>
            <a:ext cx="685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00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735D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16735D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56d9e92481204409"/>
              </a:rPr>
              <a:t>Abrir código de Puntaje</a:t>
            </a:r>
          </a:p>
        </p:txBody>
      </p:sp>
    </p:spTree>
    <p:extLst>
      <p:ext uri="{BB962C8B-B14F-4D97-AF65-F5344CB8AC3E}">
        <p14:creationId xmlns:p14="http://schemas.microsoft.com/office/powerpoint/2010/main" val="11133577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2026-10-16T13:01:33.2350000Z</dcterms:created>
  <dcterms:modified xsi:type="dcterms:W3CDTF">2026-10-16T13:01:33.2350000Z</dcterms:modified>
</coreProperties>
</file>