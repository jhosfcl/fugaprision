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2d2d33445554b53" /><Relationship Type="http://schemas.openxmlformats.org/officeDocument/2006/relationships/extended-properties" Target="/docProps/app.xml" Id="Ra1b43bd04fda405a" /><Relationship Type="http://schemas.openxmlformats.org/officeDocument/2006/relationships/officeDocument" Target="/ppt/presentation.xml" Id="Rf69bdc5f67944e82" /></Relationships>
</file>

<file path=ppt/presentation.xml><?xml version="1.0" encoding="utf-8"?>
<p:presentation xmlns:p="http://schemas.openxmlformats.org/presentationml/2006/main">
  <p:sldMasterIdLst>
    <p:sldMasterId xmlns:r="http://schemas.openxmlformats.org/officeDocument/2006/relationships" id="2147483648" r:id="R27a076be608a4c69"/>
  </p:sldMasterIdLst>
  <p:notesMasterIdLst>
    <p:notesMasterId xmlns:r="http://schemas.openxmlformats.org/officeDocument/2006/relationships" r:id="Ra8e3c226ed574268"/>
  </p:notesMasterIdLst>
  <p:sldIdLst>
    <p:sldId xmlns:r="http://schemas.openxmlformats.org/officeDocument/2006/relationships" id="256" r:id="Rc7ca878ce4064165"/>
    <p:sldId xmlns:r="http://schemas.openxmlformats.org/officeDocument/2006/relationships" id="257" r:id="R263e299309fa44c0"/>
    <p:sldId xmlns:r="http://schemas.openxmlformats.org/officeDocument/2006/relationships" id="258" r:id="R1ec8bedb362645f5"/>
    <p:sldId xmlns:ns1="http://schemas.openxmlformats.org/officeDocument/2006/relationships" id="1035" ns1:id="rAddedSlide35"/>
    <p:sldId xmlns:ns1="http://schemas.openxmlformats.org/officeDocument/2006/relationships" id="1036" ns1:id="rAddedSlide36"/>
    <p:sldId xmlns:ns1="http://schemas.openxmlformats.org/officeDocument/2006/relationships" id="1037" ns1:id="rAddedSlide37"/>
    <p:sldId xmlns:r="http://schemas.openxmlformats.org/officeDocument/2006/relationships" id="259" r:id="R8c2c657b10d944f9"/>
    <p:sldId xmlns:r="http://schemas.openxmlformats.org/officeDocument/2006/relationships" id="260" r:id="R1360743a35534614"/>
    <p:sldId xmlns:r="http://schemas.openxmlformats.org/officeDocument/2006/relationships" id="261" r:id="R6c23391a62bd4b2c"/>
    <p:sldId xmlns:ns1="http://schemas.openxmlformats.org/officeDocument/2006/relationships" id="1038" ns1:id="rAddedSlide38"/>
    <p:sldId xmlns:r="http://schemas.openxmlformats.org/officeDocument/2006/relationships" id="262" r:id="R8a88b9a4c2b64c37"/>
    <p:sldId xmlns:r="http://schemas.openxmlformats.org/officeDocument/2006/relationships" id="264" r:id="R58f18dae9f55491f"/>
    <p:sldId xmlns:r="http://schemas.openxmlformats.org/officeDocument/2006/relationships" id="265" r:id="R3cb31180b86b42b3"/>
    <p:sldId xmlns:r="http://schemas.openxmlformats.org/officeDocument/2006/relationships" id="266" r:id="R67005834b3084ce8"/>
    <p:sldId xmlns:r="http://schemas.openxmlformats.org/officeDocument/2006/relationships" id="267" r:id="Rcf1d1bf8f0aa44f7"/>
    <p:sldId xmlns:r="http://schemas.openxmlformats.org/officeDocument/2006/relationships" id="268" r:id="R389cb17fbd48497f"/>
    <p:sldId xmlns:r="http://schemas.openxmlformats.org/officeDocument/2006/relationships" id="269" r:id="R4c2148d9842a406c"/>
    <p:sldId xmlns:r="http://schemas.openxmlformats.org/officeDocument/2006/relationships" id="270" r:id="Rd636bb4949da4f8a"/>
    <p:sldId xmlns:r="http://schemas.openxmlformats.org/officeDocument/2006/relationships" id="271" r:id="Rabbb94a4d6304e27"/>
    <p:sldId xmlns:r="http://schemas.openxmlformats.org/officeDocument/2006/relationships" id="272" r:id="R680b100084a042ec"/>
    <p:sldId xmlns:r="http://schemas.openxmlformats.org/officeDocument/2006/relationships" id="273" r:id="R657365b50a6c48dd"/>
    <p:sldId xmlns:r="http://schemas.openxmlformats.org/officeDocument/2006/relationships" id="274" r:id="R71aa1552ee61497d"/>
    <p:sldId xmlns:r="http://schemas.openxmlformats.org/officeDocument/2006/relationships" id="275" r:id="Reb8ba19857f142be"/>
    <p:sldId xmlns:r="http://schemas.openxmlformats.org/officeDocument/2006/relationships" id="276" r:id="R988a1d5bc56f4cef"/>
    <p:sldId xmlns:r="http://schemas.openxmlformats.org/officeDocument/2006/relationships" id="277" r:id="R487f794ef6ab4604"/>
    <p:sldId xmlns:r="http://schemas.openxmlformats.org/officeDocument/2006/relationships" id="278" r:id="R0483bc0e1bf4465e"/>
    <p:sldId xmlns:r="http://schemas.openxmlformats.org/officeDocument/2006/relationships" id="279" r:id="Rd9785e78d06d472a"/>
    <p:sldId xmlns:r="http://schemas.openxmlformats.org/officeDocument/2006/relationships" id="280" r:id="Rf405cd303f124d8a"/>
    <p:sldId xmlns:r="http://schemas.openxmlformats.org/officeDocument/2006/relationships" id="281" r:id="R5f305e23314f4e68"/>
    <p:sldId xmlns:r="http://schemas.openxmlformats.org/officeDocument/2006/relationships" id="282" r:id="R073945e43e014f77"/>
    <p:sldId xmlns:r="http://schemas.openxmlformats.org/officeDocument/2006/relationships" id="283" r:id="Rc9da54c1a6bf4810"/>
    <p:sldId xmlns:r="http://schemas.openxmlformats.org/officeDocument/2006/relationships" id="284" r:id="R5e5d953cd9934ea1"/>
    <p:sldId xmlns:r="http://schemas.openxmlformats.org/officeDocument/2006/relationships" id="285" r:id="R518c7489c6b142ff"/>
    <p:sldId xmlns:r="http://schemas.openxmlformats.org/officeDocument/2006/relationships" id="286" r:id="R8025c5819d8848dc"/>
    <p:sldId xmlns:r="http://schemas.openxmlformats.org/officeDocument/2006/relationships" id="287" r:id="R74e5f61cb0d24dd0"/>
    <p:sldId xmlns:r="http://schemas.openxmlformats.org/officeDocument/2006/relationships" id="288" r:id="Ra1e19fd260a04ab7"/>
    <p:sldId xmlns:r="http://schemas.openxmlformats.org/officeDocument/2006/relationships" id="289" r:id="R143049fe58d34f99"/>
    <p:sldId xmlns:ns1="http://schemas.openxmlformats.org/officeDocument/2006/relationships" id="1039" ns1:id="rAddedSlide39"/>
    <p:sldId xmlns:ns1="http://schemas.openxmlformats.org/officeDocument/2006/relationships" id="1040" ns1:id="rAddedSlide40"/>
    <p:sldId xmlns:ns1="http://schemas.openxmlformats.org/officeDocument/2006/relationships" id="1041" ns1:id="rAddedSlide41"/>
    <p:sldId xmlns:ns1="http://schemas.openxmlformats.org/officeDocument/2006/relationships" id="1042" ns1:id="rAddedSlide42"/>
    <p:sldId xmlns:r="http://schemas.openxmlformats.org/officeDocument/2006/relationships" id="263" r:id="Recbf56a573c4495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6e5e4ef67e12453f"/><Relationship Type="http://schemas.openxmlformats.org/officeDocument/2006/relationships/slideMaster" Target="/ppt/slideMasters/slideMaster1.xml" Id="R27a076be608a4c69"/><Relationship Type="http://schemas.openxmlformats.org/officeDocument/2006/relationships/notesMaster" Target="/ppt/notesMasters/notesMaster1.xml" Id="Ra8e3c226ed574268"/><Relationship Type="http://schemas.openxmlformats.org/officeDocument/2006/relationships/presProps" Target="/ppt/presProps.xml" Id="Rc48d27e283fd4349"/><Relationship Type="http://schemas.openxmlformats.org/officeDocument/2006/relationships/tableStyles" Target="/ppt/tableStyles.xml" Id="R25cc393e78d34ff7"/><Relationship Type="http://schemas.openxmlformats.org/officeDocument/2006/relationships/slide" Target="/ppt/slides/slide1.xml" Id="Rc7ca878ce4064165"/><Relationship Type="http://schemas.openxmlformats.org/officeDocument/2006/relationships/slide" Target="/ppt/slides/slide2.xml" Id="R263e299309fa44c0"/><Relationship Type="http://schemas.openxmlformats.org/officeDocument/2006/relationships/slide" Target="/ppt/slides/slide3.xml" Id="R1ec8bedb362645f5"/><Relationship Type="http://schemas.openxmlformats.org/officeDocument/2006/relationships/slide" Target="/ppt/slides/slide4.xml" Id="R8c2c657b10d944f9"/><Relationship Type="http://schemas.openxmlformats.org/officeDocument/2006/relationships/slide" Target="/ppt/slides/slide5.xml" Id="R1360743a35534614"/><Relationship Type="http://schemas.openxmlformats.org/officeDocument/2006/relationships/slide" Target="/ppt/slides/slide6.xml" Id="R6c23391a62bd4b2c"/><Relationship Type="http://schemas.openxmlformats.org/officeDocument/2006/relationships/slide" Target="/ppt/slides/slide7.xml" Id="R8a88b9a4c2b64c37"/><Relationship Type="http://schemas.openxmlformats.org/officeDocument/2006/relationships/slide" Target="/ppt/slides/slide8.xml" Id="Recbf56a573c4495f"/><Relationship Type="http://schemas.openxmlformats.org/officeDocument/2006/relationships/slide" Target="/ppt/slides/slide9.xml" Id="R58f18dae9f55491f"/><Relationship Type="http://schemas.openxmlformats.org/officeDocument/2006/relationships/slide" Target="/ppt/slides/slide10.xml" Id="R3cb31180b86b42b3"/><Relationship Type="http://schemas.openxmlformats.org/officeDocument/2006/relationships/slide" Target="/ppt/slides/slide11.xml" Id="R67005834b3084ce8"/><Relationship Type="http://schemas.openxmlformats.org/officeDocument/2006/relationships/slide" Target="/ppt/slides/slide12.xml" Id="Rcf1d1bf8f0aa44f7"/><Relationship Type="http://schemas.openxmlformats.org/officeDocument/2006/relationships/slide" Target="/ppt/slides/slide13.xml" Id="R389cb17fbd48497f"/><Relationship Type="http://schemas.openxmlformats.org/officeDocument/2006/relationships/slide" Target="/ppt/slides/slide14.xml" Id="R4c2148d9842a406c"/><Relationship Type="http://schemas.openxmlformats.org/officeDocument/2006/relationships/slide" Target="/ppt/slides/slide15.xml" Id="Rd636bb4949da4f8a"/><Relationship Type="http://schemas.openxmlformats.org/officeDocument/2006/relationships/slide" Target="/ppt/slides/slide16.xml" Id="Rabbb94a4d6304e27"/><Relationship Type="http://schemas.openxmlformats.org/officeDocument/2006/relationships/slide" Target="/ppt/slides/slide17.xml" Id="R680b100084a042ec"/><Relationship Type="http://schemas.openxmlformats.org/officeDocument/2006/relationships/slide" Target="/ppt/slides/slide18.xml" Id="R657365b50a6c48dd"/><Relationship Type="http://schemas.openxmlformats.org/officeDocument/2006/relationships/slide" Target="/ppt/slides/slide19.xml" Id="R71aa1552ee61497d"/><Relationship Type="http://schemas.openxmlformats.org/officeDocument/2006/relationships/slide" Target="/ppt/slides/slide20.xml" Id="Reb8ba19857f142be"/><Relationship Type="http://schemas.openxmlformats.org/officeDocument/2006/relationships/slide" Target="/ppt/slides/slide21.xml" Id="R988a1d5bc56f4cef"/><Relationship Type="http://schemas.openxmlformats.org/officeDocument/2006/relationships/slide" Target="/ppt/slides/slide22.xml" Id="R487f794ef6ab4604"/><Relationship Type="http://schemas.openxmlformats.org/officeDocument/2006/relationships/slide" Target="/ppt/slides/slide23.xml" Id="R0483bc0e1bf4465e"/><Relationship Type="http://schemas.openxmlformats.org/officeDocument/2006/relationships/slide" Target="/ppt/slides/slide24.xml" Id="Rd9785e78d06d472a"/><Relationship Type="http://schemas.openxmlformats.org/officeDocument/2006/relationships/slide" Target="/ppt/slides/slide25.xml" Id="Rf405cd303f124d8a"/><Relationship Type="http://schemas.openxmlformats.org/officeDocument/2006/relationships/slide" Target="/ppt/slides/slide26.xml" Id="R5f305e23314f4e68"/><Relationship Type="http://schemas.openxmlformats.org/officeDocument/2006/relationships/slide" Target="/ppt/slides/slide27.xml" Id="R073945e43e014f77"/><Relationship Type="http://schemas.openxmlformats.org/officeDocument/2006/relationships/slide" Target="/ppt/slides/slide28.xml" Id="Rc9da54c1a6bf4810"/><Relationship Type="http://schemas.openxmlformats.org/officeDocument/2006/relationships/slide" Target="/ppt/slides/slide29.xml" Id="R5e5d953cd9934ea1"/><Relationship Type="http://schemas.openxmlformats.org/officeDocument/2006/relationships/slide" Target="/ppt/slides/slide30.xml" Id="R518c7489c6b142ff"/><Relationship Type="http://schemas.openxmlformats.org/officeDocument/2006/relationships/slide" Target="/ppt/slides/slide31.xml" Id="R8025c5819d8848dc"/><Relationship Type="http://schemas.openxmlformats.org/officeDocument/2006/relationships/slide" Target="/ppt/slides/slide32.xml" Id="R74e5f61cb0d24dd0"/><Relationship Type="http://schemas.openxmlformats.org/officeDocument/2006/relationships/slide" Target="/ppt/slides/slide33.xml" Id="Ra1e19fd260a04ab7"/><Relationship Type="http://schemas.openxmlformats.org/officeDocument/2006/relationships/slide" Target="/ppt/slides/slide34.xml" Id="R143049fe58d34f99"/><Relationship Type="http://schemas.openxmlformats.org/officeDocument/2006/relationships/slide" Target="/ppt/slides/slide35.xml" Id="rAddedSlide35"/><Relationship Type="http://schemas.openxmlformats.org/officeDocument/2006/relationships/slide" Target="/ppt/slides/slide36.xml" Id="rAddedSlide36"/><Relationship Type="http://schemas.openxmlformats.org/officeDocument/2006/relationships/slide" Target="/ppt/slides/slide37.xml" Id="rAddedSlide37"/><Relationship Type="http://schemas.openxmlformats.org/officeDocument/2006/relationships/slide" Target="/ppt/slides/slide38.xml" Id="rAddedSlide38"/><Relationship Type="http://schemas.openxmlformats.org/officeDocument/2006/relationships/slide" Target="/ppt/slides/slide39.xml" Id="rAddedSlide39"/><Relationship Type="http://schemas.openxmlformats.org/officeDocument/2006/relationships/slide" Target="/ppt/slides/slide40.xml" Id="rAddedSlide40"/><Relationship Type="http://schemas.openxmlformats.org/officeDocument/2006/relationships/slide" Target="/ppt/slides/slide41.xml" Id="rAddedSlide41"/><Relationship Type="http://schemas.openxmlformats.org/officeDocument/2006/relationships/slide" Target="/ppt/slides/slide42.xml" Id="rAddedSlide42"/></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d17aa3bbac4c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61e5a5218e4964" /><Relationship Type="http://schemas.openxmlformats.org/officeDocument/2006/relationships/notesMaster" Target="/ppt/notesMasters/notesMaster1.xml" Id="Rb20f304ea66243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180aa0d38a2f4eaa" /><Relationship Type="http://schemas.openxmlformats.org/officeDocument/2006/relationships/notesMaster" Target="/ppt/notesMasters/notesMaster1.xml" Id="R397e8e9585334f0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3373a8856c4835" /><Relationship Type="http://schemas.openxmlformats.org/officeDocument/2006/relationships/notesMaster" Target="/ppt/notesMasters/notesMaster1.xml" Id="R45b715b027284d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80b6b3cbd8d4dab" /><Relationship Type="http://schemas.openxmlformats.org/officeDocument/2006/relationships/notesMaster" Target="/ppt/notesMasters/notesMaster1.xml" Id="R210487c304264361" /></Relationships>
</file>

<file path=ppt/notesSlides/_rels/notesSlide5.xml.rels>&#65279;<?xml version="1.0" encoding="utf-8"?><Relationships xmlns="http://schemas.openxmlformats.org/package/2006/relationships"><Relationship Type="http://schemas.openxmlformats.org/officeDocument/2006/relationships/slide" Target="/ppt/slides/slide5.xml" Id="Re87fc6aca5e84e9c" /><Relationship Type="http://schemas.openxmlformats.org/officeDocument/2006/relationships/notesMaster" Target="/ppt/notesMasters/notesMaster1.xml" Id="R887105640d2a42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0f9caec8074151" /><Relationship Type="http://schemas.openxmlformats.org/officeDocument/2006/relationships/notesMaster" Target="/ppt/notesMasters/notesMaster1.xml" Id="R560fec260f0a4db6" /></Relationships>
</file>

<file path=ppt/notesSlides/_rels/notesSlide7.xml.rels>&#65279;<?xml version="1.0" encoding="utf-8"?><Relationships xmlns="http://schemas.openxmlformats.org/package/2006/relationships"><Relationship Type="http://schemas.openxmlformats.org/officeDocument/2006/relationships/slide" Target="/ppt/slides/slide7.xml" Id="R521c289fa78741f2" /><Relationship Type="http://schemas.openxmlformats.org/officeDocument/2006/relationships/notesMaster" Target="/ppt/notesMasters/notesMaster1.xml" Id="Rec9d0474fe2a4c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9b07699e97904a49" /><Relationship Type="http://schemas.openxmlformats.org/officeDocument/2006/relationships/notesMaster" Target="/ppt/notesMasters/notesMaster1.xml" Id="R37bd9795b7cf4fc0" /></Relationships>
</file>

<file path=ppt/notesSlides/_rels/notesSlide9.xml.rels>&#65279;<?xml version="1.0" encoding="utf-8"?><Relationships xmlns="http://schemas.openxmlformats.org/package/2006/relationships"><Relationship Type="http://schemas.openxmlformats.org/officeDocument/2006/relationships/slide" Target="/ppt/slides/slide9.xml" Id="Ra9a5273222a64e68" /><Relationship Type="http://schemas.openxmlformats.org/officeDocument/2006/relationships/notesMaster" Target="/ppt/notesMasters/notesMaster1.xml" Id="Rc7529eec8444460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de2ec2a0a76430f" /><Relationship Type="http://schemas.openxmlformats.org/officeDocument/2006/relationships/notesMaster" Target="/ppt/notesMasters/notesMaster1.xml" Id="Rc089ad99aed1415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a4c6da830e54ef6" /><Relationship Type="http://schemas.openxmlformats.org/officeDocument/2006/relationships/notesMaster" Target="/ppt/notesMasters/notesMaster1.xml" Id="R97c5cdfde49c4e5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afb66c28112414e" /><Relationship Type="http://schemas.openxmlformats.org/officeDocument/2006/relationships/notesMaster" Target="/ppt/notesMasters/notesMaster1.xml" Id="R54be77c7ba94401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5660cfacb264c52" /><Relationship Type="http://schemas.openxmlformats.org/officeDocument/2006/relationships/notesMaster" Target="/ppt/notesMasters/notesMaster1.xml" Id="Rf39ef08b4165471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a7f9c82d695430b" /><Relationship Type="http://schemas.openxmlformats.org/officeDocument/2006/relationships/notesMaster" Target="/ppt/notesMasters/notesMaster1.xml" Id="R7511b7376ad2413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f41ffd722994fe7" /><Relationship Type="http://schemas.openxmlformats.org/officeDocument/2006/relationships/notesMaster" Target="/ppt/notesMasters/notesMaster1.xml" Id="R2fe911a0b277403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2a2cf02966844d3" /><Relationship Type="http://schemas.openxmlformats.org/officeDocument/2006/relationships/notesMaster" Target="/ppt/notesMasters/notesMaster1.xml" Id="R1669de311b8d49b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cb292bebd4a47de" /><Relationship Type="http://schemas.openxmlformats.org/officeDocument/2006/relationships/notesMaster" Target="/ppt/notesMasters/notesMaster1.xml" Id="Ra07a61c77a424a9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8cb621300424fb5" /><Relationship Type="http://schemas.openxmlformats.org/officeDocument/2006/relationships/notesMaster" Target="/ppt/notesMasters/notesMaster1.xml" Id="R6cf4489e45274f5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5f36176f0934c1c" /><Relationship Type="http://schemas.openxmlformats.org/officeDocument/2006/relationships/notesMaster" Target="/ppt/notesMasters/notesMaster1.xml" Id="Rcbc35b9f359240a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0560cb33c554e62" /><Relationship Type="http://schemas.openxmlformats.org/officeDocument/2006/relationships/notesMaster" Target="/ppt/notesMasters/notesMaster1.xml" Id="R289ffad8d6bf4bb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5e83a3762f84571" /><Relationship Type="http://schemas.openxmlformats.org/officeDocument/2006/relationships/notesMaster" Target="/ppt/notesMasters/notesMaster1.xml" Id="R9c9ebab48dae4f8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ed735dfe5a84b31" /><Relationship Type="http://schemas.openxmlformats.org/officeDocument/2006/relationships/notesMaster" Target="/ppt/notesMasters/notesMaster1.xml" Id="Re076dadd7c17495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b0e032d32ec4eec" /><Relationship Type="http://schemas.openxmlformats.org/officeDocument/2006/relationships/notesMaster" Target="/ppt/notesMasters/notesMaster1.xml" Id="Rd0b96e04411141c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05a698123844e9f" /><Relationship Type="http://schemas.openxmlformats.org/officeDocument/2006/relationships/notesMaster" Target="/ppt/notesMasters/notesMaster1.xml" Id="R1511af0db3e142c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6158b9d716946f2" /><Relationship Type="http://schemas.openxmlformats.org/officeDocument/2006/relationships/notesMaster" Target="/ppt/notesMasters/notesMaster1.xml" Id="R1971990f443b414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ef35f63421a45b5" /><Relationship Type="http://schemas.openxmlformats.org/officeDocument/2006/relationships/notesMaster" Target="/ppt/notesMasters/notesMaster1.xml" Id="Rfc49d8110e99421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917605bd55143a8" /><Relationship Type="http://schemas.openxmlformats.org/officeDocument/2006/relationships/notesMaster" Target="/ppt/notesMasters/notesMaster1.xml" Id="Rffa24af1d43749f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c32a0ca1ba74f0c" /><Relationship Type="http://schemas.openxmlformats.org/officeDocument/2006/relationships/notesMaster" Target="/ppt/notesMasters/notesMaster1.xml" Id="Rd60fa2633f4d42f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60d84e9a2334bc7" /><Relationship Type="http://schemas.openxmlformats.org/officeDocument/2006/relationships/notesMaster" Target="/ppt/notesMasters/notesMaster1.xml" Id="Rac951f008b564b3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4ac962526c34176" /><Relationship Type="http://schemas.openxmlformats.org/officeDocument/2006/relationships/notesMaster" Target="/ppt/notesMasters/notesMaster1.xml" Id="R411c61be769547b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0164959affa4a0d" /><Relationship Type="http://schemas.openxmlformats.org/officeDocument/2006/relationships/notesMaster" Target="/ppt/notesMasters/notesMaster1.xml" Id="R44cab736f4844a3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9b8a950b5ae413e" /><Relationship Type="http://schemas.openxmlformats.org/officeDocument/2006/relationships/notesMaster" Target="/ppt/notesMasters/notesMaster1.xml" Id="R010c7b84cd1c4a5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2d6d8124dea4fcf" /><Relationship Type="http://schemas.openxmlformats.org/officeDocument/2006/relationships/notesMaster" Target="/ppt/notesMasters/notesMaster1.xml" Id="R3865b0bba0ad405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d3d261f2dd64046" /><Relationship Type="http://schemas.openxmlformats.org/officeDocument/2006/relationships/notesMaster" Target="/ppt/notesMasters/notesMaster1.xml" Id="R26240356403f4825" /></Relationships>
</file>

<file path=ppt/notesSlides/_rels/notesSlide35.xml.rels><?xml version='1.0' encoding='UTF-8' standalone='yes'?>
<Relationships xmlns="http://schemas.openxmlformats.org/package/2006/relationships"><Relationship Type="http://schemas.openxmlformats.org/officeDocument/2006/relationships/slide" Target="/ppt/slides/slide35.xml" Id="rSlide"/><Relationship Type="http://schemas.openxmlformats.org/officeDocument/2006/relationships/notesMaster" Target="/ppt/notesMasters/notesMaster1.xml" Id="rNotesMaster"/></Relationships>
</file>

<file path=ppt/notesSlides/_rels/notesSlide36.xml.rels><?xml version='1.0' encoding='UTF-8' standalone='yes'?>
<Relationships xmlns="http://schemas.openxmlformats.org/package/2006/relationships"><Relationship Type="http://schemas.openxmlformats.org/officeDocument/2006/relationships/slide" Target="/ppt/slides/slide36.xml" Id="rSlide"/><Relationship Type="http://schemas.openxmlformats.org/officeDocument/2006/relationships/notesMaster" Target="/ppt/notesMasters/notesMaster1.xml" Id="rNotesMaster"/></Relationships>
</file>

<file path=ppt/notesSlides/_rels/notesSlide37.xml.rels><?xml version='1.0' encoding='UTF-8' standalone='yes'?>
<Relationships xmlns="http://schemas.openxmlformats.org/package/2006/relationships"><Relationship Type="http://schemas.openxmlformats.org/officeDocument/2006/relationships/slide" Target="/ppt/slides/slide37.xml" Id="rSlide"/><Relationship Type="http://schemas.openxmlformats.org/officeDocument/2006/relationships/notesMaster" Target="/ppt/notesMasters/notesMaster1.xml" Id="rNotesMaster"/></Relationships>
</file>

<file path=ppt/notesSlides/_rels/notesSlide38.xml.rels><?xml version='1.0' encoding='UTF-8' standalone='yes'?>
<Relationships xmlns="http://schemas.openxmlformats.org/package/2006/relationships"><Relationship Type="http://schemas.openxmlformats.org/officeDocument/2006/relationships/slide" Target="/ppt/slides/slide38.xml" Id="rSlide"/><Relationship Type="http://schemas.openxmlformats.org/officeDocument/2006/relationships/notesMaster" Target="/ppt/notesMasters/notesMaster1.xml" Id="rNotesMaster"/></Relationships>
</file>

<file path=ppt/notesSlides/_rels/notesSlide39.xml.rels><?xml version='1.0' encoding='UTF-8' standalone='yes'?>
<Relationships xmlns="http://schemas.openxmlformats.org/package/2006/relationships"><Relationship Type="http://schemas.openxmlformats.org/officeDocument/2006/relationships/slide" Target="/ppt/slides/slide39.xml" Id="rSlide"/><Relationship Type="http://schemas.openxmlformats.org/officeDocument/2006/relationships/notesMaster" Target="/ppt/notesMasters/notesMaster1.xml" Id="rNotesMaster"/></Relationships>
</file>

<file path=ppt/notesSlides/_rels/notesSlide40.xml.rels><?xml version='1.0' encoding='UTF-8' standalone='yes'?>
<Relationships xmlns="http://schemas.openxmlformats.org/package/2006/relationships"><Relationship Type="http://schemas.openxmlformats.org/officeDocument/2006/relationships/slide" Target="/ppt/slides/slide40.xml" Id="rSlide"/><Relationship Type="http://schemas.openxmlformats.org/officeDocument/2006/relationships/notesMaster" Target="/ppt/notesMasters/notesMaster1.xml" Id="rNotesMaster"/></Relationships>
</file>

<file path=ppt/notesSlides/_rels/notesSlide41.xml.rels><?xml version='1.0' encoding='UTF-8' standalone='yes'?>
<Relationships xmlns="http://schemas.openxmlformats.org/package/2006/relationships"><Relationship Type="http://schemas.openxmlformats.org/officeDocument/2006/relationships/slide" Target="/ppt/slides/slide41.xml" Id="rSlide"/><Relationship Type="http://schemas.openxmlformats.org/officeDocument/2006/relationships/notesMaster" Target="/ppt/notesMasters/notesMaster1.xml" Id="rNotesMaster"/></Relationships>
</file>

<file path=ppt/notesSlides/_rels/notesSlide42.xml.rels><?xml version='1.0' encoding='UTF-8' standalone='yes'?>
<Relationships xmlns="http://schemas.openxmlformats.org/package/2006/relationships"><Relationship Type="http://schemas.openxmlformats.org/officeDocument/2006/relationships/slide" Target="/ppt/slides/slide42.xml" Id="rSlide"/><Relationship Type="http://schemas.openxmlformats.org/officeDocument/2006/relationships/notesMaster" Target="/ppt/notesMasters/notesMaster1.xml" Id="rNotesMaster"/></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Portada</a:t>
            </a:r>
          </a:p>
          <a:p xmlns:a="http://schemas.openxmlformats.org/drawingml/2006/main">
            <a:r>
              <a:t>Presentar al equipo. Explicar que primero se mostrarán los objetivos del juego y del proyecto, sus reglas, controles y tecnologías. Después se explicarán el UML, los fundamentos POO y los patrones. Las fichas de clases sirven de apoyo. La presentación termina con ejemplos del código de pruebas y las conclusiones.</a:t>
            </a:r>
          </a:p>
          <a:p xmlns:a="http://schemas.openxmlformats.org/drawingml/2006/main">
            <a:r>
              <a:t>Fuentes: Informe parcial, portada y páginas 2 a 6; rúbrica del proyecto parcial.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Objetivos del juego</a:t>
            </a:r>
          </a:p>
          <a:p xmlns:a="http://schemas.openxmlformats.org/drawingml/2006/main">
            <a:r>
              <a:t>Presentar primero lo que debe conseguir el jugador. La campaña contiene tres zonas de sigilo y una arena final. El prisionero fuerza la puerta de su celda, recoge una llave en cada nivel y alcanza la salida. En la arena debe agotar las tres capas del Alcaide antes de recoger la llave final.</a:t>
            </a:r>
          </a:p>
          <a:p xmlns:a="http://schemas.openxmlformats.org/drawingml/2006/main">
            <a:r>
              <a:t>Fuentes: Informe parcial, páginas 2 y 5; README.md; src/nivel.py; src/combate.py.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Objetivos del proyecto</a:t>
            </a:r>
          </a:p>
          <a:p xmlns:a="http://schemas.openxmlformats.org/drawingml/2006/main">
            <a:r>
              <a:t>Explicar el objetivo académico: aplicar asociación, agregación, composición, encapsulamiento, herencia y polimorfismo. Las 25 clases separan responsabilidades y se representan en el UML. State organiza la partida y Observer comunica el puntaje. Relacionar el trabajo del equipo con el historial real de Git.</a:t>
            </a:r>
          </a:p>
          <a:p xmlns:a="http://schemas.openxmlformats.org/drawingml/2006/main">
            <a:r>
              <a:t>Fuentes: Informe parcial, páginas 2 a 5; rúbrica, criterios I y II; src/; docs/diagramas/modelo_parcial.mmd.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III. Diseño de arquitectura</a:t>
            </a:r>
          </a:p>
          <a:p xmlns:a="http://schemas.openxmlformats.org/drawingml/2006/main">
            <a:r>
              <a:t/>
            </a:r>
          </a:p>
          <a:p xmlns:a="http://schemas.openxmlformats.org/drawingml/2006/main">
            <a:r>
              <a:t>El diagrama resume ocho de las 25 clases del juego. Juego coordina la campaña. Nivel reúne las reglas de una etapa. Vista dibuja. Mapa resuelve paredes y recorridos. Puntaje conserva los puntos. Personaje es la base abstracta de Prisionero y Guardia. El rombo negro indica composición, el blanco agregación, el triángulo herencia y la flecha discontinua dependencia. El UML completo con atributos está en el punto 7.</a:t>
            </a:r>
          </a:p>
          <a:p xmlns:a="http://schemas.openxmlformats.org/drawingml/2006/main">
            <a:r>
              <a:t/>
            </a:r>
          </a:p>
          <a:p xmlns:a="http://schemas.openxmlformats.org/drawingml/2006/main">
            <a:r>
              <a:t>Fuentes: src/; docs/diagramas/modelo_parcial.mmd; estructura III y criterio I de la rúbrica.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IV. Asociación, agregación y composición</a:t>
            </a:r>
          </a:p>
          <a:p xmlns:a="http://schemas.openxmlformats.org/drawingml/2006/main">
            <a:r>
              <a:t/>
            </a:r>
          </a:p>
          <a:p xmlns:a="http://schemas.openxmlformats.org/drawingml/2006/main">
            <a:r>
              <a:t>Asociación: Personaje conserva una referencia a Nivel para consultar el mapa. Agregación: Juego crea Puntaje y se lo entrega a cada Nivel, conservando el mismo objeto durante la campaña. Composición: Nivel construye su Mapa al cargar la etapa. La diferencia se explica por cómo se obtiene el objeto y la responsabilidad de crearlo.</a:t>
            </a:r>
          </a:p>
          <a:p xmlns:a="http://schemas.openxmlformats.org/drawingml/2006/main">
            <a:r>
              <a:t/>
            </a:r>
          </a:p>
          <a:p xmlns:a="http://schemas.openxmlformats.org/drawingml/2006/main">
            <a:r>
              <a:t>Fuentes: src/personajes.py: Personaje.__init__; src/nivel.py: Nivel.__init__; src/juego.py; estructura IV.a.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IV. Herencia, polimorfismo y encapsulamiento</a:t>
            </a:r>
          </a:p>
          <a:p xmlns:a="http://schemas.openxmlformats.org/drawingml/2006/main">
            <a:r>
              <a:t/>
            </a:r>
          </a:p>
          <a:p xmlns:a="http://schemas.openxmlformats.org/drawingml/2006/main">
            <a:r>
              <a:t>Personaje define una base abstracta. Prisionero responde al teclado y Guardia decide su movimiento. Nivel.actualizar llama a update sin distinguir su tipo. Puntaje protege la regla de los enteros no negativos mediante sus métodos. El guion bajo de _valor señala uso interno por convención de Python, no una barrera de acceso. El fragmento completo del setter está en anexos.</a:t>
            </a:r>
          </a:p>
          <a:p xmlns:a="http://schemas.openxmlformats.org/drawingml/2006/main">
            <a:r>
              <a:t/>
            </a:r>
          </a:p>
          <a:p xmlns:a="http://schemas.openxmlformats.org/drawingml/2006/main">
            <a:r>
              <a:t>Fuentes: src/personajes.py; src/nivel.py: Nivel.actualizar; src/puntuacion.py; estructura IV.b y IV.c.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 Resultados parciales y Git</a:t>
            </a:r>
          </a:p>
          <a:p xmlns:a="http://schemas.openxmlformats.org/drawingml/2006/main">
            <a:r>
              <a:t/>
            </a:r>
          </a:p>
          <a:p xmlns:a="http://schemas.openxmlformats.org/drawingml/2006/main">
            <a:r>
              <a:t>Demostrar en el juego una función breve, por ejemplo abrir la celda y pausar. La verificación automática completó los cuatro niveles y pasó 54 pruebas. La rúbrica pide evidenciar al menos el avance señalado, pero no define una fórmula: mostrar funciones ejecutables sin inventar un porcentaje. Abrir el historial de Git: cfaba6e registra el plan, 8917f20 el prototipo y f3cd9fe la documentación. Cada integrante debe explicar un aporte real, sin deducirlo de los nombres configurados de los autores.</a:t>
            </a:r>
          </a:p>
          <a:p xmlns:a="http://schemas.openxmlformats.org/drawingml/2006/main">
            <a:r>
              <a:t/>
            </a:r>
          </a:p>
          <a:p xmlns:a="http://schemas.openxmlformats.org/drawingml/2006/main">
            <a:r>
              <a:t>Fuentes: docs/evidencias/13_celda_abierta.png; tools/verificar.py; git log; estructura VI y criterio III.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Conclusiones del proyecto</a:t>
            </a:r>
          </a:p>
          <a:p xmlns:a="http://schemas.openxmlformats.org/drawingml/2006/main">
            <a:r>
              <a:t>Cerrar relacionando los objetivos con los resultados. El juego aplica los seis fundamentos POO con objetos concretos y usa State y Observer. Python y Pygame permiten ejecutar las reglas, Mermaid comunica el diseño y Git registra el trabajo. Las 54 pruebas revisan escenarios de colisiones, puntaje, alarmas, capas y documentación. El aprendizaje principal fue mantener coherentes paredes, puertas, sonido y caminos. El equipo debe explicar sus aportes reales y ensayar los controles en el equipo de exposición. Estas comprobaciones cubren los casos definidos y no garantizan la ausencia absoluta de errores.</a:t>
            </a:r>
          </a:p>
          <a:p xmlns:a="http://schemas.openxmlformats.org/drawingml/2006/main">
            <a:r>
              <a:t>Fuentes: Informe parcial, páginas 2 a 6; rúbrica, criterios I a IV; src/;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Clases y fragmentos de código</a:t>
            </a:r>
          </a:p>
          <a:p xmlns:a="http://schemas.openxmlformats.org/drawingml/2006/main">
            <a:r>
              <a:t>El UML completo del informe está en su página 7. La presentación conserva 25 fichas de apoyo, una por clase, con recorte del UML y un fragmento del código. Usarlas para ampliar ejemplos o responder preguntas. El bloque final de pruebas comienza en la diapositiva 38.</a:t>
            </a:r>
          </a:p>
          <a:p xmlns:a="http://schemas.openxmlformats.org/drawingml/2006/main">
            <a:r>
              <a:t>Fuentes: Informe parcial, páginas 4, 6 y 7; docs/Explicacion_de_clases.md; src/.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Juego</a:t>
            </a:r>
          </a:p>
          <a:p xmlns:a="http://schemas.openxmlformats.org/drawingml/2006/main">
            <a:r>
              <a:t/>
            </a:r>
          </a:p>
          <a:p xmlns:a="http://schemas.openxmlformats.org/drawingml/2006/main">
            <a:r>
              <a:t>Función: Coordina la campaña, los niveles, los puntos y el estado de la partida.</a:t>
            </a:r>
          </a:p>
          <a:p xmlns:a="http://schemas.openxmlformats.org/drawingml/2006/main">
            <a:r>
              <a:t/>
            </a:r>
          </a:p>
          <a:p xmlns:a="http://schemas.openxmlformats.org/drawingml/2006/main">
            <a:r>
              <a:t>Composición: crea Puntaje, PanelPuntaje y Nivel.</a:t>
            </a:r>
          </a:p>
          <a:p xmlns:a="http://schemas.openxmlformats.org/drawingml/2006/main">
            <a:r>
              <a:t>Polimorfismo: delega en el EstadoJuego activo.</a:t>
            </a:r>
          </a:p>
          <a:p xmlns:a="http://schemas.openxmlformats.org/drawingml/2006/main">
            <a:r>
              <a:t/>
            </a:r>
          </a:p>
          <a:p xmlns:a="http://schemas.openxmlformats.org/drawingml/2006/main">
            <a:r>
              <a:t>Juego coordina objetos con responsabilidades distintas. La creación de las partes muestra composición. Al llamar al estado activo usa una interfaz común: el comportamiento depende de si ese objeto es Jugando, Pausa u otro estado. La suscripción del panel conecta además el patrón Observer.</a:t>
            </a:r>
          </a:p>
          <a:p xmlns:a="http://schemas.openxmlformats.org/drawingml/2006/main">
            <a:r>
              <a:t/>
            </a:r>
          </a:p>
          <a:p xmlns:a="http://schemas.openxmlformats.org/drawingml/2006/main">
            <a:r>
              <a:t>Fuentes: src/juego.py, clase desde línea 7; caja original en docs/diagramas/modelo_parcial.png, rectángulo [3377, 1345, 3944, 2167]. El código mostrado es un extracto con saltos de línea ajustados para lectura, sin cambios de lógica. La guía completa del repositorio contiene la clase íntegra.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EstadoJuego</a:t>
            </a:r>
          </a:p>
          <a:p xmlns:a="http://schemas.openxmlformats.org/drawingml/2006/main">
            <a:r>
              <a:t/>
            </a:r>
          </a:p>
          <a:p xmlns:a="http://schemas.openxmlformats.org/drawingml/2006/main">
            <a:r>
              <a:t>Función: Define las operaciones comunes de los estados de la partida.</a:t>
            </a:r>
          </a:p>
          <a:p xmlns:a="http://schemas.openxmlformats.org/drawingml/2006/main">
            <a:r>
              <a:t/>
            </a:r>
          </a:p>
          <a:p xmlns:a="http://schemas.openxmlformats.org/drawingml/2006/main">
            <a:r>
              <a:t>Abstracción: exige implementar entrada y actualización.</a:t>
            </a:r>
          </a:p>
          <a:p xmlns:a="http://schemas.openxmlformats.org/drawingml/2006/main">
            <a:r>
              <a:t>Asociación: conserva el Juego que recibe.</a:t>
            </a:r>
          </a:p>
          <a:p xmlns:a="http://schemas.openxmlformats.org/drawingml/2006/main">
            <a:r>
              <a:t/>
            </a:r>
          </a:p>
          <a:p xmlns:a="http://schemas.openxmlformats.org/drawingml/2006/main">
            <a:r>
              <a:t>Hereda de ABC y define el contrato de los estados. Los decoradores abstractmethod impiden instanciar una implementación incompleta. Guarda una referencia a Juego sin construirlo. Es la base del patrón State, no un estado concreto que el usuario vea en pantalla.</a:t>
            </a:r>
          </a:p>
          <a:p xmlns:a="http://schemas.openxmlformats.org/drawingml/2006/main">
            <a:r>
              <a:t/>
            </a:r>
          </a:p>
          <a:p xmlns:a="http://schemas.openxmlformats.org/drawingml/2006/main">
            <a:r>
              <a:t>Fuentes: src/estados.py, clase desde línea 4; caja original en docs/diagramas/modelo_parcial.png, rectángulo [1388, 2789, 1994, 3227]. El código mostrado es un extracto con saltos de línea ajustados para lectura, sin cambios de lógica. La guía completa del repositorio contiene la clase íntegra.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Jugando</a:t>
            </a:r>
          </a:p>
          <a:p xmlns:a="http://schemas.openxmlformats.org/drawingml/2006/main">
            <a:r>
              <a:t/>
            </a:r>
          </a:p>
          <a:p xmlns:a="http://schemas.openxmlformats.org/drawingml/2006/main">
            <a:r>
              <a:t>Función: Mantiene activa la simulación del nivel.</a:t>
            </a:r>
          </a:p>
          <a:p xmlns:a="http://schemas.openxmlformats.org/drawingml/2006/main">
            <a:r>
              <a:t/>
            </a:r>
          </a:p>
          <a:p xmlns:a="http://schemas.openxmlformats.org/drawingml/2006/main">
            <a:r>
              <a:t>Herencia: deriva de EstadoJuego.</a:t>
            </a:r>
          </a:p>
          <a:p xmlns:a="http://schemas.openxmlformats.org/drawingml/2006/main">
            <a:r>
              <a:t>Polimorfismo: actualizar ejecuta la simulación.</a:t>
            </a:r>
          </a:p>
          <a:p xmlns:a="http://schemas.openxmlformats.org/drawingml/2006/main">
            <a:r>
              <a:t/>
            </a:r>
          </a:p>
          <a:p xmlns:a="http://schemas.openxmlformats.org/drawingml/2006/main">
            <a:r>
              <a:t>Implementa las operaciones heredadas para una partida activa. Juego puede llamarla por la misma interfaz que usa con Pausa. El resultado del nivel decide la transición a derrota, victoria o nivel completado. Es uno de los estados concretos de State.</a:t>
            </a:r>
          </a:p>
          <a:p xmlns:a="http://schemas.openxmlformats.org/drawingml/2006/main">
            <a:r>
              <a:t/>
            </a:r>
          </a:p>
          <a:p xmlns:a="http://schemas.openxmlformats.org/drawingml/2006/main">
            <a:r>
              <a:t>Fuentes: src/estados.py, clase desde línea 19; caja original en docs/diagramas/modelo_parcial.png, rectángulo [94, 4041, 667, 4383]. El código mostrado es un extracto con saltos de línea ajustados para lectura, sin cambios de lógica. La guía completa del repositorio contiene la clase íntegra.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Pausa</a:t>
            </a:r>
          </a:p>
          <a:p xmlns:a="http://schemas.openxmlformats.org/drawingml/2006/main">
            <a:r>
              <a:t/>
            </a:r>
          </a:p>
          <a:p xmlns:a="http://schemas.openxmlformats.org/drawingml/2006/main">
            <a:r>
              <a:t>Función: Detiene la simulación hasta que el jugador continúa.</a:t>
            </a:r>
          </a:p>
          <a:p xmlns:a="http://schemas.openxmlformats.org/drawingml/2006/main">
            <a:r>
              <a:t/>
            </a:r>
          </a:p>
          <a:p xmlns:a="http://schemas.openxmlformats.org/drawingml/2006/main">
            <a:r>
              <a:t>Herencia: deriva de EstadoJuego.</a:t>
            </a:r>
          </a:p>
          <a:p xmlns:a="http://schemas.openxmlformats.org/drawingml/2006/main">
            <a:r>
              <a:t>Polimorfismo: actualizar deja el nivel detenido.</a:t>
            </a:r>
          </a:p>
          <a:p xmlns:a="http://schemas.openxmlformats.org/drawingml/2006/main">
            <a:r>
              <a:t/>
            </a:r>
          </a:p>
          <a:p xmlns:a="http://schemas.openxmlformats.org/drawingml/2006/main">
            <a:r>
              <a:t>Comparte la interfaz de Jugando, pero su actualización no realiza ninguna operación. Esa diferencia de comportamiento con la misma llamada demuestra polimorfismo. Su método de entrada vuelve a Jugando cuando recibe la acción de pausa.</a:t>
            </a:r>
          </a:p>
          <a:p xmlns:a="http://schemas.openxmlformats.org/drawingml/2006/main">
            <a:r>
              <a:t/>
            </a:r>
          </a:p>
          <a:p xmlns:a="http://schemas.openxmlformats.org/drawingml/2006/main">
            <a:r>
              <a:t>Fuentes: src/estados.py, clase desde línea 38; caja original en docs/diagramas/modelo_parcial.png, rectángulo [762, 4041, 1315, 4383]. El código mostrado es un extracto con saltos de línea ajustados para lectura, sin cambios de lógica. La guía completa del repositorio contiene la clase íntegra.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Derrota</a:t>
            </a:r>
          </a:p>
          <a:p xmlns:a="http://schemas.openxmlformats.org/drawingml/2006/main">
            <a:r>
              <a:t/>
            </a:r>
          </a:p>
          <a:p xmlns:a="http://schemas.openxmlformats.org/drawingml/2006/main">
            <a:r>
              <a:t>Función: Espera la decisión del jugador después de perder.</a:t>
            </a:r>
          </a:p>
          <a:p xmlns:a="http://schemas.openxmlformats.org/drawingml/2006/main">
            <a:r>
              <a:t/>
            </a:r>
          </a:p>
          <a:p xmlns:a="http://schemas.openxmlformats.org/drawingml/2006/main">
            <a:r>
              <a:t>Herencia: deriva de EstadoJuego.</a:t>
            </a:r>
          </a:p>
          <a:p xmlns:a="http://schemas.openxmlformats.org/drawingml/2006/main">
            <a:r>
              <a:t>Polimorfismo: la entrada permite reintentar o reiniciar.</a:t>
            </a:r>
          </a:p>
          <a:p xmlns:a="http://schemas.openxmlformats.org/drawingml/2006/main">
            <a:r>
              <a:t/>
            </a:r>
          </a:p>
          <a:p xmlns:a="http://schemas.openxmlformats.org/drawingml/2006/main">
            <a:r>
              <a:t>El mismo mensaje manejar_entrada tiene aquí el comportamiento propio de perder. Reintentar restaura el nivel actual, mientras nueva_partida inicia la campaña desde cero. actualizar no hace avanzar la simulación. Participa en State.</a:t>
            </a:r>
          </a:p>
          <a:p xmlns:a="http://schemas.openxmlformats.org/drawingml/2006/main">
            <a:r>
              <a:t/>
            </a:r>
          </a:p>
          <a:p xmlns:a="http://schemas.openxmlformats.org/drawingml/2006/main">
            <a:r>
              <a:t>Fuentes: src/estados.py, clase desde línea 49; caja original en docs/diagramas/modelo_parcial.png, rectángulo [1410, 4041, 1972, 4383]. El código mostrado es un extracto con saltos de línea ajustados para lectura, sin cambios de lógica. La guía completa del repositorio contiene la clase íntegra.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Victoria</a:t>
            </a:r>
          </a:p>
          <a:p xmlns:a="http://schemas.openxmlformats.org/drawingml/2006/main">
            <a:r>
              <a:t/>
            </a:r>
          </a:p>
          <a:p xmlns:a="http://schemas.openxmlformats.org/drawingml/2006/main">
            <a:r>
              <a:t>Función: Representa el final de la campaña completada.</a:t>
            </a:r>
          </a:p>
          <a:p xmlns:a="http://schemas.openxmlformats.org/drawingml/2006/main">
            <a:r>
              <a:t/>
            </a:r>
          </a:p>
          <a:p xmlns:a="http://schemas.openxmlformats.org/drawingml/2006/main">
            <a:r>
              <a:t>Herencia: deriva de EstadoJuego.</a:t>
            </a:r>
          </a:p>
          <a:p xmlns:a="http://schemas.openxmlformats.org/drawingml/2006/main">
            <a:r>
              <a:t>Polimorfismo: reiniciar inicia una campaña nueva.</a:t>
            </a:r>
          </a:p>
          <a:p xmlns:a="http://schemas.openxmlformats.org/drawingml/2006/main">
            <a:r>
              <a:t/>
            </a:r>
          </a:p>
          <a:p xmlns:a="http://schemas.openxmlformats.org/drawingml/2006/main">
            <a:r>
              <a:t>Representa una campaña terminada. Su implementación de entrada interpreta reiniciar como comenzar otra campaña. Su actualización vacía mantiene detenido el nivel final. Las otras clases concretas responden a la misma interfaz con decisiones distintas.</a:t>
            </a:r>
          </a:p>
          <a:p xmlns:a="http://schemas.openxmlformats.org/drawingml/2006/main">
            <a:r>
              <a:t/>
            </a:r>
          </a:p>
          <a:p xmlns:a="http://schemas.openxmlformats.org/drawingml/2006/main">
            <a:r>
              <a:t>Fuentes: src/estados.py, clase desde línea 62; caja original en docs/diagramas/modelo_parcial.png, rectángulo [2067, 4041, 2632, 4383]. El código mostrado es un extracto con saltos de línea ajustados para lectura, sin cambios de lógica. La guía completa del repositorio contiene la clase íntegra.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NivelCompletado</a:t>
            </a:r>
          </a:p>
          <a:p xmlns:a="http://schemas.openxmlformats.org/drawingml/2006/main">
            <a:r>
              <a:t/>
            </a:r>
          </a:p>
          <a:p xmlns:a="http://schemas.openxmlformats.org/drawingml/2006/main">
            <a:r>
              <a:t>Función: Separa el final de un nivel del final de toda la campaña.</a:t>
            </a:r>
          </a:p>
          <a:p xmlns:a="http://schemas.openxmlformats.org/drawingml/2006/main">
            <a:r>
              <a:t/>
            </a:r>
          </a:p>
          <a:p xmlns:a="http://schemas.openxmlformats.org/drawingml/2006/main">
            <a:r>
              <a:t>Herencia: deriva de EstadoJuego.</a:t>
            </a:r>
          </a:p>
          <a:p xmlns:a="http://schemas.openxmlformats.org/drawingml/2006/main">
            <a:r>
              <a:t>Polimorfismo: continuar carga el siguiente nivel.</a:t>
            </a:r>
          </a:p>
          <a:p xmlns:a="http://schemas.openxmlformats.org/drawingml/2006/main">
            <a:r>
              <a:t/>
            </a:r>
          </a:p>
          <a:p xmlns:a="http://schemas.openxmlformats.org/drawingml/2006/main">
            <a:r>
              <a:t>Separa la salida de un nivel de la victoria de toda la campaña. La implementación de manejar_entrada decide cuándo avanzar y cuándo empezar desde cero. No actualiza el nivel mientras espera esa decisión. Es el quinto estado concreto de State.</a:t>
            </a:r>
          </a:p>
          <a:p xmlns:a="http://schemas.openxmlformats.org/drawingml/2006/main">
            <a:r>
              <a:t/>
            </a:r>
          </a:p>
          <a:p xmlns:a="http://schemas.openxmlformats.org/drawingml/2006/main">
            <a:r>
              <a:t>Fuentes: src/estados.py, clase desde línea 73; caja original en docs/diagramas/modelo_parcial.png, rectángulo [2726, 4041, 3363, 4383]. El código mostrado es un extracto con saltos de línea ajustados para lectura, sin cambios de lógica. La guía completa del repositorio contiene la clase íntegra.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Nivel</a:t>
            </a:r>
          </a:p>
          <a:p xmlns:a="http://schemas.openxmlformats.org/drawingml/2006/main">
            <a:r>
              <a:t/>
            </a:r>
          </a:p>
          <a:p xmlns:a="http://schemas.openxmlformats.org/drawingml/2006/main">
            <a:r>
              <a:t>Función: Coordina uno de los cuatro niveles y resuelve sus interacciones.</a:t>
            </a:r>
          </a:p>
          <a:p xmlns:a="http://schemas.openxmlformats.org/drawingml/2006/main">
            <a:r>
              <a:t/>
            </a:r>
          </a:p>
          <a:p xmlns:a="http://schemas.openxmlformats.org/drawingml/2006/main">
            <a:r>
              <a:t>Composición: construye Mapa y personajes.</a:t>
            </a:r>
          </a:p>
          <a:p xmlns:a="http://schemas.openxmlformats.org/drawingml/2006/main">
            <a:r>
              <a:t>Agregación: recibe el Puntaje compartido.</a:t>
            </a:r>
          </a:p>
          <a:p xmlns:a="http://schemas.openxmlformats.org/drawingml/2006/main">
            <a:r>
              <a:t>Polimorfismo: llama update sin distinguir personajes.</a:t>
            </a:r>
          </a:p>
          <a:p xmlns:a="http://schemas.openxmlformats.org/drawingml/2006/main">
            <a:r>
              <a:t/>
            </a:r>
          </a:p>
          <a:p xmlns:a="http://schemas.openxmlformats.org/drawingml/2006/main">
            <a:r>
              <a:t>Recibe el Puntaje que Juego conserva entre niveles, pero construye las partes propias de la etapa. En self.personajes conviven Prisionero y Guardia. El recorrido del fragmento no pregunta su tipo: cada instancia ejecuta su versión de update. La composición es una relación del diseño, no una orden de destrucción automática de Python.</a:t>
            </a:r>
          </a:p>
          <a:p xmlns:a="http://schemas.openxmlformats.org/drawingml/2006/main">
            <a:r>
              <a:t/>
            </a:r>
          </a:p>
          <a:p xmlns:a="http://schemas.openxmlformats.org/drawingml/2006/main">
            <a:r>
              <a:t>Fuentes: src/nivel.py, clase desde línea 85; caja original en docs/diagramas/modelo_parcial.png, rectángulo [5532, 2309, 6203, 3707]. El código mostrado es un extracto con saltos de línea ajustados para lectura, sin cambios de lógica. La guía completa del repositorio contiene la clase íntegra.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PuertaCelda</a:t>
            </a:r>
          </a:p>
          <a:p xmlns:a="http://schemas.openxmlformats.org/drawingml/2006/main">
            <a:r>
              <a:t/>
            </a:r>
          </a:p>
          <a:p xmlns:a="http://schemas.openxmlformats.org/drawingml/2006/main">
            <a:r>
              <a:t>Función: Mantiene cerrada la celda inicial y controla cómo se fuerza su puerta.</a:t>
            </a:r>
          </a:p>
          <a:p xmlns:a="http://schemas.openxmlformats.org/drawingml/2006/main">
            <a:r>
              <a:t/>
            </a:r>
          </a:p>
          <a:p xmlns:a="http://schemas.openxmlformats.org/drawingml/2006/main">
            <a:r>
              <a:t>Composición: Nivel crea su puerta inicial.</a:t>
            </a:r>
          </a:p>
          <a:p xmlns:a="http://schemas.openxmlformats.org/drawingml/2006/main">
            <a:r>
              <a:t>Dependencia: actualizar recibe al Prisionero.</a:t>
            </a:r>
          </a:p>
          <a:p xmlns:a="http://schemas.openxmlformats.org/drawingml/2006/main">
            <a:r>
              <a:t/>
            </a:r>
          </a:p>
          <a:p xmlns:a="http://schemas.openxmlformats.org/drawingml/2006/main">
            <a:r>
              <a:t>Es una parte de Nivel que controla el progreso de apertura. actualizar consulta la cercanía del Prisionero y la acción de interactuar. Cuando alcanza dos segundos cambia abierta y Nivel retira los barrotes de su mapa. Sus atributos son públicos: no es un ejemplo de acceso restringido mediante getters y setters.</a:t>
            </a:r>
          </a:p>
          <a:p xmlns:a="http://schemas.openxmlformats.org/drawingml/2006/main">
            <a:r>
              <a:t/>
            </a:r>
          </a:p>
          <a:p xmlns:a="http://schemas.openxmlformats.org/drawingml/2006/main">
            <a:r>
              <a:t>Fuentes: src/nivel.py, clase desde línea 32; caja original en docs/diagramas/modelo_parcial.png, rectángulo [8280, 4017, 9044, 4407]. El código mostrado es un extracto con saltos de línea ajustados para lectura, sin cambios de lógica. La guía completa del repositorio contiene la clase íntegra.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Mapa</a:t>
            </a:r>
          </a:p>
          <a:p xmlns:a="http://schemas.openxmlformats.org/drawingml/2006/main">
            <a:r>
              <a:t/>
            </a:r>
          </a:p>
          <a:p xmlns:a="http://schemas.openxmlformats.org/drawingml/2006/main">
            <a:r>
              <a:t>Función: Conserva el plano y reúne las reglas de paredes y caminos.</a:t>
            </a:r>
          </a:p>
          <a:p xmlns:a="http://schemas.openxmlformats.org/drawingml/2006/main">
            <a:r>
              <a:t/>
            </a:r>
          </a:p>
          <a:p xmlns:a="http://schemas.openxmlformats.org/drawingml/2006/main">
            <a:r>
              <a:t>Composición: Nivel crea su propio Mapa.</a:t>
            </a:r>
          </a:p>
          <a:p xmlns:a="http://schemas.openxmlformats.org/drawingml/2006/main">
            <a:r>
              <a:t>Abstracción: ofrece colisiones y rutas mediante métodos.</a:t>
            </a:r>
          </a:p>
          <a:p xmlns:a="http://schemas.openxmlformats.org/drawingml/2006/main">
            <a:r>
              <a:t/>
            </a:r>
          </a:p>
          <a:p xmlns:a="http://schemas.openxmlformats.org/drawingml/2006/main">
            <a:r>
              <a:t>Los consumidores piden una ruta o una posición válida sin implementar la búsqueda de caminos. Aquí abstracción significa ocultar el detalle del algoritmo tras una operación útil; Mapa no es una clase abstracta ABC. Nivel, personajes y ruido consultan la misma instancia para usar paredes coherentes.</a:t>
            </a:r>
          </a:p>
          <a:p xmlns:a="http://schemas.openxmlformats.org/drawingml/2006/main">
            <a:r>
              <a:t/>
            </a:r>
          </a:p>
          <a:p xmlns:a="http://schemas.openxmlformats.org/drawingml/2006/main">
            <a:r>
              <a:t>Fuentes: src/mapa.py, clase desde línea 82; caja original en docs/diagramas/modelo_parcial.png, rectángulo [3043, 7125, 3818, 7659]. El código mostrado es un extracto con saltos de línea ajustados para lectura, sin cambios de lógica. La guía completa del repositorio contiene la clase íntegra.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Personaje</a:t>
            </a:r>
          </a:p>
          <a:p xmlns:a="http://schemas.openxmlformats.org/drawingml/2006/main">
            <a:r>
              <a:t/>
            </a:r>
          </a:p>
          <a:p xmlns:a="http://schemas.openxmlformats.org/drawingml/2006/main">
            <a:r>
              <a:t>Función: Reúne posición, tamaño y movimiento de los personajes.</a:t>
            </a:r>
          </a:p>
          <a:p xmlns:a="http://schemas.openxmlformats.org/drawingml/2006/main">
            <a:r>
              <a:t/>
            </a:r>
          </a:p>
          <a:p xmlns:a="http://schemas.openxmlformats.org/drawingml/2006/main">
            <a:r>
              <a:t>Abstracción y herencia: base de Prisionero y Guardia.</a:t>
            </a:r>
          </a:p>
          <a:p xmlns:a="http://schemas.openxmlformats.org/drawingml/2006/main">
            <a:r>
              <a:t>Encapsulamiento: _x, _y y _velocidad son internos.</a:t>
            </a:r>
          </a:p>
          <a:p xmlns:a="http://schemas.openxmlformats.org/drawingml/2006/main">
            <a:r>
              <a:t>Asociación: guarda el Nivel que recibe.</a:t>
            </a:r>
          </a:p>
          <a:p xmlns:a="http://schemas.openxmlformats.org/drawingml/2006/main">
            <a:r>
              <a:t/>
            </a:r>
          </a:p>
          <a:p xmlns:a="http://schemas.openxmlformats.org/drawingml/2006/main">
            <a:r>
              <a:t>La clase abstracta reúne posición y movimiento común. get_posicion devuelve las coordenadas, mientras mover aplica las colisiones del mapa. update queda como contrato obligatorio para las clases hijas. El guion bajo señala uso interno por convención, no una prohibición de acceso del lenguaje.</a:t>
            </a:r>
          </a:p>
          <a:p xmlns:a="http://schemas.openxmlformats.org/drawingml/2006/main">
            <a:r>
              <a:t/>
            </a:r>
          </a:p>
          <a:p xmlns:a="http://schemas.openxmlformats.org/drawingml/2006/main">
            <a:r>
              <a:t>Fuentes: src/personajes.py, clase desde línea 39; caja original en docs/diagramas/modelo_parcial.png, rectángulo [6049, 1441, 6496, 2071]. El código mostrado es un extracto con saltos de línea ajustados para lectura, sin cambios de lógica. La guía completa del repositorio contiene la clase íntegra.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Prisionero</a:t>
            </a:r>
          </a:p>
          <a:p xmlns:a="http://schemas.openxmlformats.org/drawingml/2006/main">
            <a:r>
              <a:t/>
            </a:r>
          </a:p>
          <a:p xmlns:a="http://schemas.openxmlformats.org/drawingml/2006/main">
            <a:r>
              <a:t>Función: Es el personaje controlado por el jugador y el origen del ruido de pasos.</a:t>
            </a:r>
          </a:p>
          <a:p xmlns:a="http://schemas.openxmlformats.org/drawingml/2006/main">
            <a:r>
              <a:t/>
            </a:r>
          </a:p>
          <a:p xmlns:a="http://schemas.openxmlformats.org/drawingml/2006/main">
            <a:r>
              <a:t>Herencia y polimorfismo: implementa update de Personaje.</a:t>
            </a:r>
          </a:p>
          <a:p xmlns:a="http://schemas.openxmlformats.org/drawingml/2006/main">
            <a:r>
              <a:t>Composición: crea su HabilidadCarrera.</a:t>
            </a:r>
          </a:p>
          <a:p xmlns:a="http://schemas.openxmlformats.org/drawingml/2006/main">
            <a:r>
              <a:t>Encapsulamiento: controla _tiene_llave con métodos.</a:t>
            </a:r>
          </a:p>
          <a:p xmlns:a="http://schemas.openxmlformats.org/drawingml/2006/main">
            <a:r>
              <a:t/>
            </a:r>
          </a:p>
          <a:p xmlns:a="http://schemas.openxmlformats.org/drawingml/2006/main">
            <a:r>
              <a:t>Reutiliza el movimiento de Personaje y define cómo responde al teclado. Su habilidad de carrera es una parte creada por él. Los métodos tiene_llave y recoger_llave concentran la consulta y el cambio del estado de la llave. Su update participa en la misma llamada polimórfica que el de Guardia.</a:t>
            </a:r>
          </a:p>
          <a:p xmlns:a="http://schemas.openxmlformats.org/drawingml/2006/main">
            <a:r>
              <a:t/>
            </a:r>
          </a:p>
          <a:p xmlns:a="http://schemas.openxmlformats.org/drawingml/2006/main">
            <a:r>
              <a:t>Fuentes: src/personajes.py, clase desde línea 58; caja original en docs/diagramas/modelo_parcial.png, rectángulo [6700, 5101, 7212, 5683]. El código mostrado es un extracto con saltos de línea ajustados para lectura, sin cambios de lógica. La guía completa del repositorio contiene la clase íntegra.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Guardia</a:t>
            </a:r>
          </a:p>
          <a:p xmlns:a="http://schemas.openxmlformats.org/drawingml/2006/main">
            <a:r>
              <a:t/>
            </a:r>
          </a:p>
          <a:p xmlns:a="http://schemas.openxmlformats.org/drawingml/2006/main">
            <a:r>
              <a:t>Función: Patrulla, escucha ruidos, persigue al jugador y lo captura por contacto.</a:t>
            </a:r>
          </a:p>
          <a:p xmlns:a="http://schemas.openxmlformats.org/drawingml/2006/main">
            <a:r>
              <a:t/>
            </a:r>
          </a:p>
          <a:p xmlns:a="http://schemas.openxmlformats.org/drawingml/2006/main">
            <a:r>
              <a:t>Herencia y polimorfismo: implementa update de Personaje.</a:t>
            </a:r>
          </a:p>
          <a:p xmlns:a="http://schemas.openxmlformats.org/drawingml/2006/main">
            <a:r>
              <a:t>Encapsulamiento: gestiona _objetivo y _camino.</a:t>
            </a:r>
          </a:p>
          <a:p xmlns:a="http://schemas.openxmlformats.org/drawingml/2006/main">
            <a:r>
              <a:t>Dependencia: consulta al Prisionero para detectarlo.</a:t>
            </a:r>
          </a:p>
          <a:p xmlns:a="http://schemas.openxmlformats.org/drawingml/2006/main">
            <a:r>
              <a:t/>
            </a:r>
          </a:p>
          <a:p xmlns:a="http://schemas.openxmlformats.org/drawingml/2006/main">
            <a:r>
              <a:t>Comparte la base Personaje, pero decide una ruta y una conducta de vigilancia. Los atributos con guion bajo y métodos internos organizan su objetivo y camino. escuchar recibe las notificaciones del ruido. Sus modos son cadenas dentro de la clase; no forman la jerarquía de State usada por Juego.</a:t>
            </a:r>
          </a:p>
          <a:p xmlns:a="http://schemas.openxmlformats.org/drawingml/2006/main">
            <a:r>
              <a:t/>
            </a:r>
          </a:p>
          <a:p xmlns:a="http://schemas.openxmlformats.org/drawingml/2006/main">
            <a:r>
              <a:t>Fuentes: src/personajes.py, clase desde línea 97; caja original en docs/diagramas/modelo_parcial.png, rectángulo [9242, 6837, 9847, 7947]. El código mostrado es un extracto con saltos de línea ajustados para lectura, sin cambios de lógica. La guía completa del repositorio contiene la clase íntegra.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HabilidadCarrera</a:t>
            </a:r>
          </a:p>
          <a:p xmlns:a="http://schemas.openxmlformats.org/drawingml/2006/main">
            <a:r>
              <a:t/>
            </a:r>
          </a:p>
          <a:p xmlns:a="http://schemas.openxmlformats.org/drawingml/2006/main">
            <a:r>
              <a:t>Función: Controla el aumento temporal de velocidad del prisionero.</a:t>
            </a:r>
          </a:p>
          <a:p xmlns:a="http://schemas.openxmlformats.org/drawingml/2006/main">
            <a:r>
              <a:t/>
            </a:r>
          </a:p>
          <a:p xmlns:a="http://schemas.openxmlformats.org/drawingml/2006/main">
            <a:r>
              <a:t>Encapsulamiento: gestiona _duracion y _recarga.</a:t>
            </a:r>
          </a:p>
          <a:p xmlns:a="http://schemas.openxmlformats.org/drawingml/2006/main">
            <a:r>
              <a:t>Composición: es creada por cada Prisionero.</a:t>
            </a:r>
          </a:p>
          <a:p xmlns:a="http://schemas.openxmlformats.org/drawingml/2006/main">
            <a:r>
              <a:t/>
            </a:r>
          </a:p>
          <a:p xmlns:a="http://schemas.openxmlformats.org/drawingml/2006/main">
            <a:r>
              <a:t>Concentra la duración, la recarga y las reglas de activación. Otros objetos piden activar o consultar el multiplicador sin repetir esas reglas. No hereda de Personaje: es una habilidad que el Prisionero contiene. Sus campos internos se identifican mediante el guion bajo.</a:t>
            </a:r>
          </a:p>
          <a:p xmlns:a="http://schemas.openxmlformats.org/drawingml/2006/main">
            <a:r>
              <a:t/>
            </a:r>
          </a:p>
          <a:p xmlns:a="http://schemas.openxmlformats.org/drawingml/2006/main">
            <a:r>
              <a:t>Fuentes: src/personajes.py, clase desde línea 6; caja original en docs/diagramas/modelo_parcial.png, rectángulo [2812, 6209, 3363, 6695]. El código mostrado es un extracto con saltos de línea ajustados para lectura, sin cambios de lógica. La guía completa del repositorio contiene la clase íntegra.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SistemaRuido</a:t>
            </a:r>
          </a:p>
          <a:p xmlns:a="http://schemas.openxmlformats.org/drawingml/2006/main">
            <a:r>
              <a:t/>
            </a:r>
          </a:p>
          <a:p xmlns:a="http://schemas.openxmlformats.org/drawingml/2006/main">
            <a:r>
              <a:t>Función: Emite los ruidos de pasos y avisa a los guardias que pueden escucharlos.</a:t>
            </a:r>
          </a:p>
          <a:p xmlns:a="http://schemas.openxmlformats.org/drawingml/2006/main">
            <a:r>
              <a:t/>
            </a:r>
          </a:p>
          <a:p xmlns:a="http://schemas.openxmlformats.org/drawingml/2006/main">
            <a:r>
              <a:t>Asociación: conserva el Mapa recibido.</a:t>
            </a:r>
          </a:p>
          <a:p xmlns:a="http://schemas.openxmlformats.org/drawingml/2006/main">
            <a:r>
              <a:t>Agregación: registra guardias creados por Nivel.</a:t>
            </a:r>
          </a:p>
          <a:p xmlns:a="http://schemas.openxmlformats.org/drawingml/2006/main">
            <a:r>
              <a:t>Notificación: avisa a los oyentes que pueden escuchar.</a:t>
            </a:r>
          </a:p>
          <a:p xmlns:a="http://schemas.openxmlformats.org/drawingml/2006/main">
            <a:r>
              <a:t/>
            </a:r>
          </a:p>
          <a:p xmlns:a="http://schemas.openxmlformats.org/drawingml/2006/main">
            <a:r>
              <a:t>No construye el mapa ni los guardias: conserva referencias a objetos existentes. Usa la distancia de camino para decidir qué oyentes reciben un paso. Esta comunicación se parece a Observer, pero Guardia no hereda de ObservadorPuntaje. El ejemplo formal de ese patrón es Puntaje con PanelPuntaje.</a:t>
            </a:r>
          </a:p>
          <a:p xmlns:a="http://schemas.openxmlformats.org/drawingml/2006/main">
            <a:r>
              <a:t/>
            </a:r>
          </a:p>
          <a:p xmlns:a="http://schemas.openxmlformats.org/drawingml/2006/main">
            <a:r>
              <a:t>Fuentes: src/ruido.py, clase desde línea 4; caja original en docs/diagramas/modelo_parcial.png, rectángulo [8838, 6257, 9465, 6647]. El código mostrado es un extracto con saltos de línea ajustados para lectura, sin cambios de lógica. La guía completa del repositorio contiene la clase íntegra.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Camara</a:t>
            </a:r>
          </a:p>
          <a:p xmlns:a="http://schemas.openxmlformats.org/drawingml/2006/main">
            <a:r>
              <a:t/>
            </a:r>
          </a:p>
          <a:p xmlns:a="http://schemas.openxmlformats.org/drawingml/2006/main">
            <a:r>
              <a:t>Función: Comprueba si el prisionero está dentro de su campo de visión.</a:t>
            </a:r>
          </a:p>
          <a:p xmlns:a="http://schemas.openxmlformats.org/drawingml/2006/main">
            <a:r>
              <a:t/>
            </a:r>
          </a:p>
          <a:p xmlns:a="http://schemas.openxmlformats.org/drawingml/2006/main">
            <a:r>
              <a:t>Composición: Nivel construye sus cámaras.</a:t>
            </a:r>
          </a:p>
          <a:p xmlns:a="http://schemas.openxmlformats.org/drawingml/2006/main">
            <a:r>
              <a:t>Dependencia: detectar recibe Prisionero y muros.</a:t>
            </a:r>
          </a:p>
          <a:p xmlns:a="http://schemas.openxmlformats.org/drawingml/2006/main">
            <a:r>
              <a:t/>
            </a:r>
          </a:p>
          <a:p xmlns:a="http://schemas.openxmlformats.org/drawingml/2006/main">
            <a:r>
              <a:t>La cámara conserva su posición y campo de visión. detectar usa objetos recibidos para devolver si ve al jugador, sin guardarlo como atributo. Es dependencia de uso y no herencia de Personaje. Nivel interpreta el resultado y alerta a los guardias.</a:t>
            </a:r>
          </a:p>
          <a:p xmlns:a="http://schemas.openxmlformats.org/drawingml/2006/main">
            <a:r>
              <a:t/>
            </a:r>
          </a:p>
          <a:p xmlns:a="http://schemas.openxmlformats.org/drawingml/2006/main">
            <a:r>
              <a:t>Fuentes: src/nivel.py, clase desde línea 51; caja original en docs/diagramas/modelo_parcial.png, rectángulo [6340, 3969, 6942, 4455]. El código mostrado es un extracto con saltos de línea ajustados para lectura, sin cambios de lógica. La guía completa del repositorio contiene la clase íntegra.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Llave</a:t>
            </a:r>
          </a:p>
          <a:p xmlns:a="http://schemas.openxmlformats.org/drawingml/2006/main">
            <a:r>
              <a:t/>
            </a:r>
          </a:p>
          <a:p xmlns:a="http://schemas.openxmlformats.org/drawingml/2006/main">
            <a:r>
              <a:t>Función: Es el objeto que habilita la salida.</a:t>
            </a:r>
          </a:p>
          <a:p xmlns:a="http://schemas.openxmlformats.org/drawingml/2006/main">
            <a:r>
              <a:t/>
            </a:r>
          </a:p>
          <a:p xmlns:a="http://schemas.openxmlformats.org/drawingml/2006/main">
            <a:r>
              <a:t>Composición: cada Nivel crea su Llave.</a:t>
            </a:r>
          </a:p>
          <a:p xmlns:a="http://schemas.openxmlformats.org/drawingml/2006/main">
            <a:r>
              <a:t>Dependencia: recoger utiliza el Prisionero recibido.</a:t>
            </a:r>
          </a:p>
          <a:p xmlns:a="http://schemas.openxmlformats.org/drawingml/2006/main">
            <a:r>
              <a:t/>
            </a:r>
          </a:p>
          <a:p xmlns:a="http://schemas.openxmlformats.org/drawingml/2006/main">
            <a:r>
              <a:t>La llave reúne posición, disponibilidad y recogida. recoger consulta al prisionero y le comunica que obtuvo una llave, evitando concederla varias veces. El atributo disponible es público; el ejemplo de encapsulamiento controlado de la posesión está en Prisionero._tiene_llave.</a:t>
            </a:r>
          </a:p>
          <a:p xmlns:a="http://schemas.openxmlformats.org/drawingml/2006/main">
            <a:r>
              <a:t/>
            </a:r>
          </a:p>
          <a:p xmlns:a="http://schemas.openxmlformats.org/drawingml/2006/main">
            <a:r>
              <a:t>Fuentes: src/nivel.py, clase desde línea 64; caja original en docs/diagramas/modelo_parcial.png, rectángulo [7036, 4041, 7507, 4383]. El código mostrado es un extracto con saltos de línea ajustados para lectura, sin cambios de lógica. La guía completa del repositorio contiene la clase íntegra.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PuertaSalida</a:t>
            </a:r>
          </a:p>
          <a:p xmlns:a="http://schemas.openxmlformats.org/drawingml/2006/main">
            <a:r>
              <a:t/>
            </a:r>
          </a:p>
          <a:p xmlns:a="http://schemas.openxmlformats.org/drawingml/2006/main">
            <a:r>
              <a:t>Función: Representa el lugar por el que se termina un nivel.</a:t>
            </a:r>
          </a:p>
          <a:p xmlns:a="http://schemas.openxmlformats.org/drawingml/2006/main">
            <a:r>
              <a:t/>
            </a:r>
          </a:p>
          <a:p xmlns:a="http://schemas.openxmlformats.org/drawingml/2006/main">
            <a:r>
              <a:t>Composición: Nivel crea su PuertaSalida.</a:t>
            </a:r>
          </a:p>
          <a:p xmlns:a="http://schemas.openxmlformats.org/drawingml/2006/main">
            <a:r>
              <a:t>Dependencia: puede_salir consulta al Prisionero.</a:t>
            </a:r>
          </a:p>
          <a:p xmlns:a="http://schemas.openxmlformats.org/drawingml/2006/main">
            <a:r>
              <a:t/>
            </a:r>
          </a:p>
          <a:p xmlns:a="http://schemas.openxmlformats.org/drawingml/2006/main">
            <a:r>
              <a:t>Agrupa la ubicación de la salida y la regla de acceso: estar cerca y tener la llave. El Prisionero se recibe como parámetro, no se crea ni se conserva en la puerta. Nivel decide después si el resultado completa una etapa o toda la campaña.</a:t>
            </a:r>
          </a:p>
          <a:p xmlns:a="http://schemas.openxmlformats.org/drawingml/2006/main">
            <a:r>
              <a:t/>
            </a:r>
          </a:p>
          <a:p xmlns:a="http://schemas.openxmlformats.org/drawingml/2006/main">
            <a:r>
              <a:t>Fuentes: src/nivel.py, clase desde línea 77; caja original en docs/diagramas/modelo_parcial.png, rectángulo [7601, 4065, 8185, 4359]. El código mostrado es un extracto con saltos de línea ajustados para lectura, sin cambios de lógica. La guía completa del repositorio contiene la clase íntegra.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Puntaje</a:t>
            </a:r>
          </a:p>
          <a:p xmlns:a="http://schemas.openxmlformats.org/drawingml/2006/main">
            <a:r>
              <a:t/>
            </a:r>
          </a:p>
          <a:p xmlns:a="http://schemas.openxmlformats.org/drawingml/2006/main">
            <a:r>
              <a:t>Función: Conserva los puntos y avisa cuando cambian.</a:t>
            </a:r>
          </a:p>
          <a:p xmlns:a="http://schemas.openxmlformats.org/drawingml/2006/main">
            <a:r>
              <a:t/>
            </a:r>
          </a:p>
          <a:p xmlns:a="http://schemas.openxmlformats.org/drawingml/2006/main">
            <a:r>
              <a:t>Encapsulamiento: valida los cambios de _valor.</a:t>
            </a:r>
          </a:p>
          <a:p xmlns:a="http://schemas.openxmlformats.org/drawingml/2006/main">
            <a:r>
              <a:t>Agregación: conserva observadores creados fuera.</a:t>
            </a:r>
          </a:p>
          <a:p xmlns:a="http://schemas.openxmlformats.org/drawingml/2006/main">
            <a:r>
              <a:t>Observer: notifica mediante actualizar_puntaje.</a:t>
            </a:r>
          </a:p>
          <a:p xmlns:a="http://schemas.openxmlformats.org/drawingml/2006/main">
            <a:r>
              <a:t/>
            </a:r>
          </a:p>
          <a:p xmlns:a="http://schemas.openxmlformats.org/drawingml/2006/main">
            <a:r>
              <a:t>El getter permite consultar y el setter rechaza cualquier dato que no sea un entero no negativo. El cambio llama a _notificar, que usa la interfaz de los observadores. Puntaje no conoce cómo dibuja la interfaz. El mismo objeto también participa por agregación en Nivel.</a:t>
            </a:r>
          </a:p>
          <a:p xmlns:a="http://schemas.openxmlformats.org/drawingml/2006/main">
            <a:r>
              <a:t/>
            </a:r>
          </a:p>
          <a:p xmlns:a="http://schemas.openxmlformats.org/drawingml/2006/main">
            <a:r>
              <a:t>Fuentes: src/puntuacion.py, clase desde línea 18; caja original en docs/diagramas/modelo_parcial.png, rectángulo [4951, 3897, 5662, 4527]. El código mostrado es un extracto con saltos de línea ajustados para lectura, sin cambios de lógica. La guía completa del repositorio contiene la clase íntegra.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ObservadorPuntaje</a:t>
            </a:r>
          </a:p>
          <a:p xmlns:a="http://schemas.openxmlformats.org/drawingml/2006/main">
            <a:r>
              <a:t/>
            </a:r>
          </a:p>
          <a:p xmlns:a="http://schemas.openxmlformats.org/drawingml/2006/main">
            <a:r>
              <a:t>Función: Define cómo debe recibir los cambios un observador del puntaje.</a:t>
            </a:r>
          </a:p>
          <a:p xmlns:a="http://schemas.openxmlformats.org/drawingml/2006/main">
            <a:r>
              <a:t/>
            </a:r>
          </a:p>
          <a:p xmlns:a="http://schemas.openxmlformats.org/drawingml/2006/main">
            <a:r>
              <a:t>Abstracción: exige implementar actualizar_puntaje.</a:t>
            </a:r>
          </a:p>
          <a:p xmlns:a="http://schemas.openxmlformats.org/drawingml/2006/main">
            <a:r>
              <a:t>Herencia: es la base de PanelPuntaje.</a:t>
            </a:r>
          </a:p>
          <a:p xmlns:a="http://schemas.openxmlformats.org/drawingml/2006/main">
            <a:r>
              <a:t/>
            </a:r>
          </a:p>
          <a:p xmlns:a="http://schemas.openxmlformats.org/drawingml/2006/main">
            <a:r>
              <a:t>Define el contrato para recibir un valor de puntaje. abstractmethod obliga a las clases concretas a implementar esa operación. Separa lo que el emisor puede pedir de la implementación del receptor. Es el observador abstracto del patrón Observer.</a:t>
            </a:r>
          </a:p>
          <a:p xmlns:a="http://schemas.openxmlformats.org/drawingml/2006/main">
            <a:r>
              <a:t/>
            </a:r>
          </a:p>
          <a:p xmlns:a="http://schemas.openxmlformats.org/drawingml/2006/main">
            <a:r>
              <a:t>Fuentes: src/puntuacion.py, clase desde línea 4; caja original en docs/diagramas/modelo_parcial.png, rectángulo [4970, 5239, 5643, 5545]. El código mostrado es un extracto con saltos de línea ajustados para lectura, sin cambios de lógica. La guía completa del repositorio contiene la clase íntegra.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PanelPuntaje</a:t>
            </a:r>
          </a:p>
          <a:p xmlns:a="http://schemas.openxmlformats.org/drawingml/2006/main">
            <a:r>
              <a:t/>
            </a:r>
          </a:p>
          <a:p xmlns:a="http://schemas.openxmlformats.org/drawingml/2006/main">
            <a:r>
              <a:t>Función: Conserva el último puntaje notificado para mostrarlo en pantalla.</a:t>
            </a:r>
          </a:p>
          <a:p xmlns:a="http://schemas.openxmlformats.org/drawingml/2006/main">
            <a:r>
              <a:t/>
            </a:r>
          </a:p>
          <a:p xmlns:a="http://schemas.openxmlformats.org/drawingml/2006/main">
            <a:r>
              <a:t>Herencia: deriva de ObservadorPuntaje.</a:t>
            </a:r>
          </a:p>
          <a:p xmlns:a="http://schemas.openxmlformats.org/drawingml/2006/main">
            <a:r>
              <a:t>Polimorfismo: implementa actualizar_puntaje.</a:t>
            </a:r>
          </a:p>
          <a:p xmlns:a="http://schemas.openxmlformats.org/drawingml/2006/main">
            <a:r>
              <a:t>Observer: recibe el nuevo valor que luego dibuja Vista.</a:t>
            </a:r>
          </a:p>
          <a:p xmlns:a="http://schemas.openxmlformats.org/drawingml/2006/main">
            <a:r>
              <a:t/>
            </a:r>
          </a:p>
          <a:p xmlns:a="http://schemas.openxmlformats.org/drawingml/2006/main">
            <a:r>
              <a:t>Puntaje puede notificarlo mediante la interfaz común de observador. La implementación concreta guarda el valor recibido. Su atributo valor es público: aquí el ejemplo principal es herencia y polimorfismo, no un campo protegido con setter. Juego lo registra mediante suscribir.</a:t>
            </a:r>
          </a:p>
          <a:p xmlns:a="http://schemas.openxmlformats.org/drawingml/2006/main">
            <a:r>
              <a:t/>
            </a:r>
          </a:p>
          <a:p xmlns:a="http://schemas.openxmlformats.org/drawingml/2006/main">
            <a:r>
              <a:t>Fuentes: src/puntuacion.py, clase desde línea 10; caja original en docs/diagramas/modelo_parcial.png, rectángulo [4129, 6305, 4755, 6599]. El código mostrado es un extracto con saltos de línea ajustados para lectura, sin cambios de lógica. La guía completa del repositorio contiene la clase íntegra.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Proyectil</a:t>
            </a:r>
          </a:p>
          <a:p xmlns:a="http://schemas.openxmlformats.org/drawingml/2006/main">
            <a:r>
              <a:t/>
            </a:r>
          </a:p>
          <a:p xmlns:a="http://schemas.openxmlformats.org/drawingml/2006/main">
            <a:r>
              <a:t>Función: Guarda la posición, velocidad, tamaño y duración de un disparo.</a:t>
            </a:r>
          </a:p>
          <a:p xmlns:a="http://schemas.openxmlformats.org/drawingml/2006/main">
            <a:r>
              <a:t/>
            </a:r>
          </a:p>
          <a:p xmlns:a="http://schemas.openxmlformats.org/drawingml/2006/main">
            <a:r>
              <a:t>Composición: Combate crea y conserva los disparos.</a:t>
            </a:r>
          </a:p>
          <a:p xmlns:a="http://schemas.openxmlformats.org/drawingml/2006/main">
            <a:r>
              <a:t>Dataclass: genera el constructor de sus datos.</a:t>
            </a:r>
          </a:p>
          <a:p xmlns:a="http://schemas.openxmlformats.org/drawingml/2006/main">
            <a:r>
              <a:t/>
            </a:r>
          </a:p>
          <a:p xmlns:a="http://schemas.openxmlformats.org/drawingml/2006/main">
            <a:r>
              <a:t>Agrupa posición, velocidad y duración con las operaciones del disparo. avanzar devuelve el segmento recorrido para comprobar impactos. Dataclass es una herramienta del lenguaje, no uno de los seis fundamentos de la rúbrica. Sus campos son públicos y no hereda de otra clase del juego.</a:t>
            </a:r>
          </a:p>
          <a:p xmlns:a="http://schemas.openxmlformats.org/drawingml/2006/main">
            <a:r>
              <a:t/>
            </a:r>
          </a:p>
          <a:p xmlns:a="http://schemas.openxmlformats.org/drawingml/2006/main">
            <a:r>
              <a:t>Fuentes: src/combate.py, clase desde línea 8; caja original en docs/diagramas/modelo_parcial.png, rectángulo [3728, 5053, 4143, 5731]. El código mostrado es un extracto con saltos de línea ajustados para lectura, sin cambios de lógica. La guía completa del repositorio contiene la clase íntegra.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Alcaide</a:t>
            </a:r>
          </a:p>
          <a:p xmlns:a="http://schemas.openxmlformats.org/drawingml/2006/main">
            <a:r>
              <a:t/>
            </a:r>
          </a:p>
          <a:p xmlns:a="http://schemas.openxmlformats.org/drawingml/2006/main">
            <a:r>
              <a:t>Función: Controla al jefe del último nivel.</a:t>
            </a:r>
          </a:p>
          <a:p xmlns:a="http://schemas.openxmlformats.org/drawingml/2006/main">
            <a:r>
              <a:t/>
            </a:r>
          </a:p>
          <a:p xmlns:a="http://schemas.openxmlformats.org/drawingml/2006/main">
            <a:r>
              <a:t>Composición: Combate crea su Alcaide.</a:t>
            </a:r>
          </a:p>
          <a:p xmlns:a="http://schemas.openxmlformats.org/drawingml/2006/main">
            <a:r>
              <a:t>Dependencia: actualizar recibe el Combate.</a:t>
            </a:r>
          </a:p>
          <a:p xmlns:a="http://schemas.openxmlformats.org/drawingml/2006/main">
            <a:r>
              <a:t>Propiedades: consultan fase, posición y derrota.</a:t>
            </a:r>
          </a:p>
          <a:p xmlns:a="http://schemas.openxmlformats.org/drawingml/2006/main">
            <a:r>
              <a:t/>
            </a:r>
          </a:p>
          <a:p xmlns:a="http://schemas.openxmlformats.org/drawingml/2006/main">
            <a:r>
              <a:t>Concentra los ataques y las reglas del jefe. Se comunica con el Combate recibido para emitir disparos o consultar el mapa. Las propiedades calculan vistas del estado, por ejemplo si ya fue derrotado. Su vida es pública, por lo que no debe presentarse como un atributo privado protegido por un setter.</a:t>
            </a:r>
          </a:p>
          <a:p xmlns:a="http://schemas.openxmlformats.org/drawingml/2006/main">
            <a:r>
              <a:t/>
            </a:r>
          </a:p>
          <a:p xmlns:a="http://schemas.openxmlformats.org/drawingml/2006/main">
            <a:r>
              <a:t>Fuentes: src/combate.py, clase desde línea 47; caja original en docs/diagramas/modelo_parcial.png, rectángulo [4238, 4717, 4795, 6067]. El código mostrado es un extracto con saltos de línea ajustados para lectura, sin cambios de lógica. La guía completa del repositorio contiene la clase íntegra.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Combate</a:t>
            </a:r>
          </a:p>
          <a:p xmlns:a="http://schemas.openxmlformats.org/drawingml/2006/main">
            <a:r>
              <a:t/>
            </a:r>
          </a:p>
          <a:p xmlns:a="http://schemas.openxmlformats.org/drawingml/2006/main">
            <a:r>
              <a:t>Función: Resuelve los ataques, los proyectiles y la vida en la arena.</a:t>
            </a:r>
          </a:p>
          <a:p xmlns:a="http://schemas.openxmlformats.org/drawingml/2006/main">
            <a:r>
              <a:t/>
            </a:r>
          </a:p>
          <a:p xmlns:a="http://schemas.openxmlformats.org/drawingml/2006/main">
            <a:r>
              <a:t>Composición: crea Alcaide y Proyectil.</a:t>
            </a:r>
          </a:p>
          <a:p xmlns:a="http://schemas.openxmlformats.org/drawingml/2006/main">
            <a:r>
              <a:t>Asociación: conserva el Nivel recibido.</a:t>
            </a:r>
          </a:p>
          <a:p xmlns:a="http://schemas.openxmlformats.org/drawingml/2006/main">
            <a:r>
              <a:t/>
            </a:r>
          </a:p>
          <a:p xmlns:a="http://schemas.openxmlformats.org/drawingml/2006/main">
            <a:r>
              <a:t>Es una parte que Nivel crea solo para la arena. A su vez construye el jefe y mantiene los proyectiles. Guarda una referencia a Nivel para acceder al jugador y al mapa compartido. Separa las reglas del combate del dibujo que realiza Vista.</a:t>
            </a:r>
          </a:p>
          <a:p xmlns:a="http://schemas.openxmlformats.org/drawingml/2006/main">
            <a:r>
              <a:t/>
            </a:r>
          </a:p>
          <a:p xmlns:a="http://schemas.openxmlformats.org/drawingml/2006/main">
            <a:r>
              <a:t>Fuentes: src/combate.py, clase desde línea 162; caja original en docs/diagramas/modelo_parcial.png, rectángulo [3850, 3849, 4690, 4575]. El código mostrado es un extracto con saltos de línea ajustados para lectura, sin cambios de lógica. La guía completa del repositorio contiene la clase íntegra.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Vista</a:t>
            </a:r>
          </a:p>
          <a:p xmlns:a="http://schemas.openxmlformats.org/drawingml/2006/main">
            <a:r>
              <a:t/>
            </a:r>
          </a:p>
          <a:p xmlns:a="http://schemas.openxmlformats.org/drawingml/2006/main">
            <a:r>
              <a:t>Función: Dibuja la interfaz, los mapas y los personajes stickman con Pygame.</a:t>
            </a:r>
          </a:p>
          <a:p xmlns:a="http://schemas.openxmlformats.org/drawingml/2006/main">
            <a:r>
              <a:t/>
            </a:r>
          </a:p>
          <a:p xmlns:a="http://schemas.openxmlformats.org/drawingml/2006/main">
            <a:r>
              <a:t>Asociación: conserva la pantalla que recibe.</a:t>
            </a:r>
          </a:p>
          <a:p xmlns:a="http://schemas.openxmlformats.org/drawingml/2006/main">
            <a:r>
              <a:t>Dependencia: dibujar consulta Juego y Nivel.</a:t>
            </a:r>
          </a:p>
          <a:p xmlns:a="http://schemas.openxmlformats.org/drawingml/2006/main">
            <a:r>
              <a:t/>
            </a:r>
          </a:p>
          <a:p xmlns:a="http://schemas.openxmlformats.org/drawingml/2006/main">
            <a:r>
              <a:t>Recibe Juego para leer sus datos y dibujarlos con Pygame. No decide las colisiones, la captura ni el puntaje. Separar estas responsabilidades permite probar las reglas sin abrir una ventana. Su constructor recibe la pantalla; no hereda de Personaje ni de una clase propia de sprites.</a:t>
            </a:r>
          </a:p>
          <a:p xmlns:a="http://schemas.openxmlformats.org/drawingml/2006/main">
            <a:r>
              <a:t/>
            </a:r>
          </a:p>
          <a:p xmlns:a="http://schemas.openxmlformats.org/drawingml/2006/main">
            <a:r>
              <a:t>Fuentes: src/vista.py, clase desde línea 12; caja original en docs/diagramas/modelo_parcial.png, rectángulo [6570, 93, 7679, 1203]. El código mostrado es un extracto con saltos de línea ajustados para lectura, sin cambios de lógica. La guía completa del repositorio contiene la clase íntegra.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Reglas del juego</a:t>
            </a:r>
          </a:p>
          <a:p xmlns:a="http://schemas.openxmlformats.org/drawingml/2006/main">
            <a:r>
              <a:t>Explicar qué causa una alerta y qué provoca derrota. La cámara avisa a las patrullas y el contacto con un guardia captura al prisionero. En la arena el jugador tiene cinco puntos de vida y el jefe tiene tres capas de 72 puntos, 216 en total. Las coronas pasan de 12 a 40 y 84 proyectiles. Al perder, R repite el nivel y conserva los puntos anteriores. La campaña completa suma cuatro llaves, cuatro salidas y el premio del jefe: 3400 puntos.</a:t>
            </a:r>
          </a:p>
          <a:p xmlns:a="http://schemas.openxmlformats.org/drawingml/2006/main">
            <a:r>
              <a:t>Fuentes: Informe parcial, páginas 5 y 6; README.md; src/nivel.py; src/personajes.py; src/combate.py.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Controles del juego</a:t>
            </a:r>
          </a:p>
          <a:p xmlns:a="http://schemas.openxmlformats.org/drawingml/2006/main">
            <a:r>
              <a:t>Mostrar los controles según el contexto. E requiere mantener la tecla junto a los barrotes. Ctrl reduce el ruido. Shift activa una carrera de dos segundos con cinco de recarga. Espacio apunta automáticamente al jefe e IJKL permite fijar una dirección. Enter se usa entre niveles, R después de una derrota o victoria y N tras perder o entre niveles. La pérdida de foco también pausa la partida.</a:t>
            </a:r>
          </a:p>
          <a:p xmlns:a="http://schemas.openxmlformats.org/drawingml/2006/main">
            <a:r>
              <a:t>Fuentes: README.md, controles; main.py, procesar_eventos y ejecutar; src/estados.py; src/personajes.py.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Tecnologías utilizadas</a:t>
            </a:r>
          </a:p>
          <a:p xmlns:a="http://schemas.openxmlformats.org/drawingml/2006/main">
            <a:r>
              <a:t>Explicar la función de cada herramienta. Python contiene las reglas y las clases. Pygame aporta la ventana, eventos y dibujo. Mermaid representa las clases en UML. Git conserva el historial y GitHub lo comparte. unittest prepara escenarios y comprueba resultados. Los tests de documentación también utilizan ast y re para leer la estructura del código y el modelo Mermaid.</a:t>
            </a:r>
          </a:p>
          <a:p xmlns:a="http://schemas.openxmlformats.org/drawingml/2006/main">
            <a:r>
              <a:t>Fuentes: Informe parcial, página 2; requirements.txt; main.py; tests/test_documentacion.py; tools/verificar.py.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Patrones State y Observer</a:t>
            </a:r>
          </a:p>
          <a:p xmlns:a="http://schemas.openxmlformats.org/drawingml/2006/main">
            <a:r>
              <a:t>State: Juego delega manejar_entrada y actualizar en su EstadoJuego activo. Pausa no avanza la simulación. Observer: Juego suscribe PanelPuntaje a Puntaje, set_valor llama _notificar y cada observador recibe actualizar_puntaje. Los fragmentos pertenecen a métodos distintos de Juego y Puntaje. Los modos del guardia utilizan una variable de texto y condiciones.</a:t>
            </a:r>
          </a:p>
          <a:p xmlns:a="http://schemas.openxmlformats.org/drawingml/2006/main">
            <a:r>
              <a:t>Fuentes: Informe parcial, página 5; src/juego.py; src/estados.py; src/puntuacion.py.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Pruebas para detectar errores</a:t>
            </a:r>
          </a:p>
          <a:p xmlns:a="http://schemas.openxmlformats.org/drawingml/2006/main">
            <a:r>
              <a:t>Presentar las pruebas como parte del cierre. unittest.TestCase agrupa casos y los métodos test_ se ejecutan automáticamente. assertEqual compara resultados, assertTrue exige una condición y assertRaises comprueba errores esperados. La revisión actual ejecutó 54 pruebas con cero errores y cero fallos. El informe también registra una campaña completa y catorce capturas. Las pruebas se encuentran en tests y son auxiliares al juego.</a:t>
            </a:r>
          </a:p>
          <a:p xmlns:a="http://schemas.openxmlformats.org/drawingml/2006/main">
            <a:r>
              <a:t>Fuentes: Informe parcial, página 6; tests/test_juego.py; tests/test_mapa.py; tests/test_vigilancia.py; tests/test_campana.py; tests/test_documentacion.py.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Pruebas de paredes y puntaje</a:t>
            </a:r>
          </a:p>
          <a:p xmlns:a="http://schemas.openxmlformats.org/drawingml/2006/main">
            <a:r>
              <a:t>Explicar entrada, resultado esperado y aserción. En colisiones se aplica un desplazamiento de 1000 píxeles y se compara la coordenada con el límite de la puerta de la celda. En puntaje se ensayan un negativo, un decimal, un booleano y un texto. assertRaises espera ValueError; la prueba falla si el método acepta la entrada. El caso completo también acepta 250 y comprueba que el panel se actualice.</a:t>
            </a:r>
          </a:p>
          <a:p xmlns:a="http://schemas.openxmlformats.org/drawingml/2006/main">
            <a:r>
              <a:t>Fuentes: tests/test_juego.py, test_colision_muro_interior_sin_atravesarlo y test_setter_puntaje_valida_y_notifica; src/mapa.py; src/puntuacion.py.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Pruebas de alarmas y capas del jefe</a:t>
            </a:r>
          </a:p>
          <a:p xmlns:a="http://schemas.openxmlformats.org/drawingml/2006/main">
            <a:r>
              <a:t>Para alarmas, el escenario coloca al jugador delante de cada cámara, actualiza sin avanzar el tiempo y verifica cámara activa, todos los guardias en PERSIGUE y estado Jugando. En el jefe, el escenario prepara tandas de impactos para comprobar límites de capa. La vida debe quedar en 144, luego 72 y finalmente 0, y la llave solo aparece al final. Se trata de escenarios preparados para comprobar reglas; la verificación de campaña utiliza movimiento y disparos reales.</a:t>
            </a:r>
          </a:p>
          <a:p xmlns:a="http://schemas.openxmlformats.org/drawingml/2006/main">
            <a:r>
              <a:t>Fuentes: tests/test_vigilancia.py, test_alarmas_de_los_tres_mapas_alertan_a_todos_sin_derrota_instantanea; tests/test_campana.py, test_romper_capa_no_libera_llave_y_tanda_no_salta_otras_capas.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Pruebas del UML y de la guía</a:t>
            </a:r>
          </a:p>
          <a:p xmlns:a="http://schemas.openxmlformats.org/drawingml/2006/main">
            <a:r>
              <a:t>clases_del_juego analiza los archivos de src con ast. El test extrae las cajas de Mermaid con re y compara nombres, atributos propios, métodos y herencia. El segundo caso analiza los bloques Python de la guía y compara sus árboles sintácticos con los originales mediante ast.dump. Se comparan conjuntos y estructuras de código. La legibilidad del diagrama también necesita revisión visual.</a:t>
            </a:r>
          </a:p>
          <a:p xmlns:a="http://schemas.openxmlformats.org/drawingml/2006/main">
            <a:r>
              <a:t>Fuentes: tests/test_documentacion.py; docs/diagramas/modelo_parcial.mmd; docs/Explicacion_de_clases.md.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ce9b5240e6426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65e11e32a73427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3c404a9d42e42b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360603df296400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47d9f8133394d9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2b1ddc20966439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7535EDB-96CB-4BC0-BEBA-A6DC34828DB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6CFF035-5229-4A92-A470-C63E2DBB4BD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D27778B-9F60-4339-84C5-369B2D57DE6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DFEF29-0C90-44CE-8A61-6571645B33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B9CBBC1-EA0E-4960-9FFB-FFDB4B0D0E5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766DDA3-C571-423A-8FCD-5302DD44FE8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B6C979D-C28F-4063-BC18-865CCF48112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D103F0F-C6AA-43E8-BB6C-202CE9055E2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7525D0-6932-422F-A312-1D85C48E147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D18E496-D079-4288-B322-E8031D00D45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71f552a51c44c8a" /><Relationship Type="http://schemas.openxmlformats.org/officeDocument/2006/relationships/slideLayout" Target="/ppt/slideLayouts/slideLayout1.xml" Id="R802636911f5e4307" /><Relationship Type="http://schemas.openxmlformats.org/officeDocument/2006/relationships/slideLayout" Target="/ppt/slideLayouts/slideLayout2.xml" Id="Rf29abfc58c6b4078" /><Relationship Type="http://schemas.openxmlformats.org/officeDocument/2006/relationships/slideLayout" Target="/ppt/slideLayouts/slideLayout3.xml" Id="Rf58ecc22516346cb" /><Relationship Type="http://schemas.openxmlformats.org/officeDocument/2006/relationships/slideLayout" Target="/ppt/slideLayouts/slideLayout4.xml" Id="R152b81c0ee9044fc" /><Relationship Type="http://schemas.openxmlformats.org/officeDocument/2006/relationships/slideLayout" Target="/ppt/slideLayouts/slideLayout5.xml" Id="R1dfd232bf2ce43f2" /><Relationship Type="http://schemas.openxmlformats.org/officeDocument/2006/relationships/slideLayout" Target="/ppt/slideLayouts/slideLayout6.xml" Id="R07acf81af539438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2636911f5e4307"/>
    <p:sldLayoutId xmlns:r="http://schemas.openxmlformats.org/officeDocument/2006/relationships" id="2147483650" r:id="Rf29abfc58c6b4078"/>
    <p:sldLayoutId xmlns:r="http://schemas.openxmlformats.org/officeDocument/2006/relationships" id="2147483651" r:id="Rf58ecc22516346cb"/>
    <p:sldLayoutId xmlns:r="http://schemas.openxmlformats.org/officeDocument/2006/relationships" id="2147483652" r:id="R152b81c0ee9044fc"/>
    <p:sldLayoutId xmlns:r="http://schemas.openxmlformats.org/officeDocument/2006/relationships" id="2147483653" r:id="R1dfd232bf2ce43f2"/>
    <p:sldLayoutId xmlns:r="http://schemas.openxmlformats.org/officeDocument/2006/relationships" id="2147483654" r:id="R07acf81af53943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c1f521dcb974320" /><Relationship Type="http://schemas.openxmlformats.org/officeDocument/2006/relationships/notesSlide" Target="/ppt/notesSlides/notesSlide1.xml" Id="R3d9c7ce5376240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eea523e96164a60" /><Relationship Type="http://schemas.openxmlformats.org/officeDocument/2006/relationships/notesSlide" Target="/ppt/notesSlides/notesSlide2.xml" Id="Re21edd41e7d947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ce0e0f19f684409" /><Relationship Type="http://schemas.openxmlformats.org/officeDocument/2006/relationships/image" Target="/ppt/media/image.png" Id="R2343fd3c46c84a1f" /><Relationship Type="http://schemas.openxmlformats.org/officeDocument/2006/relationships/notesSlide" Target="/ppt/notesSlides/notesSlide3.xml" Id="R18ab4d6dd19e4a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69df45363e44888" /><Relationship Type="http://schemas.openxmlformats.org/officeDocument/2006/relationships/notesSlide" Target="/ppt/notesSlides/notesSlide4.xml" Id="Rbe610907d67d432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a9eb9c5f8a54056" /><Relationship Type="http://schemas.openxmlformats.org/officeDocument/2006/relationships/notesSlide" Target="/ppt/notesSlides/notesSlide5.xml" Id="R8bf212d5fcbd4a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c81a69956b54ac8" /><Relationship Type="http://schemas.openxmlformats.org/officeDocument/2006/relationships/notesSlide" Target="/ppt/notesSlides/notesSlide6.xml" Id="R87eb3bd7f21c450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03512efc1b74d40" /><Relationship Type="http://schemas.openxmlformats.org/officeDocument/2006/relationships/image" Target="/ppt/media/image2.png" Id="Ra42be96b5f8f44fb" /><Relationship Type="http://schemas.openxmlformats.org/officeDocument/2006/relationships/hyperlink" Target="https://github.com/JhosFcL/FugaPrision/commits/main/" TargetMode="External" Id="Re5b1fc01e59148ca" /><Relationship Type="http://schemas.openxmlformats.org/officeDocument/2006/relationships/notesSlide" Target="/ppt/notesSlides/notesSlide7.xml" Id="R9d7b86008b4d479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56248f4f6f74652" /><Relationship Type="http://schemas.openxmlformats.org/officeDocument/2006/relationships/notesSlide" Target="/ppt/notesSlides/notesSlide8.xml" Id="R292554176b13441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76973d1ca474a29" /><Relationship Type="http://schemas.openxmlformats.org/officeDocument/2006/relationships/image" Target="/ppt/media/image3.png" Id="R57b47a6ca2ac4c5b" /><Relationship Type="http://schemas.openxmlformats.org/officeDocument/2006/relationships/hyperlink" Target="https://github.com/JhosFcL/FugaPrision/blob/main/docs/diagramas/modelo_parcial.png" TargetMode="External" Id="Rd07dac14b2f64411" /><Relationship Type="http://schemas.openxmlformats.org/officeDocument/2006/relationships/hyperlink" Target="https://github.com/JhosFcL/FugaPrision/blob/main/src/puntuacion.py" TargetMode="External" Id="R91ca6a37a4be430d" /><Relationship Type="http://schemas.openxmlformats.org/officeDocument/2006/relationships/notesSlide" Target="/ppt/notesSlides/notesSlide9.xml" Id="Rdff4f37cfb8a4ef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e1370cda9684c01" /><Relationship Type="http://schemas.openxmlformats.org/officeDocument/2006/relationships/image" Target="/ppt/media/image4.png" Id="R98614d1dc86d4f22" /><Relationship Type="http://schemas.openxmlformats.org/officeDocument/2006/relationships/hyperlink" Target="https://github.com/JhosFcL/FugaPrision/blob/main/src/juego.py#L7" TargetMode="External" Id="R00a82243d73a4256" /><Relationship Type="http://schemas.openxmlformats.org/officeDocument/2006/relationships/hyperlink" Target="https://github.com/JhosFcL/FugaPrision/blob/main/docs/diagramas/clases/Juego.png" TargetMode="External" Id="Re89882245dce4169" /><Relationship Type="http://schemas.openxmlformats.org/officeDocument/2006/relationships/notesSlide" Target="/ppt/notesSlides/notesSlide10.xml" Id="Rda3f7aabdf8445e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c20343aad524b14" /><Relationship Type="http://schemas.openxmlformats.org/officeDocument/2006/relationships/image" Target="/ppt/media/image5.png" Id="Radc72da01bfc4257" /><Relationship Type="http://schemas.openxmlformats.org/officeDocument/2006/relationships/hyperlink" Target="https://github.com/JhosFcL/FugaPrision/blob/main/src/estados.py#L4" TargetMode="External" Id="Rc88757dc039f44f8" /><Relationship Type="http://schemas.openxmlformats.org/officeDocument/2006/relationships/hyperlink" Target="https://github.com/JhosFcL/FugaPrision/blob/main/docs/diagramas/clases/EstadoJuego.png" TargetMode="External" Id="Rce548c6953454b3f" /><Relationship Type="http://schemas.openxmlformats.org/officeDocument/2006/relationships/notesSlide" Target="/ppt/notesSlides/notesSlide11.xml" Id="Rce9ea7c999d84ac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405f017e2494531" /><Relationship Type="http://schemas.openxmlformats.org/officeDocument/2006/relationships/image" Target="/ppt/media/image6.png" Id="R7376dd1e30f24bf2" /><Relationship Type="http://schemas.openxmlformats.org/officeDocument/2006/relationships/hyperlink" Target="https://github.com/JhosFcL/FugaPrision/blob/main/src/estados.py#L19" TargetMode="External" Id="R653f4ae06ab3431a" /><Relationship Type="http://schemas.openxmlformats.org/officeDocument/2006/relationships/hyperlink" Target="https://github.com/JhosFcL/FugaPrision/blob/main/docs/diagramas/clases/Jugando.png" TargetMode="External" Id="R5e586c2f6fc8405f" /><Relationship Type="http://schemas.openxmlformats.org/officeDocument/2006/relationships/notesSlide" Target="/ppt/notesSlides/notesSlide12.xml" Id="Re443bb25b624487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1b865347de84b54" /><Relationship Type="http://schemas.openxmlformats.org/officeDocument/2006/relationships/image" Target="/ppt/media/image7.png" Id="R6532067226f94cbd" /><Relationship Type="http://schemas.openxmlformats.org/officeDocument/2006/relationships/hyperlink" Target="https://github.com/JhosFcL/FugaPrision/blob/main/src/estados.py#L38" TargetMode="External" Id="R955bbac40d7346f5" /><Relationship Type="http://schemas.openxmlformats.org/officeDocument/2006/relationships/hyperlink" Target="https://github.com/JhosFcL/FugaPrision/blob/main/docs/diagramas/clases/Pausa.png" TargetMode="External" Id="R4943522687e44feb" /><Relationship Type="http://schemas.openxmlformats.org/officeDocument/2006/relationships/notesSlide" Target="/ppt/notesSlides/notesSlide13.xml" Id="R8a3e18670e3441e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ed96b38708e48c0" /><Relationship Type="http://schemas.openxmlformats.org/officeDocument/2006/relationships/image" Target="/ppt/media/image8.png" Id="R31532eb19902474f" /><Relationship Type="http://schemas.openxmlformats.org/officeDocument/2006/relationships/hyperlink" Target="https://github.com/JhosFcL/FugaPrision/blob/main/src/estados.py#L49" TargetMode="External" Id="R4f643d6af7cb423c" /><Relationship Type="http://schemas.openxmlformats.org/officeDocument/2006/relationships/hyperlink" Target="https://github.com/JhosFcL/FugaPrision/blob/main/docs/diagramas/clases/Derrota.png" TargetMode="External" Id="R16a01c3a93694126" /><Relationship Type="http://schemas.openxmlformats.org/officeDocument/2006/relationships/notesSlide" Target="/ppt/notesSlides/notesSlide14.xml" Id="Rdcafc5a5ec96466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e3fe1d6928c48eb" /><Relationship Type="http://schemas.openxmlformats.org/officeDocument/2006/relationships/image" Target="/ppt/media/image9.png" Id="R9f0f11ac183f41ef" /><Relationship Type="http://schemas.openxmlformats.org/officeDocument/2006/relationships/hyperlink" Target="https://github.com/JhosFcL/FugaPrision/blob/main/src/estados.py#L62" TargetMode="External" Id="R081171a2e51f4c61" /><Relationship Type="http://schemas.openxmlformats.org/officeDocument/2006/relationships/hyperlink" Target="https://github.com/JhosFcL/FugaPrision/blob/main/docs/diagramas/clases/Victoria.png" TargetMode="External" Id="R318701ef48d04c3e" /><Relationship Type="http://schemas.openxmlformats.org/officeDocument/2006/relationships/notesSlide" Target="/ppt/notesSlides/notesSlide15.xml" Id="R885ffa392d14415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ac3b06db62f4317" /><Relationship Type="http://schemas.openxmlformats.org/officeDocument/2006/relationships/image" Target="/ppt/media/image10.png" Id="Rec7a816e786f489f" /><Relationship Type="http://schemas.openxmlformats.org/officeDocument/2006/relationships/hyperlink" Target="https://github.com/JhosFcL/FugaPrision/blob/main/src/estados.py#L73" TargetMode="External" Id="R7ba09b1e342942c3" /><Relationship Type="http://schemas.openxmlformats.org/officeDocument/2006/relationships/hyperlink" Target="https://github.com/JhosFcL/FugaPrision/blob/main/docs/diagramas/clases/NivelCompletado.png" TargetMode="External" Id="Ra3815701260c460b" /><Relationship Type="http://schemas.openxmlformats.org/officeDocument/2006/relationships/notesSlide" Target="/ppt/notesSlides/notesSlide16.xml" Id="R30c4a6cfc839486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ef000ce32234301" /><Relationship Type="http://schemas.openxmlformats.org/officeDocument/2006/relationships/image" Target="/ppt/media/image11.png" Id="R15f0a964a5bb4f6d" /><Relationship Type="http://schemas.openxmlformats.org/officeDocument/2006/relationships/hyperlink" Target="https://github.com/JhosFcL/FugaPrision/blob/main/src/nivel.py#L85" TargetMode="External" Id="R305b17ca366e4830" /><Relationship Type="http://schemas.openxmlformats.org/officeDocument/2006/relationships/hyperlink" Target="https://github.com/JhosFcL/FugaPrision/blob/main/docs/diagramas/clases/Nivel.png" TargetMode="External" Id="R86b84112a5d5437d" /><Relationship Type="http://schemas.openxmlformats.org/officeDocument/2006/relationships/notesSlide" Target="/ppt/notesSlides/notesSlide17.xml" Id="Rff9c2b4875684a7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507f61af852405a" /><Relationship Type="http://schemas.openxmlformats.org/officeDocument/2006/relationships/image" Target="/ppt/media/image12.png" Id="R15092f502d8f45c7" /><Relationship Type="http://schemas.openxmlformats.org/officeDocument/2006/relationships/hyperlink" Target="https://github.com/JhosFcL/FugaPrision/blob/main/src/nivel.py#L32" TargetMode="External" Id="Rb375b1f0dff04a91" /><Relationship Type="http://schemas.openxmlformats.org/officeDocument/2006/relationships/hyperlink" Target="https://github.com/JhosFcL/FugaPrision/blob/main/docs/diagramas/clases/PuertaCelda.png" TargetMode="External" Id="R32d3fc667fd545da" /><Relationship Type="http://schemas.openxmlformats.org/officeDocument/2006/relationships/notesSlide" Target="/ppt/notesSlides/notesSlide18.xml" Id="Rb8153b3394434bd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b17fe943b594e9a" /><Relationship Type="http://schemas.openxmlformats.org/officeDocument/2006/relationships/image" Target="/ppt/media/image13.png" Id="R4df544f751714a3b" /><Relationship Type="http://schemas.openxmlformats.org/officeDocument/2006/relationships/hyperlink" Target="https://github.com/JhosFcL/FugaPrision/blob/main/src/mapa.py#L82" TargetMode="External" Id="Rf117dcac3e3e4649" /><Relationship Type="http://schemas.openxmlformats.org/officeDocument/2006/relationships/hyperlink" Target="https://github.com/JhosFcL/FugaPrision/blob/main/docs/diagramas/clases/Mapa.png" TargetMode="External" Id="Rc8cbf4ee9aed4b1c" /><Relationship Type="http://schemas.openxmlformats.org/officeDocument/2006/relationships/notesSlide" Target="/ppt/notesSlides/notesSlide19.xml" Id="R080b4f2536c24c5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7314dd6bd154984" /><Relationship Type="http://schemas.openxmlformats.org/officeDocument/2006/relationships/image" Target="/ppt/media/image14.png" Id="Rb643497b6b7b418d" /><Relationship Type="http://schemas.openxmlformats.org/officeDocument/2006/relationships/hyperlink" Target="https://github.com/JhosFcL/FugaPrision/blob/main/src/personajes.py#L39" TargetMode="External" Id="Rd6de3c7f547843aa" /><Relationship Type="http://schemas.openxmlformats.org/officeDocument/2006/relationships/hyperlink" Target="https://github.com/JhosFcL/FugaPrision/blob/main/docs/diagramas/clases/Personaje.png" TargetMode="External" Id="R56b624b99f144bb3" /><Relationship Type="http://schemas.openxmlformats.org/officeDocument/2006/relationships/notesSlide" Target="/ppt/notesSlides/notesSlide20.xml" Id="R7a29d4ec6f61417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292ddcfa7cd4ca4" /><Relationship Type="http://schemas.openxmlformats.org/officeDocument/2006/relationships/image" Target="/ppt/media/image15.png" Id="Rf855a4b419234091" /><Relationship Type="http://schemas.openxmlformats.org/officeDocument/2006/relationships/hyperlink" Target="https://github.com/JhosFcL/FugaPrision/blob/main/src/personajes.py#L58" TargetMode="External" Id="R9978591a25e34fa1" /><Relationship Type="http://schemas.openxmlformats.org/officeDocument/2006/relationships/hyperlink" Target="https://github.com/JhosFcL/FugaPrision/blob/main/docs/diagramas/clases/Prisionero.png" TargetMode="External" Id="Reced866d83d7435c" /><Relationship Type="http://schemas.openxmlformats.org/officeDocument/2006/relationships/notesSlide" Target="/ppt/notesSlides/notesSlide21.xml" Id="Re397b84431cb48a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5387f878fa34e32" /><Relationship Type="http://schemas.openxmlformats.org/officeDocument/2006/relationships/image" Target="/ppt/media/image16.png" Id="R9d2ecb627d5d4974" /><Relationship Type="http://schemas.openxmlformats.org/officeDocument/2006/relationships/hyperlink" Target="https://github.com/JhosFcL/FugaPrision/blob/main/src/personajes.py#L97" TargetMode="External" Id="R33c99ca0f5154ddf" /><Relationship Type="http://schemas.openxmlformats.org/officeDocument/2006/relationships/hyperlink" Target="https://github.com/JhosFcL/FugaPrision/blob/main/docs/diagramas/clases/Guardia.png" TargetMode="External" Id="R091d1df4ab0f4816" /><Relationship Type="http://schemas.openxmlformats.org/officeDocument/2006/relationships/notesSlide" Target="/ppt/notesSlides/notesSlide22.xml" Id="Rc755135c5d144f6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8a840c36b964ca3" /><Relationship Type="http://schemas.openxmlformats.org/officeDocument/2006/relationships/image" Target="/ppt/media/image17.png" Id="Rceffe3d1c80842f1" /><Relationship Type="http://schemas.openxmlformats.org/officeDocument/2006/relationships/hyperlink" Target="https://github.com/JhosFcL/FugaPrision/blob/main/src/personajes.py#L6" TargetMode="External" Id="R23abd6fb0a144790" /><Relationship Type="http://schemas.openxmlformats.org/officeDocument/2006/relationships/hyperlink" Target="https://github.com/JhosFcL/FugaPrision/blob/main/docs/diagramas/clases/HabilidadCarrera.png" TargetMode="External" Id="R01af2836561a4232" /><Relationship Type="http://schemas.openxmlformats.org/officeDocument/2006/relationships/notesSlide" Target="/ppt/notesSlides/notesSlide23.xml" Id="Rae9a7bc02a4e484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53e4b5a1b264b20" /><Relationship Type="http://schemas.openxmlformats.org/officeDocument/2006/relationships/image" Target="/ppt/media/image18.png" Id="R43e8bef0531249a0" /><Relationship Type="http://schemas.openxmlformats.org/officeDocument/2006/relationships/hyperlink" Target="https://github.com/JhosFcL/FugaPrision/blob/main/src/ruido.py#L4" TargetMode="External" Id="Rc62491385f224c47" /><Relationship Type="http://schemas.openxmlformats.org/officeDocument/2006/relationships/hyperlink" Target="https://github.com/JhosFcL/FugaPrision/blob/main/docs/diagramas/clases/SistemaRuido.png" TargetMode="External" Id="R04d60af16ad44eab" /><Relationship Type="http://schemas.openxmlformats.org/officeDocument/2006/relationships/notesSlide" Target="/ppt/notesSlides/notesSlide24.xml" Id="R60a6defd384941d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9371925ff7c4b91" /><Relationship Type="http://schemas.openxmlformats.org/officeDocument/2006/relationships/image" Target="/ppt/media/image19.png" Id="Rd1c5b6324c314440" /><Relationship Type="http://schemas.openxmlformats.org/officeDocument/2006/relationships/hyperlink" Target="https://github.com/JhosFcL/FugaPrision/blob/main/src/nivel.py#L51" TargetMode="External" Id="R83711aa2e5364d3c" /><Relationship Type="http://schemas.openxmlformats.org/officeDocument/2006/relationships/hyperlink" Target="https://github.com/JhosFcL/FugaPrision/blob/main/docs/diagramas/clases/Camara.png" TargetMode="External" Id="R27e1637338c74bdc" /><Relationship Type="http://schemas.openxmlformats.org/officeDocument/2006/relationships/notesSlide" Target="/ppt/notesSlides/notesSlide25.xml" Id="Rb5c6c2251435459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8db7fbfa5834c69" /><Relationship Type="http://schemas.openxmlformats.org/officeDocument/2006/relationships/image" Target="/ppt/media/image20.png" Id="Rfa17b68b011b43b5" /><Relationship Type="http://schemas.openxmlformats.org/officeDocument/2006/relationships/hyperlink" Target="https://github.com/JhosFcL/FugaPrision/blob/main/src/nivel.py#L64" TargetMode="External" Id="R24e397765f2b4a07" /><Relationship Type="http://schemas.openxmlformats.org/officeDocument/2006/relationships/hyperlink" Target="https://github.com/JhosFcL/FugaPrision/blob/main/docs/diagramas/clases/Llave.png" TargetMode="External" Id="R1e25117f9d5c47ba" /><Relationship Type="http://schemas.openxmlformats.org/officeDocument/2006/relationships/notesSlide" Target="/ppt/notesSlides/notesSlide26.xml" Id="R02ede6c87d4948e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4d67120cea44d72" /><Relationship Type="http://schemas.openxmlformats.org/officeDocument/2006/relationships/image" Target="/ppt/media/image21.png" Id="R36cd2033403b4fe3" /><Relationship Type="http://schemas.openxmlformats.org/officeDocument/2006/relationships/hyperlink" Target="https://github.com/JhosFcL/FugaPrision/blob/main/src/nivel.py#L77" TargetMode="External" Id="Redacb0b22f434146" /><Relationship Type="http://schemas.openxmlformats.org/officeDocument/2006/relationships/hyperlink" Target="https://github.com/JhosFcL/FugaPrision/blob/main/docs/diagramas/clases/PuertaSalida.png" TargetMode="External" Id="R354d1c7020ee49e1" /><Relationship Type="http://schemas.openxmlformats.org/officeDocument/2006/relationships/notesSlide" Target="/ppt/notesSlides/notesSlide27.xml" Id="R67af864af6d443c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8f3e4c3caa214a45" /><Relationship Type="http://schemas.openxmlformats.org/officeDocument/2006/relationships/image" Target="/ppt/media/image22.png" Id="R428caa3355e0485f" /><Relationship Type="http://schemas.openxmlformats.org/officeDocument/2006/relationships/hyperlink" Target="https://github.com/JhosFcL/FugaPrision/blob/main/src/puntuacion.py#L18" TargetMode="External" Id="R95c0fed3f2a74af3" /><Relationship Type="http://schemas.openxmlformats.org/officeDocument/2006/relationships/hyperlink" Target="https://github.com/JhosFcL/FugaPrision/blob/main/docs/diagramas/clases/Puntaje.png" TargetMode="External" Id="R9f3d05a86b74479a" /><Relationship Type="http://schemas.openxmlformats.org/officeDocument/2006/relationships/notesSlide" Target="/ppt/notesSlides/notesSlide28.xml" Id="R42111e8ccc8241c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c2f6218ebed4c26" /><Relationship Type="http://schemas.openxmlformats.org/officeDocument/2006/relationships/image" Target="/ppt/media/image23.png" Id="R6d287ba05b554f31" /><Relationship Type="http://schemas.openxmlformats.org/officeDocument/2006/relationships/hyperlink" Target="https://github.com/JhosFcL/FugaPrision/blob/main/src/puntuacion.py#L4" TargetMode="External" Id="Rd828e368d5f9415b" /><Relationship Type="http://schemas.openxmlformats.org/officeDocument/2006/relationships/hyperlink" Target="https://github.com/JhosFcL/FugaPrision/blob/main/docs/diagramas/clases/ObservadorPuntaje.png" TargetMode="External" Id="R8e6f702d0f1747fd" /><Relationship Type="http://schemas.openxmlformats.org/officeDocument/2006/relationships/notesSlide" Target="/ppt/notesSlides/notesSlide29.xml" Id="Rcb0b77613b2441b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03664bd8be04132" /><Relationship Type="http://schemas.openxmlformats.org/officeDocument/2006/relationships/image" Target="/ppt/media/image24.png" Id="Re44b0c49ee3242b5" /><Relationship Type="http://schemas.openxmlformats.org/officeDocument/2006/relationships/hyperlink" Target="https://github.com/JhosFcL/FugaPrision/blob/main/src/puntuacion.py#L10" TargetMode="External" Id="Rbac89a7ea67844bb" /><Relationship Type="http://schemas.openxmlformats.org/officeDocument/2006/relationships/hyperlink" Target="https://github.com/JhosFcL/FugaPrision/blob/main/docs/diagramas/clases/PanelPuntaje.png" TargetMode="External" Id="R82ee44c4003549a6" /><Relationship Type="http://schemas.openxmlformats.org/officeDocument/2006/relationships/notesSlide" Target="/ppt/notesSlides/notesSlide30.xml" Id="Rb198e20efd224e9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95c9832d8c384064" /><Relationship Type="http://schemas.openxmlformats.org/officeDocument/2006/relationships/image" Target="/ppt/media/image25.png" Id="R4656d6f6bc4642d6" /><Relationship Type="http://schemas.openxmlformats.org/officeDocument/2006/relationships/hyperlink" Target="https://github.com/JhosFcL/FugaPrision/blob/main/src/combate.py#L8" TargetMode="External" Id="R5d62bfeb7233404c" /><Relationship Type="http://schemas.openxmlformats.org/officeDocument/2006/relationships/hyperlink" Target="https://github.com/JhosFcL/FugaPrision/blob/main/docs/diagramas/clases/Proyectil.png" TargetMode="External" Id="R221f94586ee548b7" /><Relationship Type="http://schemas.openxmlformats.org/officeDocument/2006/relationships/notesSlide" Target="/ppt/notesSlides/notesSlide31.xml" Id="Rfd7c68a9b8944d4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b89f5f5fef0345e3" /><Relationship Type="http://schemas.openxmlformats.org/officeDocument/2006/relationships/image" Target="/ppt/media/image26.png" Id="R4f27fd270745409e" /><Relationship Type="http://schemas.openxmlformats.org/officeDocument/2006/relationships/hyperlink" Target="https://github.com/JhosFcL/FugaPrision/blob/main/src/combate.py#L47" TargetMode="External" Id="R92d07d4e2c2749ca" /><Relationship Type="http://schemas.openxmlformats.org/officeDocument/2006/relationships/hyperlink" Target="https://github.com/JhosFcL/FugaPrision/blob/main/docs/diagramas/clases/Alcaide.png" TargetMode="External" Id="R48f222a92d4744b9" /><Relationship Type="http://schemas.openxmlformats.org/officeDocument/2006/relationships/notesSlide" Target="/ppt/notesSlides/notesSlide32.xml" Id="R9f256884705d467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13a34a994384d62" /><Relationship Type="http://schemas.openxmlformats.org/officeDocument/2006/relationships/image" Target="/ppt/media/image27.png" Id="R09569965b997414a" /><Relationship Type="http://schemas.openxmlformats.org/officeDocument/2006/relationships/hyperlink" Target="https://github.com/JhosFcL/FugaPrision/blob/main/src/combate.py#L162" TargetMode="External" Id="R9766b1ad1b684acf" /><Relationship Type="http://schemas.openxmlformats.org/officeDocument/2006/relationships/hyperlink" Target="https://github.com/JhosFcL/FugaPrision/blob/main/docs/diagramas/clases/Combate.png" TargetMode="External" Id="R4b506da0006640cd" /><Relationship Type="http://schemas.openxmlformats.org/officeDocument/2006/relationships/notesSlide" Target="/ppt/notesSlides/notesSlide33.xml" Id="Rd027bc269e5d451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40d70f8fcf944dd8" /><Relationship Type="http://schemas.openxmlformats.org/officeDocument/2006/relationships/image" Target="/ppt/media/image28.png" Id="Rb8f853d0c2894234" /><Relationship Type="http://schemas.openxmlformats.org/officeDocument/2006/relationships/hyperlink" Target="https://github.com/JhosFcL/FugaPrision/blob/main/src/vista.py#L12" TargetMode="External" Id="R4a256b8f5df3433a" /><Relationship Type="http://schemas.openxmlformats.org/officeDocument/2006/relationships/hyperlink" Target="https://github.com/JhosFcL/FugaPrision/blob/main/docs/diagramas/clases/Vista.png" TargetMode="External" Id="R8443bf5e35684ff4" /><Relationship Type="http://schemas.openxmlformats.org/officeDocument/2006/relationships/notesSlide" Target="/ppt/notesSlides/notesSlide34.xml" Id="R57f5d368ff3c4f78" /></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6.xml" Id="rLayout"/><Relationship Type="http://schemas.openxmlformats.org/officeDocument/2006/relationships/notesSlide" Target="/ppt/notesSlides/notesSlide35.xml" Id="rNotes"/></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6.xml" Id="rLayout"/><Relationship Type="http://schemas.openxmlformats.org/officeDocument/2006/relationships/notesSlide" Target="/ppt/notesSlides/notesSlide36.xml" Id="rNotes"/></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6.xml" Id="rLayout"/><Relationship Type="http://schemas.openxmlformats.org/officeDocument/2006/relationships/notesSlide" Target="/ppt/notesSlides/notesSlide37.xml" Id="rNotes"/></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6.xml" Id="rLayout"/><Relationship Type="http://schemas.openxmlformats.org/officeDocument/2006/relationships/notesSlide" Target="/ppt/notesSlides/notesSlide38.xml" Id="rNotes"/></Relationships>
</file>

<file path=ppt/slides/_rels/slide39.xml.rels><?xml version='1.0' encoding='UTF-8' standalone='yes'?>
<Relationships xmlns="http://schemas.openxmlformats.org/package/2006/relationships"><Relationship Type="http://schemas.openxmlformats.org/officeDocument/2006/relationships/slideLayout" Target="/ppt/slideLayouts/slideLayout6.xml" Id="rLayout"/><Relationship Type="http://schemas.openxmlformats.org/officeDocument/2006/relationships/notesSlide" Target="/ppt/notesSlides/notesSlide39.xml" Id="rNotes"/></Relationships>
</file>

<file path=ppt/slides/_rels/slide40.xml.rels><?xml version='1.0' encoding='UTF-8' standalone='yes'?>
<Relationships xmlns="http://schemas.openxmlformats.org/package/2006/relationships"><Relationship Type="http://schemas.openxmlformats.org/officeDocument/2006/relationships/slideLayout" Target="/ppt/slideLayouts/slideLayout6.xml" Id="rLayout"/><Relationship Type="http://schemas.openxmlformats.org/officeDocument/2006/relationships/notesSlide" Target="/ppt/notesSlides/notesSlide40.xml" Id="rNotes"/></Relationships>
</file>

<file path=ppt/slides/_rels/slide41.xml.rels><?xml version='1.0' encoding='UTF-8' standalone='yes'?>
<Relationships xmlns="http://schemas.openxmlformats.org/package/2006/relationships"><Relationship Type="http://schemas.openxmlformats.org/officeDocument/2006/relationships/slideLayout" Target="/ppt/slideLayouts/slideLayout6.xml" Id="rLayout"/><Relationship Type="http://schemas.openxmlformats.org/officeDocument/2006/relationships/notesSlide" Target="/ppt/notesSlides/notesSlide41.xml" Id="rNotes"/></Relationships>
</file>

<file path=ppt/slides/_rels/slide42.xml.rels><?xml version='1.0' encoding='UTF-8' standalone='yes'?>
<Relationships xmlns="http://schemas.openxmlformats.org/package/2006/relationships"><Relationship Type="http://schemas.openxmlformats.org/officeDocument/2006/relationships/slideLayout" Target="/ppt/slideLayouts/slideLayout6.xml" Id="rLayout"/><Relationship Type="http://schemas.openxmlformats.org/officeDocument/2006/relationships/notesSlide" Target="/ppt/notesSlides/notesSlide42.xml" Id="rNotes"/></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apartado-rubrica">
            <a:extLst xmlns:a="http://schemas.openxmlformats.org/drawingml/2006/main">
              <a:ext uri="{FF2B5EF4-FFF2-40B4-BE49-F238E27FC236}">
                <a16:creationId xmlns:a16="http://schemas.microsoft.com/office/drawing/2014/main" id="{697E64ED-28E3-4247-A74F-6A57655421BB}"/>
              </a:ext>
            </a:extLst>
          </p:cNvPr>
          <p:cNvSpPr>
            <a:spLocks xmlns:a="http://schemas.openxmlformats.org/drawingml/2006/main" noGrp="1"/>
          </p:cNvSpPr>
          <p:nvPr/>
        </p:nvSpPr>
        <p:spPr>
          <a:xfrm xmlns:a="http://schemas.openxmlformats.org/drawingml/2006/main">
            <a:off x="609600" y="285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Proyecto parcial de Programación Orientada a Objetos</a:t>
            </a:r>
          </a:p>
        </p:txBody>
      </p:sp>
      <p:sp>
        <p:nvSpPr>
          <p:cNvPr id="2" name="titulo">
            <a:extLst xmlns:a="http://schemas.openxmlformats.org/drawingml/2006/main">
              <a:ext uri="{FF2B5EF4-FFF2-40B4-BE49-F238E27FC236}">
                <a16:creationId xmlns:a16="http://schemas.microsoft.com/office/drawing/2014/main" id="{B91D86AA-2A03-4E5C-BFC5-333F57ABFE5B}"/>
              </a:ext>
            </a:extLst>
          </p:cNvPr>
          <p:cNvSpPr>
            <a:spLocks xmlns:a="http://schemas.openxmlformats.org/drawingml/2006/main" noGrp="1"/>
          </p:cNvSpPr>
          <p:nvPr/>
        </p:nvSpPr>
        <p:spPr>
          <a:xfrm xmlns:a="http://schemas.openxmlformats.org/drawingml/2006/main">
            <a:off x="609600" y="790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350" b="1">
                <a:solidFill>
                  <a:srgbClr val="172F3C"/>
                </a:solidFill>
                <a:latin typeface="DejaVu Sans"/>
                <a:ea typeface="DejaVu Sans"/>
                <a:cs typeface="DejaVu Sans"/>
              </a:defRPr>
            </a:defPPr>
          </a:lstStyle>
          <a:p xmlns:a="http://schemas.openxmlformats.org/drawingml/2006/main">
            <a:pPr>
              <a:defRPr sz="4350" b="1">
                <a:solidFill>
                  <a:srgbClr val="172F3C"/>
                </a:solidFill>
                <a:latin typeface="DejaVu Sans"/>
                <a:ea typeface="DejaVu Sans"/>
                <a:cs typeface="DejaVu Sans"/>
              </a:defRPr>
            </a:pPr>
            <a:r>
              <a:rPr sz="4350" b="1">
                <a:solidFill>
                  <a:srgbClr val="172F3C"/>
                </a:solidFill>
                <a:latin typeface="DejaVu Sans"/>
                <a:ea typeface="DejaVu Sans"/>
                <a:cs typeface="DejaVu Sans"/>
              </a:rPr>
              <a:t>Fuga de la Prisión</a:t>
            </a:r>
          </a:p>
        </p:txBody>
      </p:sp>
      <p:sp>
        <p:nvSpPr>
          <p:cNvPr id="3" name="numero">
            <a:extLst xmlns:a="http://schemas.openxmlformats.org/drawingml/2006/main">
              <a:ext uri="{FF2B5EF4-FFF2-40B4-BE49-F238E27FC236}">
                <a16:creationId xmlns:a16="http://schemas.microsoft.com/office/drawing/2014/main" id="{D02ECDFE-9523-464F-B312-3A8E5958F34F}"/>
              </a:ext>
            </a:extLst>
          </p:cNvPr>
          <p:cNvSpPr>
            <a:spLocks xmlns:a="http://schemas.openxmlformats.org/drawingml/2006/main" noGrp="1"/>
          </p:cNvSpPr>
          <p:nvPr/>
        </p:nvSpPr>
        <p:spPr>
          <a:xfrm xmlns:a="http://schemas.openxmlformats.org/drawingml/2006/main">
            <a:off x="11210925" y="64770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50" b="0">
                <a:solidFill>
                  <a:srgbClr val="526773"/>
                </a:solidFill>
                <a:latin typeface="DejaVu Sans"/>
                <a:ea typeface="DejaVu Sans"/>
                <a:cs typeface="DejaVu Sans"/>
              </a:defRPr>
            </a:defPPr>
          </a:lstStyle>
          <a:p xmlns:a="http://schemas.openxmlformats.org/drawingml/2006/main">
            <a:pPr>
              <a:defRPr sz="1050" b="0">
                <a:solidFill>
                  <a:srgbClr val="526773"/>
                </a:solidFill>
                <a:latin typeface="DejaVu Sans"/>
                <a:ea typeface="DejaVu Sans"/>
                <a:cs typeface="DejaVu Sans"/>
              </a:defRPr>
            </a:pPr>
            <a:r>
              <a:rPr sz="1050" b="0">
                <a:solidFill>
                  <a:srgbClr val="526773"/>
                </a:solidFill>
                <a:latin typeface="DejaVu Sans"/>
                <a:ea typeface="DejaVu Sans"/>
                <a:cs typeface="DejaVu Sans"/>
              </a:rPr>
              <a:t>01</a:t>
            </a:r>
          </a:p>
        </p:txBody>
      </p:sp>
      <p:sp>
        <p:nvSpPr>
          <p:cNvPr id="4" name="texto">
            <a:extLst xmlns:a="http://schemas.openxmlformats.org/drawingml/2006/main">
              <a:ext uri="{FF2B5EF4-FFF2-40B4-BE49-F238E27FC236}">
                <a16:creationId xmlns:a16="http://schemas.microsoft.com/office/drawing/2014/main" id="{566B58B6-6D19-43BD-A2E9-5B485B8D0028}"/>
              </a:ext>
            </a:extLst>
          </p:cNvPr>
          <p:cNvSpPr>
            <a:spLocks xmlns:a="http://schemas.openxmlformats.org/drawingml/2006/main" noGrp="1"/>
          </p:cNvSpPr>
          <p:nvPr/>
        </p:nvSpPr>
        <p:spPr>
          <a:xfrm xmlns:a="http://schemas.openxmlformats.org/drawingml/2006/main">
            <a:off x="609600" y="2019300"/>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172F3C"/>
                </a:solidFill>
                <a:latin typeface="DejaVu Sans"/>
                <a:ea typeface="DejaVu Sans"/>
                <a:cs typeface="DejaVu Sans"/>
              </a:defRPr>
            </a:defPPr>
          </a:lstStyle>
          <a:p xmlns:a="http://schemas.openxmlformats.org/drawingml/2006/main">
            <a:pPr>
              <a:defRPr sz="2325" b="0">
                <a:solidFill>
                  <a:srgbClr val="172F3C"/>
                </a:solidFill>
                <a:latin typeface="DejaVu Sans"/>
                <a:ea typeface="DejaVu Sans"/>
                <a:cs typeface="DejaVu Sans"/>
              </a:defRPr>
            </a:pPr>
            <a:r>
              <a:rPr sz="2325" b="0">
                <a:solidFill>
                  <a:srgbClr val="172F3C"/>
                </a:solidFill>
                <a:latin typeface="DejaVu Sans"/>
                <a:ea typeface="DejaVu Sans"/>
                <a:cs typeface="DejaVu Sans"/>
              </a:rPr>
              <a:t>Diseño e implementación de un videojuego 2D</a:t>
            </a:r>
          </a:p>
        </p:txBody>
      </p:sp>
      <p:sp>
        <p:nvSpPr>
          <p:cNvPr id="5" name="texto">
            <a:extLst xmlns:a="http://schemas.openxmlformats.org/drawingml/2006/main">
              <a:ext uri="{FF2B5EF4-FFF2-40B4-BE49-F238E27FC236}">
                <a16:creationId xmlns:a16="http://schemas.microsoft.com/office/drawing/2014/main" id="{44E8322F-CF58-4DDB-B620-A25E6A9B2EFD}"/>
              </a:ext>
            </a:extLst>
          </p:cNvPr>
          <p:cNvSpPr>
            <a:spLocks xmlns:a="http://schemas.openxmlformats.org/drawingml/2006/main" noGrp="1"/>
          </p:cNvSpPr>
          <p:nvPr/>
        </p:nvSpPr>
        <p:spPr>
          <a:xfrm xmlns:a="http://schemas.openxmlformats.org/drawingml/2006/main">
            <a:off x="609600" y="31908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526773"/>
                </a:solidFill>
                <a:latin typeface="DejaVu Sans"/>
                <a:ea typeface="DejaVu Sans"/>
                <a:cs typeface="DejaVu Sans"/>
              </a:defRPr>
            </a:defPPr>
          </a:lstStyle>
          <a:p xmlns:a="http://schemas.openxmlformats.org/drawingml/2006/main">
            <a:pPr>
              <a:defRPr sz="1800" b="0">
                <a:solidFill>
                  <a:srgbClr val="526773"/>
                </a:solidFill>
                <a:latin typeface="DejaVu Sans"/>
                <a:ea typeface="DejaVu Sans"/>
                <a:cs typeface="DejaVu Sans"/>
              </a:defRPr>
            </a:pPr>
            <a:r>
              <a:rPr sz="1800" b="0">
                <a:solidFill>
                  <a:srgbClr val="526773"/>
                </a:solidFill>
                <a:latin typeface="DejaVu Sans"/>
                <a:ea typeface="DejaVu Sans"/>
                <a:cs typeface="DejaVu Sans"/>
              </a:rPr>
              <a:t>Universidad Peruana Cayetano Heredia</a:t>
            </a:r>
          </a:p>
          <a:p xmlns:a="http://schemas.openxmlformats.org/drawingml/2006/main">
            <a:pPr>
              <a:defRPr sz="1800" b="0">
                <a:solidFill>
                  <a:srgbClr val="526773"/>
                </a:solidFill>
                <a:latin typeface="DejaVu Sans"/>
                <a:ea typeface="DejaVu Sans"/>
                <a:cs typeface="DejaVu Sans"/>
              </a:defRPr>
            </a:pPr>
            <a:r>
              <a:rPr sz="1800" b="0">
                <a:solidFill>
                  <a:srgbClr val="526773"/>
                </a:solidFill>
                <a:latin typeface="DejaVu Sans"/>
                <a:ea typeface="DejaVu Sans"/>
                <a:cs typeface="DejaVu Sans"/>
              </a:rPr>
              <a:t>Ingeniería Informática</a:t>
            </a:r>
          </a:p>
        </p:txBody>
      </p:sp>
      <p:sp>
        <p:nvSpPr>
          <p:cNvPr id="6" name="texto">
            <a:extLst xmlns:a="http://schemas.openxmlformats.org/drawingml/2006/main">
              <a:ext uri="{FF2B5EF4-FFF2-40B4-BE49-F238E27FC236}">
                <a16:creationId xmlns:a16="http://schemas.microsoft.com/office/drawing/2014/main" id="{0FA38C52-DD40-4E37-9124-B086544E9510}"/>
              </a:ext>
            </a:extLst>
          </p:cNvPr>
          <p:cNvSpPr>
            <a:spLocks xmlns:a="http://schemas.openxmlformats.org/drawingml/2006/main" noGrp="1"/>
          </p:cNvSpPr>
          <p:nvPr/>
        </p:nvSpPr>
        <p:spPr>
          <a:xfrm xmlns:a="http://schemas.openxmlformats.org/drawingml/2006/main">
            <a:off x="609600" y="4572000"/>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72F3C"/>
                </a:solidFill>
                <a:latin typeface="DejaVu Sans"/>
                <a:ea typeface="DejaVu Sans"/>
                <a:cs typeface="DejaVu Sans"/>
              </a:defRPr>
            </a:defPPr>
          </a:lstStyle>
          <a:p xmlns:a="http://schemas.openxmlformats.org/drawingml/2006/main">
            <a:pPr>
              <a:defRPr sz="1650" b="0">
                <a:solidFill>
                  <a:srgbClr val="172F3C"/>
                </a:solidFill>
                <a:latin typeface="DejaVu Sans"/>
                <a:ea typeface="DejaVu Sans"/>
                <a:cs typeface="DejaVu Sans"/>
              </a:defRPr>
            </a:pPr>
            <a:r>
              <a:rPr sz="1650" b="0">
                <a:solidFill>
                  <a:srgbClr val="172F3C"/>
                </a:solidFill>
                <a:latin typeface="DejaVu Sans"/>
                <a:ea typeface="DejaVu Sans"/>
                <a:cs typeface="DejaVu Sans"/>
              </a:rPr>
              <a:t>Jose Fernando Chavez Lozano</a:t>
            </a:r>
          </a:p>
          <a:p xmlns:a="http://schemas.openxmlformats.org/drawingml/2006/main">
            <a:pPr>
              <a:defRPr sz="1650" b="0">
                <a:solidFill>
                  <a:srgbClr val="172F3C"/>
                </a:solidFill>
                <a:latin typeface="DejaVu Sans"/>
                <a:ea typeface="DejaVu Sans"/>
                <a:cs typeface="DejaVu Sans"/>
              </a:defRPr>
            </a:pPr>
            <a:r>
              <a:rPr sz="1650" b="0">
                <a:solidFill>
                  <a:srgbClr val="172F3C"/>
                </a:solidFill>
                <a:latin typeface="DejaVu Sans"/>
                <a:ea typeface="DejaVu Sans"/>
                <a:cs typeface="DejaVu Sans"/>
              </a:rPr>
              <a:t>Mickele Carlos Torres Velazco</a:t>
            </a:r>
          </a:p>
          <a:p xmlns:a="http://schemas.openxmlformats.org/drawingml/2006/main">
            <a:pPr>
              <a:defRPr sz="1650" b="0">
                <a:solidFill>
                  <a:srgbClr val="172F3C"/>
                </a:solidFill>
                <a:latin typeface="DejaVu Sans"/>
                <a:ea typeface="DejaVu Sans"/>
                <a:cs typeface="DejaVu Sans"/>
              </a:defRPr>
            </a:pPr>
            <a:r>
              <a:rPr sz="1650" b="0">
                <a:solidFill>
                  <a:srgbClr val="172F3C"/>
                </a:solidFill>
                <a:latin typeface="DejaVu Sans"/>
                <a:ea typeface="DejaVu Sans"/>
                <a:cs typeface="DejaVu Sans"/>
              </a:rPr>
              <a:t>Piero Cemei Romero Meza</a:t>
            </a:r>
          </a:p>
          <a:p xmlns:a="http://schemas.openxmlformats.org/drawingml/2006/main">
            <a:pPr>
              <a:defRPr sz="1650" b="0">
                <a:solidFill>
                  <a:srgbClr val="172F3C"/>
                </a:solidFill>
                <a:latin typeface="DejaVu Sans"/>
                <a:ea typeface="DejaVu Sans"/>
                <a:cs typeface="DejaVu Sans"/>
              </a:defRPr>
            </a:pPr>
            <a:r>
              <a:rPr sz="1650" b="0">
                <a:solidFill>
                  <a:srgbClr val="172F3C"/>
                </a:solidFill>
                <a:latin typeface="DejaVu Sans"/>
                <a:ea typeface="DejaVu Sans"/>
                <a:cs typeface="DejaVu Sans"/>
              </a:rPr>
              <a:t>Richard Aaron Soriano Cordova</a:t>
            </a:r>
          </a:p>
        </p:txBody>
      </p:sp>
      <p:sp>
        <p:nvSpPr>
          <p:cNvPr id="7" name="texto">
            <a:extLst xmlns:a="http://schemas.openxmlformats.org/drawingml/2006/main">
              <a:ext uri="{FF2B5EF4-FFF2-40B4-BE49-F238E27FC236}">
                <a16:creationId xmlns:a16="http://schemas.microsoft.com/office/drawing/2014/main" id="{D1AD6C31-437E-48E8-AD55-529BBF52F484}"/>
              </a:ext>
            </a:extLst>
          </p:cNvPr>
          <p:cNvSpPr>
            <a:spLocks xmlns:a="http://schemas.openxmlformats.org/drawingml/2006/main" noGrp="1"/>
          </p:cNvSpPr>
          <p:nvPr/>
        </p:nvSpPr>
        <p:spPr>
          <a:xfrm xmlns:a="http://schemas.openxmlformats.org/drawingml/2006/main">
            <a:off x="609600" y="612457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0">
                <a:solidFill>
                  <a:srgbClr val="526773"/>
                </a:solidFill>
                <a:latin typeface="DejaVu Sans"/>
                <a:ea typeface="DejaVu Sans"/>
                <a:cs typeface="DejaVu Sans"/>
              </a:defRPr>
            </a:defPPr>
          </a:lstStyle>
          <a:p xmlns:a="http://schemas.openxmlformats.org/drawingml/2006/main">
            <a:pPr>
              <a:defRPr sz="1425" b="0">
                <a:solidFill>
                  <a:srgbClr val="526773"/>
                </a:solidFill>
                <a:latin typeface="DejaVu Sans"/>
                <a:ea typeface="DejaVu Sans"/>
                <a:cs typeface="DejaVu Sans"/>
              </a:defRPr>
            </a:pPr>
            <a:r>
              <a:rPr sz="1425" b="0">
                <a:solidFill>
                  <a:srgbClr val="526773"/>
                </a:solidFill>
                <a:latin typeface="DejaVu Sans"/>
                <a:ea typeface="DejaVu Sans"/>
                <a:cs typeface="DejaVu Sans"/>
              </a:rPr>
              <a:t>Ciclo IV. Período académico 2026-II</a:t>
            </a:r>
          </a:p>
        </p:txBody>
      </p:sp>
    </p:spTree>
    <p:extLst>
      <p:ext uri="{BB962C8B-B14F-4D97-AF65-F5344CB8AC3E}">
        <p14:creationId xmlns:p14="http://schemas.microsoft.com/office/powerpoint/2010/main" val="15089444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apartado-rubrica">
            <a:extLst xmlns:a="http://schemas.openxmlformats.org/drawingml/2006/main">
              <a:ext uri="{FF2B5EF4-FFF2-40B4-BE49-F238E27FC236}">
                <a16:creationId xmlns:a16="http://schemas.microsoft.com/office/drawing/2014/main" id="{DA9BE330-7799-4431-8E20-F06A17D223E6}"/>
              </a:ext>
            </a:extLst>
          </p:cNvPr>
          <p:cNvSpPr>
            <a:spLocks xmlns:a="http://schemas.openxmlformats.org/drawingml/2006/main" noGrp="1"/>
          </p:cNvSpPr>
          <p:nvPr/>
        </p:nvSpPr>
        <p:spPr>
          <a:xfrm xmlns:a="http://schemas.openxmlformats.org/drawingml/2006/main">
            <a:off x="609600" y="285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6735D"/>
                </a:solidFill>
                <a:latin typeface="DejaVu Sans"/>
                <a:ea typeface="DejaVu Sans"/>
                <a:cs typeface="DejaVu Sans"/>
              </a:defRPr>
            </a:defPPr>
          </a:lstStyle>
          <a:p xmlns:a="http://schemas.openxmlformats.org/drawingml/2006/main">
            <a:pPr algn="l">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I. Resumen ejecutivo</a:t>
            </a:r>
          </a:p>
        </p:txBody>
      </p:sp>
      <p:sp>
        <p:nvSpPr>
          <p:cNvPr id="3" name="titulo">
            <a:extLst xmlns:a="http://schemas.openxmlformats.org/drawingml/2006/main">
              <a:ext uri="{FF2B5EF4-FFF2-40B4-BE49-F238E27FC236}">
                <a16:creationId xmlns:a16="http://schemas.microsoft.com/office/drawing/2014/main" id="{DDB512D1-B8D6-4CB2-8B0F-BE65B03E7F9B}"/>
              </a:ext>
            </a:extLst>
          </p:cNvPr>
          <p:cNvSpPr>
            <a:spLocks xmlns:a="http://schemas.openxmlformats.org/drawingml/2006/main" noGrp="1"/>
          </p:cNvSpPr>
          <p:nvPr/>
        </p:nvSpPr>
        <p:spPr>
          <a:xfrm xmlns:a="http://schemas.openxmlformats.org/drawingml/2006/main">
            <a:off x="609600" y="790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72F3C"/>
                </a:solidFill>
                <a:latin typeface="DejaVu Sans"/>
                <a:ea typeface="DejaVu Sans"/>
                <a:cs typeface="DejaVu Sans"/>
              </a:defRPr>
            </a:defPPr>
          </a:lstStyle>
          <a:p xmlns:a="http://schemas.openxmlformats.org/drawingml/2006/main">
            <a:pPr algn="l">
              <a:buNone/>
              <a:defRPr sz="3150" b="1">
                <a:solidFill>
                  <a:srgbClr val="172F3C"/>
                </a:solidFill>
                <a:latin typeface="DejaVu Sans"/>
                <a:ea typeface="DejaVu Sans"/>
                <a:cs typeface="DejaVu Sans"/>
              </a:defRPr>
            </a:pPr>
            <a:r>
              <a:rPr sz="3150" b="1">
                <a:solidFill>
                  <a:srgbClr val="172F3C"/>
                </a:solidFill>
                <a:latin typeface="DejaVu Sans"/>
                <a:ea typeface="DejaVu Sans"/>
                <a:cs typeface="DejaVu Sans"/>
              </a:rPr>
              <a:t>Objetivos del juego</a:t>
            </a:r>
          </a:p>
        </p:txBody>
      </p:sp>
      <p:sp>
        <p:nvSpPr>
          <p:cNvPr id="4" name="numero">
            <a:extLst xmlns:a="http://schemas.openxmlformats.org/drawingml/2006/main">
              <a:ext uri="{FF2B5EF4-FFF2-40B4-BE49-F238E27FC236}">
                <a16:creationId xmlns:a16="http://schemas.microsoft.com/office/drawing/2014/main" id="{FA76EAA5-D037-4751-840F-4D3BF10D514E}"/>
              </a:ext>
            </a:extLst>
          </p:cNvPr>
          <p:cNvSpPr>
            <a:spLocks xmlns:a="http://schemas.openxmlformats.org/drawingml/2006/main" noGrp="1"/>
          </p:cNvSpPr>
          <p:nvPr/>
        </p:nvSpPr>
        <p:spPr>
          <a:xfrm xmlns:a="http://schemas.openxmlformats.org/drawingml/2006/main">
            <a:off x="11210925" y="64770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526773"/>
                </a:solidFill>
                <a:latin typeface="DejaVu Sans"/>
                <a:ea typeface="DejaVu Sans"/>
                <a:cs typeface="DejaVu Sans"/>
              </a:defRPr>
            </a:defPPr>
          </a:lstStyle>
          <a:p xmlns:a="http://schemas.openxmlformats.org/drawingml/2006/main">
            <a:pPr algn="l">
              <a:buNone/>
              <a:defRPr sz="1050" b="0">
                <a:solidFill>
                  <a:srgbClr val="526773"/>
                </a:solidFill>
                <a:latin typeface="DejaVu Sans"/>
                <a:ea typeface="DejaVu Sans"/>
                <a:cs typeface="DejaVu Sans"/>
              </a:defRPr>
            </a:pPr>
            <a:r>
              <a:rPr sz="1050" b="0">
                <a:solidFill>
                  <a:srgbClr val="526773"/>
                </a:solidFill>
                <a:latin typeface="DejaVu Sans"/>
                <a:ea typeface="DejaVu Sans"/>
                <a:cs typeface="DejaVu Sans"/>
              </a:rPr>
              <a:t>02</a:t>
            </a:r>
          </a:p>
        </p:txBody>
      </p:sp>
      <p:sp>
        <p:nvSpPr>
          <p:cNvPr id="5" name="texto">
            <a:extLst xmlns:a="http://schemas.openxmlformats.org/drawingml/2006/main">
              <a:ext uri="{FF2B5EF4-FFF2-40B4-BE49-F238E27FC236}">
                <a16:creationId xmlns:a16="http://schemas.microsoft.com/office/drawing/2014/main" id="{A5CE7EFC-F703-42BE-8D6F-F65F62C9C74B}"/>
              </a:ext>
            </a:extLst>
          </p:cNvPr>
          <p:cNvSpPr>
            <a:spLocks xmlns:a="http://schemas.openxmlformats.org/drawingml/2006/main" noGrp="1"/>
          </p:cNvSpPr>
          <p:nvPr/>
        </p:nvSpPr>
        <p:spPr>
          <a:xfrm xmlns:a="http://schemas.openxmlformats.org/drawingml/2006/main">
            <a:off x="609600" y="207645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172F3C"/>
                </a:solidFill>
                <a:latin typeface="DejaVu Sans"/>
                <a:ea typeface="DejaVu Sans"/>
                <a:cs typeface="DejaVu Sans"/>
              </a:defRPr>
            </a:defPPr>
          </a:lstStyle>
          <a:p xmlns:a="http://schemas.openxmlformats.org/drawingml/2006/main">
            <a:pPr algn="l">
              <a:buNone/>
              <a:defRPr sz="2025" b="0">
                <a:solidFill>
                  <a:srgbClr val="172F3C"/>
                </a:solidFill>
                <a:latin typeface="DejaVu Sans"/>
                <a:ea typeface="DejaVu Sans"/>
                <a:cs typeface="DejaVu Sans"/>
              </a:defRPr>
            </a:pPr>
            <a:r>
              <a:rPr sz="2025" b="0">
                <a:solidFill>
                  <a:srgbClr val="172F3C"/>
                </a:solidFill>
                <a:latin typeface="DejaVu Sans"/>
                <a:ea typeface="DejaVu Sans"/>
                <a:cs typeface="DejaVu Sans"/>
              </a:rPr>
              <a:t>Escapar de la prisión superando cuatro niveles.</a:t>
            </a:r>
          </a:p>
        </p:txBody>
      </p:sp>
      <p:sp>
        <p:nvSpPr>
          <p:cNvPr id="6" name="texto">
            <a:extLst xmlns:a="http://schemas.openxmlformats.org/drawingml/2006/main">
              <a:ext uri="{FF2B5EF4-FFF2-40B4-BE49-F238E27FC236}">
                <a16:creationId xmlns:a16="http://schemas.microsoft.com/office/drawing/2014/main" id="{64603F56-A23A-4834-A083-E9B0BF28273C}"/>
              </a:ext>
            </a:extLst>
          </p:cNvPr>
          <p:cNvSpPr>
            <a:spLocks xmlns:a="http://schemas.openxmlformats.org/drawingml/2006/main" noGrp="1"/>
          </p:cNvSpPr>
          <p:nvPr/>
        </p:nvSpPr>
        <p:spPr>
          <a:xfrm xmlns:a="http://schemas.openxmlformats.org/drawingml/2006/main">
            <a:off x="609600" y="265747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172F3C"/>
                </a:solidFill>
                <a:latin typeface="DejaVu Sans"/>
                <a:ea typeface="DejaVu Sans"/>
                <a:cs typeface="DejaVu Sans"/>
              </a:defRPr>
            </a:defPPr>
          </a:lstStyle>
          <a:p xmlns:a="http://schemas.openxmlformats.org/drawingml/2006/main">
            <a:pPr algn="l">
              <a:buNone/>
              <a:defRPr sz="2025" b="0">
                <a:solidFill>
                  <a:srgbClr val="172F3C"/>
                </a:solidFill>
                <a:latin typeface="DejaVu Sans"/>
                <a:ea typeface="DejaVu Sans"/>
                <a:cs typeface="DejaVu Sans"/>
              </a:defRPr>
            </a:pPr>
            <a:r>
              <a:rPr sz="2025" b="0">
                <a:solidFill>
                  <a:srgbClr val="172F3C"/>
                </a:solidFill>
                <a:latin typeface="DejaVu Sans"/>
                <a:ea typeface="DejaVu Sans"/>
                <a:cs typeface="DejaVu Sans"/>
              </a:rPr>
              <a:t>Abrir la celda y encontrar las llaves de cada zona.</a:t>
            </a:r>
          </a:p>
        </p:txBody>
      </p:sp>
      <p:sp>
        <p:nvSpPr>
          <p:cNvPr id="7" name="texto">
            <a:extLst xmlns:a="http://schemas.openxmlformats.org/drawingml/2006/main">
              <a:ext uri="{FF2B5EF4-FFF2-40B4-BE49-F238E27FC236}">
                <a16:creationId xmlns:a16="http://schemas.microsoft.com/office/drawing/2014/main" id="{9956AE68-E48D-498A-9365-38CD4AE83983}"/>
              </a:ext>
            </a:extLst>
          </p:cNvPr>
          <p:cNvSpPr>
            <a:spLocks xmlns:a="http://schemas.openxmlformats.org/drawingml/2006/main" noGrp="1"/>
          </p:cNvSpPr>
          <p:nvPr/>
        </p:nvSpPr>
        <p:spPr>
          <a:xfrm xmlns:a="http://schemas.openxmlformats.org/drawingml/2006/main">
            <a:off x="609600" y="323850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172F3C"/>
                </a:solidFill>
                <a:latin typeface="DejaVu Sans"/>
                <a:ea typeface="DejaVu Sans"/>
                <a:cs typeface="DejaVu Sans"/>
              </a:defRPr>
            </a:defPPr>
          </a:lstStyle>
          <a:p xmlns:a="http://schemas.openxmlformats.org/drawingml/2006/main">
            <a:pPr algn="l">
              <a:buNone/>
              <a:defRPr sz="2025" b="0">
                <a:solidFill>
                  <a:srgbClr val="172F3C"/>
                </a:solidFill>
                <a:latin typeface="DejaVu Sans"/>
                <a:ea typeface="DejaVu Sans"/>
                <a:cs typeface="DejaVu Sans"/>
              </a:defRPr>
            </a:pPr>
            <a:r>
              <a:rPr sz="2025" b="0">
                <a:solidFill>
                  <a:srgbClr val="172F3C"/>
                </a:solidFill>
                <a:latin typeface="DejaVu Sans"/>
                <a:ea typeface="DejaVu Sans"/>
                <a:cs typeface="DejaVu Sans"/>
              </a:rPr>
              <a:t>Evitar la captura de los guardias usando el sigilo.</a:t>
            </a:r>
          </a:p>
        </p:txBody>
      </p:sp>
      <p:sp>
        <p:nvSpPr>
          <p:cNvPr id="8" name="texto">
            <a:extLst xmlns:a="http://schemas.openxmlformats.org/drawingml/2006/main">
              <a:ext uri="{FF2B5EF4-FFF2-40B4-BE49-F238E27FC236}">
                <a16:creationId xmlns:a16="http://schemas.microsoft.com/office/drawing/2014/main" id="{C2C5D25F-357F-42E0-BCCC-916A286C022D}"/>
              </a:ext>
            </a:extLst>
          </p:cNvPr>
          <p:cNvSpPr>
            <a:spLocks xmlns:a="http://schemas.openxmlformats.org/drawingml/2006/main" noGrp="1"/>
          </p:cNvSpPr>
          <p:nvPr/>
        </p:nvSpPr>
        <p:spPr>
          <a:xfrm xmlns:a="http://schemas.openxmlformats.org/drawingml/2006/main">
            <a:off x="609600" y="381952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172F3C"/>
                </a:solidFill>
                <a:latin typeface="DejaVu Sans"/>
                <a:ea typeface="DejaVu Sans"/>
                <a:cs typeface="DejaVu Sans"/>
              </a:defRPr>
            </a:defPPr>
          </a:lstStyle>
          <a:p xmlns:a="http://schemas.openxmlformats.org/drawingml/2006/main">
            <a:pPr algn="l">
              <a:buNone/>
              <a:defRPr sz="2025" b="0">
                <a:solidFill>
                  <a:srgbClr val="172F3C"/>
                </a:solidFill>
                <a:latin typeface="DejaVu Sans"/>
                <a:ea typeface="DejaVu Sans"/>
                <a:cs typeface="DejaVu Sans"/>
              </a:defRPr>
            </a:pPr>
            <a:r>
              <a:rPr sz="2025" b="0">
                <a:solidFill>
                  <a:srgbClr val="172F3C"/>
                </a:solidFill>
                <a:latin typeface="DejaVu Sans"/>
                <a:ea typeface="DejaVu Sans"/>
                <a:cs typeface="DejaVu Sans"/>
              </a:rPr>
              <a:t>Recorrer los mapas y aprovechar los atajos disponibles.</a:t>
            </a:r>
          </a:p>
        </p:txBody>
      </p:sp>
      <p:sp>
        <p:nvSpPr>
          <p:cNvPr id="9" name="texto">
            <a:extLst xmlns:a="http://schemas.openxmlformats.org/drawingml/2006/main">
              <a:ext uri="{FF2B5EF4-FFF2-40B4-BE49-F238E27FC236}">
                <a16:creationId xmlns:a16="http://schemas.microsoft.com/office/drawing/2014/main" id="{B469125F-FB76-4806-B7A3-DBB42D826140}"/>
              </a:ext>
            </a:extLst>
          </p:cNvPr>
          <p:cNvSpPr>
            <a:spLocks xmlns:a="http://schemas.openxmlformats.org/drawingml/2006/main" noGrp="1"/>
          </p:cNvSpPr>
          <p:nvPr/>
        </p:nvSpPr>
        <p:spPr>
          <a:xfrm xmlns:a="http://schemas.openxmlformats.org/drawingml/2006/main">
            <a:off x="609600" y="440055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172F3C"/>
                </a:solidFill>
                <a:latin typeface="DejaVu Sans"/>
                <a:ea typeface="DejaVu Sans"/>
                <a:cs typeface="DejaVu Sans"/>
              </a:defRPr>
            </a:defPPr>
          </a:lstStyle>
          <a:p xmlns:a="http://schemas.openxmlformats.org/drawingml/2006/main">
            <a:pPr algn="l">
              <a:buNone/>
              <a:defRPr sz="2025" b="0">
                <a:solidFill>
                  <a:srgbClr val="172F3C"/>
                </a:solidFill>
                <a:latin typeface="DejaVu Sans"/>
                <a:ea typeface="DejaVu Sans"/>
                <a:cs typeface="DejaVu Sans"/>
              </a:defRPr>
            </a:pPr>
            <a:r>
              <a:rPr sz="2025" b="0">
                <a:solidFill>
                  <a:srgbClr val="172F3C"/>
                </a:solidFill>
                <a:latin typeface="DejaVu Sans"/>
                <a:ea typeface="DejaVu Sans"/>
                <a:cs typeface="DejaVu Sans"/>
              </a:rPr>
              <a:t>Derrotar al Alcaide y agotar sus tres capas de vida.</a:t>
            </a:r>
          </a:p>
        </p:txBody>
      </p:sp>
      <p:sp>
        <p:nvSpPr>
          <p:cNvPr id="10" name="texto">
            <a:extLst xmlns:a="http://schemas.openxmlformats.org/drawingml/2006/main">
              <a:ext uri="{FF2B5EF4-FFF2-40B4-BE49-F238E27FC236}">
                <a16:creationId xmlns:a16="http://schemas.microsoft.com/office/drawing/2014/main" id="{EF0C6395-D6AC-4ED4-B26B-01BD15781D11}"/>
              </a:ext>
            </a:extLst>
          </p:cNvPr>
          <p:cNvSpPr>
            <a:spLocks xmlns:a="http://schemas.openxmlformats.org/drawingml/2006/main" noGrp="1"/>
          </p:cNvSpPr>
          <p:nvPr/>
        </p:nvSpPr>
        <p:spPr>
          <a:xfrm xmlns:a="http://schemas.openxmlformats.org/drawingml/2006/main">
            <a:off x="609600" y="498157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172F3C"/>
                </a:solidFill>
                <a:latin typeface="DejaVu Sans"/>
                <a:ea typeface="DejaVu Sans"/>
                <a:cs typeface="DejaVu Sans"/>
              </a:defRPr>
            </a:defPPr>
          </a:lstStyle>
          <a:p xmlns:a="http://schemas.openxmlformats.org/drawingml/2006/main">
            <a:pPr algn="l">
              <a:buNone/>
              <a:defRPr sz="2025" b="0">
                <a:solidFill>
                  <a:srgbClr val="172F3C"/>
                </a:solidFill>
                <a:latin typeface="DejaVu Sans"/>
                <a:ea typeface="DejaVu Sans"/>
                <a:cs typeface="DejaVu Sans"/>
              </a:defRPr>
            </a:pPr>
            <a:r>
              <a:rPr sz="2025" b="0">
                <a:solidFill>
                  <a:srgbClr val="172F3C"/>
                </a:solidFill>
                <a:latin typeface="DejaVu Sans"/>
                <a:ea typeface="DejaVu Sans"/>
                <a:cs typeface="DejaVu Sans"/>
              </a:rPr>
              <a:t>Alcanzar la salida final para completar la campaña.</a:t>
            </a:r>
          </a:p>
        </p:txBody>
      </p:sp>
    </p:spTree>
    <p:extLst>
      <p:ext uri="{BB962C8B-B14F-4D97-AF65-F5344CB8AC3E}">
        <p14:creationId xmlns:p14="http://schemas.microsoft.com/office/powerpoint/2010/main" val="16324829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5252481-317B-4A47-AD92-305E097C741E}"/>
              </a:ext>
            </a:extLst>
          </p:cNvPr>
          <p:cNvPicPr>
            <a:picLocks xmlns:a="http://schemas.openxmlformats.org/drawingml/2006/main" noChangeAspect="1"/>
          </p:cNvPicPr>
          <p:nvPr/>
        </p:nvPicPr>
        <p:blipFill>
          <a:blip xmlns:r="http://schemas.openxmlformats.org/officeDocument/2006/relationships" xmlns:a="http://schemas.openxmlformats.org/drawingml/2006/main" r:embed="R2343fd3c46c84a1f"/>
          <a:srcRect xmlns:a="http://schemas.openxmlformats.org/drawingml/2006/main" l="0" t="0" r="0" b="0"/>
          <a:stretch xmlns:a="http://schemas.openxmlformats.org/drawingml/2006/main">
            <a:fillRect l="0" t="0" r="0" b="0"/>
          </a:stretch>
        </p:blipFill>
        <p:spPr>
          <a:xfrm xmlns:a="http://schemas.openxmlformats.org/drawingml/2006/main">
            <a:off x="6191250" y="2002155"/>
            <a:ext cx="5334000" cy="4053840"/>
          </a:xfrm>
          <a:prstGeom xmlns:a="http://schemas.openxmlformats.org/drawingml/2006/main" prst="rect">
            <a:avLst/>
          </a:prstGeom>
        </p:spPr>
      </p:pic>
      <p:sp>
        <p:nvSpPr>
          <p:cNvPr id="3" name="apartado-rubrica">
            <a:extLst xmlns:a="http://schemas.openxmlformats.org/drawingml/2006/main">
              <a:ext uri="{FF2B5EF4-FFF2-40B4-BE49-F238E27FC236}">
                <a16:creationId xmlns:a16="http://schemas.microsoft.com/office/drawing/2014/main" id="{C3C70213-6116-4558-87E6-F66F3FFB9CB0}"/>
              </a:ext>
            </a:extLst>
          </p:cNvPr>
          <p:cNvSpPr>
            <a:spLocks xmlns:a="http://schemas.openxmlformats.org/drawingml/2006/main" noGrp="1"/>
          </p:cNvSpPr>
          <p:nvPr/>
        </p:nvSpPr>
        <p:spPr>
          <a:xfrm xmlns:a="http://schemas.openxmlformats.org/drawingml/2006/main">
            <a:off x="609600" y="285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6735D"/>
                </a:solidFill>
                <a:latin typeface="DejaVu Sans"/>
                <a:ea typeface="DejaVu Sans"/>
                <a:cs typeface="DejaVu Sans"/>
              </a:defRPr>
            </a:defPPr>
          </a:lstStyle>
          <a:p xmlns:a="http://schemas.openxmlformats.org/drawingml/2006/main">
            <a:pPr algn="l">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II. Introducción</a:t>
            </a:r>
          </a:p>
        </p:txBody>
      </p:sp>
      <p:sp>
        <p:nvSpPr>
          <p:cNvPr id="4" name="titulo">
            <a:extLst xmlns:a="http://schemas.openxmlformats.org/drawingml/2006/main">
              <a:ext uri="{FF2B5EF4-FFF2-40B4-BE49-F238E27FC236}">
                <a16:creationId xmlns:a16="http://schemas.microsoft.com/office/drawing/2014/main" id="{CCA4A4AA-476B-4496-B86E-A7EDE70D1BF8}"/>
              </a:ext>
            </a:extLst>
          </p:cNvPr>
          <p:cNvSpPr>
            <a:spLocks xmlns:a="http://schemas.openxmlformats.org/drawingml/2006/main" noGrp="1"/>
          </p:cNvSpPr>
          <p:nvPr/>
        </p:nvSpPr>
        <p:spPr>
          <a:xfrm xmlns:a="http://schemas.openxmlformats.org/drawingml/2006/main">
            <a:off x="609600" y="790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72F3C"/>
                </a:solidFill>
                <a:latin typeface="DejaVu Sans"/>
                <a:ea typeface="DejaVu Sans"/>
                <a:cs typeface="DejaVu Sans"/>
              </a:defRPr>
            </a:defPPr>
          </a:lstStyle>
          <a:p xmlns:a="http://schemas.openxmlformats.org/drawingml/2006/main">
            <a:pPr algn="l">
              <a:buNone/>
              <a:defRPr sz="3150" b="1">
                <a:solidFill>
                  <a:srgbClr val="172F3C"/>
                </a:solidFill>
                <a:latin typeface="DejaVu Sans"/>
                <a:ea typeface="DejaVu Sans"/>
                <a:cs typeface="DejaVu Sans"/>
              </a:defRPr>
            </a:pPr>
            <a:r>
              <a:rPr sz="3150" b="1">
                <a:solidFill>
                  <a:srgbClr val="172F3C"/>
                </a:solidFill>
                <a:latin typeface="DejaVu Sans"/>
                <a:ea typeface="DejaVu Sans"/>
                <a:cs typeface="DejaVu Sans"/>
              </a:rPr>
              <a:t>Objetivos del proyecto</a:t>
            </a:r>
          </a:p>
        </p:txBody>
      </p:sp>
      <p:sp>
        <p:nvSpPr>
          <p:cNvPr id="5" name="numero">
            <a:extLst xmlns:a="http://schemas.openxmlformats.org/drawingml/2006/main">
              <a:ext uri="{FF2B5EF4-FFF2-40B4-BE49-F238E27FC236}">
                <a16:creationId xmlns:a16="http://schemas.microsoft.com/office/drawing/2014/main" id="{90DEC80C-61BE-4F2D-B1F7-3C7D5C478E85}"/>
              </a:ext>
            </a:extLst>
          </p:cNvPr>
          <p:cNvSpPr>
            <a:spLocks xmlns:a="http://schemas.openxmlformats.org/drawingml/2006/main" noGrp="1"/>
          </p:cNvSpPr>
          <p:nvPr/>
        </p:nvSpPr>
        <p:spPr>
          <a:xfrm xmlns:a="http://schemas.openxmlformats.org/drawingml/2006/main">
            <a:off x="11210925" y="64770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526773"/>
                </a:solidFill>
                <a:latin typeface="DejaVu Sans"/>
                <a:ea typeface="DejaVu Sans"/>
                <a:cs typeface="DejaVu Sans"/>
              </a:defRPr>
            </a:defPPr>
          </a:lstStyle>
          <a:p xmlns:a="http://schemas.openxmlformats.org/drawingml/2006/main">
            <a:pPr algn="l">
              <a:buNone/>
              <a:defRPr sz="1050" b="0">
                <a:solidFill>
                  <a:srgbClr val="526773"/>
                </a:solidFill>
                <a:latin typeface="DejaVu Sans"/>
                <a:ea typeface="DejaVu Sans"/>
                <a:cs typeface="DejaVu Sans"/>
              </a:defRPr>
            </a:pPr>
            <a:r>
              <a:rPr sz="1050" b="0">
                <a:solidFill>
                  <a:srgbClr val="526773"/>
                </a:solidFill>
                <a:latin typeface="DejaVu Sans"/>
                <a:ea typeface="DejaVu Sans"/>
                <a:cs typeface="DejaVu Sans"/>
              </a:rPr>
              <a:t>03</a:t>
            </a:r>
          </a:p>
        </p:txBody>
      </p:sp>
      <p:sp>
        <p:nvSpPr>
          <p:cNvPr id="6" name="texto">
            <a:extLst xmlns:a="http://schemas.openxmlformats.org/drawingml/2006/main">
              <a:ext uri="{FF2B5EF4-FFF2-40B4-BE49-F238E27FC236}">
                <a16:creationId xmlns:a16="http://schemas.microsoft.com/office/drawing/2014/main" id="{342E4C0B-AA8B-4383-9D23-9EC74DA48AA9}"/>
              </a:ext>
            </a:extLst>
          </p:cNvPr>
          <p:cNvSpPr>
            <a:spLocks xmlns:a="http://schemas.openxmlformats.org/drawingml/2006/main" noGrp="1"/>
          </p:cNvSpPr>
          <p:nvPr/>
        </p:nvSpPr>
        <p:spPr>
          <a:xfrm xmlns:a="http://schemas.openxmlformats.org/drawingml/2006/main">
            <a:off x="609600" y="200025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16735D"/>
                </a:solidFill>
                <a:latin typeface="DejaVu Sans"/>
                <a:ea typeface="DejaVu Sans"/>
                <a:cs typeface="DejaVu Sans"/>
              </a:defRPr>
            </a:defPPr>
          </a:lstStyle>
          <a:p xmlns:a="http://schemas.openxmlformats.org/drawingml/2006/main">
            <a:pPr algn="l">
              <a:buNone/>
              <a:defRPr sz="1950" b="1">
                <a:solidFill>
                  <a:srgbClr val="16735D"/>
                </a:solidFill>
                <a:latin typeface="DejaVu Sans"/>
                <a:ea typeface="DejaVu Sans"/>
                <a:cs typeface="DejaVu Sans"/>
              </a:defRPr>
            </a:pPr>
            <a:r>
              <a:rPr sz="1950" b="1">
                <a:solidFill>
                  <a:srgbClr val="16735D"/>
                </a:solidFill>
                <a:latin typeface="DejaVu Sans"/>
                <a:ea typeface="DejaVu Sans"/>
                <a:cs typeface="DejaVu Sans"/>
              </a:rPr>
              <a:t>Objetivo académico</a:t>
            </a:r>
          </a:p>
        </p:txBody>
      </p:sp>
      <p:sp>
        <p:nvSpPr>
          <p:cNvPr id="7" name="texto">
            <a:extLst xmlns:a="http://schemas.openxmlformats.org/drawingml/2006/main">
              <a:ext uri="{FF2B5EF4-FFF2-40B4-BE49-F238E27FC236}">
                <a16:creationId xmlns:a16="http://schemas.microsoft.com/office/drawing/2014/main" id="{4ACB3395-A6F6-48B9-91F0-95EFF1CAFD4A}"/>
              </a:ext>
            </a:extLst>
          </p:cNvPr>
          <p:cNvSpPr>
            <a:spLocks xmlns:a="http://schemas.openxmlformats.org/drawingml/2006/main" noGrp="1"/>
          </p:cNvSpPr>
          <p:nvPr/>
        </p:nvSpPr>
        <p:spPr>
          <a:xfrm xmlns:a="http://schemas.openxmlformats.org/drawingml/2006/main">
            <a:off x="609600" y="2590800"/>
            <a:ext cx="509587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172F3C"/>
                </a:solidFill>
                <a:latin typeface="DejaVu Sans"/>
                <a:ea typeface="DejaVu Sans"/>
                <a:cs typeface="DejaVu Sans"/>
              </a:defRPr>
            </a:defPPr>
          </a:lstStyle>
          <a:p xmlns:a="http://schemas.openxmlformats.org/drawingml/2006/main">
            <a:pPr algn="l">
              <a:buNone/>
              <a:defRPr sz="1875" b="0">
                <a:solidFill>
                  <a:srgbClr val="172F3C"/>
                </a:solidFill>
                <a:latin typeface="DejaVu Sans"/>
                <a:ea typeface="DejaVu Sans"/>
                <a:cs typeface="DejaVu Sans"/>
              </a:defRPr>
            </a:pPr>
            <a:r>
              <a:rPr sz="1875" b="0">
                <a:solidFill>
                  <a:srgbClr val="172F3C"/>
                </a:solidFill>
                <a:latin typeface="DejaVu Sans"/>
                <a:ea typeface="DejaVu Sans"/>
                <a:cs typeface="DejaVu Sans"/>
              </a:rPr>
              <a:t>Aplicar los seis fundamentos de POO</a:t>
            </a:r>
          </a:p>
          <a:p xmlns:a="http://schemas.openxmlformats.org/drawingml/2006/main">
            <a:pPr algn="l">
              <a:buNone/>
              <a:defRPr sz="1875" b="0">
                <a:solidFill>
                  <a:srgbClr val="172F3C"/>
                </a:solidFill>
                <a:latin typeface="DejaVu Sans"/>
                <a:ea typeface="DejaVu Sans"/>
                <a:cs typeface="DejaVu Sans"/>
              </a:defRPr>
            </a:pPr>
            <a:r>
              <a:rPr sz="1875" b="0">
                <a:solidFill>
                  <a:srgbClr val="172F3C"/>
                </a:solidFill>
                <a:latin typeface="DejaVu Sans"/>
                <a:ea typeface="DejaVu Sans"/>
                <a:cs typeface="DejaVu Sans"/>
              </a:rPr>
              <a:t>y los patrones State y Observer</a:t>
            </a:r>
          </a:p>
          <a:p xmlns:a="http://schemas.openxmlformats.org/drawingml/2006/main">
            <a:pPr algn="l">
              <a:buNone/>
              <a:defRPr sz="1875" b="0">
                <a:solidFill>
                  <a:srgbClr val="172F3C"/>
                </a:solidFill>
                <a:latin typeface="DejaVu Sans"/>
                <a:ea typeface="DejaVu Sans"/>
                <a:cs typeface="DejaVu Sans"/>
              </a:defRPr>
            </a:pPr>
            <a:r>
              <a:rPr sz="1875" b="0">
                <a:solidFill>
                  <a:srgbClr val="172F3C"/>
                </a:solidFill>
                <a:latin typeface="DejaVu Sans"/>
                <a:ea typeface="DejaVu Sans"/>
                <a:cs typeface="DejaVu Sans"/>
              </a:rPr>
              <a:t>en un videojuego funcional.</a:t>
            </a:r>
          </a:p>
        </p:txBody>
      </p:sp>
      <p:sp>
        <p:nvSpPr>
          <p:cNvPr id="8" name="texto">
            <a:extLst xmlns:a="http://schemas.openxmlformats.org/drawingml/2006/main">
              <a:ext uri="{FF2B5EF4-FFF2-40B4-BE49-F238E27FC236}">
                <a16:creationId xmlns:a16="http://schemas.microsoft.com/office/drawing/2014/main" id="{F34044A7-4073-4930-9180-E568469A3421}"/>
              </a:ext>
            </a:extLst>
          </p:cNvPr>
          <p:cNvSpPr>
            <a:spLocks xmlns:a="http://schemas.openxmlformats.org/drawingml/2006/main" noGrp="1"/>
          </p:cNvSpPr>
          <p:nvPr/>
        </p:nvSpPr>
        <p:spPr>
          <a:xfrm xmlns:a="http://schemas.openxmlformats.org/drawingml/2006/main">
            <a:off x="609600" y="4248150"/>
            <a:ext cx="509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16735D"/>
                </a:solidFill>
                <a:latin typeface="DejaVu Sans"/>
                <a:ea typeface="DejaVu Sans"/>
                <a:cs typeface="DejaVu Sans"/>
              </a:defRPr>
            </a:defPPr>
          </a:lstStyle>
          <a:p xmlns:a="http://schemas.openxmlformats.org/drawingml/2006/main">
            <a:pPr algn="l">
              <a:buNone/>
              <a:defRPr sz="1950" b="1">
                <a:solidFill>
                  <a:srgbClr val="16735D"/>
                </a:solidFill>
                <a:latin typeface="DejaVu Sans"/>
                <a:ea typeface="DejaVu Sans"/>
                <a:cs typeface="DejaVu Sans"/>
              </a:defRPr>
            </a:pPr>
            <a:r>
              <a:rPr sz="1950" b="1">
                <a:solidFill>
                  <a:srgbClr val="16735D"/>
                </a:solidFill>
                <a:latin typeface="DejaVu Sans"/>
                <a:ea typeface="DejaVu Sans"/>
                <a:cs typeface="DejaVu Sans"/>
              </a:rPr>
              <a:t>Organización y trabajo en equipo</a:t>
            </a:r>
          </a:p>
        </p:txBody>
      </p:sp>
      <p:sp>
        <p:nvSpPr>
          <p:cNvPr id="9" name="texto">
            <a:extLst xmlns:a="http://schemas.openxmlformats.org/drawingml/2006/main">
              <a:ext uri="{FF2B5EF4-FFF2-40B4-BE49-F238E27FC236}">
                <a16:creationId xmlns:a16="http://schemas.microsoft.com/office/drawing/2014/main" id="{690E5276-4A52-45AD-BAF4-6EBCA53584C5}"/>
              </a:ext>
            </a:extLst>
          </p:cNvPr>
          <p:cNvSpPr>
            <a:spLocks xmlns:a="http://schemas.openxmlformats.org/drawingml/2006/main" noGrp="1"/>
          </p:cNvSpPr>
          <p:nvPr/>
        </p:nvSpPr>
        <p:spPr>
          <a:xfrm xmlns:a="http://schemas.openxmlformats.org/drawingml/2006/main">
            <a:off x="609600" y="4819650"/>
            <a:ext cx="50958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F3C"/>
                </a:solidFill>
                <a:latin typeface="DejaVu Sans"/>
                <a:ea typeface="DejaVu Sans"/>
                <a:cs typeface="DejaVu Sans"/>
              </a:defRPr>
            </a:defPPr>
          </a:lstStyle>
          <a:p xmlns:a="http://schemas.openxmlformats.org/drawingml/2006/main">
            <a:pPr algn="l">
              <a:buNone/>
              <a:defRPr sz="1725" b="0">
                <a:solidFill>
                  <a:srgbClr val="172F3C"/>
                </a:solidFill>
                <a:latin typeface="DejaVu Sans"/>
                <a:ea typeface="DejaVu Sans"/>
                <a:cs typeface="DejaVu Sans"/>
              </a:defRPr>
            </a:pPr>
            <a:r>
              <a:rPr sz="1725" b="0">
                <a:solidFill>
                  <a:srgbClr val="172F3C"/>
                </a:solidFill>
                <a:latin typeface="DejaVu Sans"/>
                <a:ea typeface="DejaVu Sans"/>
                <a:cs typeface="DejaVu Sans"/>
              </a:rPr>
              <a:t>Organizar 25 clases con funciones claras.</a:t>
            </a:r>
          </a:p>
          <a:p xmlns:a="http://schemas.openxmlformats.org/drawingml/2006/main">
            <a:pPr algn="l">
              <a:buNone/>
              <a:defRPr sz="1725" b="0">
                <a:solidFill>
                  <a:srgbClr val="172F3C"/>
                </a:solidFill>
                <a:latin typeface="DejaVu Sans"/>
                <a:ea typeface="DejaVu Sans"/>
                <a:cs typeface="DejaVu Sans"/>
              </a:defRPr>
            </a:pPr>
            <a:r>
              <a:rPr sz="1725" b="0">
                <a:solidFill>
                  <a:srgbClr val="172F3C"/>
                </a:solidFill>
                <a:latin typeface="DejaVu Sans"/>
                <a:ea typeface="DejaVu Sans"/>
                <a:cs typeface="DejaVu Sans"/>
              </a:rPr>
              <a:t>Representarlas en UML con Mermaid.</a:t>
            </a:r>
          </a:p>
          <a:p xmlns:a="http://schemas.openxmlformats.org/drawingml/2006/main">
            <a:pPr algn="l">
              <a:buNone/>
              <a:defRPr sz="1725" b="0">
                <a:solidFill>
                  <a:srgbClr val="172F3C"/>
                </a:solidFill>
                <a:latin typeface="DejaVu Sans"/>
                <a:ea typeface="DejaVu Sans"/>
                <a:cs typeface="DejaVu Sans"/>
              </a:defRPr>
            </a:pPr>
            <a:r>
              <a:rPr sz="1725" b="0">
                <a:solidFill>
                  <a:srgbClr val="172F3C"/>
                </a:solidFill>
                <a:latin typeface="DejaVu Sans"/>
                <a:ea typeface="DejaVu Sans"/>
                <a:cs typeface="DejaVu Sans"/>
              </a:rPr>
              <a:t>Integrar los aportes con Git y GitHub.</a:t>
            </a:r>
          </a:p>
        </p:txBody>
      </p:sp>
    </p:spTree>
    <p:extLst>
      <p:ext uri="{BB962C8B-B14F-4D97-AF65-F5344CB8AC3E}">
        <p14:creationId xmlns:p14="http://schemas.microsoft.com/office/powerpoint/2010/main" val="89904053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5" name="apartado-rubrica">
            <a:extLst xmlns:a="http://schemas.openxmlformats.org/drawingml/2006/main">
              <a:ext uri="{FF2B5EF4-FFF2-40B4-BE49-F238E27FC236}">
                <a16:creationId xmlns:a16="http://schemas.microsoft.com/office/drawing/2014/main" id="{718CD666-9174-43CF-BB81-0B0AA081768E}"/>
              </a:ext>
            </a:extLst>
          </p:cNvPr>
          <p:cNvSpPr>
            <a:spLocks xmlns:a="http://schemas.openxmlformats.org/drawingml/2006/main" noGrp="1"/>
          </p:cNvSpPr>
          <p:nvPr/>
        </p:nvSpPr>
        <p:spPr>
          <a:xfrm xmlns:a="http://schemas.openxmlformats.org/drawingml/2006/main">
            <a:off x="609600" y="285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Punto 3 de 7. Criterio I: arquitectura, 6 puntos</a:t>
            </a:r>
          </a:p>
        </p:txBody>
      </p:sp>
      <p:sp>
        <p:nvSpPr>
          <p:cNvPr id="2" name="titulo">
            <a:extLst xmlns:a="http://schemas.openxmlformats.org/drawingml/2006/main">
              <a:ext uri="{FF2B5EF4-FFF2-40B4-BE49-F238E27FC236}">
                <a16:creationId xmlns:a16="http://schemas.microsoft.com/office/drawing/2014/main" id="{08A6F1FE-FF38-4B3E-93D0-5014A6F62D71}"/>
              </a:ext>
            </a:extLst>
          </p:cNvPr>
          <p:cNvSpPr>
            <a:spLocks xmlns:a="http://schemas.openxmlformats.org/drawingml/2006/main" noGrp="1"/>
          </p:cNvSpPr>
          <p:nvPr/>
        </p:nvSpPr>
        <p:spPr>
          <a:xfrm xmlns:a="http://schemas.openxmlformats.org/drawingml/2006/main">
            <a:off x="609600" y="790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150" b="1">
                <a:solidFill>
                  <a:srgbClr val="172F3C"/>
                </a:solidFill>
                <a:latin typeface="DejaVu Sans"/>
                <a:ea typeface="DejaVu Sans"/>
                <a:cs typeface="DejaVu Sans"/>
              </a:defRPr>
            </a:defPPr>
          </a:lstStyle>
          <a:p xmlns:a="http://schemas.openxmlformats.org/drawingml/2006/main">
            <a:pPr>
              <a:defRPr sz="3150" b="1">
                <a:solidFill>
                  <a:srgbClr val="172F3C"/>
                </a:solidFill>
                <a:latin typeface="DejaVu Sans"/>
                <a:ea typeface="DejaVu Sans"/>
                <a:cs typeface="DejaVu Sans"/>
              </a:defRPr>
            </a:pPr>
            <a:r>
              <a:rPr sz="3150" b="1">
                <a:solidFill>
                  <a:srgbClr val="172F3C"/>
                </a:solidFill>
                <a:latin typeface="DejaVu Sans"/>
                <a:ea typeface="DejaVu Sans"/>
                <a:cs typeface="DejaVu Sans"/>
              </a:rPr>
              <a:t>III. Diseño de arquitectura</a:t>
            </a:r>
          </a:p>
        </p:txBody>
      </p:sp>
      <p:sp>
        <p:nvSpPr>
          <p:cNvPr id="3" name="numero">
            <a:extLst xmlns:a="http://schemas.openxmlformats.org/drawingml/2006/main">
              <a:ext uri="{FF2B5EF4-FFF2-40B4-BE49-F238E27FC236}">
                <a16:creationId xmlns:a16="http://schemas.microsoft.com/office/drawing/2014/main" id="{66D3937B-4498-4DB0-8AD4-312CAFC1580D}"/>
              </a:ext>
            </a:extLst>
          </p:cNvPr>
          <p:cNvSpPr>
            <a:spLocks xmlns:a="http://schemas.openxmlformats.org/drawingml/2006/main" noGrp="1"/>
          </p:cNvSpPr>
          <p:nvPr/>
        </p:nvSpPr>
        <p:spPr>
          <a:xfrm xmlns:a="http://schemas.openxmlformats.org/drawingml/2006/main">
            <a:off x="11210925" y="64770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50" b="0">
                <a:solidFill>
                  <a:srgbClr val="526773"/>
                </a:solidFill>
                <a:latin typeface="DejaVu Sans"/>
                <a:ea typeface="DejaVu Sans"/>
                <a:cs typeface="DejaVu Sans"/>
              </a:defRPr>
            </a:defPPr>
          </a:lstStyle>
          <a:p xmlns:a="http://schemas.openxmlformats.org/drawingml/2006/main">
            <a:pPr>
              <a:defRPr sz="1050" b="0">
                <a:solidFill>
                  <a:srgbClr val="526773"/>
                </a:solidFill>
                <a:latin typeface="DejaVu Sans"/>
                <a:ea typeface="DejaVu Sans"/>
                <a:cs typeface="DejaVu Sans"/>
              </a:defRPr>
            </a:pPr>
            <a:r>
              <a:rPr sz="1050" b="0">
                <a:solidFill>
                  <a:srgbClr val="526773"/>
                </a:solidFill>
                <a:latin typeface="DejaVu Sans"/>
                <a:ea typeface="DejaVu Sans"/>
                <a:cs typeface="DejaVu Sans"/>
              </a:rPr>
              <a:t>07</a:t>
            </a:r>
          </a:p>
        </p:txBody>
      </p:sp>
      <p:sp>
        <p:nvSpPr>
          <p:cNvPr id="4" name="texto">
            <a:extLst xmlns:a="http://schemas.openxmlformats.org/drawingml/2006/main">
              <a:ext uri="{FF2B5EF4-FFF2-40B4-BE49-F238E27FC236}">
                <a16:creationId xmlns:a16="http://schemas.microsoft.com/office/drawing/2014/main" id="{D5E6C243-908D-445E-B83F-40B35C9F11EA}"/>
              </a:ext>
            </a:extLst>
          </p:cNvPr>
          <p:cNvSpPr>
            <a:spLocks xmlns:a="http://schemas.openxmlformats.org/drawingml/2006/main" noGrp="1"/>
          </p:cNvSpPr>
          <p:nvPr/>
        </p:nvSpPr>
        <p:spPr>
          <a:xfrm xmlns:a="http://schemas.openxmlformats.org/drawingml/2006/main">
            <a:off x="609600" y="149542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26773"/>
                </a:solidFill>
                <a:latin typeface="DejaVu Sans"/>
                <a:ea typeface="DejaVu Sans"/>
                <a:cs typeface="DejaVu Sans"/>
              </a:defRPr>
            </a:defPPr>
          </a:lstStyle>
          <a:p xmlns:a="http://schemas.openxmlformats.org/drawingml/2006/main">
            <a:pPr>
              <a:defRPr sz="1575" b="0">
                <a:solidFill>
                  <a:srgbClr val="526773"/>
                </a:solidFill>
                <a:latin typeface="DejaVu Sans"/>
                <a:ea typeface="DejaVu Sans"/>
                <a:cs typeface="DejaVu Sans"/>
              </a:defRPr>
            </a:pPr>
            <a:r>
              <a:rPr sz="1575" b="0">
                <a:solidFill>
                  <a:srgbClr val="526773"/>
                </a:solidFill>
                <a:latin typeface="DejaVu Sans"/>
                <a:ea typeface="DejaVu Sans"/>
                <a:cs typeface="DejaVu Sans"/>
              </a:rPr>
              <a:t>Clases principales y sus operaciones</a:t>
            </a:r>
          </a:p>
        </p:txBody>
      </p:sp>
      <p:sp>
        <p:nvSpPr>
          <p:cNvPr id="5" name="">
            <a:extLst xmlns:a="http://schemas.openxmlformats.org/drawingml/2006/main">
              <a:ext uri="{FF2B5EF4-FFF2-40B4-BE49-F238E27FC236}">
                <a16:creationId xmlns:a16="http://schemas.microsoft.com/office/drawing/2014/main" id="{9AFA3764-CA91-4269-9139-49AE699ACDA1}"/>
              </a:ext>
            </a:extLst>
          </p:cNvPr>
          <p:cNvSpPr>
            <a:spLocks xmlns:a="http://schemas.openxmlformats.org/drawingml/2006/main" noGrp="1"/>
          </p:cNvSpPr>
          <p:nvPr/>
        </p:nvSpPr>
        <p:spPr>
          <a:xfrm xmlns:a="http://schemas.openxmlformats.org/drawingml/2006/main" rot="0">
            <a:off x="666750" y="2305050"/>
            <a:ext cx="2286000" cy="914400"/>
          </a:xfrm>
          <a:prstGeom xmlns:a="http://schemas.openxmlformats.org/drawingml/2006/main" prst="rect">
            <a:avLst/>
          </a:prstGeom>
          <a:solidFill xmlns:a="http://schemas.openxmlformats.org/drawingml/2006/main">
            <a:srgbClr val="FFFFFF"/>
          </a:solidFill>
          <a:ln xmlns:a="http://schemas.openxmlformats.org/drawingml/2006/main" w="15240">
            <a:solidFill>
              <a:srgbClr val="B8C9CD"/>
            </a:solidFill>
          </a:ln>
        </p:spPr>
      </p:sp>
      <p:sp>
        <p:nvSpPr>
          <p:cNvPr id="6" name="clase-Juego">
            <a:extLst xmlns:a="http://schemas.openxmlformats.org/drawingml/2006/main">
              <a:ext uri="{FF2B5EF4-FFF2-40B4-BE49-F238E27FC236}">
                <a16:creationId xmlns:a16="http://schemas.microsoft.com/office/drawing/2014/main" id="{12C20EB7-9737-4904-AA6A-9A768B6530C4}"/>
              </a:ext>
            </a:extLst>
          </p:cNvPr>
          <p:cNvSpPr>
            <a:spLocks xmlns:a="http://schemas.openxmlformats.org/drawingml/2006/main" noGrp="1"/>
          </p:cNvSpPr>
          <p:nvPr/>
        </p:nvSpPr>
        <p:spPr>
          <a:xfrm xmlns:a="http://schemas.openxmlformats.org/drawingml/2006/main">
            <a:off x="781050" y="2400300"/>
            <a:ext cx="2057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1">
                <a:solidFill>
                  <a:srgbClr val="172F3C"/>
                </a:solidFill>
                <a:latin typeface="DejaVu Sans"/>
                <a:ea typeface="DejaVu Sans"/>
                <a:cs typeface="DejaVu Sans"/>
              </a:defRPr>
            </a:defPPr>
          </a:lstStyle>
          <a:p xmlns:a="http://schemas.openxmlformats.org/drawingml/2006/main">
            <a:pPr>
              <a:defRPr sz="1725" b="1">
                <a:solidFill>
                  <a:srgbClr val="172F3C"/>
                </a:solidFill>
                <a:latin typeface="DejaVu Sans"/>
                <a:ea typeface="DejaVu Sans"/>
                <a:cs typeface="DejaVu Sans"/>
              </a:defRPr>
            </a:pPr>
            <a:r>
              <a:rPr sz="1725" b="1">
                <a:solidFill>
                  <a:srgbClr val="172F3C"/>
                </a:solidFill>
                <a:latin typeface="DejaVu Sans"/>
                <a:ea typeface="DejaVu Sans"/>
                <a:cs typeface="DejaVu Sans"/>
              </a:rPr>
              <a:t>Juego</a:t>
            </a:r>
          </a:p>
        </p:txBody>
      </p:sp>
      <p:sp>
        <p:nvSpPr>
          <p:cNvPr id="7" name="">
            <a:extLst xmlns:a="http://schemas.openxmlformats.org/drawingml/2006/main">
              <a:ext uri="{FF2B5EF4-FFF2-40B4-BE49-F238E27FC236}">
                <a16:creationId xmlns:a16="http://schemas.microsoft.com/office/drawing/2014/main" id="{B59041AC-F6DB-41E9-B943-2463D656876A}"/>
              </a:ext>
            </a:extLst>
          </p:cNvPr>
          <p:cNvSpPr>
            <a:spLocks xmlns:a="http://schemas.openxmlformats.org/drawingml/2006/main" noGrp="1"/>
          </p:cNvSpPr>
          <p:nvPr/>
        </p:nvSpPr>
        <p:spPr>
          <a:xfrm xmlns:a="http://schemas.openxmlformats.org/drawingml/2006/main">
            <a:off x="666750" y="2762250"/>
            <a:ext cx="2286000" cy="0"/>
          </a:xfrm>
          <a:prstGeom xmlns:a="http://schemas.openxmlformats.org/drawingml/2006/main" prst="line">
            <a:avLst/>
          </a:prstGeom>
          <a:noFill xmlns:a="http://schemas.openxmlformats.org/drawingml/2006/main"/>
          <a:ln xmlns:a="http://schemas.openxmlformats.org/drawingml/2006/main" w="14288">
            <a:solidFill>
              <a:srgbClr val="B8C9CD"/>
            </a:solidFill>
            <a:prstDash val="solid"/>
          </a:ln>
        </p:spPr>
      </p:sp>
      <p:sp>
        <p:nvSpPr>
          <p:cNvPr id="8" name="metodo-Juego">
            <a:extLst xmlns:a="http://schemas.openxmlformats.org/drawingml/2006/main">
              <a:ext uri="{FF2B5EF4-FFF2-40B4-BE49-F238E27FC236}">
                <a16:creationId xmlns:a16="http://schemas.microsoft.com/office/drawing/2014/main" id="{BF16FF00-FE1B-406F-A190-5FB7F2196CFA}"/>
              </a:ext>
            </a:extLst>
          </p:cNvPr>
          <p:cNvSpPr>
            <a:spLocks xmlns:a="http://schemas.openxmlformats.org/drawingml/2006/main" noGrp="1"/>
          </p:cNvSpPr>
          <p:nvPr/>
        </p:nvSpPr>
        <p:spPr>
          <a:xfrm xmlns:a="http://schemas.openxmlformats.org/drawingml/2006/main">
            <a:off x="781050" y="2876550"/>
            <a:ext cx="205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16735D"/>
                </a:solidFill>
                <a:latin typeface="DejaVu Sans Mono"/>
                <a:ea typeface="DejaVu Sans Mono"/>
                <a:cs typeface="DejaVu Sans Mono"/>
              </a:defRPr>
            </a:defPPr>
          </a:lstStyle>
          <a:p xmlns:a="http://schemas.openxmlformats.org/drawingml/2006/main">
            <a:pPr>
              <a:defRPr sz="1350" b="0">
                <a:solidFill>
                  <a:srgbClr val="16735D"/>
                </a:solidFill>
                <a:latin typeface="DejaVu Sans Mono"/>
                <a:ea typeface="DejaVu Sans Mono"/>
                <a:cs typeface="DejaVu Sans Mono"/>
              </a:defRPr>
            </a:pPr>
            <a:r>
              <a:rPr sz="1350" b="0">
                <a:solidFill>
                  <a:srgbClr val="16735D"/>
                </a:solidFill>
                <a:latin typeface="DejaVu Sans Mono"/>
                <a:ea typeface="DejaVu Sans Mono"/>
                <a:cs typeface="DejaVu Sans Mono"/>
              </a:rPr>
              <a:t>+actualizar()</a:t>
            </a:r>
          </a:p>
        </p:txBody>
      </p:sp>
      <p:sp>
        <p:nvSpPr>
          <p:cNvPr id="9" name="">
            <a:extLst xmlns:a="http://schemas.openxmlformats.org/drawingml/2006/main">
              <a:ext uri="{FF2B5EF4-FFF2-40B4-BE49-F238E27FC236}">
                <a16:creationId xmlns:a16="http://schemas.microsoft.com/office/drawing/2014/main" id="{743D8A52-2667-4671-AA67-9B2330C10C73}"/>
              </a:ext>
            </a:extLst>
          </p:cNvPr>
          <p:cNvSpPr>
            <a:spLocks xmlns:a="http://schemas.openxmlformats.org/drawingml/2006/main" noGrp="1"/>
          </p:cNvSpPr>
          <p:nvPr/>
        </p:nvSpPr>
        <p:spPr>
          <a:xfrm xmlns:a="http://schemas.openxmlformats.org/drawingml/2006/main" rot="0">
            <a:off x="4953000" y="2305050"/>
            <a:ext cx="2286000" cy="914400"/>
          </a:xfrm>
          <a:prstGeom xmlns:a="http://schemas.openxmlformats.org/drawingml/2006/main" prst="rect">
            <a:avLst/>
          </a:prstGeom>
          <a:solidFill xmlns:a="http://schemas.openxmlformats.org/drawingml/2006/main">
            <a:srgbClr val="FFFFFF"/>
          </a:solidFill>
          <a:ln xmlns:a="http://schemas.openxmlformats.org/drawingml/2006/main" w="15240">
            <a:solidFill>
              <a:srgbClr val="B8C9CD"/>
            </a:solidFill>
          </a:ln>
        </p:spPr>
      </p:sp>
      <p:sp>
        <p:nvSpPr>
          <p:cNvPr id="10" name="clase-Nivel">
            <a:extLst xmlns:a="http://schemas.openxmlformats.org/drawingml/2006/main">
              <a:ext uri="{FF2B5EF4-FFF2-40B4-BE49-F238E27FC236}">
                <a16:creationId xmlns:a16="http://schemas.microsoft.com/office/drawing/2014/main" id="{927F7135-4243-45E4-A791-167DF59D3F4B}"/>
              </a:ext>
            </a:extLst>
          </p:cNvPr>
          <p:cNvSpPr>
            <a:spLocks xmlns:a="http://schemas.openxmlformats.org/drawingml/2006/main" noGrp="1"/>
          </p:cNvSpPr>
          <p:nvPr/>
        </p:nvSpPr>
        <p:spPr>
          <a:xfrm xmlns:a="http://schemas.openxmlformats.org/drawingml/2006/main">
            <a:off x="5067300" y="2400300"/>
            <a:ext cx="2057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1">
                <a:solidFill>
                  <a:srgbClr val="172F3C"/>
                </a:solidFill>
                <a:latin typeface="DejaVu Sans"/>
                <a:ea typeface="DejaVu Sans"/>
                <a:cs typeface="DejaVu Sans"/>
              </a:defRPr>
            </a:defPPr>
          </a:lstStyle>
          <a:p xmlns:a="http://schemas.openxmlformats.org/drawingml/2006/main">
            <a:pPr>
              <a:defRPr sz="1725" b="1">
                <a:solidFill>
                  <a:srgbClr val="172F3C"/>
                </a:solidFill>
                <a:latin typeface="DejaVu Sans"/>
                <a:ea typeface="DejaVu Sans"/>
                <a:cs typeface="DejaVu Sans"/>
              </a:defRPr>
            </a:pPr>
            <a:r>
              <a:rPr sz="1725" b="1">
                <a:solidFill>
                  <a:srgbClr val="172F3C"/>
                </a:solidFill>
                <a:latin typeface="DejaVu Sans"/>
                <a:ea typeface="DejaVu Sans"/>
                <a:cs typeface="DejaVu Sans"/>
              </a:rPr>
              <a:t>Nivel</a:t>
            </a:r>
          </a:p>
        </p:txBody>
      </p:sp>
      <p:sp>
        <p:nvSpPr>
          <p:cNvPr id="11" name="">
            <a:extLst xmlns:a="http://schemas.openxmlformats.org/drawingml/2006/main">
              <a:ext uri="{FF2B5EF4-FFF2-40B4-BE49-F238E27FC236}">
                <a16:creationId xmlns:a16="http://schemas.microsoft.com/office/drawing/2014/main" id="{28C536CA-1527-4916-9D56-E7DDC4A5EDE1}"/>
              </a:ext>
            </a:extLst>
          </p:cNvPr>
          <p:cNvSpPr>
            <a:spLocks xmlns:a="http://schemas.openxmlformats.org/drawingml/2006/main" noGrp="1"/>
          </p:cNvSpPr>
          <p:nvPr/>
        </p:nvSpPr>
        <p:spPr>
          <a:xfrm xmlns:a="http://schemas.openxmlformats.org/drawingml/2006/main">
            <a:off x="4953000" y="2762250"/>
            <a:ext cx="2286000" cy="0"/>
          </a:xfrm>
          <a:prstGeom xmlns:a="http://schemas.openxmlformats.org/drawingml/2006/main" prst="line">
            <a:avLst/>
          </a:prstGeom>
          <a:noFill xmlns:a="http://schemas.openxmlformats.org/drawingml/2006/main"/>
          <a:ln xmlns:a="http://schemas.openxmlformats.org/drawingml/2006/main" w="14288">
            <a:solidFill>
              <a:srgbClr val="B8C9CD"/>
            </a:solidFill>
            <a:prstDash val="solid"/>
          </a:ln>
        </p:spPr>
      </p:sp>
      <p:sp>
        <p:nvSpPr>
          <p:cNvPr id="12" name="metodo-Nivel">
            <a:extLst xmlns:a="http://schemas.openxmlformats.org/drawingml/2006/main">
              <a:ext uri="{FF2B5EF4-FFF2-40B4-BE49-F238E27FC236}">
                <a16:creationId xmlns:a16="http://schemas.microsoft.com/office/drawing/2014/main" id="{E4EFFB8E-00F2-4467-9E00-B99AFB656C92}"/>
              </a:ext>
            </a:extLst>
          </p:cNvPr>
          <p:cNvSpPr>
            <a:spLocks xmlns:a="http://schemas.openxmlformats.org/drawingml/2006/main" noGrp="1"/>
          </p:cNvSpPr>
          <p:nvPr/>
        </p:nvSpPr>
        <p:spPr>
          <a:xfrm xmlns:a="http://schemas.openxmlformats.org/drawingml/2006/main">
            <a:off x="5067300" y="2876550"/>
            <a:ext cx="205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16735D"/>
                </a:solidFill>
                <a:latin typeface="DejaVu Sans Mono"/>
                <a:ea typeface="DejaVu Sans Mono"/>
                <a:cs typeface="DejaVu Sans Mono"/>
              </a:defRPr>
            </a:defPPr>
          </a:lstStyle>
          <a:p xmlns:a="http://schemas.openxmlformats.org/drawingml/2006/main">
            <a:pPr>
              <a:defRPr sz="1350" b="0">
                <a:solidFill>
                  <a:srgbClr val="16735D"/>
                </a:solidFill>
                <a:latin typeface="DejaVu Sans Mono"/>
                <a:ea typeface="DejaVu Sans Mono"/>
                <a:cs typeface="DejaVu Sans Mono"/>
              </a:defRPr>
            </a:pPr>
            <a:r>
              <a:rPr sz="1350" b="0">
                <a:solidFill>
                  <a:srgbClr val="16735D"/>
                </a:solidFill>
                <a:latin typeface="DejaVu Sans Mono"/>
                <a:ea typeface="DejaVu Sans Mono"/>
                <a:cs typeface="DejaVu Sans Mono"/>
              </a:rPr>
              <a:t>+actualizar()</a:t>
            </a:r>
          </a:p>
        </p:txBody>
      </p:sp>
      <p:sp>
        <p:nvSpPr>
          <p:cNvPr id="13" name="">
            <a:extLst xmlns:a="http://schemas.openxmlformats.org/drawingml/2006/main">
              <a:ext uri="{FF2B5EF4-FFF2-40B4-BE49-F238E27FC236}">
                <a16:creationId xmlns:a16="http://schemas.microsoft.com/office/drawing/2014/main" id="{1BDEE7B6-A151-489B-83E9-3830912209A3}"/>
              </a:ext>
            </a:extLst>
          </p:cNvPr>
          <p:cNvSpPr>
            <a:spLocks xmlns:a="http://schemas.openxmlformats.org/drawingml/2006/main" noGrp="1"/>
          </p:cNvSpPr>
          <p:nvPr/>
        </p:nvSpPr>
        <p:spPr>
          <a:xfrm xmlns:a="http://schemas.openxmlformats.org/drawingml/2006/main" rot="0">
            <a:off x="9239250" y="2305050"/>
            <a:ext cx="2286000" cy="914400"/>
          </a:xfrm>
          <a:prstGeom xmlns:a="http://schemas.openxmlformats.org/drawingml/2006/main" prst="rect">
            <a:avLst/>
          </a:prstGeom>
          <a:solidFill xmlns:a="http://schemas.openxmlformats.org/drawingml/2006/main">
            <a:srgbClr val="FFFFFF"/>
          </a:solidFill>
          <a:ln xmlns:a="http://schemas.openxmlformats.org/drawingml/2006/main" w="15240">
            <a:solidFill>
              <a:srgbClr val="B8C9CD"/>
            </a:solidFill>
          </a:ln>
        </p:spPr>
      </p:sp>
      <p:sp>
        <p:nvSpPr>
          <p:cNvPr id="14" name="clase-Vista">
            <a:extLst xmlns:a="http://schemas.openxmlformats.org/drawingml/2006/main">
              <a:ext uri="{FF2B5EF4-FFF2-40B4-BE49-F238E27FC236}">
                <a16:creationId xmlns:a16="http://schemas.microsoft.com/office/drawing/2014/main" id="{9F28B2BB-0728-468F-AE32-56726BAD79D4}"/>
              </a:ext>
            </a:extLst>
          </p:cNvPr>
          <p:cNvSpPr>
            <a:spLocks xmlns:a="http://schemas.openxmlformats.org/drawingml/2006/main" noGrp="1"/>
          </p:cNvSpPr>
          <p:nvPr/>
        </p:nvSpPr>
        <p:spPr>
          <a:xfrm xmlns:a="http://schemas.openxmlformats.org/drawingml/2006/main">
            <a:off x="9353550" y="2400300"/>
            <a:ext cx="2057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1">
                <a:solidFill>
                  <a:srgbClr val="172F3C"/>
                </a:solidFill>
                <a:latin typeface="DejaVu Sans"/>
                <a:ea typeface="DejaVu Sans"/>
                <a:cs typeface="DejaVu Sans"/>
              </a:defRPr>
            </a:defPPr>
          </a:lstStyle>
          <a:p xmlns:a="http://schemas.openxmlformats.org/drawingml/2006/main">
            <a:pPr>
              <a:defRPr sz="1725" b="1">
                <a:solidFill>
                  <a:srgbClr val="172F3C"/>
                </a:solidFill>
                <a:latin typeface="DejaVu Sans"/>
                <a:ea typeface="DejaVu Sans"/>
                <a:cs typeface="DejaVu Sans"/>
              </a:defRPr>
            </a:pPr>
            <a:r>
              <a:rPr sz="1725" b="1">
                <a:solidFill>
                  <a:srgbClr val="172F3C"/>
                </a:solidFill>
                <a:latin typeface="DejaVu Sans"/>
                <a:ea typeface="DejaVu Sans"/>
                <a:cs typeface="DejaVu Sans"/>
              </a:rPr>
              <a:t>Vista</a:t>
            </a:r>
          </a:p>
        </p:txBody>
      </p:sp>
      <p:sp>
        <p:nvSpPr>
          <p:cNvPr id="15" name="">
            <a:extLst xmlns:a="http://schemas.openxmlformats.org/drawingml/2006/main">
              <a:ext uri="{FF2B5EF4-FFF2-40B4-BE49-F238E27FC236}">
                <a16:creationId xmlns:a16="http://schemas.microsoft.com/office/drawing/2014/main" id="{5E53316A-C157-425B-B332-7E5A9832C3E9}"/>
              </a:ext>
            </a:extLst>
          </p:cNvPr>
          <p:cNvSpPr>
            <a:spLocks xmlns:a="http://schemas.openxmlformats.org/drawingml/2006/main" noGrp="1"/>
          </p:cNvSpPr>
          <p:nvPr/>
        </p:nvSpPr>
        <p:spPr>
          <a:xfrm xmlns:a="http://schemas.openxmlformats.org/drawingml/2006/main">
            <a:off x="9239250" y="2762250"/>
            <a:ext cx="2286000" cy="0"/>
          </a:xfrm>
          <a:prstGeom xmlns:a="http://schemas.openxmlformats.org/drawingml/2006/main" prst="line">
            <a:avLst/>
          </a:prstGeom>
          <a:noFill xmlns:a="http://schemas.openxmlformats.org/drawingml/2006/main"/>
          <a:ln xmlns:a="http://schemas.openxmlformats.org/drawingml/2006/main" w="14288">
            <a:solidFill>
              <a:srgbClr val="B8C9CD"/>
            </a:solidFill>
            <a:prstDash val="solid"/>
          </a:ln>
        </p:spPr>
      </p:sp>
      <p:sp>
        <p:nvSpPr>
          <p:cNvPr id="16" name="metodo-Vista">
            <a:extLst xmlns:a="http://schemas.openxmlformats.org/drawingml/2006/main">
              <a:ext uri="{FF2B5EF4-FFF2-40B4-BE49-F238E27FC236}">
                <a16:creationId xmlns:a16="http://schemas.microsoft.com/office/drawing/2014/main" id="{E74C82E3-21CF-4861-A38C-BF9582048DE6}"/>
              </a:ext>
            </a:extLst>
          </p:cNvPr>
          <p:cNvSpPr>
            <a:spLocks xmlns:a="http://schemas.openxmlformats.org/drawingml/2006/main" noGrp="1"/>
          </p:cNvSpPr>
          <p:nvPr/>
        </p:nvSpPr>
        <p:spPr>
          <a:xfrm xmlns:a="http://schemas.openxmlformats.org/drawingml/2006/main">
            <a:off x="9353550" y="2876550"/>
            <a:ext cx="205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16735D"/>
                </a:solidFill>
                <a:latin typeface="DejaVu Sans Mono"/>
                <a:ea typeface="DejaVu Sans Mono"/>
                <a:cs typeface="DejaVu Sans Mono"/>
              </a:defRPr>
            </a:defPPr>
          </a:lstStyle>
          <a:p xmlns:a="http://schemas.openxmlformats.org/drawingml/2006/main">
            <a:pPr>
              <a:defRPr sz="1350" b="0">
                <a:solidFill>
                  <a:srgbClr val="16735D"/>
                </a:solidFill>
                <a:latin typeface="DejaVu Sans Mono"/>
                <a:ea typeface="DejaVu Sans Mono"/>
                <a:cs typeface="DejaVu Sans Mono"/>
              </a:defRPr>
            </a:pPr>
            <a:r>
              <a:rPr sz="1350" b="0">
                <a:solidFill>
                  <a:srgbClr val="16735D"/>
                </a:solidFill>
                <a:latin typeface="DejaVu Sans Mono"/>
                <a:ea typeface="DejaVu Sans Mono"/>
                <a:cs typeface="DejaVu Sans Mono"/>
              </a:rPr>
              <a:t>+dibujar(juego)</a:t>
            </a:r>
          </a:p>
        </p:txBody>
      </p:sp>
      <p:sp>
        <p:nvSpPr>
          <p:cNvPr id="17" name="">
            <a:extLst xmlns:a="http://schemas.openxmlformats.org/drawingml/2006/main">
              <a:ext uri="{FF2B5EF4-FFF2-40B4-BE49-F238E27FC236}">
                <a16:creationId xmlns:a16="http://schemas.microsoft.com/office/drawing/2014/main" id="{584B3C2E-66BB-4AFF-B1CF-1650B3FAE84D}"/>
              </a:ext>
            </a:extLst>
          </p:cNvPr>
          <p:cNvSpPr>
            <a:spLocks xmlns:a="http://schemas.openxmlformats.org/drawingml/2006/main" noGrp="1"/>
          </p:cNvSpPr>
          <p:nvPr/>
        </p:nvSpPr>
        <p:spPr>
          <a:xfrm xmlns:a="http://schemas.openxmlformats.org/drawingml/2006/main" rot="0">
            <a:off x="666750" y="4048125"/>
            <a:ext cx="2286000" cy="914400"/>
          </a:xfrm>
          <a:prstGeom xmlns:a="http://schemas.openxmlformats.org/drawingml/2006/main" prst="rect">
            <a:avLst/>
          </a:prstGeom>
          <a:solidFill xmlns:a="http://schemas.openxmlformats.org/drawingml/2006/main">
            <a:srgbClr val="FFFFFF"/>
          </a:solidFill>
          <a:ln xmlns:a="http://schemas.openxmlformats.org/drawingml/2006/main" w="15240">
            <a:solidFill>
              <a:srgbClr val="B8C9CD"/>
            </a:solidFill>
          </a:ln>
        </p:spPr>
      </p:sp>
      <p:sp>
        <p:nvSpPr>
          <p:cNvPr id="18" name="clase-Puntaje">
            <a:extLst xmlns:a="http://schemas.openxmlformats.org/drawingml/2006/main">
              <a:ext uri="{FF2B5EF4-FFF2-40B4-BE49-F238E27FC236}">
                <a16:creationId xmlns:a16="http://schemas.microsoft.com/office/drawing/2014/main" id="{20AE914F-5C0D-4EB0-BE7F-95D2245F7E40}"/>
              </a:ext>
            </a:extLst>
          </p:cNvPr>
          <p:cNvSpPr>
            <a:spLocks xmlns:a="http://schemas.openxmlformats.org/drawingml/2006/main" noGrp="1"/>
          </p:cNvSpPr>
          <p:nvPr/>
        </p:nvSpPr>
        <p:spPr>
          <a:xfrm xmlns:a="http://schemas.openxmlformats.org/drawingml/2006/main">
            <a:off x="781050" y="4143375"/>
            <a:ext cx="2057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1">
                <a:solidFill>
                  <a:srgbClr val="172F3C"/>
                </a:solidFill>
                <a:latin typeface="DejaVu Sans"/>
                <a:ea typeface="DejaVu Sans"/>
                <a:cs typeface="DejaVu Sans"/>
              </a:defRPr>
            </a:defPPr>
          </a:lstStyle>
          <a:p xmlns:a="http://schemas.openxmlformats.org/drawingml/2006/main">
            <a:pPr>
              <a:defRPr sz="1725" b="1">
                <a:solidFill>
                  <a:srgbClr val="172F3C"/>
                </a:solidFill>
                <a:latin typeface="DejaVu Sans"/>
                <a:ea typeface="DejaVu Sans"/>
                <a:cs typeface="DejaVu Sans"/>
              </a:defRPr>
            </a:pPr>
            <a:r>
              <a:rPr sz="1725" b="1">
                <a:solidFill>
                  <a:srgbClr val="172F3C"/>
                </a:solidFill>
                <a:latin typeface="DejaVu Sans"/>
                <a:ea typeface="DejaVu Sans"/>
                <a:cs typeface="DejaVu Sans"/>
              </a:rPr>
              <a:t>Puntaje</a:t>
            </a:r>
          </a:p>
        </p:txBody>
      </p:sp>
      <p:sp>
        <p:nvSpPr>
          <p:cNvPr id="19" name="">
            <a:extLst xmlns:a="http://schemas.openxmlformats.org/drawingml/2006/main">
              <a:ext uri="{FF2B5EF4-FFF2-40B4-BE49-F238E27FC236}">
                <a16:creationId xmlns:a16="http://schemas.microsoft.com/office/drawing/2014/main" id="{EE472BCE-2954-423C-B716-604C07CC6221}"/>
              </a:ext>
            </a:extLst>
          </p:cNvPr>
          <p:cNvSpPr>
            <a:spLocks xmlns:a="http://schemas.openxmlformats.org/drawingml/2006/main" noGrp="1"/>
          </p:cNvSpPr>
          <p:nvPr/>
        </p:nvSpPr>
        <p:spPr>
          <a:xfrm xmlns:a="http://schemas.openxmlformats.org/drawingml/2006/main">
            <a:off x="666750" y="4505325"/>
            <a:ext cx="2286000" cy="0"/>
          </a:xfrm>
          <a:prstGeom xmlns:a="http://schemas.openxmlformats.org/drawingml/2006/main" prst="line">
            <a:avLst/>
          </a:prstGeom>
          <a:noFill xmlns:a="http://schemas.openxmlformats.org/drawingml/2006/main"/>
          <a:ln xmlns:a="http://schemas.openxmlformats.org/drawingml/2006/main" w="14288">
            <a:solidFill>
              <a:srgbClr val="B8C9CD"/>
            </a:solidFill>
            <a:prstDash val="solid"/>
          </a:ln>
        </p:spPr>
      </p:sp>
      <p:sp>
        <p:nvSpPr>
          <p:cNvPr id="20" name="metodo-Puntaje">
            <a:extLst xmlns:a="http://schemas.openxmlformats.org/drawingml/2006/main">
              <a:ext uri="{FF2B5EF4-FFF2-40B4-BE49-F238E27FC236}">
                <a16:creationId xmlns:a16="http://schemas.microsoft.com/office/drawing/2014/main" id="{F9D6C15C-E016-4120-AA3E-076E15402E43}"/>
              </a:ext>
            </a:extLst>
          </p:cNvPr>
          <p:cNvSpPr>
            <a:spLocks xmlns:a="http://schemas.openxmlformats.org/drawingml/2006/main" noGrp="1"/>
          </p:cNvSpPr>
          <p:nvPr/>
        </p:nvSpPr>
        <p:spPr>
          <a:xfrm xmlns:a="http://schemas.openxmlformats.org/drawingml/2006/main">
            <a:off x="781050" y="4619625"/>
            <a:ext cx="205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16735D"/>
                </a:solidFill>
                <a:latin typeface="DejaVu Sans Mono"/>
                <a:ea typeface="DejaVu Sans Mono"/>
                <a:cs typeface="DejaVu Sans Mono"/>
              </a:defRPr>
            </a:defPPr>
          </a:lstStyle>
          <a:p xmlns:a="http://schemas.openxmlformats.org/drawingml/2006/main">
            <a:pPr>
              <a:defRPr sz="1350" b="0">
                <a:solidFill>
                  <a:srgbClr val="16735D"/>
                </a:solidFill>
                <a:latin typeface="DejaVu Sans Mono"/>
                <a:ea typeface="DejaVu Sans Mono"/>
                <a:cs typeface="DejaVu Sans Mono"/>
              </a:defRPr>
            </a:pPr>
            <a:r>
              <a:rPr sz="1350" b="0">
                <a:solidFill>
                  <a:srgbClr val="16735D"/>
                </a:solidFill>
                <a:latin typeface="DejaVu Sans Mono"/>
                <a:ea typeface="DejaVu Sans Mono"/>
                <a:cs typeface="DejaVu Sans Mono"/>
              </a:rPr>
              <a:t>+sumar(cantidad)</a:t>
            </a:r>
          </a:p>
        </p:txBody>
      </p:sp>
      <p:sp>
        <p:nvSpPr>
          <p:cNvPr id="21" name="">
            <a:extLst xmlns:a="http://schemas.openxmlformats.org/drawingml/2006/main">
              <a:ext uri="{FF2B5EF4-FFF2-40B4-BE49-F238E27FC236}">
                <a16:creationId xmlns:a16="http://schemas.microsoft.com/office/drawing/2014/main" id="{67BD51CD-C66E-464C-88AB-F0EDB982F138}"/>
              </a:ext>
            </a:extLst>
          </p:cNvPr>
          <p:cNvSpPr>
            <a:spLocks xmlns:a="http://schemas.openxmlformats.org/drawingml/2006/main" noGrp="1"/>
          </p:cNvSpPr>
          <p:nvPr/>
        </p:nvSpPr>
        <p:spPr>
          <a:xfrm xmlns:a="http://schemas.openxmlformats.org/drawingml/2006/main" rot="0">
            <a:off x="4953000" y="4048125"/>
            <a:ext cx="2286000" cy="914400"/>
          </a:xfrm>
          <a:prstGeom xmlns:a="http://schemas.openxmlformats.org/drawingml/2006/main" prst="rect">
            <a:avLst/>
          </a:prstGeom>
          <a:solidFill xmlns:a="http://schemas.openxmlformats.org/drawingml/2006/main">
            <a:srgbClr val="FFFFFF"/>
          </a:solidFill>
          <a:ln xmlns:a="http://schemas.openxmlformats.org/drawingml/2006/main" w="15240">
            <a:solidFill>
              <a:srgbClr val="B8C9CD"/>
            </a:solidFill>
          </a:ln>
        </p:spPr>
      </p:sp>
      <p:sp>
        <p:nvSpPr>
          <p:cNvPr id="22" name="clase-Personaje">
            <a:extLst xmlns:a="http://schemas.openxmlformats.org/drawingml/2006/main">
              <a:ext uri="{FF2B5EF4-FFF2-40B4-BE49-F238E27FC236}">
                <a16:creationId xmlns:a16="http://schemas.microsoft.com/office/drawing/2014/main" id="{924F255A-0484-4254-BF4D-C10CFB135B11}"/>
              </a:ext>
            </a:extLst>
          </p:cNvPr>
          <p:cNvSpPr>
            <a:spLocks xmlns:a="http://schemas.openxmlformats.org/drawingml/2006/main" noGrp="1"/>
          </p:cNvSpPr>
          <p:nvPr/>
        </p:nvSpPr>
        <p:spPr>
          <a:xfrm xmlns:a="http://schemas.openxmlformats.org/drawingml/2006/main">
            <a:off x="5067300" y="4143375"/>
            <a:ext cx="2057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1">
                <a:solidFill>
                  <a:srgbClr val="172F3C"/>
                </a:solidFill>
                <a:latin typeface="DejaVu Sans"/>
                <a:ea typeface="DejaVu Sans"/>
                <a:cs typeface="DejaVu Sans"/>
              </a:defRPr>
            </a:defPPr>
          </a:lstStyle>
          <a:p xmlns:a="http://schemas.openxmlformats.org/drawingml/2006/main">
            <a:pPr>
              <a:defRPr sz="1725" b="1">
                <a:solidFill>
                  <a:srgbClr val="172F3C"/>
                </a:solidFill>
                <a:latin typeface="DejaVu Sans"/>
                <a:ea typeface="DejaVu Sans"/>
                <a:cs typeface="DejaVu Sans"/>
              </a:defRPr>
            </a:pPr>
            <a:r>
              <a:rPr sz="1725" b="1">
                <a:solidFill>
                  <a:srgbClr val="172F3C"/>
                </a:solidFill>
                <a:latin typeface="DejaVu Sans"/>
                <a:ea typeface="DejaVu Sans"/>
                <a:cs typeface="DejaVu Sans"/>
              </a:rPr>
              <a:t>Personaje</a:t>
            </a:r>
          </a:p>
        </p:txBody>
      </p:sp>
      <p:sp>
        <p:nvSpPr>
          <p:cNvPr id="23" name="">
            <a:extLst xmlns:a="http://schemas.openxmlformats.org/drawingml/2006/main">
              <a:ext uri="{FF2B5EF4-FFF2-40B4-BE49-F238E27FC236}">
                <a16:creationId xmlns:a16="http://schemas.microsoft.com/office/drawing/2014/main" id="{60396683-39FC-4F5A-80F9-17216DBA1CDE}"/>
              </a:ext>
            </a:extLst>
          </p:cNvPr>
          <p:cNvSpPr>
            <a:spLocks xmlns:a="http://schemas.openxmlformats.org/drawingml/2006/main" noGrp="1"/>
          </p:cNvSpPr>
          <p:nvPr/>
        </p:nvSpPr>
        <p:spPr>
          <a:xfrm xmlns:a="http://schemas.openxmlformats.org/drawingml/2006/main">
            <a:off x="4953000" y="4505325"/>
            <a:ext cx="2286000" cy="0"/>
          </a:xfrm>
          <a:prstGeom xmlns:a="http://schemas.openxmlformats.org/drawingml/2006/main" prst="line">
            <a:avLst/>
          </a:prstGeom>
          <a:noFill xmlns:a="http://schemas.openxmlformats.org/drawingml/2006/main"/>
          <a:ln xmlns:a="http://schemas.openxmlformats.org/drawingml/2006/main" w="14288">
            <a:solidFill>
              <a:srgbClr val="B8C9CD"/>
            </a:solidFill>
            <a:prstDash val="solid"/>
          </a:ln>
        </p:spPr>
      </p:sp>
      <p:sp>
        <p:nvSpPr>
          <p:cNvPr id="24" name="metodo-Personaje">
            <a:extLst xmlns:a="http://schemas.openxmlformats.org/drawingml/2006/main">
              <a:ext uri="{FF2B5EF4-FFF2-40B4-BE49-F238E27FC236}">
                <a16:creationId xmlns:a16="http://schemas.microsoft.com/office/drawing/2014/main" id="{4EDD9F79-C467-453E-9786-BED79E0B436F}"/>
              </a:ext>
            </a:extLst>
          </p:cNvPr>
          <p:cNvSpPr>
            <a:spLocks xmlns:a="http://schemas.openxmlformats.org/drawingml/2006/main" noGrp="1"/>
          </p:cNvSpPr>
          <p:nvPr/>
        </p:nvSpPr>
        <p:spPr>
          <a:xfrm xmlns:a="http://schemas.openxmlformats.org/drawingml/2006/main">
            <a:off x="5067300" y="4619625"/>
            <a:ext cx="205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16735D"/>
                </a:solidFill>
                <a:latin typeface="DejaVu Sans Mono"/>
                <a:ea typeface="DejaVu Sans Mono"/>
                <a:cs typeface="DejaVu Sans Mono"/>
              </a:defRPr>
            </a:defPPr>
          </a:lstStyle>
          <a:p xmlns:a="http://schemas.openxmlformats.org/drawingml/2006/main">
            <a:pPr>
              <a:defRPr sz="1350" b="0">
                <a:solidFill>
                  <a:srgbClr val="16735D"/>
                </a:solidFill>
                <a:latin typeface="DejaVu Sans Mono"/>
                <a:ea typeface="DejaVu Sans Mono"/>
                <a:cs typeface="DejaVu Sans Mono"/>
              </a:defRPr>
            </a:pPr>
            <a:r>
              <a:rPr sz="1350" b="0">
                <a:solidFill>
                  <a:srgbClr val="16735D"/>
                </a:solidFill>
                <a:latin typeface="DejaVu Sans Mono"/>
                <a:ea typeface="DejaVu Sans Mono"/>
                <a:cs typeface="DejaVu Sans Mono"/>
              </a:rPr>
              <a:t>+update()</a:t>
            </a:r>
          </a:p>
        </p:txBody>
      </p:sp>
      <p:sp>
        <p:nvSpPr>
          <p:cNvPr id="25" name="">
            <a:extLst xmlns:a="http://schemas.openxmlformats.org/drawingml/2006/main">
              <a:ext uri="{FF2B5EF4-FFF2-40B4-BE49-F238E27FC236}">
                <a16:creationId xmlns:a16="http://schemas.microsoft.com/office/drawing/2014/main" id="{665BAB08-9E78-4C0C-9229-4B760946F6E3}"/>
              </a:ext>
            </a:extLst>
          </p:cNvPr>
          <p:cNvSpPr>
            <a:spLocks xmlns:a="http://schemas.openxmlformats.org/drawingml/2006/main" noGrp="1"/>
          </p:cNvSpPr>
          <p:nvPr/>
        </p:nvSpPr>
        <p:spPr>
          <a:xfrm xmlns:a="http://schemas.openxmlformats.org/drawingml/2006/main" rot="0">
            <a:off x="9239250" y="4048125"/>
            <a:ext cx="2286000" cy="914400"/>
          </a:xfrm>
          <a:prstGeom xmlns:a="http://schemas.openxmlformats.org/drawingml/2006/main" prst="rect">
            <a:avLst/>
          </a:prstGeom>
          <a:solidFill xmlns:a="http://schemas.openxmlformats.org/drawingml/2006/main">
            <a:srgbClr val="FFFFFF"/>
          </a:solidFill>
          <a:ln xmlns:a="http://schemas.openxmlformats.org/drawingml/2006/main" w="15240">
            <a:solidFill>
              <a:srgbClr val="B8C9CD"/>
            </a:solidFill>
          </a:ln>
        </p:spPr>
      </p:sp>
      <p:sp>
        <p:nvSpPr>
          <p:cNvPr id="26" name="clase-Mapa">
            <a:extLst xmlns:a="http://schemas.openxmlformats.org/drawingml/2006/main">
              <a:ext uri="{FF2B5EF4-FFF2-40B4-BE49-F238E27FC236}">
                <a16:creationId xmlns:a16="http://schemas.microsoft.com/office/drawing/2014/main" id="{C8A00208-F8C8-4229-90DA-8F3B13066CE5}"/>
              </a:ext>
            </a:extLst>
          </p:cNvPr>
          <p:cNvSpPr>
            <a:spLocks xmlns:a="http://schemas.openxmlformats.org/drawingml/2006/main" noGrp="1"/>
          </p:cNvSpPr>
          <p:nvPr/>
        </p:nvSpPr>
        <p:spPr>
          <a:xfrm xmlns:a="http://schemas.openxmlformats.org/drawingml/2006/main">
            <a:off x="9353550" y="4143375"/>
            <a:ext cx="2057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1">
                <a:solidFill>
                  <a:srgbClr val="172F3C"/>
                </a:solidFill>
                <a:latin typeface="DejaVu Sans"/>
                <a:ea typeface="DejaVu Sans"/>
                <a:cs typeface="DejaVu Sans"/>
              </a:defRPr>
            </a:defPPr>
          </a:lstStyle>
          <a:p xmlns:a="http://schemas.openxmlformats.org/drawingml/2006/main">
            <a:pPr>
              <a:defRPr sz="1725" b="1">
                <a:solidFill>
                  <a:srgbClr val="172F3C"/>
                </a:solidFill>
                <a:latin typeface="DejaVu Sans"/>
                <a:ea typeface="DejaVu Sans"/>
                <a:cs typeface="DejaVu Sans"/>
              </a:defRPr>
            </a:pPr>
            <a:r>
              <a:rPr sz="1725" b="1">
                <a:solidFill>
                  <a:srgbClr val="172F3C"/>
                </a:solidFill>
                <a:latin typeface="DejaVu Sans"/>
                <a:ea typeface="DejaVu Sans"/>
                <a:cs typeface="DejaVu Sans"/>
              </a:rPr>
              <a:t>Mapa</a:t>
            </a:r>
          </a:p>
        </p:txBody>
      </p:sp>
      <p:sp>
        <p:nvSpPr>
          <p:cNvPr id="27" name="">
            <a:extLst xmlns:a="http://schemas.openxmlformats.org/drawingml/2006/main">
              <a:ext uri="{FF2B5EF4-FFF2-40B4-BE49-F238E27FC236}">
                <a16:creationId xmlns:a16="http://schemas.microsoft.com/office/drawing/2014/main" id="{01216AA2-036F-42BC-9585-CB69DEF26561}"/>
              </a:ext>
            </a:extLst>
          </p:cNvPr>
          <p:cNvSpPr>
            <a:spLocks xmlns:a="http://schemas.openxmlformats.org/drawingml/2006/main" noGrp="1"/>
          </p:cNvSpPr>
          <p:nvPr/>
        </p:nvSpPr>
        <p:spPr>
          <a:xfrm xmlns:a="http://schemas.openxmlformats.org/drawingml/2006/main">
            <a:off x="9239250" y="4505325"/>
            <a:ext cx="2286000" cy="0"/>
          </a:xfrm>
          <a:prstGeom xmlns:a="http://schemas.openxmlformats.org/drawingml/2006/main" prst="line">
            <a:avLst/>
          </a:prstGeom>
          <a:noFill xmlns:a="http://schemas.openxmlformats.org/drawingml/2006/main"/>
          <a:ln xmlns:a="http://schemas.openxmlformats.org/drawingml/2006/main" w="14288">
            <a:solidFill>
              <a:srgbClr val="B8C9CD"/>
            </a:solidFill>
            <a:prstDash val="solid"/>
          </a:ln>
        </p:spPr>
      </p:sp>
      <p:sp>
        <p:nvSpPr>
          <p:cNvPr id="28" name="metodo-Mapa">
            <a:extLst xmlns:a="http://schemas.openxmlformats.org/drawingml/2006/main">
              <a:ext uri="{FF2B5EF4-FFF2-40B4-BE49-F238E27FC236}">
                <a16:creationId xmlns:a16="http://schemas.microsoft.com/office/drawing/2014/main" id="{2372A267-7807-4074-9908-982403DEA02B}"/>
              </a:ext>
            </a:extLst>
          </p:cNvPr>
          <p:cNvSpPr>
            <a:spLocks xmlns:a="http://schemas.openxmlformats.org/drawingml/2006/main" noGrp="1"/>
          </p:cNvSpPr>
          <p:nvPr/>
        </p:nvSpPr>
        <p:spPr>
          <a:xfrm xmlns:a="http://schemas.openxmlformats.org/drawingml/2006/main">
            <a:off x="9353550" y="4619625"/>
            <a:ext cx="205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16735D"/>
                </a:solidFill>
                <a:latin typeface="DejaVu Sans Mono"/>
                <a:ea typeface="DejaVu Sans Mono"/>
                <a:cs typeface="DejaVu Sans Mono"/>
              </a:defRPr>
            </a:defPPr>
          </a:lstStyle>
          <a:p xmlns:a="http://schemas.openxmlformats.org/drawingml/2006/main">
            <a:pPr>
              <a:defRPr sz="1350" b="0">
                <a:solidFill>
                  <a:srgbClr val="16735D"/>
                </a:solidFill>
                <a:latin typeface="DejaVu Sans Mono"/>
                <a:ea typeface="DejaVu Sans Mono"/>
                <a:cs typeface="DejaVu Sans Mono"/>
              </a:defRPr>
            </a:pPr>
            <a:r>
              <a:rPr sz="1350" b="0">
                <a:solidFill>
                  <a:srgbClr val="16735D"/>
                </a:solidFill>
                <a:latin typeface="DejaVu Sans Mono"/>
                <a:ea typeface="DejaVu Sans Mono"/>
                <a:cs typeface="DejaVu Sans Mono"/>
              </a:rPr>
              <a:t>+desplazar(...)</a:t>
            </a:r>
          </a:p>
        </p:txBody>
      </p:sp>
      <p:sp>
        <p:nvSpPr>
          <p:cNvPr id="29" name="">
            <a:extLst xmlns:a="http://schemas.openxmlformats.org/drawingml/2006/main">
              <a:ext uri="{FF2B5EF4-FFF2-40B4-BE49-F238E27FC236}">
                <a16:creationId xmlns:a16="http://schemas.microsoft.com/office/drawing/2014/main" id="{F7ABA7A8-F9F8-4704-A63B-DC7E0CDF1064}"/>
              </a:ext>
            </a:extLst>
          </p:cNvPr>
          <p:cNvSpPr>
            <a:spLocks xmlns:a="http://schemas.openxmlformats.org/drawingml/2006/main" noGrp="1"/>
          </p:cNvSpPr>
          <p:nvPr/>
        </p:nvSpPr>
        <p:spPr>
          <a:xfrm xmlns:a="http://schemas.openxmlformats.org/drawingml/2006/main" rot="0">
            <a:off x="3714750" y="5581650"/>
            <a:ext cx="2286000" cy="914400"/>
          </a:xfrm>
          <a:prstGeom xmlns:a="http://schemas.openxmlformats.org/drawingml/2006/main" prst="rect">
            <a:avLst/>
          </a:prstGeom>
          <a:solidFill xmlns:a="http://schemas.openxmlformats.org/drawingml/2006/main">
            <a:srgbClr val="FFFFFF"/>
          </a:solidFill>
          <a:ln xmlns:a="http://schemas.openxmlformats.org/drawingml/2006/main" w="15240">
            <a:solidFill>
              <a:srgbClr val="B8C9CD"/>
            </a:solidFill>
          </a:ln>
        </p:spPr>
      </p:sp>
      <p:sp>
        <p:nvSpPr>
          <p:cNvPr id="30" name="clase-Prisionero">
            <a:extLst xmlns:a="http://schemas.openxmlformats.org/drawingml/2006/main">
              <a:ext uri="{FF2B5EF4-FFF2-40B4-BE49-F238E27FC236}">
                <a16:creationId xmlns:a16="http://schemas.microsoft.com/office/drawing/2014/main" id="{368E3F6B-9BB9-4E05-AF09-6DA0B717D215}"/>
              </a:ext>
            </a:extLst>
          </p:cNvPr>
          <p:cNvSpPr>
            <a:spLocks xmlns:a="http://schemas.openxmlformats.org/drawingml/2006/main" noGrp="1"/>
          </p:cNvSpPr>
          <p:nvPr/>
        </p:nvSpPr>
        <p:spPr>
          <a:xfrm xmlns:a="http://schemas.openxmlformats.org/drawingml/2006/main">
            <a:off x="3829050" y="5676900"/>
            <a:ext cx="2057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1">
                <a:solidFill>
                  <a:srgbClr val="172F3C"/>
                </a:solidFill>
                <a:latin typeface="DejaVu Sans"/>
                <a:ea typeface="DejaVu Sans"/>
                <a:cs typeface="DejaVu Sans"/>
              </a:defRPr>
            </a:defPPr>
          </a:lstStyle>
          <a:p xmlns:a="http://schemas.openxmlformats.org/drawingml/2006/main">
            <a:pPr>
              <a:defRPr sz="1725" b="1">
                <a:solidFill>
                  <a:srgbClr val="172F3C"/>
                </a:solidFill>
                <a:latin typeface="DejaVu Sans"/>
                <a:ea typeface="DejaVu Sans"/>
                <a:cs typeface="DejaVu Sans"/>
              </a:defRPr>
            </a:pPr>
            <a:r>
              <a:rPr sz="1725" b="1">
                <a:solidFill>
                  <a:srgbClr val="172F3C"/>
                </a:solidFill>
                <a:latin typeface="DejaVu Sans"/>
                <a:ea typeface="DejaVu Sans"/>
                <a:cs typeface="DejaVu Sans"/>
              </a:rPr>
              <a:t>Prisionero</a:t>
            </a:r>
          </a:p>
        </p:txBody>
      </p:sp>
      <p:sp>
        <p:nvSpPr>
          <p:cNvPr id="31" name="">
            <a:extLst xmlns:a="http://schemas.openxmlformats.org/drawingml/2006/main">
              <a:ext uri="{FF2B5EF4-FFF2-40B4-BE49-F238E27FC236}">
                <a16:creationId xmlns:a16="http://schemas.microsoft.com/office/drawing/2014/main" id="{3F63B1E8-CC35-46C5-8425-7425B707E6C4}"/>
              </a:ext>
            </a:extLst>
          </p:cNvPr>
          <p:cNvSpPr>
            <a:spLocks xmlns:a="http://schemas.openxmlformats.org/drawingml/2006/main" noGrp="1"/>
          </p:cNvSpPr>
          <p:nvPr/>
        </p:nvSpPr>
        <p:spPr>
          <a:xfrm xmlns:a="http://schemas.openxmlformats.org/drawingml/2006/main">
            <a:off x="3714750" y="6038850"/>
            <a:ext cx="2286000" cy="0"/>
          </a:xfrm>
          <a:prstGeom xmlns:a="http://schemas.openxmlformats.org/drawingml/2006/main" prst="line">
            <a:avLst/>
          </a:prstGeom>
          <a:noFill xmlns:a="http://schemas.openxmlformats.org/drawingml/2006/main"/>
          <a:ln xmlns:a="http://schemas.openxmlformats.org/drawingml/2006/main" w="14288">
            <a:solidFill>
              <a:srgbClr val="B8C9CD"/>
            </a:solidFill>
            <a:prstDash val="solid"/>
          </a:ln>
        </p:spPr>
      </p:sp>
      <p:sp>
        <p:nvSpPr>
          <p:cNvPr id="32" name="metodo-Prisionero">
            <a:extLst xmlns:a="http://schemas.openxmlformats.org/drawingml/2006/main">
              <a:ext uri="{FF2B5EF4-FFF2-40B4-BE49-F238E27FC236}">
                <a16:creationId xmlns:a16="http://schemas.microsoft.com/office/drawing/2014/main" id="{7B5371BD-D225-483F-A3E3-A9F8D15EE5FB}"/>
              </a:ext>
            </a:extLst>
          </p:cNvPr>
          <p:cNvSpPr>
            <a:spLocks xmlns:a="http://schemas.openxmlformats.org/drawingml/2006/main" noGrp="1"/>
          </p:cNvSpPr>
          <p:nvPr/>
        </p:nvSpPr>
        <p:spPr>
          <a:xfrm xmlns:a="http://schemas.openxmlformats.org/drawingml/2006/main">
            <a:off x="3829050" y="6153150"/>
            <a:ext cx="205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16735D"/>
                </a:solidFill>
                <a:latin typeface="DejaVu Sans Mono"/>
                <a:ea typeface="DejaVu Sans Mono"/>
                <a:cs typeface="DejaVu Sans Mono"/>
              </a:defRPr>
            </a:defPPr>
          </a:lstStyle>
          <a:p xmlns:a="http://schemas.openxmlformats.org/drawingml/2006/main">
            <a:pPr>
              <a:defRPr sz="1350" b="0">
                <a:solidFill>
                  <a:srgbClr val="16735D"/>
                </a:solidFill>
                <a:latin typeface="DejaVu Sans Mono"/>
                <a:ea typeface="DejaVu Sans Mono"/>
                <a:cs typeface="DejaVu Sans Mono"/>
              </a:defRPr>
            </a:pPr>
            <a:r>
              <a:rPr sz="1350" b="0">
                <a:solidFill>
                  <a:srgbClr val="16735D"/>
                </a:solidFill>
                <a:latin typeface="DejaVu Sans Mono"/>
                <a:ea typeface="DejaVu Sans Mono"/>
                <a:cs typeface="DejaVu Sans Mono"/>
              </a:rPr>
              <a:t>+update()</a:t>
            </a:r>
          </a:p>
        </p:txBody>
      </p:sp>
      <p:sp>
        <p:nvSpPr>
          <p:cNvPr id="33" name="">
            <a:extLst xmlns:a="http://schemas.openxmlformats.org/drawingml/2006/main">
              <a:ext uri="{FF2B5EF4-FFF2-40B4-BE49-F238E27FC236}">
                <a16:creationId xmlns:a16="http://schemas.microsoft.com/office/drawing/2014/main" id="{F8E87157-E978-4F82-A9A1-900CD3E6B428}"/>
              </a:ext>
            </a:extLst>
          </p:cNvPr>
          <p:cNvSpPr>
            <a:spLocks xmlns:a="http://schemas.openxmlformats.org/drawingml/2006/main" noGrp="1"/>
          </p:cNvSpPr>
          <p:nvPr/>
        </p:nvSpPr>
        <p:spPr>
          <a:xfrm xmlns:a="http://schemas.openxmlformats.org/drawingml/2006/main" rot="0">
            <a:off x="6762750" y="5581650"/>
            <a:ext cx="2286000" cy="914400"/>
          </a:xfrm>
          <a:prstGeom xmlns:a="http://schemas.openxmlformats.org/drawingml/2006/main" prst="rect">
            <a:avLst/>
          </a:prstGeom>
          <a:solidFill xmlns:a="http://schemas.openxmlformats.org/drawingml/2006/main">
            <a:srgbClr val="FFFFFF"/>
          </a:solidFill>
          <a:ln xmlns:a="http://schemas.openxmlformats.org/drawingml/2006/main" w="15240">
            <a:solidFill>
              <a:srgbClr val="B8C9CD"/>
            </a:solidFill>
          </a:ln>
        </p:spPr>
      </p:sp>
      <p:sp>
        <p:nvSpPr>
          <p:cNvPr id="34" name="clase-Guardia">
            <a:extLst xmlns:a="http://schemas.openxmlformats.org/drawingml/2006/main">
              <a:ext uri="{FF2B5EF4-FFF2-40B4-BE49-F238E27FC236}">
                <a16:creationId xmlns:a16="http://schemas.microsoft.com/office/drawing/2014/main" id="{C32D49ED-B2A7-470B-B06E-A175138D55AF}"/>
              </a:ext>
            </a:extLst>
          </p:cNvPr>
          <p:cNvSpPr>
            <a:spLocks xmlns:a="http://schemas.openxmlformats.org/drawingml/2006/main" noGrp="1"/>
          </p:cNvSpPr>
          <p:nvPr/>
        </p:nvSpPr>
        <p:spPr>
          <a:xfrm xmlns:a="http://schemas.openxmlformats.org/drawingml/2006/main">
            <a:off x="6877050" y="5676900"/>
            <a:ext cx="2057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1">
                <a:solidFill>
                  <a:srgbClr val="172F3C"/>
                </a:solidFill>
                <a:latin typeface="DejaVu Sans"/>
                <a:ea typeface="DejaVu Sans"/>
                <a:cs typeface="DejaVu Sans"/>
              </a:defRPr>
            </a:defPPr>
          </a:lstStyle>
          <a:p xmlns:a="http://schemas.openxmlformats.org/drawingml/2006/main">
            <a:pPr>
              <a:defRPr sz="1725" b="1">
                <a:solidFill>
                  <a:srgbClr val="172F3C"/>
                </a:solidFill>
                <a:latin typeface="DejaVu Sans"/>
                <a:ea typeface="DejaVu Sans"/>
                <a:cs typeface="DejaVu Sans"/>
              </a:defRPr>
            </a:pPr>
            <a:r>
              <a:rPr sz="1725" b="1">
                <a:solidFill>
                  <a:srgbClr val="172F3C"/>
                </a:solidFill>
                <a:latin typeface="DejaVu Sans"/>
                <a:ea typeface="DejaVu Sans"/>
                <a:cs typeface="DejaVu Sans"/>
              </a:rPr>
              <a:t>Guardia</a:t>
            </a:r>
          </a:p>
        </p:txBody>
      </p:sp>
      <p:sp>
        <p:nvSpPr>
          <p:cNvPr id="35" name="">
            <a:extLst xmlns:a="http://schemas.openxmlformats.org/drawingml/2006/main">
              <a:ext uri="{FF2B5EF4-FFF2-40B4-BE49-F238E27FC236}">
                <a16:creationId xmlns:a16="http://schemas.microsoft.com/office/drawing/2014/main" id="{62CD83C6-32CD-46B6-9DC0-2ED0233F5D63}"/>
              </a:ext>
            </a:extLst>
          </p:cNvPr>
          <p:cNvSpPr>
            <a:spLocks xmlns:a="http://schemas.openxmlformats.org/drawingml/2006/main" noGrp="1"/>
          </p:cNvSpPr>
          <p:nvPr/>
        </p:nvSpPr>
        <p:spPr>
          <a:xfrm xmlns:a="http://schemas.openxmlformats.org/drawingml/2006/main">
            <a:off x="6762750" y="6038850"/>
            <a:ext cx="2286000" cy="0"/>
          </a:xfrm>
          <a:prstGeom xmlns:a="http://schemas.openxmlformats.org/drawingml/2006/main" prst="line">
            <a:avLst/>
          </a:prstGeom>
          <a:noFill xmlns:a="http://schemas.openxmlformats.org/drawingml/2006/main"/>
          <a:ln xmlns:a="http://schemas.openxmlformats.org/drawingml/2006/main" w="14288">
            <a:solidFill>
              <a:srgbClr val="B8C9CD"/>
            </a:solidFill>
            <a:prstDash val="solid"/>
          </a:ln>
        </p:spPr>
      </p:sp>
      <p:sp>
        <p:nvSpPr>
          <p:cNvPr id="36" name="metodo-Guardia">
            <a:extLst xmlns:a="http://schemas.openxmlformats.org/drawingml/2006/main">
              <a:ext uri="{FF2B5EF4-FFF2-40B4-BE49-F238E27FC236}">
                <a16:creationId xmlns:a16="http://schemas.microsoft.com/office/drawing/2014/main" id="{72AFAE23-44AE-46D5-81AD-E63845A955F4}"/>
              </a:ext>
            </a:extLst>
          </p:cNvPr>
          <p:cNvSpPr>
            <a:spLocks xmlns:a="http://schemas.openxmlformats.org/drawingml/2006/main" noGrp="1"/>
          </p:cNvSpPr>
          <p:nvPr/>
        </p:nvSpPr>
        <p:spPr>
          <a:xfrm xmlns:a="http://schemas.openxmlformats.org/drawingml/2006/main">
            <a:off x="6877050" y="6153150"/>
            <a:ext cx="205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16735D"/>
                </a:solidFill>
                <a:latin typeface="DejaVu Sans Mono"/>
                <a:ea typeface="DejaVu Sans Mono"/>
                <a:cs typeface="DejaVu Sans Mono"/>
              </a:defRPr>
            </a:defPPr>
          </a:lstStyle>
          <a:p xmlns:a="http://schemas.openxmlformats.org/drawingml/2006/main">
            <a:pPr>
              <a:defRPr sz="1350" b="0">
                <a:solidFill>
                  <a:srgbClr val="16735D"/>
                </a:solidFill>
                <a:latin typeface="DejaVu Sans Mono"/>
                <a:ea typeface="DejaVu Sans Mono"/>
                <a:cs typeface="DejaVu Sans Mono"/>
              </a:defRPr>
            </a:pPr>
            <a:r>
              <a:rPr sz="1350" b="0">
                <a:solidFill>
                  <a:srgbClr val="16735D"/>
                </a:solidFill>
                <a:latin typeface="DejaVu Sans Mono"/>
                <a:ea typeface="DejaVu Sans Mono"/>
                <a:cs typeface="DejaVu Sans Mono"/>
              </a:rPr>
              <a:t>+update()</a:t>
            </a:r>
          </a:p>
        </p:txBody>
      </p:sp>
      <p:sp>
        <p:nvSpPr>
          <p:cNvPr id="37" name="">
            <a:extLst xmlns:a="http://schemas.openxmlformats.org/drawingml/2006/main">
              <a:ext uri="{FF2B5EF4-FFF2-40B4-BE49-F238E27FC236}">
                <a16:creationId xmlns:a16="http://schemas.microsoft.com/office/drawing/2014/main" id="{F50FBAAE-12D1-4338-8C0D-9D0E5487DD42}"/>
              </a:ext>
            </a:extLst>
          </p:cNvPr>
          <p:cNvSpPr>
            <a:spLocks xmlns:a="http://schemas.openxmlformats.org/drawingml/2006/main" noGrp="1"/>
          </p:cNvSpPr>
          <p:nvPr/>
        </p:nvSpPr>
        <p:spPr>
          <a:xfrm xmlns:a="http://schemas.openxmlformats.org/drawingml/2006/main">
            <a:off x="2952750" y="2762250"/>
            <a:ext cx="2000250" cy="0"/>
          </a:xfrm>
          <a:prstGeom xmlns:a="http://schemas.openxmlformats.org/drawingml/2006/main" prst="line">
            <a:avLst/>
          </a:prstGeom>
          <a:noFill xmlns:a="http://schemas.openxmlformats.org/drawingml/2006/main"/>
          <a:ln xmlns:a="http://schemas.openxmlformats.org/drawingml/2006/main" w="14288">
            <a:solidFill>
              <a:srgbClr val="16735D"/>
            </a:solidFill>
            <a:prstDash val="solid"/>
          </a:ln>
        </p:spPr>
      </p:sp>
      <p:sp>
        <p:nvSpPr>
          <p:cNvPr id="38" name="">
            <a:extLst xmlns:a="http://schemas.openxmlformats.org/drawingml/2006/main">
              <a:ext uri="{FF2B5EF4-FFF2-40B4-BE49-F238E27FC236}">
                <a16:creationId xmlns:a16="http://schemas.microsoft.com/office/drawing/2014/main" id="{65766964-A1EB-489A-9A32-ED2742E131B8}"/>
              </a:ext>
            </a:extLst>
          </p:cNvPr>
          <p:cNvSpPr>
            <a:spLocks xmlns:a="http://schemas.openxmlformats.org/drawingml/2006/main" noGrp="1"/>
          </p:cNvSpPr>
          <p:nvPr/>
        </p:nvSpPr>
        <p:spPr>
          <a:xfrm xmlns:a="http://schemas.openxmlformats.org/drawingml/2006/main" rot="0">
            <a:off x="3009900" y="2695575"/>
            <a:ext cx="133350" cy="133350"/>
          </a:xfrm>
          <a:prstGeom xmlns:a="http://schemas.openxmlformats.org/drawingml/2006/main" prst="diamond">
            <a:avLst/>
          </a:prstGeom>
          <a:solidFill xmlns:a="http://schemas.openxmlformats.org/drawingml/2006/main">
            <a:srgbClr val="16735D"/>
          </a:solidFill>
          <a:ln xmlns:a="http://schemas.openxmlformats.org/drawingml/2006/main" w="15240">
            <a:solidFill>
              <a:srgbClr val="16735D"/>
            </a:solidFill>
          </a:ln>
        </p:spPr>
      </p:sp>
      <p:sp>
        <p:nvSpPr>
          <p:cNvPr id="39" name="texto">
            <a:extLst xmlns:a="http://schemas.openxmlformats.org/drawingml/2006/main">
              <a:ext uri="{FF2B5EF4-FFF2-40B4-BE49-F238E27FC236}">
                <a16:creationId xmlns:a16="http://schemas.microsoft.com/office/drawing/2014/main" id="{9B1BEED0-1371-4AEC-8AC5-CB918A519F62}"/>
              </a:ext>
            </a:extLst>
          </p:cNvPr>
          <p:cNvSpPr>
            <a:spLocks xmlns:a="http://schemas.openxmlformats.org/drawingml/2006/main" noGrp="1"/>
          </p:cNvSpPr>
          <p:nvPr/>
        </p:nvSpPr>
        <p:spPr>
          <a:xfrm xmlns:a="http://schemas.openxmlformats.org/drawingml/2006/main">
            <a:off x="3457575" y="2428875"/>
            <a:ext cx="1304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526773"/>
                </a:solidFill>
                <a:latin typeface="DejaVu Sans"/>
                <a:ea typeface="DejaVu Sans"/>
                <a:cs typeface="DejaVu Sans"/>
              </a:defRPr>
            </a:defPPr>
          </a:lstStyle>
          <a:p xmlns:a="http://schemas.openxmlformats.org/drawingml/2006/main">
            <a:pPr>
              <a:defRPr sz="1350" b="0">
                <a:solidFill>
                  <a:srgbClr val="526773"/>
                </a:solidFill>
                <a:latin typeface="DejaVu Sans"/>
                <a:ea typeface="DejaVu Sans"/>
                <a:cs typeface="DejaVu Sans"/>
              </a:defRPr>
            </a:pPr>
            <a:r>
              <a:rPr sz="1350" b="0">
                <a:solidFill>
                  <a:srgbClr val="526773"/>
                </a:solidFill>
                <a:latin typeface="DejaVu Sans"/>
                <a:ea typeface="DejaVu Sans"/>
                <a:cs typeface="DejaVu Sans"/>
              </a:rPr>
              <a:t>crea</a:t>
            </a:r>
          </a:p>
        </p:txBody>
      </p:sp>
      <p:sp>
        <p:nvSpPr>
          <p:cNvPr id="40" name="">
            <a:extLst xmlns:a="http://schemas.openxmlformats.org/drawingml/2006/main">
              <a:ext uri="{FF2B5EF4-FFF2-40B4-BE49-F238E27FC236}">
                <a16:creationId xmlns:a16="http://schemas.microsoft.com/office/drawing/2014/main" id="{49435CF0-65C6-4DE9-A695-70F7277B6488}"/>
              </a:ext>
            </a:extLst>
          </p:cNvPr>
          <p:cNvSpPr>
            <a:spLocks xmlns:a="http://schemas.openxmlformats.org/drawingml/2006/main" noGrp="1"/>
          </p:cNvSpPr>
          <p:nvPr/>
        </p:nvSpPr>
        <p:spPr>
          <a:xfrm xmlns:a="http://schemas.openxmlformats.org/drawingml/2006/main">
            <a:off x="6096000" y="3219450"/>
            <a:ext cx="0" cy="828675"/>
          </a:xfrm>
          <a:prstGeom xmlns:a="http://schemas.openxmlformats.org/drawingml/2006/main" prst="line">
            <a:avLst/>
          </a:prstGeom>
          <a:noFill xmlns:a="http://schemas.openxmlformats.org/drawingml/2006/main"/>
          <a:ln xmlns:a="http://schemas.openxmlformats.org/drawingml/2006/main" w="14288">
            <a:solidFill>
              <a:srgbClr val="16735D"/>
            </a:solidFill>
            <a:prstDash val="solid"/>
          </a:ln>
        </p:spPr>
      </p:sp>
      <p:sp>
        <p:nvSpPr>
          <p:cNvPr id="41" name="">
            <a:extLst xmlns:a="http://schemas.openxmlformats.org/drawingml/2006/main">
              <a:ext uri="{FF2B5EF4-FFF2-40B4-BE49-F238E27FC236}">
                <a16:creationId xmlns:a16="http://schemas.microsoft.com/office/drawing/2014/main" id="{F31BD0B5-637B-496F-BE40-D60135CADD4F}"/>
              </a:ext>
            </a:extLst>
          </p:cNvPr>
          <p:cNvSpPr>
            <a:spLocks xmlns:a="http://schemas.openxmlformats.org/drawingml/2006/main" noGrp="1"/>
          </p:cNvSpPr>
          <p:nvPr/>
        </p:nvSpPr>
        <p:spPr>
          <a:xfrm xmlns:a="http://schemas.openxmlformats.org/drawingml/2006/main" rot="0">
            <a:off x="6029325" y="3276600"/>
            <a:ext cx="133350" cy="133350"/>
          </a:xfrm>
          <a:prstGeom xmlns:a="http://schemas.openxmlformats.org/drawingml/2006/main" prst="diamond">
            <a:avLst/>
          </a:prstGeom>
          <a:solidFill xmlns:a="http://schemas.openxmlformats.org/drawingml/2006/main">
            <a:srgbClr val="16735D"/>
          </a:solidFill>
          <a:ln xmlns:a="http://schemas.openxmlformats.org/drawingml/2006/main" w="15240">
            <a:solidFill>
              <a:srgbClr val="16735D"/>
            </a:solidFill>
          </a:ln>
        </p:spPr>
      </p:sp>
      <p:sp>
        <p:nvSpPr>
          <p:cNvPr id="42" name="texto">
            <a:extLst xmlns:a="http://schemas.openxmlformats.org/drawingml/2006/main">
              <a:ext uri="{FF2B5EF4-FFF2-40B4-BE49-F238E27FC236}">
                <a16:creationId xmlns:a16="http://schemas.microsoft.com/office/drawing/2014/main" id="{4B968F32-9BF1-4B8D-9201-8CD85E2CE75D}"/>
              </a:ext>
            </a:extLst>
          </p:cNvPr>
          <p:cNvSpPr>
            <a:spLocks xmlns:a="http://schemas.openxmlformats.org/drawingml/2006/main" noGrp="1"/>
          </p:cNvSpPr>
          <p:nvPr/>
        </p:nvSpPr>
        <p:spPr>
          <a:xfrm xmlns:a="http://schemas.openxmlformats.org/drawingml/2006/main">
            <a:off x="6296025" y="3514725"/>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526773"/>
                </a:solidFill>
                <a:latin typeface="DejaVu Sans"/>
                <a:ea typeface="DejaVu Sans"/>
                <a:cs typeface="DejaVu Sans"/>
              </a:defRPr>
            </a:defPPr>
          </a:lstStyle>
          <a:p xmlns:a="http://schemas.openxmlformats.org/drawingml/2006/main">
            <a:pPr>
              <a:defRPr sz="1275" b="0">
                <a:solidFill>
                  <a:srgbClr val="526773"/>
                </a:solidFill>
                <a:latin typeface="DejaVu Sans"/>
                <a:ea typeface="DejaVu Sans"/>
                <a:cs typeface="DejaVu Sans"/>
              </a:defRPr>
            </a:pPr>
            <a:r>
              <a:rPr sz="1275" b="0">
                <a:solidFill>
                  <a:srgbClr val="526773"/>
                </a:solidFill>
                <a:latin typeface="DejaVu Sans"/>
                <a:ea typeface="DejaVu Sans"/>
                <a:cs typeface="DejaVu Sans"/>
              </a:rPr>
              <a:t>personajes</a:t>
            </a:r>
          </a:p>
        </p:txBody>
      </p:sp>
      <p:sp>
        <p:nvSpPr>
          <p:cNvPr id="43" name="">
            <a:extLst xmlns:a="http://schemas.openxmlformats.org/drawingml/2006/main">
              <a:ext uri="{FF2B5EF4-FFF2-40B4-BE49-F238E27FC236}">
                <a16:creationId xmlns:a16="http://schemas.microsoft.com/office/drawing/2014/main" id="{953A60CA-731D-45B0-8099-E445576A3807}"/>
              </a:ext>
            </a:extLst>
          </p:cNvPr>
          <p:cNvSpPr>
            <a:spLocks xmlns:a="http://schemas.openxmlformats.org/drawingml/2006/main" noGrp="1"/>
          </p:cNvSpPr>
          <p:nvPr/>
        </p:nvSpPr>
        <p:spPr>
          <a:xfrm xmlns:a="http://schemas.openxmlformats.org/drawingml/2006/main">
            <a:off x="5334000" y="3219450"/>
            <a:ext cx="0" cy="400050"/>
          </a:xfrm>
          <a:prstGeom xmlns:a="http://schemas.openxmlformats.org/drawingml/2006/main" prst="line">
            <a:avLst/>
          </a:prstGeom>
          <a:noFill xmlns:a="http://schemas.openxmlformats.org/drawingml/2006/main"/>
          <a:ln xmlns:a="http://schemas.openxmlformats.org/drawingml/2006/main" w="14288">
            <a:solidFill>
              <a:srgbClr val="16735D"/>
            </a:solidFill>
            <a:prstDash val="solid"/>
          </a:ln>
        </p:spPr>
      </p:sp>
      <p:sp>
        <p:nvSpPr>
          <p:cNvPr id="44" name="">
            <a:extLst xmlns:a="http://schemas.openxmlformats.org/drawingml/2006/main">
              <a:ext uri="{FF2B5EF4-FFF2-40B4-BE49-F238E27FC236}">
                <a16:creationId xmlns:a16="http://schemas.microsoft.com/office/drawing/2014/main" id="{8DAA865B-6C29-440F-907D-05DED9AEBF62}"/>
              </a:ext>
            </a:extLst>
          </p:cNvPr>
          <p:cNvSpPr>
            <a:spLocks xmlns:a="http://schemas.openxmlformats.org/drawingml/2006/main" noGrp="1"/>
          </p:cNvSpPr>
          <p:nvPr/>
        </p:nvSpPr>
        <p:spPr>
          <a:xfrm xmlns:a="http://schemas.openxmlformats.org/drawingml/2006/main">
            <a:off x="3895725" y="3619500"/>
            <a:ext cx="1438275" cy="0"/>
          </a:xfrm>
          <a:prstGeom xmlns:a="http://schemas.openxmlformats.org/drawingml/2006/main" prst="line">
            <a:avLst/>
          </a:prstGeom>
          <a:noFill xmlns:a="http://schemas.openxmlformats.org/drawingml/2006/main"/>
          <a:ln xmlns:a="http://schemas.openxmlformats.org/drawingml/2006/main" w="14288">
            <a:solidFill>
              <a:srgbClr val="16735D"/>
            </a:solidFill>
            <a:prstDash val="solid"/>
          </a:ln>
        </p:spPr>
      </p:sp>
      <p:sp>
        <p:nvSpPr>
          <p:cNvPr id="45" name="">
            <a:extLst xmlns:a="http://schemas.openxmlformats.org/drawingml/2006/main">
              <a:ext uri="{FF2B5EF4-FFF2-40B4-BE49-F238E27FC236}">
                <a16:creationId xmlns:a16="http://schemas.microsoft.com/office/drawing/2014/main" id="{8F8C1D71-C31F-4DAB-A450-26C9E147B137}"/>
              </a:ext>
            </a:extLst>
          </p:cNvPr>
          <p:cNvSpPr>
            <a:spLocks xmlns:a="http://schemas.openxmlformats.org/drawingml/2006/main" noGrp="1"/>
          </p:cNvSpPr>
          <p:nvPr/>
        </p:nvSpPr>
        <p:spPr>
          <a:xfrm xmlns:a="http://schemas.openxmlformats.org/drawingml/2006/main">
            <a:off x="3895725" y="3619500"/>
            <a:ext cx="0" cy="885825"/>
          </a:xfrm>
          <a:prstGeom xmlns:a="http://schemas.openxmlformats.org/drawingml/2006/main" prst="line">
            <a:avLst/>
          </a:prstGeom>
          <a:noFill xmlns:a="http://schemas.openxmlformats.org/drawingml/2006/main"/>
          <a:ln xmlns:a="http://schemas.openxmlformats.org/drawingml/2006/main" w="14288">
            <a:solidFill>
              <a:srgbClr val="16735D"/>
            </a:solidFill>
            <a:prstDash val="solid"/>
          </a:ln>
        </p:spPr>
      </p:sp>
      <p:sp>
        <p:nvSpPr>
          <p:cNvPr id="46" name="">
            <a:extLst xmlns:a="http://schemas.openxmlformats.org/drawingml/2006/main">
              <a:ext uri="{FF2B5EF4-FFF2-40B4-BE49-F238E27FC236}">
                <a16:creationId xmlns:a16="http://schemas.microsoft.com/office/drawing/2014/main" id="{577297EB-6D85-4C11-AB24-1EAF44A46D16}"/>
              </a:ext>
            </a:extLst>
          </p:cNvPr>
          <p:cNvSpPr>
            <a:spLocks xmlns:a="http://schemas.openxmlformats.org/drawingml/2006/main" noGrp="1"/>
          </p:cNvSpPr>
          <p:nvPr/>
        </p:nvSpPr>
        <p:spPr>
          <a:xfrm xmlns:a="http://schemas.openxmlformats.org/drawingml/2006/main">
            <a:off x="2952750" y="4505325"/>
            <a:ext cx="942975" cy="0"/>
          </a:xfrm>
          <a:prstGeom xmlns:a="http://schemas.openxmlformats.org/drawingml/2006/main" prst="line">
            <a:avLst/>
          </a:prstGeom>
          <a:noFill xmlns:a="http://schemas.openxmlformats.org/drawingml/2006/main"/>
          <a:ln xmlns:a="http://schemas.openxmlformats.org/drawingml/2006/main" w="14288">
            <a:solidFill>
              <a:srgbClr val="16735D"/>
            </a:solidFill>
            <a:prstDash val="solid"/>
          </a:ln>
        </p:spPr>
      </p:sp>
      <p:sp>
        <p:nvSpPr>
          <p:cNvPr id="47" name="">
            <a:extLst xmlns:a="http://schemas.openxmlformats.org/drawingml/2006/main">
              <a:ext uri="{FF2B5EF4-FFF2-40B4-BE49-F238E27FC236}">
                <a16:creationId xmlns:a16="http://schemas.microsoft.com/office/drawing/2014/main" id="{96735CC6-5E48-486C-A2B0-713A3079B33C}"/>
              </a:ext>
            </a:extLst>
          </p:cNvPr>
          <p:cNvSpPr>
            <a:spLocks xmlns:a="http://schemas.openxmlformats.org/drawingml/2006/main" noGrp="1"/>
          </p:cNvSpPr>
          <p:nvPr/>
        </p:nvSpPr>
        <p:spPr>
          <a:xfrm xmlns:a="http://schemas.openxmlformats.org/drawingml/2006/main" rot="0">
            <a:off x="5267325" y="3276600"/>
            <a:ext cx="133350" cy="133350"/>
          </a:xfrm>
          <a:prstGeom xmlns:a="http://schemas.openxmlformats.org/drawingml/2006/main" prst="diamond">
            <a:avLst/>
          </a:prstGeom>
          <a:solidFill xmlns:a="http://schemas.openxmlformats.org/drawingml/2006/main">
            <a:srgbClr val="FFFFFF"/>
          </a:solidFill>
          <a:ln xmlns:a="http://schemas.openxmlformats.org/drawingml/2006/main" w="15240">
            <a:solidFill>
              <a:srgbClr val="16735D"/>
            </a:solidFill>
          </a:ln>
        </p:spPr>
      </p:sp>
      <p:sp>
        <p:nvSpPr>
          <p:cNvPr id="48" name="texto">
            <a:extLst xmlns:a="http://schemas.openxmlformats.org/drawingml/2006/main">
              <a:ext uri="{FF2B5EF4-FFF2-40B4-BE49-F238E27FC236}">
                <a16:creationId xmlns:a16="http://schemas.microsoft.com/office/drawing/2014/main" id="{37CE38C8-B1A4-46E7-9A49-E296098C2B57}"/>
              </a:ext>
            </a:extLst>
          </p:cNvPr>
          <p:cNvSpPr>
            <a:spLocks xmlns:a="http://schemas.openxmlformats.org/drawingml/2006/main" noGrp="1"/>
          </p:cNvSpPr>
          <p:nvPr/>
        </p:nvSpPr>
        <p:spPr>
          <a:xfrm xmlns:a="http://schemas.openxmlformats.org/drawingml/2006/main">
            <a:off x="3057525" y="377190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526773"/>
                </a:solidFill>
                <a:latin typeface="DejaVu Sans"/>
                <a:ea typeface="DejaVu Sans"/>
                <a:cs typeface="DejaVu Sans"/>
              </a:defRPr>
            </a:defPPr>
          </a:lstStyle>
          <a:p xmlns:a="http://schemas.openxmlformats.org/drawingml/2006/main">
            <a:pPr>
              <a:defRPr sz="1275" b="0">
                <a:solidFill>
                  <a:srgbClr val="526773"/>
                </a:solidFill>
                <a:latin typeface="DejaVu Sans"/>
                <a:ea typeface="DejaVu Sans"/>
                <a:cs typeface="DejaVu Sans"/>
              </a:defRPr>
            </a:pPr>
            <a:r>
              <a:rPr sz="1275" b="0">
                <a:solidFill>
                  <a:srgbClr val="526773"/>
                </a:solidFill>
                <a:latin typeface="DejaVu Sans"/>
                <a:ea typeface="DejaVu Sans"/>
                <a:cs typeface="DejaVu Sans"/>
              </a:rPr>
              <a:t>comparte</a:t>
            </a:r>
          </a:p>
        </p:txBody>
      </p:sp>
      <p:sp>
        <p:nvSpPr>
          <p:cNvPr id="49" name="">
            <a:extLst xmlns:a="http://schemas.openxmlformats.org/drawingml/2006/main">
              <a:ext uri="{FF2B5EF4-FFF2-40B4-BE49-F238E27FC236}">
                <a16:creationId xmlns:a16="http://schemas.microsoft.com/office/drawing/2014/main" id="{B776A607-D02B-4D28-88CD-C545A46BA5FF}"/>
              </a:ext>
            </a:extLst>
          </p:cNvPr>
          <p:cNvSpPr>
            <a:spLocks xmlns:a="http://schemas.openxmlformats.org/drawingml/2006/main" noGrp="1"/>
          </p:cNvSpPr>
          <p:nvPr/>
        </p:nvSpPr>
        <p:spPr>
          <a:xfrm xmlns:a="http://schemas.openxmlformats.org/drawingml/2006/main">
            <a:off x="7239000" y="2762250"/>
            <a:ext cx="942975" cy="0"/>
          </a:xfrm>
          <a:prstGeom xmlns:a="http://schemas.openxmlformats.org/drawingml/2006/main" prst="line">
            <a:avLst/>
          </a:prstGeom>
          <a:noFill xmlns:a="http://schemas.openxmlformats.org/drawingml/2006/main"/>
          <a:ln xmlns:a="http://schemas.openxmlformats.org/drawingml/2006/main" w="14288">
            <a:solidFill>
              <a:srgbClr val="16735D"/>
            </a:solidFill>
            <a:prstDash val="solid"/>
          </a:ln>
        </p:spPr>
      </p:sp>
      <p:sp>
        <p:nvSpPr>
          <p:cNvPr id="50" name="">
            <a:extLst xmlns:a="http://schemas.openxmlformats.org/drawingml/2006/main">
              <a:ext uri="{FF2B5EF4-FFF2-40B4-BE49-F238E27FC236}">
                <a16:creationId xmlns:a16="http://schemas.microsoft.com/office/drawing/2014/main" id="{1D107832-CE56-4858-A27A-F2F05D51D85D}"/>
              </a:ext>
            </a:extLst>
          </p:cNvPr>
          <p:cNvSpPr>
            <a:spLocks xmlns:a="http://schemas.openxmlformats.org/drawingml/2006/main" noGrp="1"/>
          </p:cNvSpPr>
          <p:nvPr/>
        </p:nvSpPr>
        <p:spPr>
          <a:xfrm xmlns:a="http://schemas.openxmlformats.org/drawingml/2006/main">
            <a:off x="8181975" y="2762250"/>
            <a:ext cx="0" cy="1743075"/>
          </a:xfrm>
          <a:prstGeom xmlns:a="http://schemas.openxmlformats.org/drawingml/2006/main" prst="line">
            <a:avLst/>
          </a:prstGeom>
          <a:noFill xmlns:a="http://schemas.openxmlformats.org/drawingml/2006/main"/>
          <a:ln xmlns:a="http://schemas.openxmlformats.org/drawingml/2006/main" w="14288">
            <a:solidFill>
              <a:srgbClr val="16735D"/>
            </a:solidFill>
            <a:prstDash val="solid"/>
          </a:ln>
        </p:spPr>
      </p:sp>
      <p:sp>
        <p:nvSpPr>
          <p:cNvPr id="51" name="">
            <a:extLst xmlns:a="http://schemas.openxmlformats.org/drawingml/2006/main">
              <a:ext uri="{FF2B5EF4-FFF2-40B4-BE49-F238E27FC236}">
                <a16:creationId xmlns:a16="http://schemas.microsoft.com/office/drawing/2014/main" id="{3A05E3A5-1FB3-4661-921A-CCEF3640C25B}"/>
              </a:ext>
            </a:extLst>
          </p:cNvPr>
          <p:cNvSpPr>
            <a:spLocks xmlns:a="http://schemas.openxmlformats.org/drawingml/2006/main" noGrp="1"/>
          </p:cNvSpPr>
          <p:nvPr/>
        </p:nvSpPr>
        <p:spPr>
          <a:xfrm xmlns:a="http://schemas.openxmlformats.org/drawingml/2006/main">
            <a:off x="8181975" y="4505325"/>
            <a:ext cx="1057275" cy="0"/>
          </a:xfrm>
          <a:prstGeom xmlns:a="http://schemas.openxmlformats.org/drawingml/2006/main" prst="line">
            <a:avLst/>
          </a:prstGeom>
          <a:noFill xmlns:a="http://schemas.openxmlformats.org/drawingml/2006/main"/>
          <a:ln xmlns:a="http://schemas.openxmlformats.org/drawingml/2006/main" w="14288">
            <a:solidFill>
              <a:srgbClr val="16735D"/>
            </a:solidFill>
            <a:prstDash val="solid"/>
          </a:ln>
        </p:spPr>
      </p:sp>
      <p:sp>
        <p:nvSpPr>
          <p:cNvPr id="52" name="">
            <a:extLst xmlns:a="http://schemas.openxmlformats.org/drawingml/2006/main">
              <a:ext uri="{FF2B5EF4-FFF2-40B4-BE49-F238E27FC236}">
                <a16:creationId xmlns:a16="http://schemas.microsoft.com/office/drawing/2014/main" id="{A5B36755-7723-4332-8FA7-337125F875D0}"/>
              </a:ext>
            </a:extLst>
          </p:cNvPr>
          <p:cNvSpPr>
            <a:spLocks xmlns:a="http://schemas.openxmlformats.org/drawingml/2006/main" noGrp="1"/>
          </p:cNvSpPr>
          <p:nvPr/>
        </p:nvSpPr>
        <p:spPr>
          <a:xfrm xmlns:a="http://schemas.openxmlformats.org/drawingml/2006/main" rot="0">
            <a:off x="7296150" y="2695575"/>
            <a:ext cx="133350" cy="133350"/>
          </a:xfrm>
          <a:prstGeom xmlns:a="http://schemas.openxmlformats.org/drawingml/2006/main" prst="diamond">
            <a:avLst/>
          </a:prstGeom>
          <a:solidFill xmlns:a="http://schemas.openxmlformats.org/drawingml/2006/main">
            <a:srgbClr val="16735D"/>
          </a:solidFill>
          <a:ln xmlns:a="http://schemas.openxmlformats.org/drawingml/2006/main" w="15240">
            <a:solidFill>
              <a:srgbClr val="16735D"/>
            </a:solidFill>
          </a:ln>
        </p:spPr>
      </p:sp>
      <p:sp>
        <p:nvSpPr>
          <p:cNvPr id="53" name="texto">
            <a:extLst xmlns:a="http://schemas.openxmlformats.org/drawingml/2006/main">
              <a:ext uri="{FF2B5EF4-FFF2-40B4-BE49-F238E27FC236}">
                <a16:creationId xmlns:a16="http://schemas.microsoft.com/office/drawing/2014/main" id="{8C355E38-8CC3-4A96-B362-0622708FA2AF}"/>
              </a:ext>
            </a:extLst>
          </p:cNvPr>
          <p:cNvSpPr>
            <a:spLocks xmlns:a="http://schemas.openxmlformats.org/drawingml/2006/main" noGrp="1"/>
          </p:cNvSpPr>
          <p:nvPr/>
        </p:nvSpPr>
        <p:spPr>
          <a:xfrm xmlns:a="http://schemas.openxmlformats.org/drawingml/2006/main">
            <a:off x="8286750" y="362902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526773"/>
                </a:solidFill>
                <a:latin typeface="DejaVu Sans"/>
                <a:ea typeface="DejaVu Sans"/>
                <a:cs typeface="DejaVu Sans"/>
              </a:defRPr>
            </a:defPPr>
          </a:lstStyle>
          <a:p xmlns:a="http://schemas.openxmlformats.org/drawingml/2006/main">
            <a:pPr>
              <a:defRPr sz="1275" b="0">
                <a:solidFill>
                  <a:srgbClr val="526773"/>
                </a:solidFill>
                <a:latin typeface="DejaVu Sans"/>
                <a:ea typeface="DejaVu Sans"/>
                <a:cs typeface="DejaVu Sans"/>
              </a:defRPr>
            </a:pPr>
            <a:r>
              <a:rPr sz="1275" b="0">
                <a:solidFill>
                  <a:srgbClr val="526773"/>
                </a:solidFill>
                <a:latin typeface="DejaVu Sans"/>
                <a:ea typeface="DejaVu Sans"/>
                <a:cs typeface="DejaVu Sans"/>
              </a:rPr>
              <a:t>mapa</a:t>
            </a:r>
          </a:p>
        </p:txBody>
      </p:sp>
      <p:sp>
        <p:nvSpPr>
          <p:cNvPr id="54" name="">
            <a:extLst xmlns:a="http://schemas.openxmlformats.org/drawingml/2006/main">
              <a:ext uri="{FF2B5EF4-FFF2-40B4-BE49-F238E27FC236}">
                <a16:creationId xmlns:a16="http://schemas.microsoft.com/office/drawing/2014/main" id="{A554493B-BDF4-4ABA-BB72-5473C198D37D}"/>
              </a:ext>
            </a:extLst>
          </p:cNvPr>
          <p:cNvSpPr>
            <a:spLocks xmlns:a="http://schemas.openxmlformats.org/drawingml/2006/main" noGrp="1"/>
          </p:cNvSpPr>
          <p:nvPr/>
        </p:nvSpPr>
        <p:spPr>
          <a:xfrm xmlns:a="http://schemas.openxmlformats.org/drawingml/2006/main">
            <a:off x="10382250" y="2019300"/>
            <a:ext cx="0" cy="285750"/>
          </a:xfrm>
          <a:prstGeom xmlns:a="http://schemas.openxmlformats.org/drawingml/2006/main" prst="line">
            <a:avLst/>
          </a:prstGeom>
          <a:noFill xmlns:a="http://schemas.openxmlformats.org/drawingml/2006/main"/>
          <a:ln xmlns:a="http://schemas.openxmlformats.org/drawingml/2006/main" w="14288">
            <a:solidFill>
              <a:srgbClr val="16735D"/>
            </a:solidFill>
            <a:prstDash val="dash"/>
          </a:ln>
        </p:spPr>
      </p:sp>
      <p:sp>
        <p:nvSpPr>
          <p:cNvPr id="55" name="">
            <a:extLst xmlns:a="http://schemas.openxmlformats.org/drawingml/2006/main">
              <a:ext uri="{FF2B5EF4-FFF2-40B4-BE49-F238E27FC236}">
                <a16:creationId xmlns:a16="http://schemas.microsoft.com/office/drawing/2014/main" id="{862D4772-31EB-4950-BADA-A7F9227F9CD9}"/>
              </a:ext>
            </a:extLst>
          </p:cNvPr>
          <p:cNvSpPr>
            <a:spLocks xmlns:a="http://schemas.openxmlformats.org/drawingml/2006/main" noGrp="1"/>
          </p:cNvSpPr>
          <p:nvPr/>
        </p:nvSpPr>
        <p:spPr>
          <a:xfrm xmlns:a="http://schemas.openxmlformats.org/drawingml/2006/main">
            <a:off x="1809750" y="2019300"/>
            <a:ext cx="8572500" cy="0"/>
          </a:xfrm>
          <a:prstGeom xmlns:a="http://schemas.openxmlformats.org/drawingml/2006/main" prst="line">
            <a:avLst/>
          </a:prstGeom>
          <a:noFill xmlns:a="http://schemas.openxmlformats.org/drawingml/2006/main"/>
          <a:ln xmlns:a="http://schemas.openxmlformats.org/drawingml/2006/main" w="14288">
            <a:solidFill>
              <a:srgbClr val="16735D"/>
            </a:solidFill>
            <a:prstDash val="dash"/>
          </a:ln>
        </p:spPr>
      </p:sp>
      <p:sp>
        <p:nvSpPr>
          <p:cNvPr id="56" name="">
            <a:extLst xmlns:a="http://schemas.openxmlformats.org/drawingml/2006/main">
              <a:ext uri="{FF2B5EF4-FFF2-40B4-BE49-F238E27FC236}">
                <a16:creationId xmlns:a16="http://schemas.microsoft.com/office/drawing/2014/main" id="{6ADF366B-2AAD-4ED8-BFFF-B502469F8FBD}"/>
              </a:ext>
            </a:extLst>
          </p:cNvPr>
          <p:cNvSpPr>
            <a:spLocks xmlns:a="http://schemas.openxmlformats.org/drawingml/2006/main" noGrp="1"/>
          </p:cNvSpPr>
          <p:nvPr/>
        </p:nvSpPr>
        <p:spPr>
          <a:xfrm xmlns:a="http://schemas.openxmlformats.org/drawingml/2006/main">
            <a:off x="1809750" y="2019300"/>
            <a:ext cx="0" cy="285750"/>
          </a:xfrm>
          <a:prstGeom xmlns:a="http://schemas.openxmlformats.org/drawingml/2006/main" prst="line">
            <a:avLst/>
          </a:prstGeom>
          <a:noFill xmlns:a="http://schemas.openxmlformats.org/drawingml/2006/main"/>
          <a:ln xmlns:a="http://schemas.openxmlformats.org/drawingml/2006/main" w="14288">
            <a:solidFill>
              <a:srgbClr val="16735D"/>
            </a:solidFill>
            <a:prstDash val="dash"/>
          </a:ln>
        </p:spPr>
      </p:sp>
      <p:sp>
        <p:nvSpPr>
          <p:cNvPr id="57" name="">
            <a:extLst xmlns:a="http://schemas.openxmlformats.org/drawingml/2006/main">
              <a:ext uri="{FF2B5EF4-FFF2-40B4-BE49-F238E27FC236}">
                <a16:creationId xmlns:a16="http://schemas.microsoft.com/office/drawing/2014/main" id="{DE376F3C-D95B-44C8-8DC9-42E05FAE338F}"/>
              </a:ext>
            </a:extLst>
          </p:cNvPr>
          <p:cNvSpPr>
            <a:spLocks xmlns:a="http://schemas.openxmlformats.org/drawingml/2006/main" noGrp="1"/>
          </p:cNvSpPr>
          <p:nvPr/>
        </p:nvSpPr>
        <p:spPr>
          <a:xfrm xmlns:a="http://schemas.openxmlformats.org/drawingml/2006/main">
            <a:off x="1752600" y="2228850"/>
            <a:ext cx="57150" cy="76200"/>
          </a:xfrm>
          <a:prstGeom xmlns:a="http://schemas.openxmlformats.org/drawingml/2006/main" prst="line">
            <a:avLst/>
          </a:prstGeom>
          <a:noFill xmlns:a="http://schemas.openxmlformats.org/drawingml/2006/main"/>
          <a:ln xmlns:a="http://schemas.openxmlformats.org/drawingml/2006/main" w="14288">
            <a:solidFill>
              <a:srgbClr val="16735D"/>
            </a:solidFill>
            <a:prstDash val="solid"/>
          </a:ln>
        </p:spPr>
      </p:sp>
      <p:sp>
        <p:nvSpPr>
          <p:cNvPr id="58" name="">
            <a:extLst xmlns:a="http://schemas.openxmlformats.org/drawingml/2006/main">
              <a:ext uri="{FF2B5EF4-FFF2-40B4-BE49-F238E27FC236}">
                <a16:creationId xmlns:a16="http://schemas.microsoft.com/office/drawing/2014/main" id="{755A327C-1B7A-4FDD-A266-30A8EA002FBD}"/>
              </a:ext>
            </a:extLst>
          </p:cNvPr>
          <p:cNvSpPr>
            <a:spLocks xmlns:a="http://schemas.openxmlformats.org/drawingml/2006/main" noGrp="1"/>
          </p:cNvSpPr>
          <p:nvPr/>
        </p:nvSpPr>
        <p:spPr>
          <a:xfrm xmlns:a="http://schemas.openxmlformats.org/drawingml/2006/main">
            <a:off x="1809750" y="2228850"/>
            <a:ext cx="57150" cy="76200"/>
          </a:xfrm>
          <a:prstGeom xmlns:a="http://schemas.openxmlformats.org/drawingml/2006/main" prst="line">
            <a:avLst/>
          </a:prstGeom>
          <a:noFill xmlns:a="http://schemas.openxmlformats.org/drawingml/2006/main"/>
          <a:ln xmlns:a="http://schemas.openxmlformats.org/drawingml/2006/main" w="14288">
            <a:solidFill>
              <a:srgbClr val="16735D"/>
            </a:solidFill>
            <a:prstDash val="solid"/>
          </a:ln>
        </p:spPr>
      </p:sp>
      <p:sp>
        <p:nvSpPr>
          <p:cNvPr id="59" name="texto">
            <a:extLst xmlns:a="http://schemas.openxmlformats.org/drawingml/2006/main">
              <a:ext uri="{FF2B5EF4-FFF2-40B4-BE49-F238E27FC236}">
                <a16:creationId xmlns:a16="http://schemas.microsoft.com/office/drawing/2014/main" id="{DBA0F39B-FC59-4875-AAD3-86CCF8DDADAF}"/>
              </a:ext>
            </a:extLst>
          </p:cNvPr>
          <p:cNvSpPr>
            <a:spLocks xmlns:a="http://schemas.openxmlformats.org/drawingml/2006/main" noGrp="1"/>
          </p:cNvSpPr>
          <p:nvPr/>
        </p:nvSpPr>
        <p:spPr>
          <a:xfrm xmlns:a="http://schemas.openxmlformats.org/drawingml/2006/main">
            <a:off x="9582150" y="1695450"/>
            <a:ext cx="142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526773"/>
                </a:solidFill>
                <a:latin typeface="DejaVu Sans"/>
                <a:ea typeface="DejaVu Sans"/>
                <a:cs typeface="DejaVu Sans"/>
              </a:defRPr>
            </a:defPPr>
          </a:lstStyle>
          <a:p xmlns:a="http://schemas.openxmlformats.org/drawingml/2006/main">
            <a:pPr>
              <a:defRPr sz="1275" b="0">
                <a:solidFill>
                  <a:srgbClr val="526773"/>
                </a:solidFill>
                <a:latin typeface="DejaVu Sans"/>
                <a:ea typeface="DejaVu Sans"/>
                <a:cs typeface="DejaVu Sans"/>
              </a:defRPr>
            </a:pPr>
            <a:r>
              <a:rPr sz="1275" b="0">
                <a:solidFill>
                  <a:srgbClr val="526773"/>
                </a:solidFill>
                <a:latin typeface="DejaVu Sans"/>
                <a:ea typeface="DejaVu Sans"/>
                <a:cs typeface="DejaVu Sans"/>
              </a:rPr>
              <a:t>dibuja</a:t>
            </a:r>
          </a:p>
        </p:txBody>
      </p:sp>
      <p:sp>
        <p:nvSpPr>
          <p:cNvPr id="60" name="">
            <a:extLst xmlns:a="http://schemas.openxmlformats.org/drawingml/2006/main">
              <a:ext uri="{FF2B5EF4-FFF2-40B4-BE49-F238E27FC236}">
                <a16:creationId xmlns:a16="http://schemas.microsoft.com/office/drawing/2014/main" id="{FDD5B1A7-DAD2-45EC-A8BE-8442655F758B}"/>
              </a:ext>
            </a:extLst>
          </p:cNvPr>
          <p:cNvSpPr>
            <a:spLocks xmlns:a="http://schemas.openxmlformats.org/drawingml/2006/main" noGrp="1"/>
          </p:cNvSpPr>
          <p:nvPr/>
        </p:nvSpPr>
        <p:spPr>
          <a:xfrm xmlns:a="http://schemas.openxmlformats.org/drawingml/2006/main">
            <a:off x="6096000" y="4962525"/>
            <a:ext cx="0" cy="276225"/>
          </a:xfrm>
          <a:prstGeom xmlns:a="http://schemas.openxmlformats.org/drawingml/2006/main" prst="line">
            <a:avLst/>
          </a:prstGeom>
          <a:noFill xmlns:a="http://schemas.openxmlformats.org/drawingml/2006/main"/>
          <a:ln xmlns:a="http://schemas.openxmlformats.org/drawingml/2006/main" w="14288">
            <a:solidFill>
              <a:srgbClr val="16735D"/>
            </a:solidFill>
            <a:prstDash val="solid"/>
          </a:ln>
        </p:spPr>
      </p:sp>
      <p:sp>
        <p:nvSpPr>
          <p:cNvPr id="61" name="">
            <a:extLst xmlns:a="http://schemas.openxmlformats.org/drawingml/2006/main">
              <a:ext uri="{FF2B5EF4-FFF2-40B4-BE49-F238E27FC236}">
                <a16:creationId xmlns:a16="http://schemas.microsoft.com/office/drawing/2014/main" id="{DD88C55A-5244-486D-ADF1-0067E942AB09}"/>
              </a:ext>
            </a:extLst>
          </p:cNvPr>
          <p:cNvSpPr>
            <a:spLocks xmlns:a="http://schemas.openxmlformats.org/drawingml/2006/main" noGrp="1"/>
          </p:cNvSpPr>
          <p:nvPr/>
        </p:nvSpPr>
        <p:spPr>
          <a:xfrm xmlns:a="http://schemas.openxmlformats.org/drawingml/2006/main">
            <a:off x="4857750" y="5238750"/>
            <a:ext cx="3048000" cy="0"/>
          </a:xfrm>
          <a:prstGeom xmlns:a="http://schemas.openxmlformats.org/drawingml/2006/main" prst="line">
            <a:avLst/>
          </a:prstGeom>
          <a:noFill xmlns:a="http://schemas.openxmlformats.org/drawingml/2006/main"/>
          <a:ln xmlns:a="http://schemas.openxmlformats.org/drawingml/2006/main" w="14288">
            <a:solidFill>
              <a:srgbClr val="16735D"/>
            </a:solidFill>
            <a:prstDash val="solid"/>
          </a:ln>
        </p:spPr>
      </p:sp>
      <p:sp>
        <p:nvSpPr>
          <p:cNvPr id="62" name="">
            <a:extLst xmlns:a="http://schemas.openxmlformats.org/drawingml/2006/main">
              <a:ext uri="{FF2B5EF4-FFF2-40B4-BE49-F238E27FC236}">
                <a16:creationId xmlns:a16="http://schemas.microsoft.com/office/drawing/2014/main" id="{8926EB11-ECDD-446E-9FCC-F46246AA2A26}"/>
              </a:ext>
            </a:extLst>
          </p:cNvPr>
          <p:cNvSpPr>
            <a:spLocks xmlns:a="http://schemas.openxmlformats.org/drawingml/2006/main" noGrp="1"/>
          </p:cNvSpPr>
          <p:nvPr/>
        </p:nvSpPr>
        <p:spPr>
          <a:xfrm xmlns:a="http://schemas.openxmlformats.org/drawingml/2006/main">
            <a:off x="4857750" y="5238750"/>
            <a:ext cx="0" cy="342900"/>
          </a:xfrm>
          <a:prstGeom xmlns:a="http://schemas.openxmlformats.org/drawingml/2006/main" prst="line">
            <a:avLst/>
          </a:prstGeom>
          <a:noFill xmlns:a="http://schemas.openxmlformats.org/drawingml/2006/main"/>
          <a:ln xmlns:a="http://schemas.openxmlformats.org/drawingml/2006/main" w="14288">
            <a:solidFill>
              <a:srgbClr val="16735D"/>
            </a:solidFill>
            <a:prstDash val="solid"/>
          </a:ln>
        </p:spPr>
      </p:sp>
      <p:sp>
        <p:nvSpPr>
          <p:cNvPr id="63" name="">
            <a:extLst xmlns:a="http://schemas.openxmlformats.org/drawingml/2006/main">
              <a:ext uri="{FF2B5EF4-FFF2-40B4-BE49-F238E27FC236}">
                <a16:creationId xmlns:a16="http://schemas.microsoft.com/office/drawing/2014/main" id="{E42E07D9-BFCD-4BA8-A76F-9D4A0CAC922A}"/>
              </a:ext>
            </a:extLst>
          </p:cNvPr>
          <p:cNvSpPr>
            <a:spLocks xmlns:a="http://schemas.openxmlformats.org/drawingml/2006/main" noGrp="1"/>
          </p:cNvSpPr>
          <p:nvPr/>
        </p:nvSpPr>
        <p:spPr>
          <a:xfrm xmlns:a="http://schemas.openxmlformats.org/drawingml/2006/main">
            <a:off x="7905750" y="5238750"/>
            <a:ext cx="0" cy="342900"/>
          </a:xfrm>
          <a:prstGeom xmlns:a="http://schemas.openxmlformats.org/drawingml/2006/main" prst="line">
            <a:avLst/>
          </a:prstGeom>
          <a:noFill xmlns:a="http://schemas.openxmlformats.org/drawingml/2006/main"/>
          <a:ln xmlns:a="http://schemas.openxmlformats.org/drawingml/2006/main" w="14288">
            <a:solidFill>
              <a:srgbClr val="16735D"/>
            </a:solidFill>
            <a:prstDash val="solid"/>
          </a:ln>
        </p:spPr>
      </p:sp>
      <p:sp>
        <p:nvSpPr>
          <p:cNvPr id="64" name="">
            <a:extLst xmlns:a="http://schemas.openxmlformats.org/drawingml/2006/main">
              <a:ext uri="{FF2B5EF4-FFF2-40B4-BE49-F238E27FC236}">
                <a16:creationId xmlns:a16="http://schemas.microsoft.com/office/drawing/2014/main" id="{2059B637-612A-487F-A3C1-5D514CEDCC9F}"/>
              </a:ext>
            </a:extLst>
          </p:cNvPr>
          <p:cNvSpPr>
            <a:spLocks xmlns:a="http://schemas.openxmlformats.org/drawingml/2006/main" noGrp="1"/>
          </p:cNvSpPr>
          <p:nvPr/>
        </p:nvSpPr>
        <p:spPr>
          <a:xfrm xmlns:a="http://schemas.openxmlformats.org/drawingml/2006/main" rot="0">
            <a:off x="6019800" y="4962525"/>
            <a:ext cx="152400" cy="133350"/>
          </a:xfrm>
          <a:prstGeom xmlns:a="http://schemas.openxmlformats.org/drawingml/2006/main" prst="triangle">
            <a:avLst/>
          </a:prstGeom>
          <a:solidFill xmlns:a="http://schemas.openxmlformats.org/drawingml/2006/main">
            <a:srgbClr val="FFFFFF"/>
          </a:solidFill>
          <a:ln xmlns:a="http://schemas.openxmlformats.org/drawingml/2006/main" w="15240">
            <a:solidFill>
              <a:srgbClr val="16735D"/>
            </a:solidFill>
          </a:ln>
        </p:spPr>
      </p:sp>
    </p:spTree>
    <p:extLst>
      <p:ext uri="{BB962C8B-B14F-4D97-AF65-F5344CB8AC3E}">
        <p14:creationId xmlns:p14="http://schemas.microsoft.com/office/powerpoint/2010/main" val="209711239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partado-rubrica">
            <a:extLst xmlns:a="http://schemas.openxmlformats.org/drawingml/2006/main">
              <a:ext uri="{FF2B5EF4-FFF2-40B4-BE49-F238E27FC236}">
                <a16:creationId xmlns:a16="http://schemas.microsoft.com/office/drawing/2014/main" id="{CE7C0756-C550-40E1-85DF-E8227617B002}"/>
              </a:ext>
            </a:extLst>
          </p:cNvPr>
          <p:cNvSpPr>
            <a:spLocks xmlns:a="http://schemas.openxmlformats.org/drawingml/2006/main" noGrp="1"/>
          </p:cNvSpPr>
          <p:nvPr/>
        </p:nvSpPr>
        <p:spPr>
          <a:xfrm xmlns:a="http://schemas.openxmlformats.org/drawingml/2006/main">
            <a:off x="609600" y="285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Punto 4 de 7. Criterio II: fundamentos POO, 6 puntos</a:t>
            </a:r>
          </a:p>
        </p:txBody>
      </p:sp>
      <p:sp>
        <p:nvSpPr>
          <p:cNvPr id="2" name="titulo">
            <a:extLst xmlns:a="http://schemas.openxmlformats.org/drawingml/2006/main">
              <a:ext uri="{FF2B5EF4-FFF2-40B4-BE49-F238E27FC236}">
                <a16:creationId xmlns:a16="http://schemas.microsoft.com/office/drawing/2014/main" id="{65C9C37E-F06F-4533-A5D1-E0CD68706AE8}"/>
              </a:ext>
            </a:extLst>
          </p:cNvPr>
          <p:cNvSpPr>
            <a:spLocks xmlns:a="http://schemas.openxmlformats.org/drawingml/2006/main" noGrp="1"/>
          </p:cNvSpPr>
          <p:nvPr/>
        </p:nvSpPr>
        <p:spPr>
          <a:xfrm xmlns:a="http://schemas.openxmlformats.org/drawingml/2006/main">
            <a:off x="609600" y="790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150" b="1">
                <a:solidFill>
                  <a:srgbClr val="172F3C"/>
                </a:solidFill>
                <a:latin typeface="DejaVu Sans"/>
                <a:ea typeface="DejaVu Sans"/>
                <a:cs typeface="DejaVu Sans"/>
              </a:defRPr>
            </a:defPPr>
          </a:lstStyle>
          <a:p xmlns:a="http://schemas.openxmlformats.org/drawingml/2006/main">
            <a:pPr>
              <a:defRPr sz="3150" b="1">
                <a:solidFill>
                  <a:srgbClr val="172F3C"/>
                </a:solidFill>
                <a:latin typeface="DejaVu Sans"/>
                <a:ea typeface="DejaVu Sans"/>
                <a:cs typeface="DejaVu Sans"/>
              </a:defRPr>
            </a:pPr>
            <a:r>
              <a:rPr sz="3150" b="1">
                <a:solidFill>
                  <a:srgbClr val="172F3C"/>
                </a:solidFill>
                <a:latin typeface="DejaVu Sans"/>
                <a:ea typeface="DejaVu Sans"/>
                <a:cs typeface="DejaVu Sans"/>
              </a:rPr>
              <a:t>IV. Fundamentos de POO</a:t>
            </a:r>
          </a:p>
        </p:txBody>
      </p:sp>
      <p:sp>
        <p:nvSpPr>
          <p:cNvPr id="3" name="numero">
            <a:extLst xmlns:a="http://schemas.openxmlformats.org/drawingml/2006/main">
              <a:ext uri="{FF2B5EF4-FFF2-40B4-BE49-F238E27FC236}">
                <a16:creationId xmlns:a16="http://schemas.microsoft.com/office/drawing/2014/main" id="{E5F91AD4-5929-4912-BA08-BEDC535CE897}"/>
              </a:ext>
            </a:extLst>
          </p:cNvPr>
          <p:cNvSpPr>
            <a:spLocks xmlns:a="http://schemas.openxmlformats.org/drawingml/2006/main" noGrp="1"/>
          </p:cNvSpPr>
          <p:nvPr/>
        </p:nvSpPr>
        <p:spPr>
          <a:xfrm xmlns:a="http://schemas.openxmlformats.org/drawingml/2006/main">
            <a:off x="11210925" y="64770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50" b="0">
                <a:solidFill>
                  <a:srgbClr val="526773"/>
                </a:solidFill>
                <a:latin typeface="DejaVu Sans"/>
                <a:ea typeface="DejaVu Sans"/>
                <a:cs typeface="DejaVu Sans"/>
              </a:defRPr>
            </a:defPPr>
          </a:lstStyle>
          <a:p xmlns:a="http://schemas.openxmlformats.org/drawingml/2006/main">
            <a:pPr>
              <a:defRPr sz="1050" b="0">
                <a:solidFill>
                  <a:srgbClr val="526773"/>
                </a:solidFill>
                <a:latin typeface="DejaVu Sans"/>
                <a:ea typeface="DejaVu Sans"/>
                <a:cs typeface="DejaVu Sans"/>
              </a:defRPr>
            </a:pPr>
            <a:r>
              <a:rPr sz="1050" b="0">
                <a:solidFill>
                  <a:srgbClr val="526773"/>
                </a:solidFill>
                <a:latin typeface="DejaVu Sans"/>
                <a:ea typeface="DejaVu Sans"/>
                <a:cs typeface="DejaVu Sans"/>
              </a:rPr>
              <a:t>08</a:t>
            </a:r>
          </a:p>
        </p:txBody>
      </p:sp>
      <p:sp>
        <p:nvSpPr>
          <p:cNvPr id="4" name="texto">
            <a:extLst xmlns:a="http://schemas.openxmlformats.org/drawingml/2006/main">
              <a:ext uri="{FF2B5EF4-FFF2-40B4-BE49-F238E27FC236}">
                <a16:creationId xmlns:a16="http://schemas.microsoft.com/office/drawing/2014/main" id="{3B6D82BB-3435-4400-B6DF-4377C85BAB34}"/>
              </a:ext>
            </a:extLst>
          </p:cNvPr>
          <p:cNvSpPr>
            <a:spLocks xmlns:a="http://schemas.openxmlformats.org/drawingml/2006/main" noGrp="1"/>
          </p:cNvSpPr>
          <p:nvPr/>
        </p:nvSpPr>
        <p:spPr>
          <a:xfrm xmlns:a="http://schemas.openxmlformats.org/drawingml/2006/main">
            <a:off x="609600" y="220027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16735D"/>
                </a:solidFill>
                <a:latin typeface="DejaVu Sans"/>
                <a:ea typeface="DejaVu Sans"/>
                <a:cs typeface="DejaVu Sans"/>
              </a:defRPr>
            </a:defPPr>
          </a:lstStyle>
          <a:p xmlns:a="http://schemas.openxmlformats.org/drawingml/2006/main">
            <a:pPr>
              <a:defRPr sz="2100" b="1">
                <a:solidFill>
                  <a:srgbClr val="16735D"/>
                </a:solidFill>
                <a:latin typeface="DejaVu Sans"/>
                <a:ea typeface="DejaVu Sans"/>
                <a:cs typeface="DejaVu Sans"/>
              </a:defRPr>
            </a:pPr>
            <a:r>
              <a:rPr sz="2100" b="1">
                <a:solidFill>
                  <a:srgbClr val="16735D"/>
                </a:solidFill>
                <a:latin typeface="DejaVu Sans"/>
                <a:ea typeface="DejaVu Sans"/>
                <a:cs typeface="DejaVu Sans"/>
              </a:rPr>
              <a:t>Asociación</a:t>
            </a:r>
          </a:p>
        </p:txBody>
      </p:sp>
      <p:sp>
        <p:nvSpPr>
          <p:cNvPr id="5" name="texto">
            <a:extLst xmlns:a="http://schemas.openxmlformats.org/drawingml/2006/main">
              <a:ext uri="{FF2B5EF4-FFF2-40B4-BE49-F238E27FC236}">
                <a16:creationId xmlns:a16="http://schemas.microsoft.com/office/drawing/2014/main" id="{0E3A8BD0-8ABA-4788-8DD3-1BC061EB94E1}"/>
              </a:ext>
            </a:extLst>
          </p:cNvPr>
          <p:cNvSpPr>
            <a:spLocks xmlns:a="http://schemas.openxmlformats.org/drawingml/2006/main" noGrp="1"/>
          </p:cNvSpPr>
          <p:nvPr/>
        </p:nvSpPr>
        <p:spPr>
          <a:xfrm xmlns:a="http://schemas.openxmlformats.org/drawingml/2006/main">
            <a:off x="609600" y="2943225"/>
            <a:ext cx="323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172F3C"/>
                </a:solidFill>
                <a:latin typeface="DejaVu Sans"/>
                <a:ea typeface="DejaVu Sans"/>
                <a:cs typeface="DejaVu Sans"/>
              </a:defRPr>
            </a:defPPr>
          </a:lstStyle>
          <a:p xmlns:a="http://schemas.openxmlformats.org/drawingml/2006/main">
            <a:pPr>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Personaje guarda su Nivel.</a:t>
            </a:r>
          </a:p>
        </p:txBody>
      </p:sp>
      <p:sp>
        <p:nvSpPr>
          <p:cNvPr id="6" name="fragmento-Asociación">
            <a:extLst xmlns:a="http://schemas.openxmlformats.org/drawingml/2006/main">
              <a:ext uri="{FF2B5EF4-FFF2-40B4-BE49-F238E27FC236}">
                <a16:creationId xmlns:a16="http://schemas.microsoft.com/office/drawing/2014/main" id="{7BC16F7A-3C0F-4E01-AA90-E34B116D2712}"/>
              </a:ext>
            </a:extLst>
          </p:cNvPr>
          <p:cNvSpPr>
            <a:spLocks xmlns:a="http://schemas.openxmlformats.org/drawingml/2006/main" noGrp="1"/>
          </p:cNvSpPr>
          <p:nvPr/>
        </p:nvSpPr>
        <p:spPr>
          <a:xfrm xmlns:a="http://schemas.openxmlformats.org/drawingml/2006/main">
            <a:off x="609600" y="4667250"/>
            <a:ext cx="3238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172F3C"/>
                </a:solidFill>
                <a:latin typeface="DejaVu Sans Mono"/>
                <a:ea typeface="DejaVu Sans Mono"/>
                <a:cs typeface="DejaVu Sans Mono"/>
              </a:defRPr>
            </a:defPPr>
          </a:lstStyle>
          <a:p xmlns:a="http://schemas.openxmlformats.org/drawingml/2006/main">
            <a:pPr>
              <a:defRPr sz="1800" b="0">
                <a:solidFill>
                  <a:srgbClr val="172F3C"/>
                </a:solidFill>
                <a:latin typeface="DejaVu Sans Mono"/>
                <a:ea typeface="DejaVu Sans Mono"/>
                <a:cs typeface="DejaVu Sans Mono"/>
              </a:defRPr>
            </a:pPr>
            <a:r>
              <a:rPr sz="1800" b="0">
                <a:solidFill>
                  <a:srgbClr val="172F3C"/>
                </a:solidFill>
                <a:latin typeface="DejaVu Sans Mono"/>
                <a:ea typeface="DejaVu Sans Mono"/>
                <a:cs typeface="DejaVu Sans Mono"/>
              </a:rPr>
              <a:t>self.nivel = nivel</a:t>
            </a:r>
          </a:p>
        </p:txBody>
      </p:sp>
      <p:sp>
        <p:nvSpPr>
          <p:cNvPr id="7" name="texto">
            <a:extLst xmlns:a="http://schemas.openxmlformats.org/drawingml/2006/main">
              <a:ext uri="{FF2B5EF4-FFF2-40B4-BE49-F238E27FC236}">
                <a16:creationId xmlns:a16="http://schemas.microsoft.com/office/drawing/2014/main" id="{225B5986-DB0E-4C41-AF86-C12ADA57B6C9}"/>
              </a:ext>
            </a:extLst>
          </p:cNvPr>
          <p:cNvSpPr>
            <a:spLocks xmlns:a="http://schemas.openxmlformats.org/drawingml/2006/main" noGrp="1"/>
          </p:cNvSpPr>
          <p:nvPr/>
        </p:nvSpPr>
        <p:spPr>
          <a:xfrm xmlns:a="http://schemas.openxmlformats.org/drawingml/2006/main">
            <a:off x="4505325" y="220027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16735D"/>
                </a:solidFill>
                <a:latin typeface="DejaVu Sans"/>
                <a:ea typeface="DejaVu Sans"/>
                <a:cs typeface="DejaVu Sans"/>
              </a:defRPr>
            </a:defPPr>
          </a:lstStyle>
          <a:p xmlns:a="http://schemas.openxmlformats.org/drawingml/2006/main">
            <a:pPr>
              <a:defRPr sz="2100" b="1">
                <a:solidFill>
                  <a:srgbClr val="16735D"/>
                </a:solidFill>
                <a:latin typeface="DejaVu Sans"/>
                <a:ea typeface="DejaVu Sans"/>
                <a:cs typeface="DejaVu Sans"/>
              </a:defRPr>
            </a:pPr>
            <a:r>
              <a:rPr sz="2100" b="1">
                <a:solidFill>
                  <a:srgbClr val="16735D"/>
                </a:solidFill>
                <a:latin typeface="DejaVu Sans"/>
                <a:ea typeface="DejaVu Sans"/>
                <a:cs typeface="DejaVu Sans"/>
              </a:rPr>
              <a:t>Agregación</a:t>
            </a:r>
          </a:p>
        </p:txBody>
      </p:sp>
      <p:sp>
        <p:nvSpPr>
          <p:cNvPr id="8" name="texto">
            <a:extLst xmlns:a="http://schemas.openxmlformats.org/drawingml/2006/main">
              <a:ext uri="{FF2B5EF4-FFF2-40B4-BE49-F238E27FC236}">
                <a16:creationId xmlns:a16="http://schemas.microsoft.com/office/drawing/2014/main" id="{683F5065-0A8A-4B3A-B678-368E9088A137}"/>
              </a:ext>
            </a:extLst>
          </p:cNvPr>
          <p:cNvSpPr>
            <a:spLocks xmlns:a="http://schemas.openxmlformats.org/drawingml/2006/main" noGrp="1"/>
          </p:cNvSpPr>
          <p:nvPr/>
        </p:nvSpPr>
        <p:spPr>
          <a:xfrm xmlns:a="http://schemas.openxmlformats.org/drawingml/2006/main">
            <a:off x="4505325" y="2943225"/>
            <a:ext cx="323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172F3C"/>
                </a:solidFill>
                <a:latin typeface="DejaVu Sans"/>
                <a:ea typeface="DejaVu Sans"/>
                <a:cs typeface="DejaVu Sans"/>
              </a:defRPr>
            </a:defPPr>
          </a:lstStyle>
          <a:p xmlns:a="http://schemas.openxmlformats.org/drawingml/2006/main">
            <a:pPr>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Nivel recibe el Puntaje</a:t>
            </a:r>
          </a:p>
          <a:p xmlns:a="http://schemas.openxmlformats.org/drawingml/2006/main">
            <a:pPr>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compartido de la campaña.</a:t>
            </a:r>
          </a:p>
        </p:txBody>
      </p:sp>
      <p:sp>
        <p:nvSpPr>
          <p:cNvPr id="9" name="fragmento-Agregación">
            <a:extLst xmlns:a="http://schemas.openxmlformats.org/drawingml/2006/main">
              <a:ext uri="{FF2B5EF4-FFF2-40B4-BE49-F238E27FC236}">
                <a16:creationId xmlns:a16="http://schemas.microsoft.com/office/drawing/2014/main" id="{7FBC1498-0884-465A-B87F-89C45974020E}"/>
              </a:ext>
            </a:extLst>
          </p:cNvPr>
          <p:cNvSpPr>
            <a:spLocks xmlns:a="http://schemas.openxmlformats.org/drawingml/2006/main" noGrp="1"/>
          </p:cNvSpPr>
          <p:nvPr/>
        </p:nvSpPr>
        <p:spPr>
          <a:xfrm xmlns:a="http://schemas.openxmlformats.org/drawingml/2006/main">
            <a:off x="4505325" y="4667250"/>
            <a:ext cx="3238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172F3C"/>
                </a:solidFill>
                <a:latin typeface="DejaVu Sans Mono"/>
                <a:ea typeface="DejaVu Sans Mono"/>
                <a:cs typeface="DejaVu Sans Mono"/>
              </a:defRPr>
            </a:defPPr>
          </a:lstStyle>
          <a:p xmlns:a="http://schemas.openxmlformats.org/drawingml/2006/main">
            <a:pPr>
              <a:defRPr sz="1800" b="0">
                <a:solidFill>
                  <a:srgbClr val="172F3C"/>
                </a:solidFill>
                <a:latin typeface="DejaVu Sans Mono"/>
                <a:ea typeface="DejaVu Sans Mono"/>
                <a:cs typeface="DejaVu Sans Mono"/>
              </a:defRPr>
            </a:pPr>
            <a:r>
              <a:rPr sz="1800" b="0">
                <a:solidFill>
                  <a:srgbClr val="172F3C"/>
                </a:solidFill>
                <a:latin typeface="DejaVu Sans Mono"/>
                <a:ea typeface="DejaVu Sans Mono"/>
                <a:cs typeface="DejaVu Sans Mono"/>
              </a:rPr>
              <a:t>self.puntaje = puntaje</a:t>
            </a:r>
          </a:p>
        </p:txBody>
      </p:sp>
      <p:sp>
        <p:nvSpPr>
          <p:cNvPr id="10" name="texto">
            <a:extLst xmlns:a="http://schemas.openxmlformats.org/drawingml/2006/main">
              <a:ext uri="{FF2B5EF4-FFF2-40B4-BE49-F238E27FC236}">
                <a16:creationId xmlns:a16="http://schemas.microsoft.com/office/drawing/2014/main" id="{67760C8F-AE4E-4AA8-B3A7-AEE7CFB684EE}"/>
              </a:ext>
            </a:extLst>
          </p:cNvPr>
          <p:cNvSpPr>
            <a:spLocks xmlns:a="http://schemas.openxmlformats.org/drawingml/2006/main" noGrp="1"/>
          </p:cNvSpPr>
          <p:nvPr/>
        </p:nvSpPr>
        <p:spPr>
          <a:xfrm xmlns:a="http://schemas.openxmlformats.org/drawingml/2006/main">
            <a:off x="8401050" y="220027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16735D"/>
                </a:solidFill>
                <a:latin typeface="DejaVu Sans"/>
                <a:ea typeface="DejaVu Sans"/>
                <a:cs typeface="DejaVu Sans"/>
              </a:defRPr>
            </a:defPPr>
          </a:lstStyle>
          <a:p xmlns:a="http://schemas.openxmlformats.org/drawingml/2006/main">
            <a:pPr>
              <a:defRPr sz="2100" b="1">
                <a:solidFill>
                  <a:srgbClr val="16735D"/>
                </a:solidFill>
                <a:latin typeface="DejaVu Sans"/>
                <a:ea typeface="DejaVu Sans"/>
                <a:cs typeface="DejaVu Sans"/>
              </a:defRPr>
            </a:pPr>
            <a:r>
              <a:rPr sz="2100" b="1">
                <a:solidFill>
                  <a:srgbClr val="16735D"/>
                </a:solidFill>
                <a:latin typeface="DejaVu Sans"/>
                <a:ea typeface="DejaVu Sans"/>
                <a:cs typeface="DejaVu Sans"/>
              </a:rPr>
              <a:t>Composición</a:t>
            </a:r>
          </a:p>
        </p:txBody>
      </p:sp>
      <p:sp>
        <p:nvSpPr>
          <p:cNvPr id="11" name="texto">
            <a:extLst xmlns:a="http://schemas.openxmlformats.org/drawingml/2006/main">
              <a:ext uri="{FF2B5EF4-FFF2-40B4-BE49-F238E27FC236}">
                <a16:creationId xmlns:a16="http://schemas.microsoft.com/office/drawing/2014/main" id="{737A4F6F-A38D-4FFC-B413-A3746F8DDFC0}"/>
              </a:ext>
            </a:extLst>
          </p:cNvPr>
          <p:cNvSpPr>
            <a:spLocks xmlns:a="http://schemas.openxmlformats.org/drawingml/2006/main" noGrp="1"/>
          </p:cNvSpPr>
          <p:nvPr/>
        </p:nvSpPr>
        <p:spPr>
          <a:xfrm xmlns:a="http://schemas.openxmlformats.org/drawingml/2006/main">
            <a:off x="8401050" y="2943225"/>
            <a:ext cx="323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172F3C"/>
                </a:solidFill>
                <a:latin typeface="DejaVu Sans"/>
                <a:ea typeface="DejaVu Sans"/>
                <a:cs typeface="DejaVu Sans"/>
              </a:defRPr>
            </a:defPPr>
          </a:lstStyle>
          <a:p xmlns:a="http://schemas.openxmlformats.org/drawingml/2006/main">
            <a:pPr>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Nivel crea su propio Mapa.</a:t>
            </a:r>
          </a:p>
        </p:txBody>
      </p:sp>
      <p:sp>
        <p:nvSpPr>
          <p:cNvPr id="12" name="fragmento-Composición">
            <a:extLst xmlns:a="http://schemas.openxmlformats.org/drawingml/2006/main">
              <a:ext uri="{FF2B5EF4-FFF2-40B4-BE49-F238E27FC236}">
                <a16:creationId xmlns:a16="http://schemas.microsoft.com/office/drawing/2014/main" id="{606684E8-E4BD-4687-AD10-EC4CFCFF9AD3}"/>
              </a:ext>
            </a:extLst>
          </p:cNvPr>
          <p:cNvSpPr>
            <a:spLocks xmlns:a="http://schemas.openxmlformats.org/drawingml/2006/main" noGrp="1"/>
          </p:cNvSpPr>
          <p:nvPr/>
        </p:nvSpPr>
        <p:spPr>
          <a:xfrm xmlns:a="http://schemas.openxmlformats.org/drawingml/2006/main">
            <a:off x="8401050" y="4667250"/>
            <a:ext cx="3238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172F3C"/>
                </a:solidFill>
                <a:latin typeface="DejaVu Sans Mono"/>
                <a:ea typeface="DejaVu Sans Mono"/>
                <a:cs typeface="DejaVu Sans Mono"/>
              </a:defRPr>
            </a:defPPr>
          </a:lstStyle>
          <a:p xmlns:a="http://schemas.openxmlformats.org/drawingml/2006/main">
            <a:pPr>
              <a:defRPr sz="1800" b="0">
                <a:solidFill>
                  <a:srgbClr val="172F3C"/>
                </a:solidFill>
                <a:latin typeface="DejaVu Sans Mono"/>
                <a:ea typeface="DejaVu Sans Mono"/>
                <a:cs typeface="DejaVu Sans Mono"/>
              </a:defRPr>
            </a:pPr>
            <a:r>
              <a:rPr sz="1800" b="0">
                <a:solidFill>
                  <a:srgbClr val="172F3C"/>
                </a:solidFill>
                <a:latin typeface="DejaVu Sans Mono"/>
                <a:ea typeface="DejaVu Sans Mono"/>
                <a:cs typeface="DejaVu Sans Mono"/>
              </a:rPr>
              <a:t>self.mapa = Mapa(</a:t>
            </a:r>
          </a:p>
          <a:p xmlns:a="http://schemas.openxmlformats.org/drawingml/2006/main">
            <a:pPr>
              <a:defRPr sz="1800" b="0">
                <a:solidFill>
                  <a:srgbClr val="172F3C"/>
                </a:solidFill>
                <a:latin typeface="DejaVu Sans Mono"/>
                <a:ea typeface="DejaVu Sans Mono"/>
                <a:cs typeface="DejaVu Sans Mono"/>
              </a:defRPr>
            </a:pPr>
            <a:r>
              <a:rPr sz="1800" b="0">
                <a:solidFill>
                  <a:srgbClr val="172F3C"/>
                </a:solidFill>
                <a:latin typeface="DejaVu Sans Mono"/>
                <a:ea typeface="DejaVu Sans Mono"/>
                <a:cs typeface="DejaVu Sans Mono"/>
              </a:rPr>
              <a:t>    PLANOS[indice])</a:t>
            </a:r>
          </a:p>
        </p:txBody>
      </p:sp>
    </p:spTree>
    <p:extLst>
      <p:ext uri="{BB962C8B-B14F-4D97-AF65-F5344CB8AC3E}">
        <p14:creationId xmlns:p14="http://schemas.microsoft.com/office/powerpoint/2010/main" val="185244295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partado-rubrica">
            <a:extLst xmlns:a="http://schemas.openxmlformats.org/drawingml/2006/main">
              <a:ext uri="{FF2B5EF4-FFF2-40B4-BE49-F238E27FC236}">
                <a16:creationId xmlns:a16="http://schemas.microsoft.com/office/drawing/2014/main" id="{9ED391B0-418B-4E3C-84BE-1D55910BCDA1}"/>
              </a:ext>
            </a:extLst>
          </p:cNvPr>
          <p:cNvSpPr>
            <a:spLocks xmlns:a="http://schemas.openxmlformats.org/drawingml/2006/main" noGrp="1"/>
          </p:cNvSpPr>
          <p:nvPr/>
        </p:nvSpPr>
        <p:spPr>
          <a:xfrm xmlns:a="http://schemas.openxmlformats.org/drawingml/2006/main">
            <a:off x="609600" y="285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Punto 4 de 7. Criterio II: fundamentos POO, 6 puntos</a:t>
            </a:r>
          </a:p>
        </p:txBody>
      </p:sp>
      <p:sp>
        <p:nvSpPr>
          <p:cNvPr id="2" name="titulo">
            <a:extLst xmlns:a="http://schemas.openxmlformats.org/drawingml/2006/main">
              <a:ext uri="{FF2B5EF4-FFF2-40B4-BE49-F238E27FC236}">
                <a16:creationId xmlns:a16="http://schemas.microsoft.com/office/drawing/2014/main" id="{790F612F-932E-4BFE-8B9A-94264794BAC2}"/>
              </a:ext>
            </a:extLst>
          </p:cNvPr>
          <p:cNvSpPr>
            <a:spLocks xmlns:a="http://schemas.openxmlformats.org/drawingml/2006/main" noGrp="1"/>
          </p:cNvSpPr>
          <p:nvPr/>
        </p:nvSpPr>
        <p:spPr>
          <a:xfrm xmlns:a="http://schemas.openxmlformats.org/drawingml/2006/main">
            <a:off x="609600" y="790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150" b="1">
                <a:solidFill>
                  <a:srgbClr val="172F3C"/>
                </a:solidFill>
                <a:latin typeface="DejaVu Sans"/>
                <a:ea typeface="DejaVu Sans"/>
                <a:cs typeface="DejaVu Sans"/>
              </a:defRPr>
            </a:defPPr>
          </a:lstStyle>
          <a:p xmlns:a="http://schemas.openxmlformats.org/drawingml/2006/main">
            <a:pPr>
              <a:defRPr sz="3150" b="1">
                <a:solidFill>
                  <a:srgbClr val="172F3C"/>
                </a:solidFill>
                <a:latin typeface="DejaVu Sans"/>
                <a:ea typeface="DejaVu Sans"/>
                <a:cs typeface="DejaVu Sans"/>
              </a:defRPr>
            </a:pPr>
            <a:r>
              <a:rPr sz="3150" b="1">
                <a:solidFill>
                  <a:srgbClr val="172F3C"/>
                </a:solidFill>
                <a:latin typeface="DejaVu Sans"/>
                <a:ea typeface="DejaVu Sans"/>
                <a:cs typeface="DejaVu Sans"/>
              </a:rPr>
              <a:t>IV. Fundamentos de POO, continuación</a:t>
            </a:r>
          </a:p>
        </p:txBody>
      </p:sp>
      <p:sp>
        <p:nvSpPr>
          <p:cNvPr id="3" name="numero">
            <a:extLst xmlns:a="http://schemas.openxmlformats.org/drawingml/2006/main">
              <a:ext uri="{FF2B5EF4-FFF2-40B4-BE49-F238E27FC236}">
                <a16:creationId xmlns:a16="http://schemas.microsoft.com/office/drawing/2014/main" id="{37317646-9CEA-4A51-AAD2-70F42F55CB16}"/>
              </a:ext>
            </a:extLst>
          </p:cNvPr>
          <p:cNvSpPr>
            <a:spLocks xmlns:a="http://schemas.openxmlformats.org/drawingml/2006/main" noGrp="1"/>
          </p:cNvSpPr>
          <p:nvPr/>
        </p:nvSpPr>
        <p:spPr>
          <a:xfrm xmlns:a="http://schemas.openxmlformats.org/drawingml/2006/main">
            <a:off x="11210925" y="64770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50" b="0">
                <a:solidFill>
                  <a:srgbClr val="526773"/>
                </a:solidFill>
                <a:latin typeface="DejaVu Sans"/>
                <a:ea typeface="DejaVu Sans"/>
                <a:cs typeface="DejaVu Sans"/>
              </a:defRPr>
            </a:defPPr>
          </a:lstStyle>
          <a:p xmlns:a="http://schemas.openxmlformats.org/drawingml/2006/main">
            <a:pPr>
              <a:defRPr sz="1050" b="0">
                <a:solidFill>
                  <a:srgbClr val="526773"/>
                </a:solidFill>
                <a:latin typeface="DejaVu Sans"/>
                <a:ea typeface="DejaVu Sans"/>
                <a:cs typeface="DejaVu Sans"/>
              </a:defRPr>
            </a:pPr>
            <a:r>
              <a:rPr sz="1050" b="0">
                <a:solidFill>
                  <a:srgbClr val="526773"/>
                </a:solidFill>
                <a:latin typeface="DejaVu Sans"/>
                <a:ea typeface="DejaVu Sans"/>
                <a:cs typeface="DejaVu Sans"/>
              </a:rPr>
              <a:t>09</a:t>
            </a:r>
          </a:p>
        </p:txBody>
      </p:sp>
      <p:sp>
        <p:nvSpPr>
          <p:cNvPr id="4" name="texto">
            <a:extLst xmlns:a="http://schemas.openxmlformats.org/drawingml/2006/main">
              <a:ext uri="{FF2B5EF4-FFF2-40B4-BE49-F238E27FC236}">
                <a16:creationId xmlns:a16="http://schemas.microsoft.com/office/drawing/2014/main" id="{DE593C13-73B8-4A6A-BCEC-6B03E480C813}"/>
              </a:ext>
            </a:extLst>
          </p:cNvPr>
          <p:cNvSpPr>
            <a:spLocks xmlns:a="http://schemas.openxmlformats.org/drawingml/2006/main" noGrp="1"/>
          </p:cNvSpPr>
          <p:nvPr/>
        </p:nvSpPr>
        <p:spPr>
          <a:xfrm xmlns:a="http://schemas.openxmlformats.org/drawingml/2006/main">
            <a:off x="609600" y="19526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16735D"/>
                </a:solidFill>
                <a:latin typeface="DejaVu Sans"/>
                <a:ea typeface="DejaVu Sans"/>
                <a:cs typeface="DejaVu Sans"/>
              </a:defRPr>
            </a:defPPr>
          </a:lstStyle>
          <a:p xmlns:a="http://schemas.openxmlformats.org/drawingml/2006/main">
            <a:pPr>
              <a:defRPr sz="1950" b="1">
                <a:solidFill>
                  <a:srgbClr val="16735D"/>
                </a:solidFill>
                <a:latin typeface="DejaVu Sans"/>
                <a:ea typeface="DejaVu Sans"/>
                <a:cs typeface="DejaVu Sans"/>
              </a:defRPr>
            </a:pPr>
            <a:r>
              <a:rPr sz="1950" b="1">
                <a:solidFill>
                  <a:srgbClr val="16735D"/>
                </a:solidFill>
                <a:latin typeface="DejaVu Sans"/>
                <a:ea typeface="DejaVu Sans"/>
                <a:cs typeface="DejaVu Sans"/>
              </a:rPr>
              <a:t>Herencia y abstracción</a:t>
            </a:r>
          </a:p>
        </p:txBody>
      </p:sp>
      <p:sp>
        <p:nvSpPr>
          <p:cNvPr id="5" name="texto">
            <a:extLst xmlns:a="http://schemas.openxmlformats.org/drawingml/2006/main">
              <a:ext uri="{FF2B5EF4-FFF2-40B4-BE49-F238E27FC236}">
                <a16:creationId xmlns:a16="http://schemas.microsoft.com/office/drawing/2014/main" id="{C8C2B3B7-B3A7-4816-A1AD-687142078A0D}"/>
              </a:ext>
            </a:extLst>
          </p:cNvPr>
          <p:cNvSpPr>
            <a:spLocks xmlns:a="http://schemas.openxmlformats.org/drawingml/2006/main" noGrp="1"/>
          </p:cNvSpPr>
          <p:nvPr/>
        </p:nvSpPr>
        <p:spPr>
          <a:xfrm xmlns:a="http://schemas.openxmlformats.org/drawingml/2006/main">
            <a:off x="609600" y="24669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72F3C"/>
                </a:solidFill>
                <a:latin typeface="DejaVu Sans"/>
                <a:ea typeface="DejaVu Sans"/>
                <a:cs typeface="DejaVu Sans"/>
              </a:defRPr>
            </a:defPPr>
          </a:lstStyle>
          <a:p xmlns:a="http://schemas.openxmlformats.org/drawingml/2006/main">
            <a:pPr>
              <a:defRPr sz="1875" b="0">
                <a:solidFill>
                  <a:srgbClr val="172F3C"/>
                </a:solidFill>
                <a:latin typeface="DejaVu Sans"/>
                <a:ea typeface="DejaVu Sans"/>
                <a:cs typeface="DejaVu Sans"/>
              </a:defRPr>
            </a:pPr>
            <a:r>
              <a:rPr sz="1875" b="0">
                <a:solidFill>
                  <a:srgbClr val="172F3C"/>
                </a:solidFill>
                <a:latin typeface="DejaVu Sans"/>
                <a:ea typeface="DejaVu Sans"/>
                <a:cs typeface="DejaVu Sans"/>
              </a:rPr>
              <a:t>Prisionero y Guardia heredan de la clase abstracta Personaje.</a:t>
            </a:r>
          </a:p>
        </p:txBody>
      </p:sp>
      <p:sp>
        <p:nvSpPr>
          <p:cNvPr id="6" name="texto">
            <a:extLst xmlns:a="http://schemas.openxmlformats.org/drawingml/2006/main">
              <a:ext uri="{FF2B5EF4-FFF2-40B4-BE49-F238E27FC236}">
                <a16:creationId xmlns:a16="http://schemas.microsoft.com/office/drawing/2014/main" id="{AA96F310-7C56-410C-AE99-6D0B64D0D564}"/>
              </a:ext>
            </a:extLst>
          </p:cNvPr>
          <p:cNvSpPr>
            <a:spLocks xmlns:a="http://schemas.openxmlformats.org/drawingml/2006/main" noGrp="1"/>
          </p:cNvSpPr>
          <p:nvPr/>
        </p:nvSpPr>
        <p:spPr>
          <a:xfrm xmlns:a="http://schemas.openxmlformats.org/drawingml/2006/main">
            <a:off x="609600" y="33337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16735D"/>
                </a:solidFill>
                <a:latin typeface="DejaVu Sans"/>
                <a:ea typeface="DejaVu Sans"/>
                <a:cs typeface="DejaVu Sans"/>
              </a:defRPr>
            </a:defPPr>
          </a:lstStyle>
          <a:p xmlns:a="http://schemas.openxmlformats.org/drawingml/2006/main">
            <a:pPr>
              <a:defRPr sz="1950" b="1">
                <a:solidFill>
                  <a:srgbClr val="16735D"/>
                </a:solidFill>
                <a:latin typeface="DejaVu Sans"/>
                <a:ea typeface="DejaVu Sans"/>
                <a:cs typeface="DejaVu Sans"/>
              </a:defRPr>
            </a:pPr>
            <a:r>
              <a:rPr sz="1950" b="1">
                <a:solidFill>
                  <a:srgbClr val="16735D"/>
                </a:solidFill>
                <a:latin typeface="DejaVu Sans"/>
                <a:ea typeface="DejaVu Sans"/>
                <a:cs typeface="DejaVu Sans"/>
              </a:rPr>
              <a:t>Polimorfismo</a:t>
            </a:r>
          </a:p>
        </p:txBody>
      </p:sp>
      <p:sp>
        <p:nvSpPr>
          <p:cNvPr id="7" name="bucle-polimorfico">
            <a:extLst xmlns:a="http://schemas.openxmlformats.org/drawingml/2006/main">
              <a:ext uri="{FF2B5EF4-FFF2-40B4-BE49-F238E27FC236}">
                <a16:creationId xmlns:a16="http://schemas.microsoft.com/office/drawing/2014/main" id="{F2BC45C1-77A8-449D-BFB9-22A8D03AAED4}"/>
              </a:ext>
            </a:extLst>
          </p:cNvPr>
          <p:cNvSpPr>
            <a:spLocks xmlns:a="http://schemas.openxmlformats.org/drawingml/2006/main" noGrp="1"/>
          </p:cNvSpPr>
          <p:nvPr/>
        </p:nvSpPr>
        <p:spPr>
          <a:xfrm xmlns:a="http://schemas.openxmlformats.org/drawingml/2006/main">
            <a:off x="609600" y="3895725"/>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172F3C"/>
                </a:solidFill>
                <a:latin typeface="DejaVu Sans Mono"/>
                <a:ea typeface="DejaVu Sans Mono"/>
                <a:cs typeface="DejaVu Sans Mono"/>
              </a:defRPr>
            </a:defPPr>
          </a:lstStyle>
          <a:p xmlns:a="http://schemas.openxmlformats.org/drawingml/2006/main">
            <a:pPr>
              <a:defRPr sz="1725" b="0">
                <a:solidFill>
                  <a:srgbClr val="172F3C"/>
                </a:solidFill>
                <a:latin typeface="DejaVu Sans Mono"/>
                <a:ea typeface="DejaVu Sans Mono"/>
                <a:cs typeface="DejaVu Sans Mono"/>
              </a:defRPr>
            </a:pPr>
            <a:r>
              <a:rPr sz="1725" b="0">
                <a:solidFill>
                  <a:srgbClr val="172F3C"/>
                </a:solidFill>
                <a:latin typeface="DejaVu Sans Mono"/>
                <a:ea typeface="DejaVu Sans Mono"/>
                <a:cs typeface="DejaVu Sans Mono"/>
              </a:rPr>
              <a:t>for personaje in self.personajes:</a:t>
            </a:r>
          </a:p>
          <a:p xmlns:a="http://schemas.openxmlformats.org/drawingml/2006/main">
            <a:pPr>
              <a:defRPr sz="1725" b="0">
                <a:solidFill>
                  <a:srgbClr val="172F3C"/>
                </a:solidFill>
                <a:latin typeface="DejaVu Sans Mono"/>
                <a:ea typeface="DejaVu Sans Mono"/>
                <a:cs typeface="DejaVu Sans Mono"/>
              </a:defRPr>
            </a:pPr>
            <a:r>
              <a:rPr sz="1725" b="0">
                <a:solidFill>
                  <a:srgbClr val="172F3C"/>
                </a:solidFill>
                <a:latin typeface="DejaVu Sans Mono"/>
                <a:ea typeface="DejaVu Sans Mono"/>
                <a:cs typeface="DejaVu Sans Mono"/>
              </a:rPr>
              <a:t>    personaje.update()</a:t>
            </a:r>
          </a:p>
        </p:txBody>
      </p:sp>
      <p:sp>
        <p:nvSpPr>
          <p:cNvPr id="8" name="texto">
            <a:extLst xmlns:a="http://schemas.openxmlformats.org/drawingml/2006/main">
              <a:ext uri="{FF2B5EF4-FFF2-40B4-BE49-F238E27FC236}">
                <a16:creationId xmlns:a16="http://schemas.microsoft.com/office/drawing/2014/main" id="{6B33A105-1913-45EC-B249-D5F552B00877}"/>
              </a:ext>
            </a:extLst>
          </p:cNvPr>
          <p:cNvSpPr>
            <a:spLocks xmlns:a="http://schemas.openxmlformats.org/drawingml/2006/main" noGrp="1"/>
          </p:cNvSpPr>
          <p:nvPr/>
        </p:nvSpPr>
        <p:spPr>
          <a:xfrm xmlns:a="http://schemas.openxmlformats.org/drawingml/2006/main">
            <a:off x="609600" y="50006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16735D"/>
                </a:solidFill>
                <a:latin typeface="DejaVu Sans"/>
                <a:ea typeface="DejaVu Sans"/>
                <a:cs typeface="DejaVu Sans"/>
              </a:defRPr>
            </a:defPPr>
          </a:lstStyle>
          <a:p xmlns:a="http://schemas.openxmlformats.org/drawingml/2006/main">
            <a:pPr>
              <a:defRPr sz="1950" b="1">
                <a:solidFill>
                  <a:srgbClr val="16735D"/>
                </a:solidFill>
                <a:latin typeface="DejaVu Sans"/>
                <a:ea typeface="DejaVu Sans"/>
                <a:cs typeface="DejaVu Sans"/>
              </a:defRPr>
            </a:pPr>
            <a:r>
              <a:rPr sz="1950" b="1">
                <a:solidFill>
                  <a:srgbClr val="16735D"/>
                </a:solidFill>
                <a:latin typeface="DejaVu Sans"/>
                <a:ea typeface="DejaVu Sans"/>
                <a:cs typeface="DejaVu Sans"/>
              </a:rPr>
              <a:t>Encapsulamiento</a:t>
            </a:r>
          </a:p>
        </p:txBody>
      </p:sp>
      <p:sp>
        <p:nvSpPr>
          <p:cNvPr id="9" name="texto">
            <a:extLst xmlns:a="http://schemas.openxmlformats.org/drawingml/2006/main">
              <a:ext uri="{FF2B5EF4-FFF2-40B4-BE49-F238E27FC236}">
                <a16:creationId xmlns:a16="http://schemas.microsoft.com/office/drawing/2014/main" id="{9BA8052A-42AA-48AB-A892-1FAD7FAB5180}"/>
              </a:ext>
            </a:extLst>
          </p:cNvPr>
          <p:cNvSpPr>
            <a:spLocks xmlns:a="http://schemas.openxmlformats.org/drawingml/2006/main" noGrp="1"/>
          </p:cNvSpPr>
          <p:nvPr/>
        </p:nvSpPr>
        <p:spPr>
          <a:xfrm xmlns:a="http://schemas.openxmlformats.org/drawingml/2006/main">
            <a:off x="609600" y="55435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172F3C"/>
                </a:solidFill>
                <a:latin typeface="DejaVu Sans"/>
                <a:ea typeface="DejaVu Sans"/>
                <a:cs typeface="DejaVu Sans"/>
              </a:defRPr>
            </a:defPPr>
          </a:lstStyle>
          <a:p xmlns:a="http://schemas.openxmlformats.org/drawingml/2006/main">
            <a:pPr>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Puntaje._valor se consulta con get_valor().</a:t>
            </a:r>
          </a:p>
          <a:p xmlns:a="http://schemas.openxmlformats.org/drawingml/2006/main">
            <a:pPr>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set_valor() valida el dato y notifica el cambio.</a:t>
            </a:r>
          </a:p>
        </p:txBody>
      </p:sp>
    </p:spTree>
    <p:extLst>
      <p:ext uri="{BB962C8B-B14F-4D97-AF65-F5344CB8AC3E}">
        <p14:creationId xmlns:p14="http://schemas.microsoft.com/office/powerpoint/2010/main" val="121864363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partado-rubrica">
            <a:extLst xmlns:a="http://schemas.openxmlformats.org/drawingml/2006/main">
              <a:ext uri="{FF2B5EF4-FFF2-40B4-BE49-F238E27FC236}">
                <a16:creationId xmlns:a16="http://schemas.microsoft.com/office/drawing/2014/main" id="{D74FF4DC-9D08-4088-A1A3-A8A364EA5804}"/>
              </a:ext>
            </a:extLst>
          </p:cNvPr>
          <p:cNvSpPr>
            <a:spLocks xmlns:a="http://schemas.openxmlformats.org/drawingml/2006/main" noGrp="1"/>
          </p:cNvSpPr>
          <p:nvPr/>
        </p:nvSpPr>
        <p:spPr>
          <a:xfrm xmlns:a="http://schemas.openxmlformats.org/drawingml/2006/main">
            <a:off x="609600" y="285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Punto 5 de 7. Criterio III: resultados parciales, 3 puntos</a:t>
            </a:r>
          </a:p>
        </p:txBody>
      </p:sp>
      <p:sp>
        <p:nvSpPr>
          <p:cNvPr id="2" name="titulo">
            <a:extLst xmlns:a="http://schemas.openxmlformats.org/drawingml/2006/main">
              <a:ext uri="{FF2B5EF4-FFF2-40B4-BE49-F238E27FC236}">
                <a16:creationId xmlns:a16="http://schemas.microsoft.com/office/drawing/2014/main" id="{832B6B99-9116-42F0-93C3-0B91CE5A56D2}"/>
              </a:ext>
            </a:extLst>
          </p:cNvPr>
          <p:cNvSpPr>
            <a:spLocks xmlns:a="http://schemas.openxmlformats.org/drawingml/2006/main" noGrp="1"/>
          </p:cNvSpPr>
          <p:nvPr/>
        </p:nvSpPr>
        <p:spPr>
          <a:xfrm xmlns:a="http://schemas.openxmlformats.org/drawingml/2006/main">
            <a:off x="609600" y="790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150" b="1">
                <a:solidFill>
                  <a:srgbClr val="172F3C"/>
                </a:solidFill>
                <a:latin typeface="DejaVu Sans"/>
                <a:ea typeface="DejaVu Sans"/>
                <a:cs typeface="DejaVu Sans"/>
              </a:defRPr>
            </a:defPPr>
          </a:lstStyle>
          <a:p xmlns:a="http://schemas.openxmlformats.org/drawingml/2006/main">
            <a:pPr>
              <a:defRPr sz="3150" b="1">
                <a:solidFill>
                  <a:srgbClr val="172F3C"/>
                </a:solidFill>
                <a:latin typeface="DejaVu Sans"/>
                <a:ea typeface="DejaVu Sans"/>
                <a:cs typeface="DejaVu Sans"/>
              </a:defRPr>
            </a:pPr>
            <a:r>
              <a:rPr sz="3150" b="1">
                <a:solidFill>
                  <a:srgbClr val="172F3C"/>
                </a:solidFill>
                <a:latin typeface="DejaVu Sans"/>
                <a:ea typeface="DejaVu Sans"/>
                <a:cs typeface="DejaVu Sans"/>
              </a:rPr>
              <a:t>VI. Resultados parciales</a:t>
            </a:r>
          </a:p>
        </p:txBody>
      </p:sp>
      <p:sp>
        <p:nvSpPr>
          <p:cNvPr id="3" name="numero">
            <a:extLst xmlns:a="http://schemas.openxmlformats.org/drawingml/2006/main">
              <a:ext uri="{FF2B5EF4-FFF2-40B4-BE49-F238E27FC236}">
                <a16:creationId xmlns:a16="http://schemas.microsoft.com/office/drawing/2014/main" id="{9F5D2316-64D3-4118-A218-78696C8226A1}"/>
              </a:ext>
            </a:extLst>
          </p:cNvPr>
          <p:cNvSpPr>
            <a:spLocks xmlns:a="http://schemas.openxmlformats.org/drawingml/2006/main" noGrp="1"/>
          </p:cNvSpPr>
          <p:nvPr/>
        </p:nvSpPr>
        <p:spPr>
          <a:xfrm xmlns:a="http://schemas.openxmlformats.org/drawingml/2006/main">
            <a:off x="11210925" y="64770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50" b="0">
                <a:solidFill>
                  <a:srgbClr val="526773"/>
                </a:solidFill>
                <a:latin typeface="DejaVu Sans"/>
                <a:ea typeface="DejaVu Sans"/>
                <a:cs typeface="DejaVu Sans"/>
              </a:defRPr>
            </a:defPPr>
          </a:lstStyle>
          <a:p xmlns:a="http://schemas.openxmlformats.org/drawingml/2006/main">
            <a:pPr>
              <a:defRPr sz="1050" b="0">
                <a:solidFill>
                  <a:srgbClr val="526773"/>
                </a:solidFill>
                <a:latin typeface="DejaVu Sans"/>
                <a:ea typeface="DejaVu Sans"/>
                <a:cs typeface="DejaVu Sans"/>
              </a:defRPr>
            </a:pPr>
            <a:r>
              <a:rPr sz="1050" b="0">
                <a:solidFill>
                  <a:srgbClr val="526773"/>
                </a:solidFill>
                <a:latin typeface="DejaVu Sans"/>
                <a:ea typeface="DejaVu Sans"/>
                <a:cs typeface="DejaVu Sans"/>
              </a:rPr>
              <a:t>11</a:t>
            </a:r>
          </a:p>
        </p:txBody>
      </p:sp>
      <p:pic>
        <p:nvPicPr>
          <p:cNvPr id="4" name="">
            <a:extLst xmlns:a="http://schemas.openxmlformats.org/drawingml/2006/main">
              <a:ext uri="{FF2B5EF4-FFF2-40B4-BE49-F238E27FC236}">
                <a16:creationId xmlns:a16="http://schemas.microsoft.com/office/drawing/2014/main" id="{1DC6066D-1380-46A9-B740-68A4E0B9D834}"/>
              </a:ext>
            </a:extLst>
          </p:cNvPr>
          <p:cNvPicPr>
            <a:picLocks xmlns:a="http://schemas.openxmlformats.org/drawingml/2006/main" noChangeAspect="1"/>
          </p:cNvPicPr>
          <p:nvPr/>
        </p:nvPicPr>
        <p:blipFill>
          <a:blip xmlns:r="http://schemas.openxmlformats.org/officeDocument/2006/relationships" xmlns:a="http://schemas.openxmlformats.org/drawingml/2006/main" r:embed="Ra42be96b5f8f44fb"/>
          <a:srcRect xmlns:a="http://schemas.openxmlformats.org/drawingml/2006/main" l="0" t="0" r="0" b="0"/>
          <a:stretch xmlns:a="http://schemas.openxmlformats.org/drawingml/2006/main">
            <a:fillRect l="0" t="0" r="0" b="0"/>
          </a:stretch>
        </p:blipFill>
        <p:spPr>
          <a:xfrm xmlns:a="http://schemas.openxmlformats.org/drawingml/2006/main">
            <a:off x="612107" y="2038350"/>
            <a:ext cx="5852862" cy="4448175"/>
          </a:xfrm>
          <a:prstGeom xmlns:a="http://schemas.openxmlformats.org/drawingml/2006/main" prst="rect">
            <a:avLst/>
          </a:prstGeom>
        </p:spPr>
      </p:pic>
      <p:sp>
        <p:nvSpPr>
          <p:cNvPr id="5" name="texto">
            <a:extLst xmlns:a="http://schemas.openxmlformats.org/drawingml/2006/main">
              <a:ext uri="{FF2B5EF4-FFF2-40B4-BE49-F238E27FC236}">
                <a16:creationId xmlns:a16="http://schemas.microsoft.com/office/drawing/2014/main" id="{191EE7C5-F5ED-41F6-AE3C-00CE2FD0E1A7}"/>
              </a:ext>
            </a:extLst>
          </p:cNvPr>
          <p:cNvSpPr>
            <a:spLocks xmlns:a="http://schemas.openxmlformats.org/drawingml/2006/main" noGrp="1"/>
          </p:cNvSpPr>
          <p:nvPr/>
        </p:nvSpPr>
        <p:spPr>
          <a:xfrm xmlns:a="http://schemas.openxmlformats.org/drawingml/2006/main">
            <a:off x="6991350" y="2057400"/>
            <a:ext cx="4524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16735D"/>
                </a:solidFill>
                <a:latin typeface="DejaVu Sans"/>
                <a:ea typeface="DejaVu Sans"/>
                <a:cs typeface="DejaVu Sans"/>
              </a:defRPr>
            </a:defPPr>
          </a:lstStyle>
          <a:p xmlns:a="http://schemas.openxmlformats.org/drawingml/2006/main">
            <a:pPr>
              <a:defRPr sz="1950" b="1">
                <a:solidFill>
                  <a:srgbClr val="16735D"/>
                </a:solidFill>
                <a:latin typeface="DejaVu Sans"/>
                <a:ea typeface="DejaVu Sans"/>
                <a:cs typeface="DejaVu Sans"/>
              </a:defRPr>
            </a:pPr>
            <a:r>
              <a:rPr sz="1950" b="1">
                <a:solidFill>
                  <a:srgbClr val="16735D"/>
                </a:solidFill>
                <a:latin typeface="DejaVu Sans"/>
                <a:ea typeface="DejaVu Sans"/>
                <a:cs typeface="DejaVu Sans"/>
              </a:rPr>
              <a:t>Interfaces y funcionalidades</a:t>
            </a:r>
          </a:p>
        </p:txBody>
      </p:sp>
      <p:sp>
        <p:nvSpPr>
          <p:cNvPr id="6" name="texto">
            <a:extLst xmlns:a="http://schemas.openxmlformats.org/drawingml/2006/main">
              <a:ext uri="{FF2B5EF4-FFF2-40B4-BE49-F238E27FC236}">
                <a16:creationId xmlns:a16="http://schemas.microsoft.com/office/drawing/2014/main" id="{BFCE25EB-C35A-4970-B32B-70C1CF0F371A}"/>
              </a:ext>
            </a:extLst>
          </p:cNvPr>
          <p:cNvSpPr>
            <a:spLocks xmlns:a="http://schemas.openxmlformats.org/drawingml/2006/main" noGrp="1"/>
          </p:cNvSpPr>
          <p:nvPr/>
        </p:nvSpPr>
        <p:spPr>
          <a:xfrm xmlns:a="http://schemas.openxmlformats.org/drawingml/2006/main">
            <a:off x="6991350" y="2638425"/>
            <a:ext cx="4524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172F3C"/>
                </a:solidFill>
                <a:latin typeface="DejaVu Sans"/>
                <a:ea typeface="DejaVu Sans"/>
                <a:cs typeface="DejaVu Sans"/>
              </a:defRPr>
            </a:defPPr>
          </a:lstStyle>
          <a:p xmlns:a="http://schemas.openxmlformats.org/drawingml/2006/main">
            <a:pPr>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Apertura de celda, vigilancia,</a:t>
            </a:r>
          </a:p>
          <a:p xmlns:a="http://schemas.openxmlformats.org/drawingml/2006/main">
            <a:pPr>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llaves y salida.</a:t>
            </a:r>
          </a:p>
          <a:p xmlns:a="http://schemas.openxmlformats.org/drawingml/2006/main">
            <a:pPr>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Campaña de cuatro niveles.</a:t>
            </a:r>
          </a:p>
        </p:txBody>
      </p:sp>
      <p:sp>
        <p:nvSpPr>
          <p:cNvPr id="7" name="texto">
            <a:extLst xmlns:a="http://schemas.openxmlformats.org/drawingml/2006/main">
              <a:ext uri="{FF2B5EF4-FFF2-40B4-BE49-F238E27FC236}">
                <a16:creationId xmlns:a16="http://schemas.microsoft.com/office/drawing/2014/main" id="{8A09FAE8-F101-4FF7-8616-B564B51A4542}"/>
              </a:ext>
            </a:extLst>
          </p:cNvPr>
          <p:cNvSpPr>
            <a:spLocks xmlns:a="http://schemas.openxmlformats.org/drawingml/2006/main" noGrp="1"/>
          </p:cNvSpPr>
          <p:nvPr/>
        </p:nvSpPr>
        <p:spPr>
          <a:xfrm xmlns:a="http://schemas.openxmlformats.org/drawingml/2006/main">
            <a:off x="6991350" y="4105275"/>
            <a:ext cx="4524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16735D"/>
                </a:solidFill>
                <a:latin typeface="DejaVu Sans"/>
                <a:ea typeface="DejaVu Sans"/>
                <a:cs typeface="DejaVu Sans"/>
              </a:defRPr>
            </a:defPPr>
          </a:lstStyle>
          <a:p xmlns:a="http://schemas.openxmlformats.org/drawingml/2006/main">
            <a:pPr>
              <a:defRPr sz="1950" b="1">
                <a:solidFill>
                  <a:srgbClr val="16735D"/>
                </a:solidFill>
                <a:latin typeface="DejaVu Sans"/>
                <a:ea typeface="DejaVu Sans"/>
                <a:cs typeface="DejaVu Sans"/>
              </a:defRPr>
            </a:pPr>
            <a:r>
              <a:rPr sz="1950" b="1">
                <a:solidFill>
                  <a:srgbClr val="16735D"/>
                </a:solidFill>
                <a:latin typeface="DejaVu Sans"/>
                <a:ea typeface="DejaVu Sans"/>
                <a:cs typeface="DejaVu Sans"/>
              </a:rPr>
              <a:t>Uso de Git</a:t>
            </a:r>
          </a:p>
        </p:txBody>
      </p:sp>
      <p:sp>
        <p:nvSpPr>
          <p:cNvPr id="8" name="texto">
            <a:extLst xmlns:a="http://schemas.openxmlformats.org/drawingml/2006/main">
              <a:ext uri="{FF2B5EF4-FFF2-40B4-BE49-F238E27FC236}">
                <a16:creationId xmlns:a16="http://schemas.microsoft.com/office/drawing/2014/main" id="{7C86F058-6747-4F3E-903E-67C8CB5D7B5B}"/>
              </a:ext>
            </a:extLst>
          </p:cNvPr>
          <p:cNvSpPr>
            <a:spLocks xmlns:a="http://schemas.openxmlformats.org/drawingml/2006/main" noGrp="1"/>
          </p:cNvSpPr>
          <p:nvPr/>
        </p:nvSpPr>
        <p:spPr>
          <a:xfrm xmlns:a="http://schemas.openxmlformats.org/drawingml/2006/main">
            <a:off x="6991350" y="4648200"/>
            <a:ext cx="45243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172F3C"/>
                </a:solidFill>
                <a:latin typeface="DejaVu Sans"/>
                <a:ea typeface="DejaVu Sans"/>
                <a:cs typeface="DejaVu Sans"/>
              </a:defRPr>
            </a:defPPr>
          </a:lstStyle>
          <a:p xmlns:a="http://schemas.openxmlformats.org/drawingml/2006/main">
            <a:pPr>
              <a:defRPr sz="1575" b="0">
                <a:solidFill>
                  <a:srgbClr val="172F3C"/>
                </a:solidFill>
                <a:latin typeface="DejaVu Sans"/>
                <a:ea typeface="DejaVu Sans"/>
                <a:cs typeface="DejaVu Sans"/>
              </a:defRPr>
            </a:pPr>
            <a:r>
              <a:rPr sz="1575" b="0">
                <a:solidFill>
                  <a:srgbClr val="172F3C"/>
                </a:solidFill>
                <a:latin typeface="DejaVu Sans"/>
                <a:ea typeface="DejaVu Sans"/>
                <a:cs typeface="DejaVu Sans"/>
              </a:rPr>
              <a:t>cfaba6e   Plan inicial</a:t>
            </a:r>
          </a:p>
          <a:p xmlns:a="http://schemas.openxmlformats.org/drawingml/2006/main">
            <a:pPr>
              <a:defRPr sz="1575" b="0">
                <a:solidFill>
                  <a:srgbClr val="172F3C"/>
                </a:solidFill>
                <a:latin typeface="DejaVu Sans"/>
                <a:ea typeface="DejaVu Sans"/>
                <a:cs typeface="DejaVu Sans"/>
              </a:defRPr>
            </a:pPr>
            <a:r>
              <a:rPr sz="1575" b="0">
                <a:solidFill>
                  <a:srgbClr val="172F3C"/>
                </a:solidFill>
                <a:latin typeface="DejaVu Sans"/>
                <a:ea typeface="DejaVu Sans"/>
                <a:cs typeface="DejaVu Sans"/>
              </a:rPr>
              <a:t>8917f20   Prototipo y pruebas</a:t>
            </a:r>
          </a:p>
          <a:p xmlns:a="http://schemas.openxmlformats.org/drawingml/2006/main">
            <a:pPr>
              <a:defRPr sz="1575" b="0">
                <a:solidFill>
                  <a:srgbClr val="172F3C"/>
                </a:solidFill>
                <a:latin typeface="DejaVu Sans"/>
                <a:ea typeface="DejaVu Sans"/>
                <a:cs typeface="DejaVu Sans"/>
              </a:defRPr>
            </a:pPr>
            <a:r>
              <a:rPr sz="1575" b="0">
                <a:solidFill>
                  <a:srgbClr val="172F3C"/>
                </a:solidFill>
                <a:latin typeface="DejaVu Sans"/>
                <a:ea typeface="DejaVu Sans"/>
                <a:cs typeface="DejaVu Sans"/>
              </a:rPr>
              <a:t>f3cd9fe   Informe y diagramas</a:t>
            </a:r>
          </a:p>
        </p:txBody>
      </p:sp>
      <p:sp>
        <p:nvSpPr>
          <p:cNvPr id="9" name="texto">
            <a:extLst xmlns:a="http://schemas.openxmlformats.org/drawingml/2006/main">
              <a:ext uri="{FF2B5EF4-FFF2-40B4-BE49-F238E27FC236}">
                <a16:creationId xmlns:a16="http://schemas.microsoft.com/office/drawing/2014/main" id="{D93D10F0-48B0-4B31-86D4-F8552841EC93}"/>
              </a:ext>
            </a:extLst>
          </p:cNvPr>
          <p:cNvSpPr>
            <a:spLocks xmlns:a="http://schemas.openxmlformats.org/drawingml/2006/main" noGrp="1"/>
          </p:cNvSpPr>
          <p:nvPr/>
        </p:nvSpPr>
        <p:spPr>
          <a:xfrm xmlns:a="http://schemas.openxmlformats.org/drawingml/2006/main">
            <a:off x="6991350" y="6000750"/>
            <a:ext cx="4524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hlinkClick xmlns:r="http://schemas.openxmlformats.org/officeDocument/2006/relationships" r:id="Re5b1fc01e59148ca"/>
              </a:rPr>
              <a:t>Ver historial del repositorio</a:t>
            </a:r>
          </a:p>
        </p:txBody>
      </p:sp>
    </p:spTree>
    <p:extLst>
      <p:ext uri="{BB962C8B-B14F-4D97-AF65-F5344CB8AC3E}">
        <p14:creationId xmlns:p14="http://schemas.microsoft.com/office/powerpoint/2010/main" val="94302649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apartado-rubrica">
            <a:extLst xmlns:a="http://schemas.openxmlformats.org/drawingml/2006/main">
              <a:ext uri="{FF2B5EF4-FFF2-40B4-BE49-F238E27FC236}">
                <a16:creationId xmlns:a16="http://schemas.microsoft.com/office/drawing/2014/main" id="{2B5C39D4-D791-40C5-8AD0-C28B02A291F9}"/>
              </a:ext>
            </a:extLst>
          </p:cNvPr>
          <p:cNvSpPr>
            <a:spLocks xmlns:a="http://schemas.openxmlformats.org/drawingml/2006/main" noGrp="1"/>
          </p:cNvSpPr>
          <p:nvPr/>
        </p:nvSpPr>
        <p:spPr>
          <a:xfrm xmlns:a="http://schemas.openxmlformats.org/drawingml/2006/main">
            <a:off x="609600" y="285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6735D"/>
                </a:solidFill>
                <a:latin typeface="DejaVu Sans"/>
                <a:ea typeface="DejaVu Sans"/>
                <a:cs typeface="DejaVu Sans"/>
              </a:defRPr>
            </a:defPPr>
          </a:lstStyle>
          <a:p xmlns:a="http://schemas.openxmlformats.org/drawingml/2006/main">
            <a:pPr algn="l">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VII. Conclusiones</a:t>
            </a:r>
          </a:p>
        </p:txBody>
      </p:sp>
      <p:sp>
        <p:nvSpPr>
          <p:cNvPr id="3" name="titulo">
            <a:extLst xmlns:a="http://schemas.openxmlformats.org/drawingml/2006/main">
              <a:ext uri="{FF2B5EF4-FFF2-40B4-BE49-F238E27FC236}">
                <a16:creationId xmlns:a16="http://schemas.microsoft.com/office/drawing/2014/main" id="{DA4CA869-6C04-4580-94E7-01265226AE02}"/>
              </a:ext>
            </a:extLst>
          </p:cNvPr>
          <p:cNvSpPr>
            <a:spLocks xmlns:a="http://schemas.openxmlformats.org/drawingml/2006/main" noGrp="1"/>
          </p:cNvSpPr>
          <p:nvPr/>
        </p:nvSpPr>
        <p:spPr>
          <a:xfrm xmlns:a="http://schemas.openxmlformats.org/drawingml/2006/main">
            <a:off x="609600" y="790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72F3C"/>
                </a:solidFill>
                <a:latin typeface="DejaVu Sans"/>
                <a:ea typeface="DejaVu Sans"/>
                <a:cs typeface="DejaVu Sans"/>
              </a:defRPr>
            </a:defPPr>
          </a:lstStyle>
          <a:p xmlns:a="http://schemas.openxmlformats.org/drawingml/2006/main">
            <a:pPr algn="l">
              <a:buNone/>
              <a:defRPr sz="3150" b="1">
                <a:solidFill>
                  <a:srgbClr val="172F3C"/>
                </a:solidFill>
                <a:latin typeface="DejaVu Sans"/>
                <a:ea typeface="DejaVu Sans"/>
                <a:cs typeface="DejaVu Sans"/>
              </a:defRPr>
            </a:pPr>
            <a:r>
              <a:rPr sz="3150" b="1">
                <a:solidFill>
                  <a:srgbClr val="172F3C"/>
                </a:solidFill>
                <a:latin typeface="DejaVu Sans"/>
                <a:ea typeface="DejaVu Sans"/>
                <a:cs typeface="DejaVu Sans"/>
              </a:rPr>
              <a:t>Conclusiones del proyecto</a:t>
            </a:r>
          </a:p>
        </p:txBody>
      </p:sp>
      <p:sp>
        <p:nvSpPr>
          <p:cNvPr id="4" name="numero">
            <a:extLst xmlns:a="http://schemas.openxmlformats.org/drawingml/2006/main">
              <a:ext uri="{FF2B5EF4-FFF2-40B4-BE49-F238E27FC236}">
                <a16:creationId xmlns:a16="http://schemas.microsoft.com/office/drawing/2014/main" id="{AE0B8A9B-9FF7-4603-8979-A8B830F68671}"/>
              </a:ext>
            </a:extLst>
          </p:cNvPr>
          <p:cNvSpPr>
            <a:spLocks xmlns:a="http://schemas.openxmlformats.org/drawingml/2006/main" noGrp="1"/>
          </p:cNvSpPr>
          <p:nvPr/>
        </p:nvSpPr>
        <p:spPr>
          <a:xfrm xmlns:a="http://schemas.openxmlformats.org/drawingml/2006/main">
            <a:off x="11210925" y="64770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526773"/>
                </a:solidFill>
                <a:latin typeface="DejaVu Sans"/>
                <a:ea typeface="DejaVu Sans"/>
                <a:cs typeface="DejaVu Sans"/>
              </a:defRPr>
            </a:defPPr>
          </a:lstStyle>
          <a:p xmlns:a="http://schemas.openxmlformats.org/drawingml/2006/main">
            <a:pPr algn="l">
              <a:buNone/>
              <a:defRPr sz="1050" b="0">
                <a:solidFill>
                  <a:srgbClr val="526773"/>
                </a:solidFill>
                <a:latin typeface="DejaVu Sans"/>
                <a:ea typeface="DejaVu Sans"/>
                <a:cs typeface="DejaVu Sans"/>
              </a:defRPr>
            </a:pPr>
            <a:r>
              <a:rPr sz="1050" b="0">
                <a:solidFill>
                  <a:srgbClr val="526773"/>
                </a:solidFill>
                <a:latin typeface="DejaVu Sans"/>
                <a:ea typeface="DejaVu Sans"/>
                <a:cs typeface="DejaVu Sans"/>
              </a:rPr>
              <a:t>42</a:t>
            </a:r>
          </a:p>
        </p:txBody>
      </p:sp>
      <p:sp>
        <p:nvSpPr>
          <p:cNvPr id="5" name="">
            <a:extLst xmlns:a="http://schemas.openxmlformats.org/drawingml/2006/main">
              <a:ext uri="{FF2B5EF4-FFF2-40B4-BE49-F238E27FC236}">
                <a16:creationId xmlns:a16="http://schemas.microsoft.com/office/drawing/2014/main" id="{BEFC6F2C-5216-4D30-A676-B523981919C3}"/>
              </a:ext>
            </a:extLst>
          </p:cNvPr>
          <p:cNvSpPr>
            <a:spLocks xmlns:a="http://schemas.openxmlformats.org/drawingml/2006/main" noGrp="1"/>
          </p:cNvSpPr>
          <p:nvPr/>
        </p:nvSpPr>
        <p:spPr>
          <a:xfrm xmlns:a="http://schemas.openxmlformats.org/drawingml/2006/main">
            <a:off x="609600" y="2076450"/>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6735D"/>
                </a:solidFill>
                <a:latin typeface="DejaVu Sans"/>
                <a:ea typeface="DejaVu Sans"/>
                <a:cs typeface="DejaVu Sans"/>
              </a:defRPr>
            </a:defPPr>
          </a:lstStyle>
          <a:p xmlns:a="http://schemas.openxmlformats.org/drawingml/2006/main">
            <a:pPr algn="l">
              <a:defRPr sz="2025" b="1">
                <a:solidFill>
                  <a:srgbClr val="16735D"/>
                </a:solidFill>
                <a:latin typeface="DejaVu Sans"/>
                <a:ea typeface="DejaVu Sans"/>
                <a:cs typeface="DejaVu Sans"/>
              </a:defRPr>
            </a:pPr>
            <a:r>
              <a:rPr sz="2025" b="1">
                <a:solidFill>
                  <a:srgbClr val="16735D"/>
                </a:solidFill>
                <a:latin typeface="DejaVu Sans"/>
                <a:ea typeface="DejaVu Sans"/>
                <a:cs typeface="DejaVu Sans"/>
              </a:rPr>
              <a:t>Resultado</a:t>
            </a:r>
          </a:p>
        </p:txBody>
      </p:sp>
      <p:sp>
        <p:nvSpPr>
          <p:cNvPr id="6" name="">
            <a:extLst xmlns:a="http://schemas.openxmlformats.org/drawingml/2006/main">
              <a:ext uri="{FF2B5EF4-FFF2-40B4-BE49-F238E27FC236}">
                <a16:creationId xmlns:a16="http://schemas.microsoft.com/office/drawing/2014/main" id="{E2089675-399F-4CC7-B97F-4252ED164E37}"/>
              </a:ext>
            </a:extLst>
          </p:cNvPr>
          <p:cNvSpPr>
            <a:spLocks xmlns:a="http://schemas.openxmlformats.org/drawingml/2006/main" noGrp="1"/>
          </p:cNvSpPr>
          <p:nvPr/>
        </p:nvSpPr>
        <p:spPr>
          <a:xfrm xmlns:a="http://schemas.openxmlformats.org/drawingml/2006/main">
            <a:off x="3095625" y="2076450"/>
            <a:ext cx="8429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F3C"/>
                </a:solidFill>
                <a:latin typeface="DejaVu Sans"/>
                <a:ea typeface="DejaVu Sans"/>
                <a:cs typeface="DejaVu Sans"/>
              </a:defRPr>
            </a:defPPr>
          </a:lstStyle>
          <a:p xmlns:a="http://schemas.openxmlformats.org/drawingml/2006/main">
            <a:pPr algn="l">
              <a:defRPr sz="1950" b="0">
                <a:solidFill>
                  <a:srgbClr val="172F3C"/>
                </a:solidFill>
                <a:latin typeface="DejaVu Sans"/>
                <a:ea typeface="DejaVu Sans"/>
                <a:cs typeface="DejaVu Sans"/>
              </a:defRPr>
            </a:pPr>
            <a:r>
              <a:rPr sz="1950" b="0">
                <a:solidFill>
                  <a:srgbClr val="172F3C"/>
                </a:solidFill>
                <a:latin typeface="DejaVu Sans"/>
                <a:ea typeface="DejaVu Sans"/>
                <a:cs typeface="DejaVu Sans"/>
              </a:rPr>
              <a:t>El proyecto reúne cuatro niveles, 25 clases y un jefe con tres capas de dificultad creciente.</a:t>
            </a:r>
          </a:p>
        </p:txBody>
      </p:sp>
      <p:sp>
        <p:nvSpPr>
          <p:cNvPr id="7" name="">
            <a:extLst xmlns:a="http://schemas.openxmlformats.org/drawingml/2006/main">
              <a:ext uri="{FF2B5EF4-FFF2-40B4-BE49-F238E27FC236}">
                <a16:creationId xmlns:a16="http://schemas.microsoft.com/office/drawing/2014/main" id="{55C63109-2FE8-44A0-8620-9D0C02525B47}"/>
              </a:ext>
            </a:extLst>
          </p:cNvPr>
          <p:cNvSpPr>
            <a:spLocks xmlns:a="http://schemas.openxmlformats.org/drawingml/2006/main" noGrp="1"/>
          </p:cNvSpPr>
          <p:nvPr/>
        </p:nvSpPr>
        <p:spPr>
          <a:xfrm xmlns:a="http://schemas.openxmlformats.org/drawingml/2006/main">
            <a:off x="609600" y="3076575"/>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6735D"/>
                </a:solidFill>
                <a:latin typeface="DejaVu Sans"/>
                <a:ea typeface="DejaVu Sans"/>
                <a:cs typeface="DejaVu Sans"/>
              </a:defRPr>
            </a:defPPr>
          </a:lstStyle>
          <a:p xmlns:a="http://schemas.openxmlformats.org/drawingml/2006/main">
            <a:pPr algn="l">
              <a:defRPr sz="2025" b="1">
                <a:solidFill>
                  <a:srgbClr val="16735D"/>
                </a:solidFill>
                <a:latin typeface="DejaVu Sans"/>
                <a:ea typeface="DejaVu Sans"/>
                <a:cs typeface="DejaVu Sans"/>
              </a:defRPr>
            </a:pPr>
            <a:r>
              <a:rPr sz="2025" b="1">
                <a:solidFill>
                  <a:srgbClr val="16735D"/>
                </a:solidFill>
                <a:latin typeface="DejaVu Sans"/>
                <a:ea typeface="DejaVu Sans"/>
                <a:cs typeface="DejaVu Sans"/>
              </a:rPr>
              <a:t>POO aplicada</a:t>
            </a:r>
          </a:p>
        </p:txBody>
      </p:sp>
      <p:sp>
        <p:nvSpPr>
          <p:cNvPr id="8" name="">
            <a:extLst xmlns:a="http://schemas.openxmlformats.org/drawingml/2006/main">
              <a:ext uri="{FF2B5EF4-FFF2-40B4-BE49-F238E27FC236}">
                <a16:creationId xmlns:a16="http://schemas.microsoft.com/office/drawing/2014/main" id="{4FD3B17E-F4F1-40EA-908D-51652D53DC38}"/>
              </a:ext>
            </a:extLst>
          </p:cNvPr>
          <p:cNvSpPr>
            <a:spLocks xmlns:a="http://schemas.openxmlformats.org/drawingml/2006/main" noGrp="1"/>
          </p:cNvSpPr>
          <p:nvPr/>
        </p:nvSpPr>
        <p:spPr>
          <a:xfrm xmlns:a="http://schemas.openxmlformats.org/drawingml/2006/main">
            <a:off x="3095625" y="3076575"/>
            <a:ext cx="8429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F3C"/>
                </a:solidFill>
                <a:latin typeface="DejaVu Sans"/>
                <a:ea typeface="DejaVu Sans"/>
                <a:cs typeface="DejaVu Sans"/>
              </a:defRPr>
            </a:defPPr>
          </a:lstStyle>
          <a:p xmlns:a="http://schemas.openxmlformats.org/drawingml/2006/main">
            <a:pPr algn="l">
              <a:defRPr sz="1950" b="0">
                <a:solidFill>
                  <a:srgbClr val="172F3C"/>
                </a:solidFill>
                <a:latin typeface="DejaVu Sans"/>
                <a:ea typeface="DejaVu Sans"/>
                <a:cs typeface="DejaVu Sans"/>
              </a:defRPr>
            </a:pPr>
            <a:r>
              <a:rPr sz="1950" b="0">
                <a:solidFill>
                  <a:srgbClr val="172F3C"/>
                </a:solidFill>
                <a:latin typeface="DejaVu Sans"/>
                <a:ea typeface="DejaVu Sans"/>
                <a:cs typeface="DejaVu Sans"/>
              </a:rPr>
              <a:t>Asociación, agregación, composición, encapsulamiento, herencia y polimorfismo. State y Observer completan el diseño.</a:t>
            </a:r>
          </a:p>
        </p:txBody>
      </p:sp>
      <p:sp>
        <p:nvSpPr>
          <p:cNvPr id="9" name="">
            <a:extLst xmlns:a="http://schemas.openxmlformats.org/drawingml/2006/main">
              <a:ext uri="{FF2B5EF4-FFF2-40B4-BE49-F238E27FC236}">
                <a16:creationId xmlns:a16="http://schemas.microsoft.com/office/drawing/2014/main" id="{AE38ACE7-DA71-4B02-AEF1-420C48A465C8}"/>
              </a:ext>
            </a:extLst>
          </p:cNvPr>
          <p:cNvSpPr>
            <a:spLocks xmlns:a="http://schemas.openxmlformats.org/drawingml/2006/main" noGrp="1"/>
          </p:cNvSpPr>
          <p:nvPr/>
        </p:nvSpPr>
        <p:spPr>
          <a:xfrm xmlns:a="http://schemas.openxmlformats.org/drawingml/2006/main">
            <a:off x="609600" y="4076700"/>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6735D"/>
                </a:solidFill>
                <a:latin typeface="DejaVu Sans"/>
                <a:ea typeface="DejaVu Sans"/>
                <a:cs typeface="DejaVu Sans"/>
              </a:defRPr>
            </a:defPPr>
          </a:lstStyle>
          <a:p xmlns:a="http://schemas.openxmlformats.org/drawingml/2006/main">
            <a:pPr algn="l">
              <a:defRPr sz="2025" b="1">
                <a:solidFill>
                  <a:srgbClr val="16735D"/>
                </a:solidFill>
                <a:latin typeface="DejaVu Sans"/>
                <a:ea typeface="DejaVu Sans"/>
                <a:cs typeface="DejaVu Sans"/>
              </a:defRPr>
            </a:pPr>
            <a:r>
              <a:rPr sz="2025" b="1">
                <a:solidFill>
                  <a:srgbClr val="16735D"/>
                </a:solidFill>
                <a:latin typeface="DejaVu Sans"/>
                <a:ea typeface="DejaVu Sans"/>
                <a:cs typeface="DejaVu Sans"/>
              </a:rPr>
              <a:t>Tecnologías</a:t>
            </a:r>
          </a:p>
        </p:txBody>
      </p:sp>
      <p:sp>
        <p:nvSpPr>
          <p:cNvPr id="10" name="">
            <a:extLst xmlns:a="http://schemas.openxmlformats.org/drawingml/2006/main">
              <a:ext uri="{FF2B5EF4-FFF2-40B4-BE49-F238E27FC236}">
                <a16:creationId xmlns:a16="http://schemas.microsoft.com/office/drawing/2014/main" id="{6C42930D-6BD3-4EF9-A5C4-4C8EF078D683}"/>
              </a:ext>
            </a:extLst>
          </p:cNvPr>
          <p:cNvSpPr>
            <a:spLocks xmlns:a="http://schemas.openxmlformats.org/drawingml/2006/main" noGrp="1"/>
          </p:cNvSpPr>
          <p:nvPr/>
        </p:nvSpPr>
        <p:spPr>
          <a:xfrm xmlns:a="http://schemas.openxmlformats.org/drawingml/2006/main">
            <a:off x="3095625" y="4076700"/>
            <a:ext cx="8429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F3C"/>
                </a:solidFill>
                <a:latin typeface="DejaVu Sans"/>
                <a:ea typeface="DejaVu Sans"/>
                <a:cs typeface="DejaVu Sans"/>
              </a:defRPr>
            </a:defPPr>
          </a:lstStyle>
          <a:p xmlns:a="http://schemas.openxmlformats.org/drawingml/2006/main">
            <a:pPr algn="l">
              <a:defRPr sz="1950" b="0">
                <a:solidFill>
                  <a:srgbClr val="172F3C"/>
                </a:solidFill>
                <a:latin typeface="DejaVu Sans"/>
                <a:ea typeface="DejaVu Sans"/>
                <a:cs typeface="DejaVu Sans"/>
              </a:defRPr>
            </a:pPr>
            <a:r>
              <a:rPr sz="1950" b="0">
                <a:solidFill>
                  <a:srgbClr val="172F3C"/>
                </a:solidFill>
                <a:latin typeface="DejaVu Sans"/>
                <a:ea typeface="DejaVu Sans"/>
                <a:cs typeface="DejaVu Sans"/>
              </a:rPr>
              <a:t>Python y Pygame implementan el juego. Mermaid documenta el UML. Git y GitHub reúnen los aportes del equipo.</a:t>
            </a:r>
          </a:p>
        </p:txBody>
      </p:sp>
      <p:sp>
        <p:nvSpPr>
          <p:cNvPr id="11" name="">
            <a:extLst xmlns:a="http://schemas.openxmlformats.org/drawingml/2006/main">
              <a:ext uri="{FF2B5EF4-FFF2-40B4-BE49-F238E27FC236}">
                <a16:creationId xmlns:a16="http://schemas.microsoft.com/office/drawing/2014/main" id="{7D0FF3E7-159F-46FB-A831-91900E351AE3}"/>
              </a:ext>
            </a:extLst>
          </p:cNvPr>
          <p:cNvSpPr>
            <a:spLocks xmlns:a="http://schemas.openxmlformats.org/drawingml/2006/main" noGrp="1"/>
          </p:cNvSpPr>
          <p:nvPr/>
        </p:nvSpPr>
        <p:spPr>
          <a:xfrm xmlns:a="http://schemas.openxmlformats.org/drawingml/2006/main">
            <a:off x="609600" y="5076825"/>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6735D"/>
                </a:solidFill>
                <a:latin typeface="DejaVu Sans"/>
                <a:ea typeface="DejaVu Sans"/>
                <a:cs typeface="DejaVu Sans"/>
              </a:defRPr>
            </a:defPPr>
          </a:lstStyle>
          <a:p xmlns:a="http://schemas.openxmlformats.org/drawingml/2006/main">
            <a:pPr algn="l">
              <a:defRPr sz="2025" b="1">
                <a:solidFill>
                  <a:srgbClr val="16735D"/>
                </a:solidFill>
                <a:latin typeface="DejaVu Sans"/>
                <a:ea typeface="DejaVu Sans"/>
                <a:cs typeface="DejaVu Sans"/>
              </a:defRPr>
            </a:pPr>
            <a:r>
              <a:rPr sz="2025" b="1">
                <a:solidFill>
                  <a:srgbClr val="16735D"/>
                </a:solidFill>
                <a:latin typeface="DejaVu Sans"/>
                <a:ea typeface="DejaVu Sans"/>
                <a:cs typeface="DejaVu Sans"/>
              </a:rPr>
              <a:t>Pruebas</a:t>
            </a:r>
          </a:p>
        </p:txBody>
      </p:sp>
      <p:sp>
        <p:nvSpPr>
          <p:cNvPr id="12" name="">
            <a:extLst xmlns:a="http://schemas.openxmlformats.org/drawingml/2006/main">
              <a:ext uri="{FF2B5EF4-FFF2-40B4-BE49-F238E27FC236}">
                <a16:creationId xmlns:a16="http://schemas.microsoft.com/office/drawing/2014/main" id="{B5572C4E-FDC0-4356-B4F1-A16EB5D7210A}"/>
              </a:ext>
            </a:extLst>
          </p:cNvPr>
          <p:cNvSpPr>
            <a:spLocks xmlns:a="http://schemas.openxmlformats.org/drawingml/2006/main" noGrp="1"/>
          </p:cNvSpPr>
          <p:nvPr/>
        </p:nvSpPr>
        <p:spPr>
          <a:xfrm xmlns:a="http://schemas.openxmlformats.org/drawingml/2006/main">
            <a:off x="3095625" y="5076825"/>
            <a:ext cx="8429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F3C"/>
                </a:solidFill>
                <a:latin typeface="DejaVu Sans"/>
                <a:ea typeface="DejaVu Sans"/>
                <a:cs typeface="DejaVu Sans"/>
              </a:defRPr>
            </a:defPPr>
          </a:lstStyle>
          <a:p xmlns:a="http://schemas.openxmlformats.org/drawingml/2006/main">
            <a:pPr algn="l">
              <a:defRPr sz="1950" b="0">
                <a:solidFill>
                  <a:srgbClr val="172F3C"/>
                </a:solidFill>
                <a:latin typeface="DejaVu Sans"/>
                <a:ea typeface="DejaVu Sans"/>
                <a:cs typeface="DejaVu Sans"/>
              </a:defRPr>
            </a:pPr>
            <a:r>
              <a:rPr sz="1950" b="0">
                <a:solidFill>
                  <a:srgbClr val="172F3C"/>
                </a:solidFill>
                <a:latin typeface="DejaVu Sans"/>
                <a:ea typeface="DejaVu Sans"/>
                <a:cs typeface="DejaVu Sans"/>
              </a:rPr>
              <a:t>54 pruebas comparan resultados esperados y detectan regresiones en los escenarios definidos.</a:t>
            </a:r>
          </a:p>
        </p:txBody>
      </p:sp>
    </p:spTree>
    <p:extLst>
      <p:ext uri="{BB962C8B-B14F-4D97-AF65-F5344CB8AC3E}">
        <p14:creationId xmlns:p14="http://schemas.microsoft.com/office/powerpoint/2010/main" val="93728679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partado-rubrica">
            <a:extLst xmlns:a="http://schemas.openxmlformats.org/drawingml/2006/main">
              <a:ext uri="{FF2B5EF4-FFF2-40B4-BE49-F238E27FC236}">
                <a16:creationId xmlns:a16="http://schemas.microsoft.com/office/drawing/2014/main" id="{A26183F0-0640-4674-B529-45FFE401A5AE}"/>
              </a:ext>
            </a:extLst>
          </p:cNvPr>
          <p:cNvSpPr>
            <a:spLocks xmlns:a="http://schemas.openxmlformats.org/drawingml/2006/main" noGrp="1"/>
          </p:cNvSpPr>
          <p:nvPr/>
        </p:nvSpPr>
        <p:spPr>
          <a:xfrm xmlns:a="http://schemas.openxmlformats.org/drawingml/2006/main">
            <a:off x="609600" y="285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6735D"/>
                </a:solidFill>
                <a:latin typeface="DejaVu Sans"/>
                <a:ea typeface="DejaVu Sans"/>
                <a:cs typeface="DejaVu Sans"/>
              </a:defRPr>
            </a:defPPr>
          </a:lstStyle>
          <a:p xmlns:a="http://schemas.openxmlformats.org/drawingml/2006/main">
            <a:pPr algn="l">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VIII. Anexos</a:t>
            </a:r>
          </a:p>
        </p:txBody>
      </p:sp>
      <p:sp>
        <p:nvSpPr>
          <p:cNvPr id="2" name="titulo">
            <a:extLst xmlns:a="http://schemas.openxmlformats.org/drawingml/2006/main">
              <a:ext uri="{FF2B5EF4-FFF2-40B4-BE49-F238E27FC236}">
                <a16:creationId xmlns:a16="http://schemas.microsoft.com/office/drawing/2014/main" id="{F36F143D-8059-416E-AFB5-E1D1DBB697FD}"/>
              </a:ext>
            </a:extLst>
          </p:cNvPr>
          <p:cNvSpPr>
            <a:spLocks xmlns:a="http://schemas.openxmlformats.org/drawingml/2006/main" noGrp="1"/>
          </p:cNvSpPr>
          <p:nvPr/>
        </p:nvSpPr>
        <p:spPr>
          <a:xfrm xmlns:a="http://schemas.openxmlformats.org/drawingml/2006/main">
            <a:off x="609600" y="790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72F3C"/>
                </a:solidFill>
                <a:latin typeface="DejaVu Sans"/>
                <a:ea typeface="DejaVu Sans"/>
                <a:cs typeface="DejaVu Sans"/>
              </a:defRPr>
            </a:defPPr>
          </a:lstStyle>
          <a:p xmlns:a="http://schemas.openxmlformats.org/drawingml/2006/main">
            <a:pPr algn="l">
              <a:buNone/>
              <a:defRPr sz="3150" b="1">
                <a:solidFill>
                  <a:srgbClr val="172F3C"/>
                </a:solidFill>
                <a:latin typeface="DejaVu Sans"/>
                <a:ea typeface="DejaVu Sans"/>
                <a:cs typeface="DejaVu Sans"/>
              </a:defRPr>
            </a:pPr>
            <a:r>
              <a:rPr sz="3150" b="1">
                <a:solidFill>
                  <a:srgbClr val="172F3C"/>
                </a:solidFill>
                <a:latin typeface="DejaVu Sans"/>
                <a:ea typeface="DejaVu Sans"/>
                <a:cs typeface="DejaVu Sans"/>
              </a:rPr>
              <a:t>Clases y fragmentos de código</a:t>
            </a:r>
          </a:p>
        </p:txBody>
      </p:sp>
      <p:sp>
        <p:nvSpPr>
          <p:cNvPr id="3" name="numero">
            <a:extLst xmlns:a="http://schemas.openxmlformats.org/drawingml/2006/main">
              <a:ext uri="{FF2B5EF4-FFF2-40B4-BE49-F238E27FC236}">
                <a16:creationId xmlns:a16="http://schemas.microsoft.com/office/drawing/2014/main" id="{9BFF43AC-9A72-4E30-A600-9E0A6FEB9CD6}"/>
              </a:ext>
            </a:extLst>
          </p:cNvPr>
          <p:cNvSpPr>
            <a:spLocks xmlns:a="http://schemas.openxmlformats.org/drawingml/2006/main" noGrp="1"/>
          </p:cNvSpPr>
          <p:nvPr/>
        </p:nvSpPr>
        <p:spPr>
          <a:xfrm xmlns:a="http://schemas.openxmlformats.org/drawingml/2006/main">
            <a:off x="11210925" y="64770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50" b="0">
                <a:solidFill>
                  <a:srgbClr val="526773"/>
                </a:solidFill>
                <a:latin typeface="DejaVu Sans"/>
                <a:ea typeface="DejaVu Sans"/>
                <a:cs typeface="DejaVu Sans"/>
              </a:defRPr>
            </a:defPPr>
          </a:lstStyle>
          <a:p xmlns:a="http://schemas.openxmlformats.org/drawingml/2006/main">
            <a:pPr>
              <a:defRPr sz="1050" b="0">
                <a:solidFill>
                  <a:srgbClr val="526773"/>
                </a:solidFill>
                <a:latin typeface="DejaVu Sans"/>
                <a:ea typeface="DejaVu Sans"/>
                <a:cs typeface="DejaVu Sans"/>
              </a:defRPr>
            </a:pPr>
            <a:r>
              <a:rPr sz="1050" b="0">
                <a:solidFill>
                  <a:srgbClr val="526773"/>
                </a:solidFill>
                <a:latin typeface="DejaVu Sans"/>
                <a:ea typeface="DejaVu Sans"/>
                <a:cs typeface="DejaVu Sans"/>
              </a:rPr>
              <a:t>12</a:t>
            </a:r>
          </a:p>
        </p:txBody>
      </p:sp>
      <p:sp>
        <p:nvSpPr>
          <p:cNvPr id="4" name="texto">
            <a:extLst xmlns:a="http://schemas.openxmlformats.org/drawingml/2006/main">
              <a:ext uri="{FF2B5EF4-FFF2-40B4-BE49-F238E27FC236}">
                <a16:creationId xmlns:a16="http://schemas.microsoft.com/office/drawing/2014/main" id="{1A4ABAB5-E9D9-4B21-BA21-D54E56150E59}"/>
              </a:ext>
            </a:extLst>
          </p:cNvPr>
          <p:cNvSpPr>
            <a:spLocks xmlns:a="http://schemas.openxmlformats.org/drawingml/2006/main" noGrp="1"/>
          </p:cNvSpPr>
          <p:nvPr/>
        </p:nvSpPr>
        <p:spPr>
          <a:xfrm xmlns:a="http://schemas.openxmlformats.org/drawingml/2006/main">
            <a:off x="609600" y="1914525"/>
            <a:ext cx="5429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1">
                <a:solidFill>
                  <a:srgbClr val="16735D"/>
                </a:solidFill>
                <a:latin typeface="DejaVu Sans"/>
                <a:ea typeface="DejaVu Sans"/>
                <a:cs typeface="DejaVu Sans"/>
              </a:defRPr>
            </a:defPPr>
          </a:lstStyle>
          <a:p xmlns:a="http://schemas.openxmlformats.org/drawingml/2006/main">
            <a:pPr>
              <a:defRPr sz="1875" b="1">
                <a:solidFill>
                  <a:srgbClr val="16735D"/>
                </a:solidFill>
                <a:latin typeface="DejaVu Sans"/>
                <a:ea typeface="DejaVu Sans"/>
                <a:cs typeface="DejaVu Sans"/>
              </a:defRPr>
            </a:pPr>
            <a:r>
              <a:rPr sz="1875" b="1">
                <a:solidFill>
                  <a:srgbClr val="16735D"/>
                </a:solidFill>
                <a:latin typeface="DejaVu Sans"/>
                <a:ea typeface="DejaVu Sans"/>
                <a:cs typeface="DejaVu Sans"/>
              </a:rPr>
              <a:t>Fragmento de código: Puntaje</a:t>
            </a:r>
          </a:p>
        </p:txBody>
      </p:sp>
      <p:sp>
        <p:nvSpPr>
          <p:cNvPr id="5" name="codigo-setter-completo">
            <a:extLst xmlns:a="http://schemas.openxmlformats.org/drawingml/2006/main">
              <a:ext uri="{FF2B5EF4-FFF2-40B4-BE49-F238E27FC236}">
                <a16:creationId xmlns:a16="http://schemas.microsoft.com/office/drawing/2014/main" id="{D6503A54-337C-494D-98BB-825D5E66F873}"/>
              </a:ext>
            </a:extLst>
          </p:cNvPr>
          <p:cNvSpPr>
            <a:spLocks xmlns:a="http://schemas.openxmlformats.org/drawingml/2006/main" noGrp="1"/>
          </p:cNvSpPr>
          <p:nvPr/>
        </p:nvSpPr>
        <p:spPr>
          <a:xfrm xmlns:a="http://schemas.openxmlformats.org/drawingml/2006/main">
            <a:off x="609600" y="2562225"/>
            <a:ext cx="6858000" cy="225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0">
                <a:solidFill>
                  <a:srgbClr val="172F3C"/>
                </a:solidFill>
                <a:latin typeface="DejaVu Sans Mono"/>
                <a:ea typeface="DejaVu Sans Mono"/>
                <a:cs typeface="DejaVu Sans Mono"/>
              </a:defRPr>
            </a:defPPr>
          </a:lstStyle>
          <a:p xmlns:a="http://schemas.openxmlformats.org/drawingml/2006/main">
            <a:pPr>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def set_valor(self, valor):</a:t>
            </a:r>
          </a:p>
          <a:p xmlns:a="http://schemas.openxmlformats.org/drawingml/2006/main">
            <a:pPr>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if type(valor) is not int or valor &lt; 0:</a:t>
            </a:r>
          </a:p>
          <a:p xmlns:a="http://schemas.openxmlformats.org/drawingml/2006/main">
            <a:pPr>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raise ValueError(</a:t>
            </a:r>
          </a:p>
          <a:p xmlns:a="http://schemas.openxmlformats.org/drawingml/2006/main">
            <a:pPr>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"El puntaje debe ser un entero no negativo.")</a:t>
            </a:r>
          </a:p>
          <a:p xmlns:a="http://schemas.openxmlformats.org/drawingml/2006/main">
            <a:pPr>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self._valor = valor</a:t>
            </a:r>
          </a:p>
          <a:p xmlns:a="http://schemas.openxmlformats.org/drawingml/2006/main">
            <a:pPr>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self._notificar()</a:t>
            </a:r>
          </a:p>
        </p:txBody>
      </p:sp>
      <p:sp>
        <p:nvSpPr>
          <p:cNvPr id="6" name="texto">
            <a:extLst xmlns:a="http://schemas.openxmlformats.org/drawingml/2006/main">
              <a:ext uri="{FF2B5EF4-FFF2-40B4-BE49-F238E27FC236}">
                <a16:creationId xmlns:a16="http://schemas.microsoft.com/office/drawing/2014/main" id="{19FDDAE9-CE0A-4F73-AF36-2C25204AAFF5}"/>
              </a:ext>
            </a:extLst>
          </p:cNvPr>
          <p:cNvSpPr>
            <a:spLocks xmlns:a="http://schemas.openxmlformats.org/drawingml/2006/main" noGrp="1"/>
          </p:cNvSpPr>
          <p:nvPr/>
        </p:nvSpPr>
        <p:spPr>
          <a:xfrm xmlns:a="http://schemas.openxmlformats.org/drawingml/2006/main">
            <a:off x="8001000" y="1914525"/>
            <a:ext cx="34956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1">
                <a:solidFill>
                  <a:srgbClr val="16735D"/>
                </a:solidFill>
                <a:latin typeface="DejaVu Sans"/>
                <a:ea typeface="DejaVu Sans"/>
                <a:cs typeface="DejaVu Sans"/>
              </a:defRPr>
            </a:defPPr>
          </a:lstStyle>
          <a:p xmlns:a="http://schemas.openxmlformats.org/drawingml/2006/main">
            <a:pPr>
              <a:defRPr sz="1875" b="1">
                <a:solidFill>
                  <a:srgbClr val="16735D"/>
                </a:solidFill>
                <a:latin typeface="DejaVu Sans"/>
                <a:ea typeface="DejaVu Sans"/>
                <a:cs typeface="DejaVu Sans"/>
              </a:defRPr>
            </a:pPr>
            <a:r>
              <a:rPr sz="1875" b="1">
                <a:solidFill>
                  <a:srgbClr val="16735D"/>
                </a:solidFill>
                <a:latin typeface="DejaVu Sans"/>
                <a:ea typeface="DejaVu Sans"/>
                <a:cs typeface="DejaVu Sans"/>
              </a:rPr>
              <a:t>Diagrama de clases</a:t>
            </a:r>
          </a:p>
        </p:txBody>
      </p:sp>
      <p:pic>
        <p:nvPicPr>
          <p:cNvPr id="7" name="">
            <a:extLst xmlns:a="http://schemas.openxmlformats.org/drawingml/2006/main">
              <a:ext uri="{FF2B5EF4-FFF2-40B4-BE49-F238E27FC236}">
                <a16:creationId xmlns:a16="http://schemas.microsoft.com/office/drawing/2014/main" id="{3E6BA5D1-2483-49F1-B92E-5F51780FF397}"/>
              </a:ext>
            </a:extLst>
          </p:cNvPr>
          <p:cNvPicPr>
            <a:picLocks xmlns:a="http://schemas.openxmlformats.org/drawingml/2006/main" noChangeAspect="1"/>
          </p:cNvPicPr>
          <p:nvPr/>
        </p:nvPicPr>
        <p:blipFill>
          <a:blip xmlns:r="http://schemas.openxmlformats.org/officeDocument/2006/relationships" xmlns:a="http://schemas.openxmlformats.org/drawingml/2006/main" r:embed="R57b47a6ca2ac4c5b"/>
          <a:srcRect xmlns:a="http://schemas.openxmlformats.org/drawingml/2006/main" l="0" t="0" r="0" b="0"/>
          <a:stretch xmlns:a="http://schemas.openxmlformats.org/drawingml/2006/main">
            <a:fillRect l="0" t="0" r="0" b="0"/>
          </a:stretch>
        </p:blipFill>
        <p:spPr>
          <a:xfrm xmlns:a="http://schemas.openxmlformats.org/drawingml/2006/main">
            <a:off x="8001441" y="2476500"/>
            <a:ext cx="3494794" cy="2819400"/>
          </a:xfrm>
          <a:prstGeom xmlns:a="http://schemas.openxmlformats.org/drawingml/2006/main" prst="rect">
            <a:avLst/>
          </a:prstGeom>
        </p:spPr>
      </p:pic>
      <p:sp>
        <p:nvSpPr>
          <p:cNvPr id="8" name="texto">
            <a:extLst xmlns:a="http://schemas.openxmlformats.org/drawingml/2006/main">
              <a:ext uri="{FF2B5EF4-FFF2-40B4-BE49-F238E27FC236}">
                <a16:creationId xmlns:a16="http://schemas.microsoft.com/office/drawing/2014/main" id="{57FD0672-F110-4A38-A2E1-6D6C391EA6A0}"/>
              </a:ext>
            </a:extLst>
          </p:cNvPr>
          <p:cNvSpPr>
            <a:spLocks xmlns:a="http://schemas.openxmlformats.org/drawingml/2006/main" noGrp="1"/>
          </p:cNvSpPr>
          <p:nvPr/>
        </p:nvSpPr>
        <p:spPr>
          <a:xfrm xmlns:a="http://schemas.openxmlformats.org/drawingml/2006/main">
            <a:off x="8001000" y="5572125"/>
            <a:ext cx="3495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hlinkClick xmlns:r="http://schemas.openxmlformats.org/officeDocument/2006/relationships" r:id="Rd07dac14b2f64411"/>
              </a:rPr>
              <a:t>Abrir UML completo</a:t>
            </a:r>
          </a:p>
        </p:txBody>
      </p:sp>
      <p:sp>
        <p:nvSpPr>
          <p:cNvPr id="9" name="texto">
            <a:extLst xmlns:a="http://schemas.openxmlformats.org/drawingml/2006/main">
              <a:ext uri="{FF2B5EF4-FFF2-40B4-BE49-F238E27FC236}">
                <a16:creationId xmlns:a16="http://schemas.microsoft.com/office/drawing/2014/main" id="{1225CD33-A78C-4E83-8BD6-75993CE36DB1}"/>
              </a:ext>
            </a:extLst>
          </p:cNvPr>
          <p:cNvSpPr>
            <a:spLocks xmlns:a="http://schemas.openxmlformats.org/drawingml/2006/main" noGrp="1"/>
          </p:cNvSpPr>
          <p:nvPr/>
        </p:nvSpPr>
        <p:spPr>
          <a:xfrm xmlns:a="http://schemas.openxmlformats.org/drawingml/2006/main">
            <a:off x="609600" y="5572125"/>
            <a:ext cx="685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hlinkClick xmlns:r="http://schemas.openxmlformats.org/officeDocument/2006/relationships" r:id="R91ca6a37a4be430d"/>
              </a:rPr>
              <a:t>Abrir código de Puntaje</a:t>
            </a:r>
          </a:p>
        </p:txBody>
      </p:sp>
    </p:spTree>
    <p:extLst>
      <p:ext uri="{BB962C8B-B14F-4D97-AF65-F5344CB8AC3E}">
        <p14:creationId xmlns:p14="http://schemas.microsoft.com/office/powerpoint/2010/main" val="111335772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partado-clase">
            <a:extLst xmlns:a="http://schemas.openxmlformats.org/drawingml/2006/main">
              <a:ext uri="{FF2B5EF4-FFF2-40B4-BE49-F238E27FC236}">
                <a16:creationId xmlns:a16="http://schemas.microsoft.com/office/drawing/2014/main" id="{6912A40D-E4E0-403E-9573-458E39E2E4CE}"/>
              </a:ext>
            </a:extLst>
          </p:cNvPr>
          <p:cNvSpPr>
            <a:spLocks xmlns:a="http://schemas.openxmlformats.org/drawingml/2006/main" noGrp="1"/>
          </p:cNvSpPr>
          <p:nvPr/>
        </p:nvSpPr>
        <p:spPr>
          <a:xfrm xmlns:a="http://schemas.openxmlformats.org/drawingml/2006/main">
            <a:off x="60960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lnSpc>
                <a:spcPct val="105000"/>
              </a:lnSpc>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Punto 7 de 7. VIII. Anexos. Clase 01 de 25</a:t>
            </a:r>
          </a:p>
        </p:txBody>
      </p:sp>
      <p:sp>
        <p:nvSpPr>
          <p:cNvPr id="2" name="titulo-clase">
            <a:extLst xmlns:a="http://schemas.openxmlformats.org/drawingml/2006/main">
              <a:ext uri="{FF2B5EF4-FFF2-40B4-BE49-F238E27FC236}">
                <a16:creationId xmlns:a16="http://schemas.microsoft.com/office/drawing/2014/main" id="{32C6E8F4-893A-424E-811C-50B7A105A472}"/>
              </a:ext>
            </a:extLst>
          </p:cNvPr>
          <p:cNvSpPr>
            <a:spLocks xmlns:a="http://schemas.openxmlformats.org/drawingml/2006/main" noGrp="1"/>
          </p:cNvSpPr>
          <p:nvPr/>
        </p:nvSpPr>
        <p:spPr>
          <a:xfrm xmlns:a="http://schemas.openxmlformats.org/drawingml/2006/main">
            <a:off x="609600" y="69532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F3C"/>
                </a:solidFill>
                <a:latin typeface="DejaVu Sans"/>
                <a:ea typeface="DejaVu Sans"/>
                <a:cs typeface="DejaVu Sans"/>
              </a:defRPr>
            </a:defPPr>
          </a:lstStyle>
          <a:p xmlns:a="http://schemas.openxmlformats.org/drawingml/2006/main">
            <a:pPr>
              <a:lnSpc>
                <a:spcPct val="105000"/>
              </a:lnSpc>
              <a:buNone/>
              <a:defRPr sz="3300" b="1">
                <a:solidFill>
                  <a:srgbClr val="172F3C"/>
                </a:solidFill>
                <a:latin typeface="DejaVu Sans"/>
                <a:ea typeface="DejaVu Sans"/>
                <a:cs typeface="DejaVu Sans"/>
              </a:defRPr>
            </a:pPr>
            <a:r>
              <a:rPr sz="3300" b="1">
                <a:solidFill>
                  <a:srgbClr val="172F3C"/>
                </a:solidFill>
                <a:latin typeface="DejaVu Sans"/>
                <a:ea typeface="DejaVu Sans"/>
                <a:cs typeface="DejaVu Sans"/>
              </a:rPr>
              <a:t>Juego</a:t>
            </a:r>
          </a:p>
        </p:txBody>
      </p:sp>
      <p:sp>
        <p:nvSpPr>
          <p:cNvPr id="3" name="etiqueta-uml">
            <a:extLst xmlns:a="http://schemas.openxmlformats.org/drawingml/2006/main">
              <a:ext uri="{FF2B5EF4-FFF2-40B4-BE49-F238E27FC236}">
                <a16:creationId xmlns:a16="http://schemas.microsoft.com/office/drawing/2014/main" id="{60B4FCEE-ED4F-4A15-9EE4-BF0FB29A2B6C}"/>
              </a:ext>
            </a:extLst>
          </p:cNvPr>
          <p:cNvSpPr>
            <a:spLocks xmlns:a="http://schemas.openxmlformats.org/drawingml/2006/main" noGrp="1"/>
          </p:cNvSpPr>
          <p:nvPr/>
        </p:nvSpPr>
        <p:spPr>
          <a:xfrm xmlns:a="http://schemas.openxmlformats.org/drawingml/2006/main">
            <a:off x="609600" y="1495425"/>
            <a:ext cx="2809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UML: recorte original</a:t>
            </a:r>
          </a:p>
        </p:txBody>
      </p:sp>
      <p:pic>
        <p:nvPicPr>
          <p:cNvPr id="4" name="">
            <a:extLst xmlns:a="http://schemas.openxmlformats.org/drawingml/2006/main">
              <a:ext uri="{FF2B5EF4-FFF2-40B4-BE49-F238E27FC236}">
                <a16:creationId xmlns:a16="http://schemas.microsoft.com/office/drawing/2014/main" id="{19448AC3-F5E3-4EA6-9DFD-E98CB2EF780F}"/>
              </a:ext>
            </a:extLst>
          </p:cNvPr>
          <p:cNvPicPr>
            <a:picLocks xmlns:a="http://schemas.openxmlformats.org/drawingml/2006/main" noChangeAspect="1"/>
          </p:cNvPicPr>
          <p:nvPr/>
        </p:nvPicPr>
        <p:blipFill>
          <a:blip xmlns:r="http://schemas.openxmlformats.org/officeDocument/2006/relationships" xmlns:a="http://schemas.openxmlformats.org/drawingml/2006/main" r:embed="R98614d1dc86d4f22"/>
          <a:stretch xmlns:a="http://schemas.openxmlformats.org/drawingml/2006/main"/>
        </p:blipFill>
        <p:spPr>
          <a:xfrm xmlns:a="http://schemas.openxmlformats.org/drawingml/2006/main">
            <a:off x="609600" y="2055384"/>
            <a:ext cx="2762250" cy="4004532"/>
          </a:xfrm>
          <a:prstGeom xmlns:a="http://schemas.openxmlformats.org/drawingml/2006/main" prst="rect">
            <a:avLst/>
          </a:prstGeom>
        </p:spPr>
      </p:pic>
      <p:sp>
        <p:nvSpPr>
          <p:cNvPr id="5" name="funcion-clase">
            <a:extLst xmlns:a="http://schemas.openxmlformats.org/drawingml/2006/main">
              <a:ext uri="{FF2B5EF4-FFF2-40B4-BE49-F238E27FC236}">
                <a16:creationId xmlns:a16="http://schemas.microsoft.com/office/drawing/2014/main" id="{B30DBC94-7E5E-4F94-8818-FB94A339DFB9}"/>
              </a:ext>
            </a:extLst>
          </p:cNvPr>
          <p:cNvSpPr>
            <a:spLocks xmlns:a="http://schemas.openxmlformats.org/drawingml/2006/main" noGrp="1"/>
          </p:cNvSpPr>
          <p:nvPr/>
        </p:nvSpPr>
        <p:spPr>
          <a:xfrm xmlns:a="http://schemas.openxmlformats.org/drawingml/2006/main">
            <a:off x="3810000" y="1419225"/>
            <a:ext cx="7762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F3C"/>
                </a:solidFill>
                <a:latin typeface="DejaVu Sans"/>
                <a:ea typeface="DejaVu Sans"/>
                <a:cs typeface="DejaVu Sans"/>
              </a:defRPr>
            </a:defPPr>
          </a:lstStyle>
          <a:p xmlns:a="http://schemas.openxmlformats.org/drawingml/2006/main">
            <a:pPr>
              <a:lnSpc>
                <a:spcPct val="105000"/>
              </a:lnSpc>
              <a:buNone/>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Coordina la campaña, los niveles, los puntos y el estado de la partida.</a:t>
            </a:r>
          </a:p>
        </p:txBody>
      </p:sp>
      <p:sp>
        <p:nvSpPr>
          <p:cNvPr id="6" name="poo-0">
            <a:extLst xmlns:a="http://schemas.openxmlformats.org/drawingml/2006/main">
              <a:ext uri="{FF2B5EF4-FFF2-40B4-BE49-F238E27FC236}">
                <a16:creationId xmlns:a16="http://schemas.microsoft.com/office/drawing/2014/main" id="{BC37EDF9-C6F5-4AA3-BB08-6C9609E82331}"/>
              </a:ext>
            </a:extLst>
          </p:cNvPr>
          <p:cNvSpPr>
            <a:spLocks xmlns:a="http://schemas.openxmlformats.org/drawingml/2006/main" noGrp="1"/>
          </p:cNvSpPr>
          <p:nvPr/>
        </p:nvSpPr>
        <p:spPr>
          <a:xfrm xmlns:a="http://schemas.openxmlformats.org/drawingml/2006/main">
            <a:off x="3810000" y="21717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Composición: crea Puntaje, PanelPuntaje y Nivel.</a:t>
            </a:r>
          </a:p>
        </p:txBody>
      </p:sp>
      <p:sp>
        <p:nvSpPr>
          <p:cNvPr id="7" name="poo-1">
            <a:extLst xmlns:a="http://schemas.openxmlformats.org/drawingml/2006/main">
              <a:ext uri="{FF2B5EF4-FFF2-40B4-BE49-F238E27FC236}">
                <a16:creationId xmlns:a16="http://schemas.microsoft.com/office/drawing/2014/main" id="{9FED0D3B-78F9-41B9-ABAE-348A509775C0}"/>
              </a:ext>
            </a:extLst>
          </p:cNvPr>
          <p:cNvSpPr>
            <a:spLocks xmlns:a="http://schemas.openxmlformats.org/drawingml/2006/main" noGrp="1"/>
          </p:cNvSpPr>
          <p:nvPr/>
        </p:nvSpPr>
        <p:spPr>
          <a:xfrm xmlns:a="http://schemas.openxmlformats.org/drawingml/2006/main">
            <a:off x="3810000" y="25146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Polimorfismo: delega en el EstadoJuego activo.</a:t>
            </a:r>
          </a:p>
        </p:txBody>
      </p:sp>
      <p:sp>
        <p:nvSpPr>
          <p:cNvPr id="8" name="etiqueta-codigo">
            <a:extLst xmlns:a="http://schemas.openxmlformats.org/drawingml/2006/main">
              <a:ext uri="{FF2B5EF4-FFF2-40B4-BE49-F238E27FC236}">
                <a16:creationId xmlns:a16="http://schemas.microsoft.com/office/drawing/2014/main" id="{BD1CB5AF-8655-499C-9FBD-5730D9EBBAC5}"/>
              </a:ext>
            </a:extLst>
          </p:cNvPr>
          <p:cNvSpPr>
            <a:spLocks xmlns:a="http://schemas.openxmlformats.org/drawingml/2006/main" noGrp="1"/>
          </p:cNvSpPr>
          <p:nvPr/>
        </p:nvSpPr>
        <p:spPr>
          <a:xfrm xmlns:a="http://schemas.openxmlformats.org/drawingml/2006/main">
            <a:off x="3810000" y="2819400"/>
            <a:ext cx="7762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Código del proyecto (fragmento)</a:t>
            </a:r>
          </a:p>
        </p:txBody>
      </p:sp>
      <p:sp>
        <p:nvSpPr>
          <p:cNvPr id="9" name="fragmento-codigo">
            <a:extLst xmlns:a="http://schemas.openxmlformats.org/drawingml/2006/main">
              <a:ext uri="{FF2B5EF4-FFF2-40B4-BE49-F238E27FC236}">
                <a16:creationId xmlns:a16="http://schemas.microsoft.com/office/drawing/2014/main" id="{AE50D461-902A-420C-8B12-8A1E6E3E4BA8}"/>
              </a:ext>
            </a:extLst>
          </p:cNvPr>
          <p:cNvSpPr>
            <a:spLocks xmlns:a="http://schemas.openxmlformats.org/drawingml/2006/main" noGrp="1"/>
          </p:cNvSpPr>
          <p:nvPr/>
        </p:nvSpPr>
        <p:spPr>
          <a:xfrm xmlns:a="http://schemas.openxmlformats.org/drawingml/2006/main">
            <a:off x="3810000" y="3143250"/>
            <a:ext cx="77628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172F3C"/>
                </a:solidFill>
                <a:latin typeface="DejaVu Sans Mono"/>
                <a:ea typeface="DejaVu Sans Mono"/>
                <a:cs typeface="DejaVu Sans Mono"/>
              </a:defRPr>
            </a:defPPr>
          </a:lstStyle>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class Juego:</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__init__(self):</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self.puntaje = Puntaje()</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self.panel = PanelPuntaje()</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self.puntaje.suscribir(self.panel)</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manejar_entrada(self, tecla):</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self.estado.manejar_entrada(tecla)</a:t>
            </a:r>
          </a:p>
        </p:txBody>
      </p:sp>
      <p:sp>
        <p:nvSpPr>
          <p:cNvPr id="10" name="enlace-fuente">
            <a:extLst xmlns:a="http://schemas.openxmlformats.org/drawingml/2006/main">
              <a:ext uri="{FF2B5EF4-FFF2-40B4-BE49-F238E27FC236}">
                <a16:creationId xmlns:a16="http://schemas.microsoft.com/office/drawing/2014/main" id="{CE7D8DAF-4055-4A84-B805-6F73069FA473}"/>
              </a:ext>
            </a:extLst>
          </p:cNvPr>
          <p:cNvSpPr>
            <a:spLocks xmlns:a="http://schemas.openxmlformats.org/drawingml/2006/main" noGrp="1"/>
          </p:cNvSpPr>
          <p:nvPr/>
        </p:nvSpPr>
        <p:spPr>
          <a:xfrm xmlns:a="http://schemas.openxmlformats.org/drawingml/2006/main">
            <a:off x="3810000" y="6457950"/>
            <a:ext cx="7762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526773"/>
                </a:solidFill>
                <a:latin typeface="DejaVu Sans"/>
                <a:ea typeface="DejaVu Sans"/>
                <a:cs typeface="DejaVu Sans"/>
              </a:defRPr>
            </a:defPPr>
          </a:lstStyle>
          <a:p xmlns:a="http://schemas.openxmlformats.org/drawingml/2006/main">
            <a:pPr>
              <a:lnSpc>
                <a:spcPct val="105000"/>
              </a:lnSpc>
              <a:buNone/>
              <a:defRPr sz="975" b="0">
                <a:solidFill>
                  <a:srgbClr val="526773"/>
                </a:solidFill>
                <a:latin typeface="DejaVu Sans"/>
                <a:ea typeface="DejaVu Sans"/>
                <a:cs typeface="DejaVu Sans"/>
              </a:defRPr>
            </a:pPr>
            <a:r>
              <a:rPr sz="975" b="0">
                <a:solidFill>
                  <a:srgbClr val="526773"/>
                </a:solidFill>
                <a:latin typeface="DejaVu Sans"/>
                <a:ea typeface="DejaVu Sans"/>
                <a:cs typeface="DejaVu Sans"/>
                <a:hlinkClick xmlns:r="http://schemas.openxmlformats.org/officeDocument/2006/relationships" r:id="R00a82243d73a4256"/>
              </a:rPr>
              <a:t>src/juego.py, clase desde línea 7</a:t>
            </a:r>
          </a:p>
        </p:txBody>
      </p:sp>
      <p:sp>
        <p:nvSpPr>
          <p:cNvPr id="11" name="enlace-recorte">
            <a:extLst xmlns:a="http://schemas.openxmlformats.org/drawingml/2006/main">
              <a:ext uri="{FF2B5EF4-FFF2-40B4-BE49-F238E27FC236}">
                <a16:creationId xmlns:a16="http://schemas.microsoft.com/office/drawing/2014/main" id="{4824BC2C-2033-456D-B78D-76E7BEEF4353}"/>
              </a:ext>
            </a:extLst>
          </p:cNvPr>
          <p:cNvSpPr>
            <a:spLocks xmlns:a="http://schemas.openxmlformats.org/drawingml/2006/main" noGrp="1"/>
          </p:cNvSpPr>
          <p:nvPr/>
        </p:nvSpPr>
        <p:spPr>
          <a:xfrm xmlns:a="http://schemas.openxmlformats.org/drawingml/2006/main">
            <a:off x="609600" y="6457950"/>
            <a:ext cx="285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16735D"/>
                </a:solidFill>
                <a:latin typeface="DejaVu Sans"/>
                <a:ea typeface="DejaVu Sans"/>
                <a:cs typeface="DejaVu Sans"/>
              </a:defRPr>
            </a:defPPr>
          </a:lstStyle>
          <a:p xmlns:a="http://schemas.openxmlformats.org/drawingml/2006/main">
            <a:pPr>
              <a:lnSpc>
                <a:spcPct val="105000"/>
              </a:lnSpc>
              <a:buNone/>
              <a:defRPr sz="975" b="0">
                <a:solidFill>
                  <a:srgbClr val="16735D"/>
                </a:solidFill>
                <a:latin typeface="DejaVu Sans"/>
                <a:ea typeface="DejaVu Sans"/>
                <a:cs typeface="DejaVu Sans"/>
              </a:defRPr>
            </a:pPr>
            <a:r>
              <a:rPr sz="975" b="0">
                <a:solidFill>
                  <a:srgbClr val="16735D"/>
                </a:solidFill>
                <a:latin typeface="DejaVu Sans"/>
                <a:ea typeface="DejaVu Sans"/>
                <a:cs typeface="DejaVu Sans"/>
                <a:hlinkClick xmlns:r="http://schemas.openxmlformats.org/officeDocument/2006/relationships" r:id="Re89882245dce4169"/>
              </a:rPr>
              <a:t>Abrir recorte en tamaño original</a:t>
            </a:r>
          </a:p>
        </p:txBody>
      </p:sp>
    </p:spTree>
    <p:extLst>
      <p:ext uri="{BB962C8B-B14F-4D97-AF65-F5344CB8AC3E}">
        <p14:creationId xmlns:p14="http://schemas.microsoft.com/office/powerpoint/2010/main" val="174039869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partado-clase">
            <a:extLst xmlns:a="http://schemas.openxmlformats.org/drawingml/2006/main">
              <a:ext uri="{FF2B5EF4-FFF2-40B4-BE49-F238E27FC236}">
                <a16:creationId xmlns:a16="http://schemas.microsoft.com/office/drawing/2014/main" id="{3278AB83-BC4E-4EE7-B8DE-6B32714ED749}"/>
              </a:ext>
            </a:extLst>
          </p:cNvPr>
          <p:cNvSpPr>
            <a:spLocks xmlns:a="http://schemas.openxmlformats.org/drawingml/2006/main" noGrp="1"/>
          </p:cNvSpPr>
          <p:nvPr/>
        </p:nvSpPr>
        <p:spPr>
          <a:xfrm xmlns:a="http://schemas.openxmlformats.org/drawingml/2006/main">
            <a:off x="60960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lnSpc>
                <a:spcPct val="105000"/>
              </a:lnSpc>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Punto 7 de 7. VIII. Anexos. Clase 02 de 25</a:t>
            </a:r>
          </a:p>
        </p:txBody>
      </p:sp>
      <p:sp>
        <p:nvSpPr>
          <p:cNvPr id="2" name="titulo-clase">
            <a:extLst xmlns:a="http://schemas.openxmlformats.org/drawingml/2006/main">
              <a:ext uri="{FF2B5EF4-FFF2-40B4-BE49-F238E27FC236}">
                <a16:creationId xmlns:a16="http://schemas.microsoft.com/office/drawing/2014/main" id="{1F69E60B-72AA-44EA-A9F2-9F812BCA866C}"/>
              </a:ext>
            </a:extLst>
          </p:cNvPr>
          <p:cNvSpPr>
            <a:spLocks xmlns:a="http://schemas.openxmlformats.org/drawingml/2006/main" noGrp="1"/>
          </p:cNvSpPr>
          <p:nvPr/>
        </p:nvSpPr>
        <p:spPr>
          <a:xfrm xmlns:a="http://schemas.openxmlformats.org/drawingml/2006/main">
            <a:off x="609600" y="69532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F3C"/>
                </a:solidFill>
                <a:latin typeface="DejaVu Sans"/>
                <a:ea typeface="DejaVu Sans"/>
                <a:cs typeface="DejaVu Sans"/>
              </a:defRPr>
            </a:defPPr>
          </a:lstStyle>
          <a:p xmlns:a="http://schemas.openxmlformats.org/drawingml/2006/main">
            <a:pPr>
              <a:lnSpc>
                <a:spcPct val="105000"/>
              </a:lnSpc>
              <a:buNone/>
              <a:defRPr sz="3300" b="1">
                <a:solidFill>
                  <a:srgbClr val="172F3C"/>
                </a:solidFill>
                <a:latin typeface="DejaVu Sans"/>
                <a:ea typeface="DejaVu Sans"/>
                <a:cs typeface="DejaVu Sans"/>
              </a:defRPr>
            </a:pPr>
            <a:r>
              <a:rPr sz="3300" b="1">
                <a:solidFill>
                  <a:srgbClr val="172F3C"/>
                </a:solidFill>
                <a:latin typeface="DejaVu Sans"/>
                <a:ea typeface="DejaVu Sans"/>
                <a:cs typeface="DejaVu Sans"/>
              </a:rPr>
              <a:t>EstadoJuego</a:t>
            </a:r>
          </a:p>
        </p:txBody>
      </p:sp>
      <p:sp>
        <p:nvSpPr>
          <p:cNvPr id="3" name="etiqueta-uml">
            <a:extLst xmlns:a="http://schemas.openxmlformats.org/drawingml/2006/main">
              <a:ext uri="{FF2B5EF4-FFF2-40B4-BE49-F238E27FC236}">
                <a16:creationId xmlns:a16="http://schemas.microsoft.com/office/drawing/2014/main" id="{CA2117EB-521E-44E0-975E-0C480E4238FC}"/>
              </a:ext>
            </a:extLst>
          </p:cNvPr>
          <p:cNvSpPr>
            <a:spLocks xmlns:a="http://schemas.openxmlformats.org/drawingml/2006/main" noGrp="1"/>
          </p:cNvSpPr>
          <p:nvPr/>
        </p:nvSpPr>
        <p:spPr>
          <a:xfrm xmlns:a="http://schemas.openxmlformats.org/drawingml/2006/main">
            <a:off x="609600" y="1495425"/>
            <a:ext cx="2809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UML: recorte original</a:t>
            </a:r>
          </a:p>
        </p:txBody>
      </p:sp>
      <p:pic>
        <p:nvPicPr>
          <p:cNvPr id="4" name="">
            <a:extLst xmlns:a="http://schemas.openxmlformats.org/drawingml/2006/main">
              <a:ext uri="{FF2B5EF4-FFF2-40B4-BE49-F238E27FC236}">
                <a16:creationId xmlns:a16="http://schemas.microsoft.com/office/drawing/2014/main" id="{0C83E82A-343B-4C1E-8C7B-5588599466BA}"/>
              </a:ext>
            </a:extLst>
          </p:cNvPr>
          <p:cNvPicPr>
            <a:picLocks xmlns:a="http://schemas.openxmlformats.org/drawingml/2006/main" noChangeAspect="1"/>
          </p:cNvPicPr>
          <p:nvPr/>
        </p:nvPicPr>
        <p:blipFill>
          <a:blip xmlns:r="http://schemas.openxmlformats.org/officeDocument/2006/relationships" xmlns:a="http://schemas.openxmlformats.org/drawingml/2006/main" r:embed="Radc72da01bfc4257"/>
          <a:stretch xmlns:a="http://schemas.openxmlformats.org/drawingml/2006/main"/>
        </p:blipFill>
        <p:spPr>
          <a:xfrm xmlns:a="http://schemas.openxmlformats.org/drawingml/2006/main">
            <a:off x="609600" y="3059411"/>
            <a:ext cx="2762250" cy="1996478"/>
          </a:xfrm>
          <a:prstGeom xmlns:a="http://schemas.openxmlformats.org/drawingml/2006/main" prst="rect">
            <a:avLst/>
          </a:prstGeom>
        </p:spPr>
      </p:pic>
      <p:sp>
        <p:nvSpPr>
          <p:cNvPr id="5" name="funcion-clase">
            <a:extLst xmlns:a="http://schemas.openxmlformats.org/drawingml/2006/main">
              <a:ext uri="{FF2B5EF4-FFF2-40B4-BE49-F238E27FC236}">
                <a16:creationId xmlns:a16="http://schemas.microsoft.com/office/drawing/2014/main" id="{D2EBF2A1-E539-44C7-AF9E-0A91DAB90E9D}"/>
              </a:ext>
            </a:extLst>
          </p:cNvPr>
          <p:cNvSpPr>
            <a:spLocks xmlns:a="http://schemas.openxmlformats.org/drawingml/2006/main" noGrp="1"/>
          </p:cNvSpPr>
          <p:nvPr/>
        </p:nvSpPr>
        <p:spPr>
          <a:xfrm xmlns:a="http://schemas.openxmlformats.org/drawingml/2006/main">
            <a:off x="3810000" y="1419225"/>
            <a:ext cx="7762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F3C"/>
                </a:solidFill>
                <a:latin typeface="DejaVu Sans"/>
                <a:ea typeface="DejaVu Sans"/>
                <a:cs typeface="DejaVu Sans"/>
              </a:defRPr>
            </a:defPPr>
          </a:lstStyle>
          <a:p xmlns:a="http://schemas.openxmlformats.org/drawingml/2006/main">
            <a:pPr>
              <a:lnSpc>
                <a:spcPct val="105000"/>
              </a:lnSpc>
              <a:buNone/>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Define las operaciones comunes de los estados de la partida.</a:t>
            </a:r>
          </a:p>
        </p:txBody>
      </p:sp>
      <p:sp>
        <p:nvSpPr>
          <p:cNvPr id="6" name="poo-0">
            <a:extLst xmlns:a="http://schemas.openxmlformats.org/drawingml/2006/main">
              <a:ext uri="{FF2B5EF4-FFF2-40B4-BE49-F238E27FC236}">
                <a16:creationId xmlns:a16="http://schemas.microsoft.com/office/drawing/2014/main" id="{26094271-A4E9-4E29-A1B2-29EF2AC6F9B1}"/>
              </a:ext>
            </a:extLst>
          </p:cNvPr>
          <p:cNvSpPr>
            <a:spLocks xmlns:a="http://schemas.openxmlformats.org/drawingml/2006/main" noGrp="1"/>
          </p:cNvSpPr>
          <p:nvPr/>
        </p:nvSpPr>
        <p:spPr>
          <a:xfrm xmlns:a="http://schemas.openxmlformats.org/drawingml/2006/main">
            <a:off x="3810000" y="21717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Abstracción: exige implementar entrada y actualización.</a:t>
            </a:r>
          </a:p>
        </p:txBody>
      </p:sp>
      <p:sp>
        <p:nvSpPr>
          <p:cNvPr id="7" name="poo-1">
            <a:extLst xmlns:a="http://schemas.openxmlformats.org/drawingml/2006/main">
              <a:ext uri="{FF2B5EF4-FFF2-40B4-BE49-F238E27FC236}">
                <a16:creationId xmlns:a16="http://schemas.microsoft.com/office/drawing/2014/main" id="{56EC61FF-F608-4DEB-8273-EAF8929B07E4}"/>
              </a:ext>
            </a:extLst>
          </p:cNvPr>
          <p:cNvSpPr>
            <a:spLocks xmlns:a="http://schemas.openxmlformats.org/drawingml/2006/main" noGrp="1"/>
          </p:cNvSpPr>
          <p:nvPr/>
        </p:nvSpPr>
        <p:spPr>
          <a:xfrm xmlns:a="http://schemas.openxmlformats.org/drawingml/2006/main">
            <a:off x="3810000" y="25146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Asociación: conserva el Juego que recibe.</a:t>
            </a:r>
          </a:p>
        </p:txBody>
      </p:sp>
      <p:sp>
        <p:nvSpPr>
          <p:cNvPr id="8" name="etiqueta-codigo">
            <a:extLst xmlns:a="http://schemas.openxmlformats.org/drawingml/2006/main">
              <a:ext uri="{FF2B5EF4-FFF2-40B4-BE49-F238E27FC236}">
                <a16:creationId xmlns:a16="http://schemas.microsoft.com/office/drawing/2014/main" id="{4BEAD1F9-2FBC-49F5-AD59-330F493FBE8B}"/>
              </a:ext>
            </a:extLst>
          </p:cNvPr>
          <p:cNvSpPr>
            <a:spLocks xmlns:a="http://schemas.openxmlformats.org/drawingml/2006/main" noGrp="1"/>
          </p:cNvSpPr>
          <p:nvPr/>
        </p:nvSpPr>
        <p:spPr>
          <a:xfrm xmlns:a="http://schemas.openxmlformats.org/drawingml/2006/main">
            <a:off x="3810000" y="2819400"/>
            <a:ext cx="7762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Código del proyecto (fragmento)</a:t>
            </a:r>
          </a:p>
        </p:txBody>
      </p:sp>
      <p:sp>
        <p:nvSpPr>
          <p:cNvPr id="9" name="fragmento-codigo">
            <a:extLst xmlns:a="http://schemas.openxmlformats.org/drawingml/2006/main">
              <a:ext uri="{FF2B5EF4-FFF2-40B4-BE49-F238E27FC236}">
                <a16:creationId xmlns:a16="http://schemas.microsoft.com/office/drawing/2014/main" id="{2CBF8B05-6677-41B5-9F3B-B3BB53ED594C}"/>
              </a:ext>
            </a:extLst>
          </p:cNvPr>
          <p:cNvSpPr>
            <a:spLocks xmlns:a="http://schemas.openxmlformats.org/drawingml/2006/main" noGrp="1"/>
          </p:cNvSpPr>
          <p:nvPr/>
        </p:nvSpPr>
        <p:spPr>
          <a:xfrm xmlns:a="http://schemas.openxmlformats.org/drawingml/2006/main">
            <a:off x="3810000" y="3143250"/>
            <a:ext cx="77628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172F3C"/>
                </a:solidFill>
                <a:latin typeface="DejaVu Sans Mono"/>
                <a:ea typeface="DejaVu Sans Mono"/>
                <a:cs typeface="DejaVu Sans Mono"/>
              </a:defRPr>
            </a:defPPr>
          </a:lstStyle>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class EstadoJuego(ABC):</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__init__(self, juego):</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self.juego = juego</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@abstractmethod</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actualizar(self, dt, teclas):</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pass</a:t>
            </a:r>
          </a:p>
        </p:txBody>
      </p:sp>
      <p:sp>
        <p:nvSpPr>
          <p:cNvPr id="10" name="enlace-fuente">
            <a:extLst xmlns:a="http://schemas.openxmlformats.org/drawingml/2006/main">
              <a:ext uri="{FF2B5EF4-FFF2-40B4-BE49-F238E27FC236}">
                <a16:creationId xmlns:a16="http://schemas.microsoft.com/office/drawing/2014/main" id="{C07D65F0-060C-47EC-98C8-D9025463B9DA}"/>
              </a:ext>
            </a:extLst>
          </p:cNvPr>
          <p:cNvSpPr>
            <a:spLocks xmlns:a="http://schemas.openxmlformats.org/drawingml/2006/main" noGrp="1"/>
          </p:cNvSpPr>
          <p:nvPr/>
        </p:nvSpPr>
        <p:spPr>
          <a:xfrm xmlns:a="http://schemas.openxmlformats.org/drawingml/2006/main">
            <a:off x="3810000" y="6457950"/>
            <a:ext cx="7762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526773"/>
                </a:solidFill>
                <a:latin typeface="DejaVu Sans"/>
                <a:ea typeface="DejaVu Sans"/>
                <a:cs typeface="DejaVu Sans"/>
              </a:defRPr>
            </a:defPPr>
          </a:lstStyle>
          <a:p xmlns:a="http://schemas.openxmlformats.org/drawingml/2006/main">
            <a:pPr>
              <a:lnSpc>
                <a:spcPct val="105000"/>
              </a:lnSpc>
              <a:buNone/>
              <a:defRPr sz="975" b="0">
                <a:solidFill>
                  <a:srgbClr val="526773"/>
                </a:solidFill>
                <a:latin typeface="DejaVu Sans"/>
                <a:ea typeface="DejaVu Sans"/>
                <a:cs typeface="DejaVu Sans"/>
              </a:defRPr>
            </a:pPr>
            <a:r>
              <a:rPr sz="975" b="0">
                <a:solidFill>
                  <a:srgbClr val="526773"/>
                </a:solidFill>
                <a:latin typeface="DejaVu Sans"/>
                <a:ea typeface="DejaVu Sans"/>
                <a:cs typeface="DejaVu Sans"/>
                <a:hlinkClick xmlns:r="http://schemas.openxmlformats.org/officeDocument/2006/relationships" r:id="Rc88757dc039f44f8"/>
              </a:rPr>
              <a:t>src/estados.py, clase desde línea 4</a:t>
            </a:r>
          </a:p>
        </p:txBody>
      </p:sp>
      <p:sp>
        <p:nvSpPr>
          <p:cNvPr id="11" name="enlace-recorte">
            <a:extLst xmlns:a="http://schemas.openxmlformats.org/drawingml/2006/main">
              <a:ext uri="{FF2B5EF4-FFF2-40B4-BE49-F238E27FC236}">
                <a16:creationId xmlns:a16="http://schemas.microsoft.com/office/drawing/2014/main" id="{6B13B69C-27CE-423A-908E-034D50805783}"/>
              </a:ext>
            </a:extLst>
          </p:cNvPr>
          <p:cNvSpPr>
            <a:spLocks xmlns:a="http://schemas.openxmlformats.org/drawingml/2006/main" noGrp="1"/>
          </p:cNvSpPr>
          <p:nvPr/>
        </p:nvSpPr>
        <p:spPr>
          <a:xfrm xmlns:a="http://schemas.openxmlformats.org/drawingml/2006/main">
            <a:off x="609600" y="6457950"/>
            <a:ext cx="285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16735D"/>
                </a:solidFill>
                <a:latin typeface="DejaVu Sans"/>
                <a:ea typeface="DejaVu Sans"/>
                <a:cs typeface="DejaVu Sans"/>
              </a:defRPr>
            </a:defPPr>
          </a:lstStyle>
          <a:p xmlns:a="http://schemas.openxmlformats.org/drawingml/2006/main">
            <a:pPr>
              <a:lnSpc>
                <a:spcPct val="105000"/>
              </a:lnSpc>
              <a:buNone/>
              <a:defRPr sz="975" b="0">
                <a:solidFill>
                  <a:srgbClr val="16735D"/>
                </a:solidFill>
                <a:latin typeface="DejaVu Sans"/>
                <a:ea typeface="DejaVu Sans"/>
                <a:cs typeface="DejaVu Sans"/>
              </a:defRPr>
            </a:pPr>
            <a:r>
              <a:rPr sz="975" b="0">
                <a:solidFill>
                  <a:srgbClr val="16735D"/>
                </a:solidFill>
                <a:latin typeface="DejaVu Sans"/>
                <a:ea typeface="DejaVu Sans"/>
                <a:cs typeface="DejaVu Sans"/>
                <a:hlinkClick xmlns:r="http://schemas.openxmlformats.org/officeDocument/2006/relationships" r:id="Rce548c6953454b3f"/>
              </a:rPr>
              <a:t>Abrir recorte en tamaño original</a:t>
            </a:r>
          </a:p>
        </p:txBody>
      </p:sp>
    </p:spTree>
    <p:extLst>
      <p:ext uri="{BB962C8B-B14F-4D97-AF65-F5344CB8AC3E}">
        <p14:creationId xmlns:p14="http://schemas.microsoft.com/office/powerpoint/2010/main" val="119507916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partado-clase">
            <a:extLst xmlns:a="http://schemas.openxmlformats.org/drawingml/2006/main">
              <a:ext uri="{FF2B5EF4-FFF2-40B4-BE49-F238E27FC236}">
                <a16:creationId xmlns:a16="http://schemas.microsoft.com/office/drawing/2014/main" id="{B8EA8F28-0F25-4943-A274-3069B63F1BE9}"/>
              </a:ext>
            </a:extLst>
          </p:cNvPr>
          <p:cNvSpPr>
            <a:spLocks xmlns:a="http://schemas.openxmlformats.org/drawingml/2006/main" noGrp="1"/>
          </p:cNvSpPr>
          <p:nvPr/>
        </p:nvSpPr>
        <p:spPr>
          <a:xfrm xmlns:a="http://schemas.openxmlformats.org/drawingml/2006/main">
            <a:off x="60960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lnSpc>
                <a:spcPct val="105000"/>
              </a:lnSpc>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Punto 7 de 7. VIII. Anexos. Clase 03 de 25</a:t>
            </a:r>
          </a:p>
        </p:txBody>
      </p:sp>
      <p:sp>
        <p:nvSpPr>
          <p:cNvPr id="2" name="titulo-clase">
            <a:extLst xmlns:a="http://schemas.openxmlformats.org/drawingml/2006/main">
              <a:ext uri="{FF2B5EF4-FFF2-40B4-BE49-F238E27FC236}">
                <a16:creationId xmlns:a16="http://schemas.microsoft.com/office/drawing/2014/main" id="{F55BF69A-98AC-4A5B-8DA0-032BFEF1073A}"/>
              </a:ext>
            </a:extLst>
          </p:cNvPr>
          <p:cNvSpPr>
            <a:spLocks xmlns:a="http://schemas.openxmlformats.org/drawingml/2006/main" noGrp="1"/>
          </p:cNvSpPr>
          <p:nvPr/>
        </p:nvSpPr>
        <p:spPr>
          <a:xfrm xmlns:a="http://schemas.openxmlformats.org/drawingml/2006/main">
            <a:off x="609600" y="69532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F3C"/>
                </a:solidFill>
                <a:latin typeface="DejaVu Sans"/>
                <a:ea typeface="DejaVu Sans"/>
                <a:cs typeface="DejaVu Sans"/>
              </a:defRPr>
            </a:defPPr>
          </a:lstStyle>
          <a:p xmlns:a="http://schemas.openxmlformats.org/drawingml/2006/main">
            <a:pPr>
              <a:lnSpc>
                <a:spcPct val="105000"/>
              </a:lnSpc>
              <a:buNone/>
              <a:defRPr sz="3300" b="1">
                <a:solidFill>
                  <a:srgbClr val="172F3C"/>
                </a:solidFill>
                <a:latin typeface="DejaVu Sans"/>
                <a:ea typeface="DejaVu Sans"/>
                <a:cs typeface="DejaVu Sans"/>
              </a:defRPr>
            </a:pPr>
            <a:r>
              <a:rPr sz="3300" b="1">
                <a:solidFill>
                  <a:srgbClr val="172F3C"/>
                </a:solidFill>
                <a:latin typeface="DejaVu Sans"/>
                <a:ea typeface="DejaVu Sans"/>
                <a:cs typeface="DejaVu Sans"/>
              </a:rPr>
              <a:t>Jugando</a:t>
            </a:r>
          </a:p>
        </p:txBody>
      </p:sp>
      <p:sp>
        <p:nvSpPr>
          <p:cNvPr id="3" name="etiqueta-uml">
            <a:extLst xmlns:a="http://schemas.openxmlformats.org/drawingml/2006/main">
              <a:ext uri="{FF2B5EF4-FFF2-40B4-BE49-F238E27FC236}">
                <a16:creationId xmlns:a16="http://schemas.microsoft.com/office/drawing/2014/main" id="{D690FA80-253F-4EAB-ACF4-4E8981BC7941}"/>
              </a:ext>
            </a:extLst>
          </p:cNvPr>
          <p:cNvSpPr>
            <a:spLocks xmlns:a="http://schemas.openxmlformats.org/drawingml/2006/main" noGrp="1"/>
          </p:cNvSpPr>
          <p:nvPr/>
        </p:nvSpPr>
        <p:spPr>
          <a:xfrm xmlns:a="http://schemas.openxmlformats.org/drawingml/2006/main">
            <a:off x="609600" y="1495425"/>
            <a:ext cx="2809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UML: recorte original</a:t>
            </a:r>
          </a:p>
        </p:txBody>
      </p:sp>
      <p:pic>
        <p:nvPicPr>
          <p:cNvPr id="4" name="">
            <a:extLst xmlns:a="http://schemas.openxmlformats.org/drawingml/2006/main">
              <a:ext uri="{FF2B5EF4-FFF2-40B4-BE49-F238E27FC236}">
                <a16:creationId xmlns:a16="http://schemas.microsoft.com/office/drawing/2014/main" id="{5A183250-22F5-4CF5-813E-98233AF2D2CD}"/>
              </a:ext>
            </a:extLst>
          </p:cNvPr>
          <p:cNvPicPr>
            <a:picLocks xmlns:a="http://schemas.openxmlformats.org/drawingml/2006/main" noChangeAspect="1"/>
          </p:cNvPicPr>
          <p:nvPr/>
        </p:nvPicPr>
        <p:blipFill>
          <a:blip xmlns:r="http://schemas.openxmlformats.org/officeDocument/2006/relationships" xmlns:a="http://schemas.openxmlformats.org/drawingml/2006/main" r:embed="R7376dd1e30f24bf2"/>
          <a:stretch xmlns:a="http://schemas.openxmlformats.org/drawingml/2006/main"/>
        </p:blipFill>
        <p:spPr>
          <a:xfrm xmlns:a="http://schemas.openxmlformats.org/drawingml/2006/main">
            <a:off x="609600" y="3233314"/>
            <a:ext cx="2762250" cy="1648673"/>
          </a:xfrm>
          <a:prstGeom xmlns:a="http://schemas.openxmlformats.org/drawingml/2006/main" prst="rect">
            <a:avLst/>
          </a:prstGeom>
        </p:spPr>
      </p:pic>
      <p:sp>
        <p:nvSpPr>
          <p:cNvPr id="5" name="funcion-clase">
            <a:extLst xmlns:a="http://schemas.openxmlformats.org/drawingml/2006/main">
              <a:ext uri="{FF2B5EF4-FFF2-40B4-BE49-F238E27FC236}">
                <a16:creationId xmlns:a16="http://schemas.microsoft.com/office/drawing/2014/main" id="{9C369731-C628-44A3-9792-5CE3BDB7717F}"/>
              </a:ext>
            </a:extLst>
          </p:cNvPr>
          <p:cNvSpPr>
            <a:spLocks xmlns:a="http://schemas.openxmlformats.org/drawingml/2006/main" noGrp="1"/>
          </p:cNvSpPr>
          <p:nvPr/>
        </p:nvSpPr>
        <p:spPr>
          <a:xfrm xmlns:a="http://schemas.openxmlformats.org/drawingml/2006/main">
            <a:off x="3810000" y="1419225"/>
            <a:ext cx="7762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F3C"/>
                </a:solidFill>
                <a:latin typeface="DejaVu Sans"/>
                <a:ea typeface="DejaVu Sans"/>
                <a:cs typeface="DejaVu Sans"/>
              </a:defRPr>
            </a:defPPr>
          </a:lstStyle>
          <a:p xmlns:a="http://schemas.openxmlformats.org/drawingml/2006/main">
            <a:pPr>
              <a:lnSpc>
                <a:spcPct val="105000"/>
              </a:lnSpc>
              <a:buNone/>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Mantiene activa la simulación del nivel.</a:t>
            </a:r>
          </a:p>
        </p:txBody>
      </p:sp>
      <p:sp>
        <p:nvSpPr>
          <p:cNvPr id="6" name="poo-0">
            <a:extLst xmlns:a="http://schemas.openxmlformats.org/drawingml/2006/main">
              <a:ext uri="{FF2B5EF4-FFF2-40B4-BE49-F238E27FC236}">
                <a16:creationId xmlns:a16="http://schemas.microsoft.com/office/drawing/2014/main" id="{A279306E-2FDD-4638-AD00-AEA012E0461E}"/>
              </a:ext>
            </a:extLst>
          </p:cNvPr>
          <p:cNvSpPr>
            <a:spLocks xmlns:a="http://schemas.openxmlformats.org/drawingml/2006/main" noGrp="1"/>
          </p:cNvSpPr>
          <p:nvPr/>
        </p:nvSpPr>
        <p:spPr>
          <a:xfrm xmlns:a="http://schemas.openxmlformats.org/drawingml/2006/main">
            <a:off x="3810000" y="21717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Herencia: deriva de EstadoJuego.</a:t>
            </a:r>
          </a:p>
        </p:txBody>
      </p:sp>
      <p:sp>
        <p:nvSpPr>
          <p:cNvPr id="7" name="poo-1">
            <a:extLst xmlns:a="http://schemas.openxmlformats.org/drawingml/2006/main">
              <a:ext uri="{FF2B5EF4-FFF2-40B4-BE49-F238E27FC236}">
                <a16:creationId xmlns:a16="http://schemas.microsoft.com/office/drawing/2014/main" id="{34CF120B-1127-4B09-BE5D-D44B015089E6}"/>
              </a:ext>
            </a:extLst>
          </p:cNvPr>
          <p:cNvSpPr>
            <a:spLocks xmlns:a="http://schemas.openxmlformats.org/drawingml/2006/main" noGrp="1"/>
          </p:cNvSpPr>
          <p:nvPr/>
        </p:nvSpPr>
        <p:spPr>
          <a:xfrm xmlns:a="http://schemas.openxmlformats.org/drawingml/2006/main">
            <a:off x="3810000" y="25146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Polimorfismo: actualizar ejecuta la simulación.</a:t>
            </a:r>
          </a:p>
        </p:txBody>
      </p:sp>
      <p:sp>
        <p:nvSpPr>
          <p:cNvPr id="8" name="etiqueta-codigo">
            <a:extLst xmlns:a="http://schemas.openxmlformats.org/drawingml/2006/main">
              <a:ext uri="{FF2B5EF4-FFF2-40B4-BE49-F238E27FC236}">
                <a16:creationId xmlns:a16="http://schemas.microsoft.com/office/drawing/2014/main" id="{F6638CC6-85CD-4CC0-A99D-9C86CB2CC171}"/>
              </a:ext>
            </a:extLst>
          </p:cNvPr>
          <p:cNvSpPr>
            <a:spLocks xmlns:a="http://schemas.openxmlformats.org/drawingml/2006/main" noGrp="1"/>
          </p:cNvSpPr>
          <p:nvPr/>
        </p:nvSpPr>
        <p:spPr>
          <a:xfrm xmlns:a="http://schemas.openxmlformats.org/drawingml/2006/main">
            <a:off x="3810000" y="2819400"/>
            <a:ext cx="7762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Código del proyecto (fragmento)</a:t>
            </a:r>
          </a:p>
        </p:txBody>
      </p:sp>
      <p:sp>
        <p:nvSpPr>
          <p:cNvPr id="9" name="fragmento-codigo">
            <a:extLst xmlns:a="http://schemas.openxmlformats.org/drawingml/2006/main">
              <a:ext uri="{FF2B5EF4-FFF2-40B4-BE49-F238E27FC236}">
                <a16:creationId xmlns:a16="http://schemas.microsoft.com/office/drawing/2014/main" id="{C8D88C1D-9B8A-4095-8CFE-9FD12FBF57A5}"/>
              </a:ext>
            </a:extLst>
          </p:cNvPr>
          <p:cNvSpPr>
            <a:spLocks xmlns:a="http://schemas.openxmlformats.org/drawingml/2006/main" noGrp="1"/>
          </p:cNvSpPr>
          <p:nvPr/>
        </p:nvSpPr>
        <p:spPr>
          <a:xfrm xmlns:a="http://schemas.openxmlformats.org/drawingml/2006/main">
            <a:off x="3810000" y="3143250"/>
            <a:ext cx="77628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172F3C"/>
                </a:solidFill>
                <a:latin typeface="DejaVu Sans Mono"/>
                <a:ea typeface="DejaVu Sans Mono"/>
                <a:cs typeface="DejaVu Sans Mono"/>
              </a:defRPr>
            </a:defPPr>
          </a:lstStyle>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class Jugando(EstadoJuego):</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actualizar(self, dt, teclas):</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resultado = self.juego.nivel.actualizar(dt, teclas)</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if resultado == "derrota":</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self.juego.cambiar_estado(Derrota(self.juego))</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elif resultado == "victoria":</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self.juego.cambiar_estado(Victoria(self.juego))</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elif resultado == "nivel_completado":</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self.juego.cambiar_estado(NivelCompletado(self.juego))</a:t>
            </a:r>
          </a:p>
        </p:txBody>
      </p:sp>
      <p:sp>
        <p:nvSpPr>
          <p:cNvPr id="10" name="enlace-fuente">
            <a:extLst xmlns:a="http://schemas.openxmlformats.org/drawingml/2006/main">
              <a:ext uri="{FF2B5EF4-FFF2-40B4-BE49-F238E27FC236}">
                <a16:creationId xmlns:a16="http://schemas.microsoft.com/office/drawing/2014/main" id="{A9D14323-E160-4CAC-9505-E26E693636DC}"/>
              </a:ext>
            </a:extLst>
          </p:cNvPr>
          <p:cNvSpPr>
            <a:spLocks xmlns:a="http://schemas.openxmlformats.org/drawingml/2006/main" noGrp="1"/>
          </p:cNvSpPr>
          <p:nvPr/>
        </p:nvSpPr>
        <p:spPr>
          <a:xfrm xmlns:a="http://schemas.openxmlformats.org/drawingml/2006/main">
            <a:off x="3810000" y="6457950"/>
            <a:ext cx="7762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526773"/>
                </a:solidFill>
                <a:latin typeface="DejaVu Sans"/>
                <a:ea typeface="DejaVu Sans"/>
                <a:cs typeface="DejaVu Sans"/>
              </a:defRPr>
            </a:defPPr>
          </a:lstStyle>
          <a:p xmlns:a="http://schemas.openxmlformats.org/drawingml/2006/main">
            <a:pPr>
              <a:lnSpc>
                <a:spcPct val="105000"/>
              </a:lnSpc>
              <a:buNone/>
              <a:defRPr sz="975" b="0">
                <a:solidFill>
                  <a:srgbClr val="526773"/>
                </a:solidFill>
                <a:latin typeface="DejaVu Sans"/>
                <a:ea typeface="DejaVu Sans"/>
                <a:cs typeface="DejaVu Sans"/>
              </a:defRPr>
            </a:pPr>
            <a:r>
              <a:rPr sz="975" b="0">
                <a:solidFill>
                  <a:srgbClr val="526773"/>
                </a:solidFill>
                <a:latin typeface="DejaVu Sans"/>
                <a:ea typeface="DejaVu Sans"/>
                <a:cs typeface="DejaVu Sans"/>
                <a:hlinkClick xmlns:r="http://schemas.openxmlformats.org/officeDocument/2006/relationships" r:id="R653f4ae06ab3431a"/>
              </a:rPr>
              <a:t>src/estados.py, clase desde línea 19</a:t>
            </a:r>
          </a:p>
        </p:txBody>
      </p:sp>
      <p:sp>
        <p:nvSpPr>
          <p:cNvPr id="11" name="enlace-recorte">
            <a:extLst xmlns:a="http://schemas.openxmlformats.org/drawingml/2006/main">
              <a:ext uri="{FF2B5EF4-FFF2-40B4-BE49-F238E27FC236}">
                <a16:creationId xmlns:a16="http://schemas.microsoft.com/office/drawing/2014/main" id="{3BECC2DD-EFD6-4396-B9A3-BF9F7ADAEA37}"/>
              </a:ext>
            </a:extLst>
          </p:cNvPr>
          <p:cNvSpPr>
            <a:spLocks xmlns:a="http://schemas.openxmlformats.org/drawingml/2006/main" noGrp="1"/>
          </p:cNvSpPr>
          <p:nvPr/>
        </p:nvSpPr>
        <p:spPr>
          <a:xfrm xmlns:a="http://schemas.openxmlformats.org/drawingml/2006/main">
            <a:off x="609600" y="6457950"/>
            <a:ext cx="285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16735D"/>
                </a:solidFill>
                <a:latin typeface="DejaVu Sans"/>
                <a:ea typeface="DejaVu Sans"/>
                <a:cs typeface="DejaVu Sans"/>
              </a:defRPr>
            </a:defPPr>
          </a:lstStyle>
          <a:p xmlns:a="http://schemas.openxmlformats.org/drawingml/2006/main">
            <a:pPr>
              <a:lnSpc>
                <a:spcPct val="105000"/>
              </a:lnSpc>
              <a:buNone/>
              <a:defRPr sz="975" b="0">
                <a:solidFill>
                  <a:srgbClr val="16735D"/>
                </a:solidFill>
                <a:latin typeface="DejaVu Sans"/>
                <a:ea typeface="DejaVu Sans"/>
                <a:cs typeface="DejaVu Sans"/>
              </a:defRPr>
            </a:pPr>
            <a:r>
              <a:rPr sz="975" b="0">
                <a:solidFill>
                  <a:srgbClr val="16735D"/>
                </a:solidFill>
                <a:latin typeface="DejaVu Sans"/>
                <a:ea typeface="DejaVu Sans"/>
                <a:cs typeface="DejaVu Sans"/>
                <a:hlinkClick xmlns:r="http://schemas.openxmlformats.org/officeDocument/2006/relationships" r:id="R5e586c2f6fc8405f"/>
              </a:rPr>
              <a:t>Abrir recorte en tamaño original</a:t>
            </a:r>
          </a:p>
        </p:txBody>
      </p:sp>
    </p:spTree>
    <p:extLst>
      <p:ext uri="{BB962C8B-B14F-4D97-AF65-F5344CB8AC3E}">
        <p14:creationId xmlns:p14="http://schemas.microsoft.com/office/powerpoint/2010/main" val="103085650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partado-clase">
            <a:extLst xmlns:a="http://schemas.openxmlformats.org/drawingml/2006/main">
              <a:ext uri="{FF2B5EF4-FFF2-40B4-BE49-F238E27FC236}">
                <a16:creationId xmlns:a16="http://schemas.microsoft.com/office/drawing/2014/main" id="{3ABB4AA0-E87E-4FBF-BCEA-E77F49072263}"/>
              </a:ext>
            </a:extLst>
          </p:cNvPr>
          <p:cNvSpPr>
            <a:spLocks xmlns:a="http://schemas.openxmlformats.org/drawingml/2006/main" noGrp="1"/>
          </p:cNvSpPr>
          <p:nvPr/>
        </p:nvSpPr>
        <p:spPr>
          <a:xfrm xmlns:a="http://schemas.openxmlformats.org/drawingml/2006/main">
            <a:off x="60960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lnSpc>
                <a:spcPct val="105000"/>
              </a:lnSpc>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Punto 7 de 7. VIII. Anexos. Clase 04 de 25</a:t>
            </a:r>
          </a:p>
        </p:txBody>
      </p:sp>
      <p:sp>
        <p:nvSpPr>
          <p:cNvPr id="2" name="titulo-clase">
            <a:extLst xmlns:a="http://schemas.openxmlformats.org/drawingml/2006/main">
              <a:ext uri="{FF2B5EF4-FFF2-40B4-BE49-F238E27FC236}">
                <a16:creationId xmlns:a16="http://schemas.microsoft.com/office/drawing/2014/main" id="{8D6C0E45-A5AA-495B-9660-596083A3ABE6}"/>
              </a:ext>
            </a:extLst>
          </p:cNvPr>
          <p:cNvSpPr>
            <a:spLocks xmlns:a="http://schemas.openxmlformats.org/drawingml/2006/main" noGrp="1"/>
          </p:cNvSpPr>
          <p:nvPr/>
        </p:nvSpPr>
        <p:spPr>
          <a:xfrm xmlns:a="http://schemas.openxmlformats.org/drawingml/2006/main">
            <a:off x="609600" y="69532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F3C"/>
                </a:solidFill>
                <a:latin typeface="DejaVu Sans"/>
                <a:ea typeface="DejaVu Sans"/>
                <a:cs typeface="DejaVu Sans"/>
              </a:defRPr>
            </a:defPPr>
          </a:lstStyle>
          <a:p xmlns:a="http://schemas.openxmlformats.org/drawingml/2006/main">
            <a:pPr>
              <a:lnSpc>
                <a:spcPct val="105000"/>
              </a:lnSpc>
              <a:buNone/>
              <a:defRPr sz="3300" b="1">
                <a:solidFill>
                  <a:srgbClr val="172F3C"/>
                </a:solidFill>
                <a:latin typeface="DejaVu Sans"/>
                <a:ea typeface="DejaVu Sans"/>
                <a:cs typeface="DejaVu Sans"/>
              </a:defRPr>
            </a:pPr>
            <a:r>
              <a:rPr sz="3300" b="1">
                <a:solidFill>
                  <a:srgbClr val="172F3C"/>
                </a:solidFill>
                <a:latin typeface="DejaVu Sans"/>
                <a:ea typeface="DejaVu Sans"/>
                <a:cs typeface="DejaVu Sans"/>
              </a:rPr>
              <a:t>Pausa</a:t>
            </a:r>
          </a:p>
        </p:txBody>
      </p:sp>
      <p:sp>
        <p:nvSpPr>
          <p:cNvPr id="3" name="etiqueta-uml">
            <a:extLst xmlns:a="http://schemas.openxmlformats.org/drawingml/2006/main">
              <a:ext uri="{FF2B5EF4-FFF2-40B4-BE49-F238E27FC236}">
                <a16:creationId xmlns:a16="http://schemas.microsoft.com/office/drawing/2014/main" id="{219C4CF2-8521-4849-8E3C-B74586B13194}"/>
              </a:ext>
            </a:extLst>
          </p:cNvPr>
          <p:cNvSpPr>
            <a:spLocks xmlns:a="http://schemas.openxmlformats.org/drawingml/2006/main" noGrp="1"/>
          </p:cNvSpPr>
          <p:nvPr/>
        </p:nvSpPr>
        <p:spPr>
          <a:xfrm xmlns:a="http://schemas.openxmlformats.org/drawingml/2006/main">
            <a:off x="609600" y="1495425"/>
            <a:ext cx="2809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UML: recorte original</a:t>
            </a:r>
          </a:p>
        </p:txBody>
      </p:sp>
      <p:pic>
        <p:nvPicPr>
          <p:cNvPr id="4" name="">
            <a:extLst xmlns:a="http://schemas.openxmlformats.org/drawingml/2006/main">
              <a:ext uri="{FF2B5EF4-FFF2-40B4-BE49-F238E27FC236}">
                <a16:creationId xmlns:a16="http://schemas.microsoft.com/office/drawing/2014/main" id="{ECEB6D41-8B25-40A0-8418-14161DF72C53}"/>
              </a:ext>
            </a:extLst>
          </p:cNvPr>
          <p:cNvPicPr>
            <a:picLocks xmlns:a="http://schemas.openxmlformats.org/drawingml/2006/main" noChangeAspect="1"/>
          </p:cNvPicPr>
          <p:nvPr/>
        </p:nvPicPr>
        <p:blipFill>
          <a:blip xmlns:r="http://schemas.openxmlformats.org/officeDocument/2006/relationships" xmlns:a="http://schemas.openxmlformats.org/drawingml/2006/main" r:embed="R6532067226f94cbd"/>
          <a:stretch xmlns:a="http://schemas.openxmlformats.org/drawingml/2006/main"/>
        </p:blipFill>
        <p:spPr>
          <a:xfrm xmlns:a="http://schemas.openxmlformats.org/drawingml/2006/main">
            <a:off x="609600" y="3203500"/>
            <a:ext cx="2762250" cy="1708299"/>
          </a:xfrm>
          <a:prstGeom xmlns:a="http://schemas.openxmlformats.org/drawingml/2006/main" prst="rect">
            <a:avLst/>
          </a:prstGeom>
        </p:spPr>
      </p:pic>
      <p:sp>
        <p:nvSpPr>
          <p:cNvPr id="5" name="funcion-clase">
            <a:extLst xmlns:a="http://schemas.openxmlformats.org/drawingml/2006/main">
              <a:ext uri="{FF2B5EF4-FFF2-40B4-BE49-F238E27FC236}">
                <a16:creationId xmlns:a16="http://schemas.microsoft.com/office/drawing/2014/main" id="{FACA3F5D-DD27-4EB4-AA20-6AB25C4322B9}"/>
              </a:ext>
            </a:extLst>
          </p:cNvPr>
          <p:cNvSpPr>
            <a:spLocks xmlns:a="http://schemas.openxmlformats.org/drawingml/2006/main" noGrp="1"/>
          </p:cNvSpPr>
          <p:nvPr/>
        </p:nvSpPr>
        <p:spPr>
          <a:xfrm xmlns:a="http://schemas.openxmlformats.org/drawingml/2006/main">
            <a:off x="3810000" y="1419225"/>
            <a:ext cx="7762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F3C"/>
                </a:solidFill>
                <a:latin typeface="DejaVu Sans"/>
                <a:ea typeface="DejaVu Sans"/>
                <a:cs typeface="DejaVu Sans"/>
              </a:defRPr>
            </a:defPPr>
          </a:lstStyle>
          <a:p xmlns:a="http://schemas.openxmlformats.org/drawingml/2006/main">
            <a:pPr>
              <a:lnSpc>
                <a:spcPct val="105000"/>
              </a:lnSpc>
              <a:buNone/>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Detiene la simulación hasta que el jugador continúa.</a:t>
            </a:r>
          </a:p>
        </p:txBody>
      </p:sp>
      <p:sp>
        <p:nvSpPr>
          <p:cNvPr id="6" name="poo-0">
            <a:extLst xmlns:a="http://schemas.openxmlformats.org/drawingml/2006/main">
              <a:ext uri="{FF2B5EF4-FFF2-40B4-BE49-F238E27FC236}">
                <a16:creationId xmlns:a16="http://schemas.microsoft.com/office/drawing/2014/main" id="{54405D42-569C-4923-B53B-D9F1CFCC797D}"/>
              </a:ext>
            </a:extLst>
          </p:cNvPr>
          <p:cNvSpPr>
            <a:spLocks xmlns:a="http://schemas.openxmlformats.org/drawingml/2006/main" noGrp="1"/>
          </p:cNvSpPr>
          <p:nvPr/>
        </p:nvSpPr>
        <p:spPr>
          <a:xfrm xmlns:a="http://schemas.openxmlformats.org/drawingml/2006/main">
            <a:off x="3810000" y="21717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Herencia: deriva de EstadoJuego.</a:t>
            </a:r>
          </a:p>
        </p:txBody>
      </p:sp>
      <p:sp>
        <p:nvSpPr>
          <p:cNvPr id="7" name="poo-1">
            <a:extLst xmlns:a="http://schemas.openxmlformats.org/drawingml/2006/main">
              <a:ext uri="{FF2B5EF4-FFF2-40B4-BE49-F238E27FC236}">
                <a16:creationId xmlns:a16="http://schemas.microsoft.com/office/drawing/2014/main" id="{2583902D-C16B-42E0-AD41-3B466925C086}"/>
              </a:ext>
            </a:extLst>
          </p:cNvPr>
          <p:cNvSpPr>
            <a:spLocks xmlns:a="http://schemas.openxmlformats.org/drawingml/2006/main" noGrp="1"/>
          </p:cNvSpPr>
          <p:nvPr/>
        </p:nvSpPr>
        <p:spPr>
          <a:xfrm xmlns:a="http://schemas.openxmlformats.org/drawingml/2006/main">
            <a:off x="3810000" y="25146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Polimorfismo: actualizar deja el nivel detenido.</a:t>
            </a:r>
          </a:p>
        </p:txBody>
      </p:sp>
      <p:sp>
        <p:nvSpPr>
          <p:cNvPr id="8" name="etiqueta-codigo">
            <a:extLst xmlns:a="http://schemas.openxmlformats.org/drawingml/2006/main">
              <a:ext uri="{FF2B5EF4-FFF2-40B4-BE49-F238E27FC236}">
                <a16:creationId xmlns:a16="http://schemas.microsoft.com/office/drawing/2014/main" id="{AA5F516C-1E27-4311-A6AF-25C9A5989FE7}"/>
              </a:ext>
            </a:extLst>
          </p:cNvPr>
          <p:cNvSpPr>
            <a:spLocks xmlns:a="http://schemas.openxmlformats.org/drawingml/2006/main" noGrp="1"/>
          </p:cNvSpPr>
          <p:nvPr/>
        </p:nvSpPr>
        <p:spPr>
          <a:xfrm xmlns:a="http://schemas.openxmlformats.org/drawingml/2006/main">
            <a:off x="3810000" y="2819400"/>
            <a:ext cx="7762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Código del proyecto (fragmento)</a:t>
            </a:r>
          </a:p>
        </p:txBody>
      </p:sp>
      <p:sp>
        <p:nvSpPr>
          <p:cNvPr id="9" name="fragmento-codigo">
            <a:extLst xmlns:a="http://schemas.openxmlformats.org/drawingml/2006/main">
              <a:ext uri="{FF2B5EF4-FFF2-40B4-BE49-F238E27FC236}">
                <a16:creationId xmlns:a16="http://schemas.microsoft.com/office/drawing/2014/main" id="{53A422D3-2FB1-4EF6-B80D-7D2A1A91A374}"/>
              </a:ext>
            </a:extLst>
          </p:cNvPr>
          <p:cNvSpPr>
            <a:spLocks xmlns:a="http://schemas.openxmlformats.org/drawingml/2006/main" noGrp="1"/>
          </p:cNvSpPr>
          <p:nvPr/>
        </p:nvSpPr>
        <p:spPr>
          <a:xfrm xmlns:a="http://schemas.openxmlformats.org/drawingml/2006/main">
            <a:off x="3810000" y="3143250"/>
            <a:ext cx="77628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172F3C"/>
                </a:solidFill>
                <a:latin typeface="DejaVu Sans Mono"/>
                <a:ea typeface="DejaVu Sans Mono"/>
                <a:cs typeface="DejaVu Sans Mono"/>
              </a:defRPr>
            </a:defPPr>
          </a:lstStyle>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class Pausa(EstadoJuego):</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manejar_entrada(self, tecla):</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if tecla == "pausa":</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self.juego.cambiar_estado(Jugando(self.juego))</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actualizar(self, dt, teclas):</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pass</a:t>
            </a:r>
          </a:p>
        </p:txBody>
      </p:sp>
      <p:sp>
        <p:nvSpPr>
          <p:cNvPr id="10" name="enlace-fuente">
            <a:extLst xmlns:a="http://schemas.openxmlformats.org/drawingml/2006/main">
              <a:ext uri="{FF2B5EF4-FFF2-40B4-BE49-F238E27FC236}">
                <a16:creationId xmlns:a16="http://schemas.microsoft.com/office/drawing/2014/main" id="{04AF18A8-8EC6-4F09-9809-88B34CCA97EB}"/>
              </a:ext>
            </a:extLst>
          </p:cNvPr>
          <p:cNvSpPr>
            <a:spLocks xmlns:a="http://schemas.openxmlformats.org/drawingml/2006/main" noGrp="1"/>
          </p:cNvSpPr>
          <p:nvPr/>
        </p:nvSpPr>
        <p:spPr>
          <a:xfrm xmlns:a="http://schemas.openxmlformats.org/drawingml/2006/main">
            <a:off x="3810000" y="6457950"/>
            <a:ext cx="7762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526773"/>
                </a:solidFill>
                <a:latin typeface="DejaVu Sans"/>
                <a:ea typeface="DejaVu Sans"/>
                <a:cs typeface="DejaVu Sans"/>
              </a:defRPr>
            </a:defPPr>
          </a:lstStyle>
          <a:p xmlns:a="http://schemas.openxmlformats.org/drawingml/2006/main">
            <a:pPr>
              <a:lnSpc>
                <a:spcPct val="105000"/>
              </a:lnSpc>
              <a:buNone/>
              <a:defRPr sz="975" b="0">
                <a:solidFill>
                  <a:srgbClr val="526773"/>
                </a:solidFill>
                <a:latin typeface="DejaVu Sans"/>
                <a:ea typeface="DejaVu Sans"/>
                <a:cs typeface="DejaVu Sans"/>
              </a:defRPr>
            </a:pPr>
            <a:r>
              <a:rPr sz="975" b="0">
                <a:solidFill>
                  <a:srgbClr val="526773"/>
                </a:solidFill>
                <a:latin typeface="DejaVu Sans"/>
                <a:ea typeface="DejaVu Sans"/>
                <a:cs typeface="DejaVu Sans"/>
                <a:hlinkClick xmlns:r="http://schemas.openxmlformats.org/officeDocument/2006/relationships" r:id="R955bbac40d7346f5"/>
              </a:rPr>
              <a:t>src/estados.py, clase desde línea 38</a:t>
            </a:r>
          </a:p>
        </p:txBody>
      </p:sp>
      <p:sp>
        <p:nvSpPr>
          <p:cNvPr id="11" name="enlace-recorte">
            <a:extLst xmlns:a="http://schemas.openxmlformats.org/drawingml/2006/main">
              <a:ext uri="{FF2B5EF4-FFF2-40B4-BE49-F238E27FC236}">
                <a16:creationId xmlns:a16="http://schemas.microsoft.com/office/drawing/2014/main" id="{9C91094F-DEB9-4F83-9092-B3200DBDD422}"/>
              </a:ext>
            </a:extLst>
          </p:cNvPr>
          <p:cNvSpPr>
            <a:spLocks xmlns:a="http://schemas.openxmlformats.org/drawingml/2006/main" noGrp="1"/>
          </p:cNvSpPr>
          <p:nvPr/>
        </p:nvSpPr>
        <p:spPr>
          <a:xfrm xmlns:a="http://schemas.openxmlformats.org/drawingml/2006/main">
            <a:off x="609600" y="6457950"/>
            <a:ext cx="285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16735D"/>
                </a:solidFill>
                <a:latin typeface="DejaVu Sans"/>
                <a:ea typeface="DejaVu Sans"/>
                <a:cs typeface="DejaVu Sans"/>
              </a:defRPr>
            </a:defPPr>
          </a:lstStyle>
          <a:p xmlns:a="http://schemas.openxmlformats.org/drawingml/2006/main">
            <a:pPr>
              <a:lnSpc>
                <a:spcPct val="105000"/>
              </a:lnSpc>
              <a:buNone/>
              <a:defRPr sz="975" b="0">
                <a:solidFill>
                  <a:srgbClr val="16735D"/>
                </a:solidFill>
                <a:latin typeface="DejaVu Sans"/>
                <a:ea typeface="DejaVu Sans"/>
                <a:cs typeface="DejaVu Sans"/>
              </a:defRPr>
            </a:pPr>
            <a:r>
              <a:rPr sz="975" b="0">
                <a:solidFill>
                  <a:srgbClr val="16735D"/>
                </a:solidFill>
                <a:latin typeface="DejaVu Sans"/>
                <a:ea typeface="DejaVu Sans"/>
                <a:cs typeface="DejaVu Sans"/>
                <a:hlinkClick xmlns:r="http://schemas.openxmlformats.org/officeDocument/2006/relationships" r:id="R4943522687e44feb"/>
              </a:rPr>
              <a:t>Abrir recorte en tamaño original</a:t>
            </a:r>
          </a:p>
        </p:txBody>
      </p:sp>
    </p:spTree>
    <p:extLst>
      <p:ext uri="{BB962C8B-B14F-4D97-AF65-F5344CB8AC3E}">
        <p14:creationId xmlns:p14="http://schemas.microsoft.com/office/powerpoint/2010/main" val="180579741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partado-clase">
            <a:extLst xmlns:a="http://schemas.openxmlformats.org/drawingml/2006/main">
              <a:ext uri="{FF2B5EF4-FFF2-40B4-BE49-F238E27FC236}">
                <a16:creationId xmlns:a16="http://schemas.microsoft.com/office/drawing/2014/main" id="{FCD08342-0BC1-4C1B-8BA2-6F5A0E654C21}"/>
              </a:ext>
            </a:extLst>
          </p:cNvPr>
          <p:cNvSpPr>
            <a:spLocks xmlns:a="http://schemas.openxmlformats.org/drawingml/2006/main" noGrp="1"/>
          </p:cNvSpPr>
          <p:nvPr/>
        </p:nvSpPr>
        <p:spPr>
          <a:xfrm xmlns:a="http://schemas.openxmlformats.org/drawingml/2006/main">
            <a:off x="60960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lnSpc>
                <a:spcPct val="105000"/>
              </a:lnSpc>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Punto 7 de 7. VIII. Anexos. Clase 05 de 25</a:t>
            </a:r>
          </a:p>
        </p:txBody>
      </p:sp>
      <p:sp>
        <p:nvSpPr>
          <p:cNvPr id="2" name="titulo-clase">
            <a:extLst xmlns:a="http://schemas.openxmlformats.org/drawingml/2006/main">
              <a:ext uri="{FF2B5EF4-FFF2-40B4-BE49-F238E27FC236}">
                <a16:creationId xmlns:a16="http://schemas.microsoft.com/office/drawing/2014/main" id="{6A2485C5-6524-4D3D-AB6A-FBEB54CF6A83}"/>
              </a:ext>
            </a:extLst>
          </p:cNvPr>
          <p:cNvSpPr>
            <a:spLocks xmlns:a="http://schemas.openxmlformats.org/drawingml/2006/main" noGrp="1"/>
          </p:cNvSpPr>
          <p:nvPr/>
        </p:nvSpPr>
        <p:spPr>
          <a:xfrm xmlns:a="http://schemas.openxmlformats.org/drawingml/2006/main">
            <a:off x="609600" y="69532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F3C"/>
                </a:solidFill>
                <a:latin typeface="DejaVu Sans"/>
                <a:ea typeface="DejaVu Sans"/>
                <a:cs typeface="DejaVu Sans"/>
              </a:defRPr>
            </a:defPPr>
          </a:lstStyle>
          <a:p xmlns:a="http://schemas.openxmlformats.org/drawingml/2006/main">
            <a:pPr>
              <a:lnSpc>
                <a:spcPct val="105000"/>
              </a:lnSpc>
              <a:buNone/>
              <a:defRPr sz="3300" b="1">
                <a:solidFill>
                  <a:srgbClr val="172F3C"/>
                </a:solidFill>
                <a:latin typeface="DejaVu Sans"/>
                <a:ea typeface="DejaVu Sans"/>
                <a:cs typeface="DejaVu Sans"/>
              </a:defRPr>
            </a:pPr>
            <a:r>
              <a:rPr sz="3300" b="1">
                <a:solidFill>
                  <a:srgbClr val="172F3C"/>
                </a:solidFill>
                <a:latin typeface="DejaVu Sans"/>
                <a:ea typeface="DejaVu Sans"/>
                <a:cs typeface="DejaVu Sans"/>
              </a:rPr>
              <a:t>Derrota</a:t>
            </a:r>
          </a:p>
        </p:txBody>
      </p:sp>
      <p:sp>
        <p:nvSpPr>
          <p:cNvPr id="3" name="etiqueta-uml">
            <a:extLst xmlns:a="http://schemas.openxmlformats.org/drawingml/2006/main">
              <a:ext uri="{FF2B5EF4-FFF2-40B4-BE49-F238E27FC236}">
                <a16:creationId xmlns:a16="http://schemas.microsoft.com/office/drawing/2014/main" id="{DF142DF3-4C68-4F06-849F-6ED65A6F1765}"/>
              </a:ext>
            </a:extLst>
          </p:cNvPr>
          <p:cNvSpPr>
            <a:spLocks xmlns:a="http://schemas.openxmlformats.org/drawingml/2006/main" noGrp="1"/>
          </p:cNvSpPr>
          <p:nvPr/>
        </p:nvSpPr>
        <p:spPr>
          <a:xfrm xmlns:a="http://schemas.openxmlformats.org/drawingml/2006/main">
            <a:off x="609600" y="1495425"/>
            <a:ext cx="2809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UML: recorte original</a:t>
            </a:r>
          </a:p>
        </p:txBody>
      </p:sp>
      <p:pic>
        <p:nvPicPr>
          <p:cNvPr id="4" name="">
            <a:extLst xmlns:a="http://schemas.openxmlformats.org/drawingml/2006/main">
              <a:ext uri="{FF2B5EF4-FFF2-40B4-BE49-F238E27FC236}">
                <a16:creationId xmlns:a16="http://schemas.microsoft.com/office/drawing/2014/main" id="{6145DE53-BDC4-4F9B-B9CF-7EF8F2727A46}"/>
              </a:ext>
            </a:extLst>
          </p:cNvPr>
          <p:cNvPicPr>
            <a:picLocks xmlns:a="http://schemas.openxmlformats.org/drawingml/2006/main" noChangeAspect="1"/>
          </p:cNvPicPr>
          <p:nvPr/>
        </p:nvPicPr>
        <p:blipFill>
          <a:blip xmlns:r="http://schemas.openxmlformats.org/officeDocument/2006/relationships" xmlns:a="http://schemas.openxmlformats.org/drawingml/2006/main" r:embed="R31532eb19902474f"/>
          <a:stretch xmlns:a="http://schemas.openxmlformats.org/drawingml/2006/main"/>
        </p:blipFill>
        <p:spPr>
          <a:xfrm xmlns:a="http://schemas.openxmlformats.org/drawingml/2006/main">
            <a:off x="609600" y="3217179"/>
            <a:ext cx="2762250" cy="1680942"/>
          </a:xfrm>
          <a:prstGeom xmlns:a="http://schemas.openxmlformats.org/drawingml/2006/main" prst="rect">
            <a:avLst/>
          </a:prstGeom>
        </p:spPr>
      </p:pic>
      <p:sp>
        <p:nvSpPr>
          <p:cNvPr id="5" name="funcion-clase">
            <a:extLst xmlns:a="http://schemas.openxmlformats.org/drawingml/2006/main">
              <a:ext uri="{FF2B5EF4-FFF2-40B4-BE49-F238E27FC236}">
                <a16:creationId xmlns:a16="http://schemas.microsoft.com/office/drawing/2014/main" id="{0BB1F237-721A-4539-9685-CCB2A3919D9F}"/>
              </a:ext>
            </a:extLst>
          </p:cNvPr>
          <p:cNvSpPr>
            <a:spLocks xmlns:a="http://schemas.openxmlformats.org/drawingml/2006/main" noGrp="1"/>
          </p:cNvSpPr>
          <p:nvPr/>
        </p:nvSpPr>
        <p:spPr>
          <a:xfrm xmlns:a="http://schemas.openxmlformats.org/drawingml/2006/main">
            <a:off x="3810000" y="1419225"/>
            <a:ext cx="7762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F3C"/>
                </a:solidFill>
                <a:latin typeface="DejaVu Sans"/>
                <a:ea typeface="DejaVu Sans"/>
                <a:cs typeface="DejaVu Sans"/>
              </a:defRPr>
            </a:defPPr>
          </a:lstStyle>
          <a:p xmlns:a="http://schemas.openxmlformats.org/drawingml/2006/main">
            <a:pPr>
              <a:lnSpc>
                <a:spcPct val="105000"/>
              </a:lnSpc>
              <a:buNone/>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Espera la decisión del jugador después de perder.</a:t>
            </a:r>
          </a:p>
        </p:txBody>
      </p:sp>
      <p:sp>
        <p:nvSpPr>
          <p:cNvPr id="6" name="poo-0">
            <a:extLst xmlns:a="http://schemas.openxmlformats.org/drawingml/2006/main">
              <a:ext uri="{FF2B5EF4-FFF2-40B4-BE49-F238E27FC236}">
                <a16:creationId xmlns:a16="http://schemas.microsoft.com/office/drawing/2014/main" id="{887E72CA-1682-4FDF-AA1D-9B02549DF863}"/>
              </a:ext>
            </a:extLst>
          </p:cNvPr>
          <p:cNvSpPr>
            <a:spLocks xmlns:a="http://schemas.openxmlformats.org/drawingml/2006/main" noGrp="1"/>
          </p:cNvSpPr>
          <p:nvPr/>
        </p:nvSpPr>
        <p:spPr>
          <a:xfrm xmlns:a="http://schemas.openxmlformats.org/drawingml/2006/main">
            <a:off x="3810000" y="21717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Herencia: deriva de EstadoJuego.</a:t>
            </a:r>
          </a:p>
        </p:txBody>
      </p:sp>
      <p:sp>
        <p:nvSpPr>
          <p:cNvPr id="7" name="poo-1">
            <a:extLst xmlns:a="http://schemas.openxmlformats.org/drawingml/2006/main">
              <a:ext uri="{FF2B5EF4-FFF2-40B4-BE49-F238E27FC236}">
                <a16:creationId xmlns:a16="http://schemas.microsoft.com/office/drawing/2014/main" id="{5BE50502-EC22-4BB5-8E09-F9C2D08C7F93}"/>
              </a:ext>
            </a:extLst>
          </p:cNvPr>
          <p:cNvSpPr>
            <a:spLocks xmlns:a="http://schemas.openxmlformats.org/drawingml/2006/main" noGrp="1"/>
          </p:cNvSpPr>
          <p:nvPr/>
        </p:nvSpPr>
        <p:spPr>
          <a:xfrm xmlns:a="http://schemas.openxmlformats.org/drawingml/2006/main">
            <a:off x="3810000" y="25146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Polimorfismo: la entrada permite reintentar o reiniciar.</a:t>
            </a:r>
          </a:p>
        </p:txBody>
      </p:sp>
      <p:sp>
        <p:nvSpPr>
          <p:cNvPr id="8" name="etiqueta-codigo">
            <a:extLst xmlns:a="http://schemas.openxmlformats.org/drawingml/2006/main">
              <a:ext uri="{FF2B5EF4-FFF2-40B4-BE49-F238E27FC236}">
                <a16:creationId xmlns:a16="http://schemas.microsoft.com/office/drawing/2014/main" id="{BC773D69-EA25-4772-BE72-E4AE429A7CAD}"/>
              </a:ext>
            </a:extLst>
          </p:cNvPr>
          <p:cNvSpPr>
            <a:spLocks xmlns:a="http://schemas.openxmlformats.org/drawingml/2006/main" noGrp="1"/>
          </p:cNvSpPr>
          <p:nvPr/>
        </p:nvSpPr>
        <p:spPr>
          <a:xfrm xmlns:a="http://schemas.openxmlformats.org/drawingml/2006/main">
            <a:off x="3810000" y="2819400"/>
            <a:ext cx="7762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Código del proyecto (fragmento)</a:t>
            </a:r>
          </a:p>
        </p:txBody>
      </p:sp>
      <p:sp>
        <p:nvSpPr>
          <p:cNvPr id="9" name="fragmento-codigo">
            <a:extLst xmlns:a="http://schemas.openxmlformats.org/drawingml/2006/main">
              <a:ext uri="{FF2B5EF4-FFF2-40B4-BE49-F238E27FC236}">
                <a16:creationId xmlns:a16="http://schemas.microsoft.com/office/drawing/2014/main" id="{6D72FC5C-0A8C-4CCC-996C-255F9984167A}"/>
              </a:ext>
            </a:extLst>
          </p:cNvPr>
          <p:cNvSpPr>
            <a:spLocks xmlns:a="http://schemas.openxmlformats.org/drawingml/2006/main" noGrp="1"/>
          </p:cNvSpPr>
          <p:nvPr/>
        </p:nvSpPr>
        <p:spPr>
          <a:xfrm xmlns:a="http://schemas.openxmlformats.org/drawingml/2006/main">
            <a:off x="3810000" y="3143250"/>
            <a:ext cx="77628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172F3C"/>
                </a:solidFill>
                <a:latin typeface="DejaVu Sans Mono"/>
                <a:ea typeface="DejaVu Sans Mono"/>
                <a:cs typeface="DejaVu Sans Mono"/>
              </a:defRPr>
            </a:defPPr>
          </a:lstStyle>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class Derrota(EstadoJuego):</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manejar_entrada(self, tecla):</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if tecla == "reiniciar":</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self.juego.reintentar_nivel()</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elif tecla == "nueva_partida":</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self.juego.iniciar_partida()</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actualizar(self, dt, teclas):</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pass</a:t>
            </a:r>
          </a:p>
        </p:txBody>
      </p:sp>
      <p:sp>
        <p:nvSpPr>
          <p:cNvPr id="10" name="enlace-fuente">
            <a:extLst xmlns:a="http://schemas.openxmlformats.org/drawingml/2006/main">
              <a:ext uri="{FF2B5EF4-FFF2-40B4-BE49-F238E27FC236}">
                <a16:creationId xmlns:a16="http://schemas.microsoft.com/office/drawing/2014/main" id="{C50029C7-BDE4-47C8-BEA9-853495334049}"/>
              </a:ext>
            </a:extLst>
          </p:cNvPr>
          <p:cNvSpPr>
            <a:spLocks xmlns:a="http://schemas.openxmlformats.org/drawingml/2006/main" noGrp="1"/>
          </p:cNvSpPr>
          <p:nvPr/>
        </p:nvSpPr>
        <p:spPr>
          <a:xfrm xmlns:a="http://schemas.openxmlformats.org/drawingml/2006/main">
            <a:off x="3810000" y="6457950"/>
            <a:ext cx="7762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526773"/>
                </a:solidFill>
                <a:latin typeface="DejaVu Sans"/>
                <a:ea typeface="DejaVu Sans"/>
                <a:cs typeface="DejaVu Sans"/>
              </a:defRPr>
            </a:defPPr>
          </a:lstStyle>
          <a:p xmlns:a="http://schemas.openxmlformats.org/drawingml/2006/main">
            <a:pPr>
              <a:lnSpc>
                <a:spcPct val="105000"/>
              </a:lnSpc>
              <a:buNone/>
              <a:defRPr sz="975" b="0">
                <a:solidFill>
                  <a:srgbClr val="526773"/>
                </a:solidFill>
                <a:latin typeface="DejaVu Sans"/>
                <a:ea typeface="DejaVu Sans"/>
                <a:cs typeface="DejaVu Sans"/>
              </a:defRPr>
            </a:pPr>
            <a:r>
              <a:rPr sz="975" b="0">
                <a:solidFill>
                  <a:srgbClr val="526773"/>
                </a:solidFill>
                <a:latin typeface="DejaVu Sans"/>
                <a:ea typeface="DejaVu Sans"/>
                <a:cs typeface="DejaVu Sans"/>
                <a:hlinkClick xmlns:r="http://schemas.openxmlformats.org/officeDocument/2006/relationships" r:id="R4f643d6af7cb423c"/>
              </a:rPr>
              <a:t>src/estados.py, clase desde línea 49</a:t>
            </a:r>
          </a:p>
        </p:txBody>
      </p:sp>
      <p:sp>
        <p:nvSpPr>
          <p:cNvPr id="11" name="enlace-recorte">
            <a:extLst xmlns:a="http://schemas.openxmlformats.org/drawingml/2006/main">
              <a:ext uri="{FF2B5EF4-FFF2-40B4-BE49-F238E27FC236}">
                <a16:creationId xmlns:a16="http://schemas.microsoft.com/office/drawing/2014/main" id="{4A0D523E-ECAD-48E8-93A1-B71D5AD4966E}"/>
              </a:ext>
            </a:extLst>
          </p:cNvPr>
          <p:cNvSpPr>
            <a:spLocks xmlns:a="http://schemas.openxmlformats.org/drawingml/2006/main" noGrp="1"/>
          </p:cNvSpPr>
          <p:nvPr/>
        </p:nvSpPr>
        <p:spPr>
          <a:xfrm xmlns:a="http://schemas.openxmlformats.org/drawingml/2006/main">
            <a:off x="609600" y="6457950"/>
            <a:ext cx="285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16735D"/>
                </a:solidFill>
                <a:latin typeface="DejaVu Sans"/>
                <a:ea typeface="DejaVu Sans"/>
                <a:cs typeface="DejaVu Sans"/>
              </a:defRPr>
            </a:defPPr>
          </a:lstStyle>
          <a:p xmlns:a="http://schemas.openxmlformats.org/drawingml/2006/main">
            <a:pPr>
              <a:lnSpc>
                <a:spcPct val="105000"/>
              </a:lnSpc>
              <a:buNone/>
              <a:defRPr sz="975" b="0">
                <a:solidFill>
                  <a:srgbClr val="16735D"/>
                </a:solidFill>
                <a:latin typeface="DejaVu Sans"/>
                <a:ea typeface="DejaVu Sans"/>
                <a:cs typeface="DejaVu Sans"/>
              </a:defRPr>
            </a:pPr>
            <a:r>
              <a:rPr sz="975" b="0">
                <a:solidFill>
                  <a:srgbClr val="16735D"/>
                </a:solidFill>
                <a:latin typeface="DejaVu Sans"/>
                <a:ea typeface="DejaVu Sans"/>
                <a:cs typeface="DejaVu Sans"/>
                <a:hlinkClick xmlns:r="http://schemas.openxmlformats.org/officeDocument/2006/relationships" r:id="R16a01c3a93694126"/>
              </a:rPr>
              <a:t>Abrir recorte en tamaño original</a:t>
            </a:r>
          </a:p>
        </p:txBody>
      </p:sp>
    </p:spTree>
    <p:extLst>
      <p:ext uri="{BB962C8B-B14F-4D97-AF65-F5344CB8AC3E}">
        <p14:creationId xmlns:p14="http://schemas.microsoft.com/office/powerpoint/2010/main" val="45606773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partado-clase">
            <a:extLst xmlns:a="http://schemas.openxmlformats.org/drawingml/2006/main">
              <a:ext uri="{FF2B5EF4-FFF2-40B4-BE49-F238E27FC236}">
                <a16:creationId xmlns:a16="http://schemas.microsoft.com/office/drawing/2014/main" id="{77CD281D-F613-4917-A5BD-986E2EED43FA}"/>
              </a:ext>
            </a:extLst>
          </p:cNvPr>
          <p:cNvSpPr>
            <a:spLocks xmlns:a="http://schemas.openxmlformats.org/drawingml/2006/main" noGrp="1"/>
          </p:cNvSpPr>
          <p:nvPr/>
        </p:nvSpPr>
        <p:spPr>
          <a:xfrm xmlns:a="http://schemas.openxmlformats.org/drawingml/2006/main">
            <a:off x="60960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lnSpc>
                <a:spcPct val="105000"/>
              </a:lnSpc>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Punto 7 de 7. VIII. Anexos. Clase 06 de 25</a:t>
            </a:r>
          </a:p>
        </p:txBody>
      </p:sp>
      <p:sp>
        <p:nvSpPr>
          <p:cNvPr id="2" name="titulo-clase">
            <a:extLst xmlns:a="http://schemas.openxmlformats.org/drawingml/2006/main">
              <a:ext uri="{FF2B5EF4-FFF2-40B4-BE49-F238E27FC236}">
                <a16:creationId xmlns:a16="http://schemas.microsoft.com/office/drawing/2014/main" id="{7EF5ACDB-56DD-4ED1-8A2D-2C629FC8681E}"/>
              </a:ext>
            </a:extLst>
          </p:cNvPr>
          <p:cNvSpPr>
            <a:spLocks xmlns:a="http://schemas.openxmlformats.org/drawingml/2006/main" noGrp="1"/>
          </p:cNvSpPr>
          <p:nvPr/>
        </p:nvSpPr>
        <p:spPr>
          <a:xfrm xmlns:a="http://schemas.openxmlformats.org/drawingml/2006/main">
            <a:off x="609600" y="69532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F3C"/>
                </a:solidFill>
                <a:latin typeface="DejaVu Sans"/>
                <a:ea typeface="DejaVu Sans"/>
                <a:cs typeface="DejaVu Sans"/>
              </a:defRPr>
            </a:defPPr>
          </a:lstStyle>
          <a:p xmlns:a="http://schemas.openxmlformats.org/drawingml/2006/main">
            <a:pPr>
              <a:lnSpc>
                <a:spcPct val="105000"/>
              </a:lnSpc>
              <a:buNone/>
              <a:defRPr sz="3300" b="1">
                <a:solidFill>
                  <a:srgbClr val="172F3C"/>
                </a:solidFill>
                <a:latin typeface="DejaVu Sans"/>
                <a:ea typeface="DejaVu Sans"/>
                <a:cs typeface="DejaVu Sans"/>
              </a:defRPr>
            </a:pPr>
            <a:r>
              <a:rPr sz="3300" b="1">
                <a:solidFill>
                  <a:srgbClr val="172F3C"/>
                </a:solidFill>
                <a:latin typeface="DejaVu Sans"/>
                <a:ea typeface="DejaVu Sans"/>
                <a:cs typeface="DejaVu Sans"/>
              </a:rPr>
              <a:t>Victoria</a:t>
            </a:r>
          </a:p>
        </p:txBody>
      </p:sp>
      <p:sp>
        <p:nvSpPr>
          <p:cNvPr id="3" name="etiqueta-uml">
            <a:extLst xmlns:a="http://schemas.openxmlformats.org/drawingml/2006/main">
              <a:ext uri="{FF2B5EF4-FFF2-40B4-BE49-F238E27FC236}">
                <a16:creationId xmlns:a16="http://schemas.microsoft.com/office/drawing/2014/main" id="{EFB0AD0B-8EDC-4851-920F-93DAA17F460F}"/>
              </a:ext>
            </a:extLst>
          </p:cNvPr>
          <p:cNvSpPr>
            <a:spLocks xmlns:a="http://schemas.openxmlformats.org/drawingml/2006/main" noGrp="1"/>
          </p:cNvSpPr>
          <p:nvPr/>
        </p:nvSpPr>
        <p:spPr>
          <a:xfrm xmlns:a="http://schemas.openxmlformats.org/drawingml/2006/main">
            <a:off x="609600" y="1495425"/>
            <a:ext cx="2809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UML: recorte original</a:t>
            </a:r>
          </a:p>
        </p:txBody>
      </p:sp>
      <p:pic>
        <p:nvPicPr>
          <p:cNvPr id="4" name="">
            <a:extLst xmlns:a="http://schemas.openxmlformats.org/drawingml/2006/main">
              <a:ext uri="{FF2B5EF4-FFF2-40B4-BE49-F238E27FC236}">
                <a16:creationId xmlns:a16="http://schemas.microsoft.com/office/drawing/2014/main" id="{B8D55331-4A54-42BF-968A-14DF220B64CB}"/>
              </a:ext>
            </a:extLst>
          </p:cNvPr>
          <p:cNvPicPr>
            <a:picLocks xmlns:a="http://schemas.openxmlformats.org/drawingml/2006/main" noChangeAspect="1"/>
          </p:cNvPicPr>
          <p:nvPr/>
        </p:nvPicPr>
        <p:blipFill>
          <a:blip xmlns:r="http://schemas.openxmlformats.org/officeDocument/2006/relationships" xmlns:a="http://schemas.openxmlformats.org/drawingml/2006/main" r:embed="R9f0f11ac183f41ef"/>
          <a:stretch xmlns:a="http://schemas.openxmlformats.org/drawingml/2006/main"/>
        </p:blipFill>
        <p:spPr>
          <a:xfrm xmlns:a="http://schemas.openxmlformats.org/drawingml/2006/main">
            <a:off x="609600" y="3221642"/>
            <a:ext cx="2762250" cy="1672017"/>
          </a:xfrm>
          <a:prstGeom xmlns:a="http://schemas.openxmlformats.org/drawingml/2006/main" prst="rect">
            <a:avLst/>
          </a:prstGeom>
        </p:spPr>
      </p:pic>
      <p:sp>
        <p:nvSpPr>
          <p:cNvPr id="5" name="funcion-clase">
            <a:extLst xmlns:a="http://schemas.openxmlformats.org/drawingml/2006/main">
              <a:ext uri="{FF2B5EF4-FFF2-40B4-BE49-F238E27FC236}">
                <a16:creationId xmlns:a16="http://schemas.microsoft.com/office/drawing/2014/main" id="{C116A4CE-3265-4700-A804-91CC15C2480F}"/>
              </a:ext>
            </a:extLst>
          </p:cNvPr>
          <p:cNvSpPr>
            <a:spLocks xmlns:a="http://schemas.openxmlformats.org/drawingml/2006/main" noGrp="1"/>
          </p:cNvSpPr>
          <p:nvPr/>
        </p:nvSpPr>
        <p:spPr>
          <a:xfrm xmlns:a="http://schemas.openxmlformats.org/drawingml/2006/main">
            <a:off x="3810000" y="1419225"/>
            <a:ext cx="7762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F3C"/>
                </a:solidFill>
                <a:latin typeface="DejaVu Sans"/>
                <a:ea typeface="DejaVu Sans"/>
                <a:cs typeface="DejaVu Sans"/>
              </a:defRPr>
            </a:defPPr>
          </a:lstStyle>
          <a:p xmlns:a="http://schemas.openxmlformats.org/drawingml/2006/main">
            <a:pPr>
              <a:lnSpc>
                <a:spcPct val="105000"/>
              </a:lnSpc>
              <a:buNone/>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Representa el final de la campaña completada.</a:t>
            </a:r>
          </a:p>
        </p:txBody>
      </p:sp>
      <p:sp>
        <p:nvSpPr>
          <p:cNvPr id="6" name="poo-0">
            <a:extLst xmlns:a="http://schemas.openxmlformats.org/drawingml/2006/main">
              <a:ext uri="{FF2B5EF4-FFF2-40B4-BE49-F238E27FC236}">
                <a16:creationId xmlns:a16="http://schemas.microsoft.com/office/drawing/2014/main" id="{684BFCB0-E7D3-42BA-9511-F3B49111D220}"/>
              </a:ext>
            </a:extLst>
          </p:cNvPr>
          <p:cNvSpPr>
            <a:spLocks xmlns:a="http://schemas.openxmlformats.org/drawingml/2006/main" noGrp="1"/>
          </p:cNvSpPr>
          <p:nvPr/>
        </p:nvSpPr>
        <p:spPr>
          <a:xfrm xmlns:a="http://schemas.openxmlformats.org/drawingml/2006/main">
            <a:off x="3810000" y="21717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Herencia: deriva de EstadoJuego.</a:t>
            </a:r>
          </a:p>
        </p:txBody>
      </p:sp>
      <p:sp>
        <p:nvSpPr>
          <p:cNvPr id="7" name="poo-1">
            <a:extLst xmlns:a="http://schemas.openxmlformats.org/drawingml/2006/main">
              <a:ext uri="{FF2B5EF4-FFF2-40B4-BE49-F238E27FC236}">
                <a16:creationId xmlns:a16="http://schemas.microsoft.com/office/drawing/2014/main" id="{754E3F2A-A289-4498-968F-AD774FD1FBE0}"/>
              </a:ext>
            </a:extLst>
          </p:cNvPr>
          <p:cNvSpPr>
            <a:spLocks xmlns:a="http://schemas.openxmlformats.org/drawingml/2006/main" noGrp="1"/>
          </p:cNvSpPr>
          <p:nvPr/>
        </p:nvSpPr>
        <p:spPr>
          <a:xfrm xmlns:a="http://schemas.openxmlformats.org/drawingml/2006/main">
            <a:off x="3810000" y="25146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Polimorfismo: reiniciar inicia una campaña nueva.</a:t>
            </a:r>
          </a:p>
        </p:txBody>
      </p:sp>
      <p:sp>
        <p:nvSpPr>
          <p:cNvPr id="8" name="etiqueta-codigo">
            <a:extLst xmlns:a="http://schemas.openxmlformats.org/drawingml/2006/main">
              <a:ext uri="{FF2B5EF4-FFF2-40B4-BE49-F238E27FC236}">
                <a16:creationId xmlns:a16="http://schemas.microsoft.com/office/drawing/2014/main" id="{28C8EE97-8926-4971-B486-BD355BE8F3FC}"/>
              </a:ext>
            </a:extLst>
          </p:cNvPr>
          <p:cNvSpPr>
            <a:spLocks xmlns:a="http://schemas.openxmlformats.org/drawingml/2006/main" noGrp="1"/>
          </p:cNvSpPr>
          <p:nvPr/>
        </p:nvSpPr>
        <p:spPr>
          <a:xfrm xmlns:a="http://schemas.openxmlformats.org/drawingml/2006/main">
            <a:off x="3810000" y="2819400"/>
            <a:ext cx="7762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Código del proyecto (fragmento)</a:t>
            </a:r>
          </a:p>
        </p:txBody>
      </p:sp>
      <p:sp>
        <p:nvSpPr>
          <p:cNvPr id="9" name="fragmento-codigo">
            <a:extLst xmlns:a="http://schemas.openxmlformats.org/drawingml/2006/main">
              <a:ext uri="{FF2B5EF4-FFF2-40B4-BE49-F238E27FC236}">
                <a16:creationId xmlns:a16="http://schemas.microsoft.com/office/drawing/2014/main" id="{52B85A67-9002-46F5-85A2-8B89BCE48DD7}"/>
              </a:ext>
            </a:extLst>
          </p:cNvPr>
          <p:cNvSpPr>
            <a:spLocks xmlns:a="http://schemas.openxmlformats.org/drawingml/2006/main" noGrp="1"/>
          </p:cNvSpPr>
          <p:nvPr/>
        </p:nvSpPr>
        <p:spPr>
          <a:xfrm xmlns:a="http://schemas.openxmlformats.org/drawingml/2006/main">
            <a:off x="3810000" y="3143250"/>
            <a:ext cx="77628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172F3C"/>
                </a:solidFill>
                <a:latin typeface="DejaVu Sans Mono"/>
                <a:ea typeface="DejaVu Sans Mono"/>
                <a:cs typeface="DejaVu Sans Mono"/>
              </a:defRPr>
            </a:defPPr>
          </a:lstStyle>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class Victoria(EstadoJuego):</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manejar_entrada(self, tecla):</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if tecla == "reiniciar":</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self.juego.iniciar_partida()</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actualizar(self, dt, teclas):</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pass</a:t>
            </a:r>
          </a:p>
        </p:txBody>
      </p:sp>
      <p:sp>
        <p:nvSpPr>
          <p:cNvPr id="10" name="enlace-fuente">
            <a:extLst xmlns:a="http://schemas.openxmlformats.org/drawingml/2006/main">
              <a:ext uri="{FF2B5EF4-FFF2-40B4-BE49-F238E27FC236}">
                <a16:creationId xmlns:a16="http://schemas.microsoft.com/office/drawing/2014/main" id="{B7BDB05D-4195-4BDC-83F4-8941051CAECE}"/>
              </a:ext>
            </a:extLst>
          </p:cNvPr>
          <p:cNvSpPr>
            <a:spLocks xmlns:a="http://schemas.openxmlformats.org/drawingml/2006/main" noGrp="1"/>
          </p:cNvSpPr>
          <p:nvPr/>
        </p:nvSpPr>
        <p:spPr>
          <a:xfrm xmlns:a="http://schemas.openxmlformats.org/drawingml/2006/main">
            <a:off x="3810000" y="6457950"/>
            <a:ext cx="7762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526773"/>
                </a:solidFill>
                <a:latin typeface="DejaVu Sans"/>
                <a:ea typeface="DejaVu Sans"/>
                <a:cs typeface="DejaVu Sans"/>
              </a:defRPr>
            </a:defPPr>
          </a:lstStyle>
          <a:p xmlns:a="http://schemas.openxmlformats.org/drawingml/2006/main">
            <a:pPr>
              <a:lnSpc>
                <a:spcPct val="105000"/>
              </a:lnSpc>
              <a:buNone/>
              <a:defRPr sz="975" b="0">
                <a:solidFill>
                  <a:srgbClr val="526773"/>
                </a:solidFill>
                <a:latin typeface="DejaVu Sans"/>
                <a:ea typeface="DejaVu Sans"/>
                <a:cs typeface="DejaVu Sans"/>
              </a:defRPr>
            </a:pPr>
            <a:r>
              <a:rPr sz="975" b="0">
                <a:solidFill>
                  <a:srgbClr val="526773"/>
                </a:solidFill>
                <a:latin typeface="DejaVu Sans"/>
                <a:ea typeface="DejaVu Sans"/>
                <a:cs typeface="DejaVu Sans"/>
                <a:hlinkClick xmlns:r="http://schemas.openxmlformats.org/officeDocument/2006/relationships" r:id="R081171a2e51f4c61"/>
              </a:rPr>
              <a:t>src/estados.py, clase desde línea 62</a:t>
            </a:r>
          </a:p>
        </p:txBody>
      </p:sp>
      <p:sp>
        <p:nvSpPr>
          <p:cNvPr id="11" name="enlace-recorte">
            <a:extLst xmlns:a="http://schemas.openxmlformats.org/drawingml/2006/main">
              <a:ext uri="{FF2B5EF4-FFF2-40B4-BE49-F238E27FC236}">
                <a16:creationId xmlns:a16="http://schemas.microsoft.com/office/drawing/2014/main" id="{83D4A7AB-6318-4999-93E3-012ED936685C}"/>
              </a:ext>
            </a:extLst>
          </p:cNvPr>
          <p:cNvSpPr>
            <a:spLocks xmlns:a="http://schemas.openxmlformats.org/drawingml/2006/main" noGrp="1"/>
          </p:cNvSpPr>
          <p:nvPr/>
        </p:nvSpPr>
        <p:spPr>
          <a:xfrm xmlns:a="http://schemas.openxmlformats.org/drawingml/2006/main">
            <a:off x="609600" y="6457950"/>
            <a:ext cx="285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16735D"/>
                </a:solidFill>
                <a:latin typeface="DejaVu Sans"/>
                <a:ea typeface="DejaVu Sans"/>
                <a:cs typeface="DejaVu Sans"/>
              </a:defRPr>
            </a:defPPr>
          </a:lstStyle>
          <a:p xmlns:a="http://schemas.openxmlformats.org/drawingml/2006/main">
            <a:pPr>
              <a:lnSpc>
                <a:spcPct val="105000"/>
              </a:lnSpc>
              <a:buNone/>
              <a:defRPr sz="975" b="0">
                <a:solidFill>
                  <a:srgbClr val="16735D"/>
                </a:solidFill>
                <a:latin typeface="DejaVu Sans"/>
                <a:ea typeface="DejaVu Sans"/>
                <a:cs typeface="DejaVu Sans"/>
              </a:defRPr>
            </a:pPr>
            <a:r>
              <a:rPr sz="975" b="0">
                <a:solidFill>
                  <a:srgbClr val="16735D"/>
                </a:solidFill>
                <a:latin typeface="DejaVu Sans"/>
                <a:ea typeface="DejaVu Sans"/>
                <a:cs typeface="DejaVu Sans"/>
                <a:hlinkClick xmlns:r="http://schemas.openxmlformats.org/officeDocument/2006/relationships" r:id="R318701ef48d04c3e"/>
              </a:rPr>
              <a:t>Abrir recorte en tamaño original</a:t>
            </a:r>
          </a:p>
        </p:txBody>
      </p:sp>
    </p:spTree>
    <p:extLst>
      <p:ext uri="{BB962C8B-B14F-4D97-AF65-F5344CB8AC3E}">
        <p14:creationId xmlns:p14="http://schemas.microsoft.com/office/powerpoint/2010/main" val="85428134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partado-clase">
            <a:extLst xmlns:a="http://schemas.openxmlformats.org/drawingml/2006/main">
              <a:ext uri="{FF2B5EF4-FFF2-40B4-BE49-F238E27FC236}">
                <a16:creationId xmlns:a16="http://schemas.microsoft.com/office/drawing/2014/main" id="{FCBCE9B8-0555-4377-924C-17964FF71E8B}"/>
              </a:ext>
            </a:extLst>
          </p:cNvPr>
          <p:cNvSpPr>
            <a:spLocks xmlns:a="http://schemas.openxmlformats.org/drawingml/2006/main" noGrp="1"/>
          </p:cNvSpPr>
          <p:nvPr/>
        </p:nvSpPr>
        <p:spPr>
          <a:xfrm xmlns:a="http://schemas.openxmlformats.org/drawingml/2006/main">
            <a:off x="60960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lnSpc>
                <a:spcPct val="105000"/>
              </a:lnSpc>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Punto 7 de 7. VIII. Anexos. Clase 07 de 25</a:t>
            </a:r>
          </a:p>
        </p:txBody>
      </p:sp>
      <p:sp>
        <p:nvSpPr>
          <p:cNvPr id="2" name="titulo-clase">
            <a:extLst xmlns:a="http://schemas.openxmlformats.org/drawingml/2006/main">
              <a:ext uri="{FF2B5EF4-FFF2-40B4-BE49-F238E27FC236}">
                <a16:creationId xmlns:a16="http://schemas.microsoft.com/office/drawing/2014/main" id="{C92239D1-A2A4-48B3-8F26-05753554BE63}"/>
              </a:ext>
            </a:extLst>
          </p:cNvPr>
          <p:cNvSpPr>
            <a:spLocks xmlns:a="http://schemas.openxmlformats.org/drawingml/2006/main" noGrp="1"/>
          </p:cNvSpPr>
          <p:nvPr/>
        </p:nvSpPr>
        <p:spPr>
          <a:xfrm xmlns:a="http://schemas.openxmlformats.org/drawingml/2006/main">
            <a:off x="609600" y="69532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F3C"/>
                </a:solidFill>
                <a:latin typeface="DejaVu Sans"/>
                <a:ea typeface="DejaVu Sans"/>
                <a:cs typeface="DejaVu Sans"/>
              </a:defRPr>
            </a:defPPr>
          </a:lstStyle>
          <a:p xmlns:a="http://schemas.openxmlformats.org/drawingml/2006/main">
            <a:pPr>
              <a:lnSpc>
                <a:spcPct val="105000"/>
              </a:lnSpc>
              <a:buNone/>
              <a:defRPr sz="3300" b="1">
                <a:solidFill>
                  <a:srgbClr val="172F3C"/>
                </a:solidFill>
                <a:latin typeface="DejaVu Sans"/>
                <a:ea typeface="DejaVu Sans"/>
                <a:cs typeface="DejaVu Sans"/>
              </a:defRPr>
            </a:pPr>
            <a:r>
              <a:rPr sz="3300" b="1">
                <a:solidFill>
                  <a:srgbClr val="172F3C"/>
                </a:solidFill>
                <a:latin typeface="DejaVu Sans"/>
                <a:ea typeface="DejaVu Sans"/>
                <a:cs typeface="DejaVu Sans"/>
              </a:rPr>
              <a:t>NivelCompletado</a:t>
            </a:r>
          </a:p>
        </p:txBody>
      </p:sp>
      <p:sp>
        <p:nvSpPr>
          <p:cNvPr id="3" name="etiqueta-uml">
            <a:extLst xmlns:a="http://schemas.openxmlformats.org/drawingml/2006/main">
              <a:ext uri="{FF2B5EF4-FFF2-40B4-BE49-F238E27FC236}">
                <a16:creationId xmlns:a16="http://schemas.microsoft.com/office/drawing/2014/main" id="{C26717A6-C962-4238-A157-013088548E5A}"/>
              </a:ext>
            </a:extLst>
          </p:cNvPr>
          <p:cNvSpPr>
            <a:spLocks xmlns:a="http://schemas.openxmlformats.org/drawingml/2006/main" noGrp="1"/>
          </p:cNvSpPr>
          <p:nvPr/>
        </p:nvSpPr>
        <p:spPr>
          <a:xfrm xmlns:a="http://schemas.openxmlformats.org/drawingml/2006/main">
            <a:off x="609600" y="1495425"/>
            <a:ext cx="2809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UML: recorte original</a:t>
            </a:r>
          </a:p>
        </p:txBody>
      </p:sp>
      <p:pic>
        <p:nvPicPr>
          <p:cNvPr id="4" name="">
            <a:extLst xmlns:a="http://schemas.openxmlformats.org/drawingml/2006/main">
              <a:ext uri="{FF2B5EF4-FFF2-40B4-BE49-F238E27FC236}">
                <a16:creationId xmlns:a16="http://schemas.microsoft.com/office/drawing/2014/main" id="{218D8179-9385-477B-BB57-5D671B3260C3}"/>
              </a:ext>
            </a:extLst>
          </p:cNvPr>
          <p:cNvPicPr>
            <a:picLocks xmlns:a="http://schemas.openxmlformats.org/drawingml/2006/main" noChangeAspect="1"/>
          </p:cNvPicPr>
          <p:nvPr/>
        </p:nvPicPr>
        <p:blipFill>
          <a:blip xmlns:r="http://schemas.openxmlformats.org/officeDocument/2006/relationships" xmlns:a="http://schemas.openxmlformats.org/drawingml/2006/main" r:embed="Rec7a816e786f489f"/>
          <a:stretch xmlns:a="http://schemas.openxmlformats.org/drawingml/2006/main"/>
        </p:blipFill>
        <p:spPr>
          <a:xfrm xmlns:a="http://schemas.openxmlformats.org/drawingml/2006/main">
            <a:off x="609600" y="3316135"/>
            <a:ext cx="2762250" cy="1483029"/>
          </a:xfrm>
          <a:prstGeom xmlns:a="http://schemas.openxmlformats.org/drawingml/2006/main" prst="rect">
            <a:avLst/>
          </a:prstGeom>
        </p:spPr>
      </p:pic>
      <p:sp>
        <p:nvSpPr>
          <p:cNvPr id="5" name="funcion-clase">
            <a:extLst xmlns:a="http://schemas.openxmlformats.org/drawingml/2006/main">
              <a:ext uri="{FF2B5EF4-FFF2-40B4-BE49-F238E27FC236}">
                <a16:creationId xmlns:a16="http://schemas.microsoft.com/office/drawing/2014/main" id="{C85D1D19-A0FF-4A83-81DD-B2D3875AC5E7}"/>
              </a:ext>
            </a:extLst>
          </p:cNvPr>
          <p:cNvSpPr>
            <a:spLocks xmlns:a="http://schemas.openxmlformats.org/drawingml/2006/main" noGrp="1"/>
          </p:cNvSpPr>
          <p:nvPr/>
        </p:nvSpPr>
        <p:spPr>
          <a:xfrm xmlns:a="http://schemas.openxmlformats.org/drawingml/2006/main">
            <a:off x="3810000" y="1419225"/>
            <a:ext cx="7762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F3C"/>
                </a:solidFill>
                <a:latin typeface="DejaVu Sans"/>
                <a:ea typeface="DejaVu Sans"/>
                <a:cs typeface="DejaVu Sans"/>
              </a:defRPr>
            </a:defPPr>
          </a:lstStyle>
          <a:p xmlns:a="http://schemas.openxmlformats.org/drawingml/2006/main">
            <a:pPr>
              <a:lnSpc>
                <a:spcPct val="105000"/>
              </a:lnSpc>
              <a:buNone/>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Separa el final de un nivel del final de toda la campaña.</a:t>
            </a:r>
          </a:p>
        </p:txBody>
      </p:sp>
      <p:sp>
        <p:nvSpPr>
          <p:cNvPr id="6" name="poo-0">
            <a:extLst xmlns:a="http://schemas.openxmlformats.org/drawingml/2006/main">
              <a:ext uri="{FF2B5EF4-FFF2-40B4-BE49-F238E27FC236}">
                <a16:creationId xmlns:a16="http://schemas.microsoft.com/office/drawing/2014/main" id="{6213D503-833B-4CCB-B95D-2F5F862377BA}"/>
              </a:ext>
            </a:extLst>
          </p:cNvPr>
          <p:cNvSpPr>
            <a:spLocks xmlns:a="http://schemas.openxmlformats.org/drawingml/2006/main" noGrp="1"/>
          </p:cNvSpPr>
          <p:nvPr/>
        </p:nvSpPr>
        <p:spPr>
          <a:xfrm xmlns:a="http://schemas.openxmlformats.org/drawingml/2006/main">
            <a:off x="3810000" y="21717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Herencia: deriva de EstadoJuego.</a:t>
            </a:r>
          </a:p>
        </p:txBody>
      </p:sp>
      <p:sp>
        <p:nvSpPr>
          <p:cNvPr id="7" name="poo-1">
            <a:extLst xmlns:a="http://schemas.openxmlformats.org/drawingml/2006/main">
              <a:ext uri="{FF2B5EF4-FFF2-40B4-BE49-F238E27FC236}">
                <a16:creationId xmlns:a16="http://schemas.microsoft.com/office/drawing/2014/main" id="{132C11C4-E8D9-4F2D-81F6-E55A5B377CCD}"/>
              </a:ext>
            </a:extLst>
          </p:cNvPr>
          <p:cNvSpPr>
            <a:spLocks xmlns:a="http://schemas.openxmlformats.org/drawingml/2006/main" noGrp="1"/>
          </p:cNvSpPr>
          <p:nvPr/>
        </p:nvSpPr>
        <p:spPr>
          <a:xfrm xmlns:a="http://schemas.openxmlformats.org/drawingml/2006/main">
            <a:off x="3810000" y="25146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Polimorfismo: continuar carga el siguiente nivel.</a:t>
            </a:r>
          </a:p>
        </p:txBody>
      </p:sp>
      <p:sp>
        <p:nvSpPr>
          <p:cNvPr id="8" name="etiqueta-codigo">
            <a:extLst xmlns:a="http://schemas.openxmlformats.org/drawingml/2006/main">
              <a:ext uri="{FF2B5EF4-FFF2-40B4-BE49-F238E27FC236}">
                <a16:creationId xmlns:a16="http://schemas.microsoft.com/office/drawing/2014/main" id="{DBA0E541-1F9A-4316-9FDF-A1AF73FCFA10}"/>
              </a:ext>
            </a:extLst>
          </p:cNvPr>
          <p:cNvSpPr>
            <a:spLocks xmlns:a="http://schemas.openxmlformats.org/drawingml/2006/main" noGrp="1"/>
          </p:cNvSpPr>
          <p:nvPr/>
        </p:nvSpPr>
        <p:spPr>
          <a:xfrm xmlns:a="http://schemas.openxmlformats.org/drawingml/2006/main">
            <a:off x="3810000" y="2819400"/>
            <a:ext cx="7762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Código del proyecto (fragmento)</a:t>
            </a:r>
          </a:p>
        </p:txBody>
      </p:sp>
      <p:sp>
        <p:nvSpPr>
          <p:cNvPr id="9" name="fragmento-codigo">
            <a:extLst xmlns:a="http://schemas.openxmlformats.org/drawingml/2006/main">
              <a:ext uri="{FF2B5EF4-FFF2-40B4-BE49-F238E27FC236}">
                <a16:creationId xmlns:a16="http://schemas.microsoft.com/office/drawing/2014/main" id="{B465B63F-2305-44F6-B12B-E1EAE606AFC2}"/>
              </a:ext>
            </a:extLst>
          </p:cNvPr>
          <p:cNvSpPr>
            <a:spLocks xmlns:a="http://schemas.openxmlformats.org/drawingml/2006/main" noGrp="1"/>
          </p:cNvSpPr>
          <p:nvPr/>
        </p:nvSpPr>
        <p:spPr>
          <a:xfrm xmlns:a="http://schemas.openxmlformats.org/drawingml/2006/main">
            <a:off x="3810000" y="3143250"/>
            <a:ext cx="77628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172F3C"/>
                </a:solidFill>
                <a:latin typeface="DejaVu Sans Mono"/>
                <a:ea typeface="DejaVu Sans Mono"/>
                <a:cs typeface="DejaVu Sans Mono"/>
              </a:defRPr>
            </a:defPPr>
          </a:lstStyle>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class NivelCompletado(EstadoJuego):</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manejar_entrada(self, tecla):</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if tecla == "continuar":</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self.juego.siguiente_nivel()</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elif tecla == "nueva_partida":</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self.juego.iniciar_partida()</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actualizar(self, dt, teclas):</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pass</a:t>
            </a:r>
          </a:p>
        </p:txBody>
      </p:sp>
      <p:sp>
        <p:nvSpPr>
          <p:cNvPr id="10" name="enlace-fuente">
            <a:extLst xmlns:a="http://schemas.openxmlformats.org/drawingml/2006/main">
              <a:ext uri="{FF2B5EF4-FFF2-40B4-BE49-F238E27FC236}">
                <a16:creationId xmlns:a16="http://schemas.microsoft.com/office/drawing/2014/main" id="{4BBB362C-9F84-42B8-81B0-C95BA9F73104}"/>
              </a:ext>
            </a:extLst>
          </p:cNvPr>
          <p:cNvSpPr>
            <a:spLocks xmlns:a="http://schemas.openxmlformats.org/drawingml/2006/main" noGrp="1"/>
          </p:cNvSpPr>
          <p:nvPr/>
        </p:nvSpPr>
        <p:spPr>
          <a:xfrm xmlns:a="http://schemas.openxmlformats.org/drawingml/2006/main">
            <a:off x="3810000" y="6457950"/>
            <a:ext cx="7762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526773"/>
                </a:solidFill>
                <a:latin typeface="DejaVu Sans"/>
                <a:ea typeface="DejaVu Sans"/>
                <a:cs typeface="DejaVu Sans"/>
              </a:defRPr>
            </a:defPPr>
          </a:lstStyle>
          <a:p xmlns:a="http://schemas.openxmlformats.org/drawingml/2006/main">
            <a:pPr>
              <a:lnSpc>
                <a:spcPct val="105000"/>
              </a:lnSpc>
              <a:buNone/>
              <a:defRPr sz="975" b="0">
                <a:solidFill>
                  <a:srgbClr val="526773"/>
                </a:solidFill>
                <a:latin typeface="DejaVu Sans"/>
                <a:ea typeface="DejaVu Sans"/>
                <a:cs typeface="DejaVu Sans"/>
              </a:defRPr>
            </a:pPr>
            <a:r>
              <a:rPr sz="975" b="0">
                <a:solidFill>
                  <a:srgbClr val="526773"/>
                </a:solidFill>
                <a:latin typeface="DejaVu Sans"/>
                <a:ea typeface="DejaVu Sans"/>
                <a:cs typeface="DejaVu Sans"/>
                <a:hlinkClick xmlns:r="http://schemas.openxmlformats.org/officeDocument/2006/relationships" r:id="R7ba09b1e342942c3"/>
              </a:rPr>
              <a:t>src/estados.py, clase desde línea 73</a:t>
            </a:r>
          </a:p>
        </p:txBody>
      </p:sp>
      <p:sp>
        <p:nvSpPr>
          <p:cNvPr id="11" name="enlace-recorte">
            <a:extLst xmlns:a="http://schemas.openxmlformats.org/drawingml/2006/main">
              <a:ext uri="{FF2B5EF4-FFF2-40B4-BE49-F238E27FC236}">
                <a16:creationId xmlns:a16="http://schemas.microsoft.com/office/drawing/2014/main" id="{75F557B8-2ED2-4AE5-93E8-7DDF3216774F}"/>
              </a:ext>
            </a:extLst>
          </p:cNvPr>
          <p:cNvSpPr>
            <a:spLocks xmlns:a="http://schemas.openxmlformats.org/drawingml/2006/main" noGrp="1"/>
          </p:cNvSpPr>
          <p:nvPr/>
        </p:nvSpPr>
        <p:spPr>
          <a:xfrm xmlns:a="http://schemas.openxmlformats.org/drawingml/2006/main">
            <a:off x="609600" y="6457950"/>
            <a:ext cx="285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16735D"/>
                </a:solidFill>
                <a:latin typeface="DejaVu Sans"/>
                <a:ea typeface="DejaVu Sans"/>
                <a:cs typeface="DejaVu Sans"/>
              </a:defRPr>
            </a:defPPr>
          </a:lstStyle>
          <a:p xmlns:a="http://schemas.openxmlformats.org/drawingml/2006/main">
            <a:pPr>
              <a:lnSpc>
                <a:spcPct val="105000"/>
              </a:lnSpc>
              <a:buNone/>
              <a:defRPr sz="975" b="0">
                <a:solidFill>
                  <a:srgbClr val="16735D"/>
                </a:solidFill>
                <a:latin typeface="DejaVu Sans"/>
                <a:ea typeface="DejaVu Sans"/>
                <a:cs typeface="DejaVu Sans"/>
              </a:defRPr>
            </a:pPr>
            <a:r>
              <a:rPr sz="975" b="0">
                <a:solidFill>
                  <a:srgbClr val="16735D"/>
                </a:solidFill>
                <a:latin typeface="DejaVu Sans"/>
                <a:ea typeface="DejaVu Sans"/>
                <a:cs typeface="DejaVu Sans"/>
                <a:hlinkClick xmlns:r="http://schemas.openxmlformats.org/officeDocument/2006/relationships" r:id="Ra3815701260c460b"/>
              </a:rPr>
              <a:t>Abrir recorte en tamaño original</a:t>
            </a:r>
          </a:p>
        </p:txBody>
      </p:sp>
    </p:spTree>
    <p:extLst>
      <p:ext uri="{BB962C8B-B14F-4D97-AF65-F5344CB8AC3E}">
        <p14:creationId xmlns:p14="http://schemas.microsoft.com/office/powerpoint/2010/main" val="180764045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partado-clase">
            <a:extLst xmlns:a="http://schemas.openxmlformats.org/drawingml/2006/main">
              <a:ext uri="{FF2B5EF4-FFF2-40B4-BE49-F238E27FC236}">
                <a16:creationId xmlns:a16="http://schemas.microsoft.com/office/drawing/2014/main" id="{B778F5F7-C545-4791-8156-1BDABA155813}"/>
              </a:ext>
            </a:extLst>
          </p:cNvPr>
          <p:cNvSpPr>
            <a:spLocks xmlns:a="http://schemas.openxmlformats.org/drawingml/2006/main" noGrp="1"/>
          </p:cNvSpPr>
          <p:nvPr/>
        </p:nvSpPr>
        <p:spPr>
          <a:xfrm xmlns:a="http://schemas.openxmlformats.org/drawingml/2006/main">
            <a:off x="60960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lnSpc>
                <a:spcPct val="105000"/>
              </a:lnSpc>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Punto 7 de 7. VIII. Anexos. Clase 08 de 25</a:t>
            </a:r>
          </a:p>
        </p:txBody>
      </p:sp>
      <p:sp>
        <p:nvSpPr>
          <p:cNvPr id="2" name="titulo-clase">
            <a:extLst xmlns:a="http://schemas.openxmlformats.org/drawingml/2006/main">
              <a:ext uri="{FF2B5EF4-FFF2-40B4-BE49-F238E27FC236}">
                <a16:creationId xmlns:a16="http://schemas.microsoft.com/office/drawing/2014/main" id="{9A8708C4-A480-486F-A354-73CE81F3F957}"/>
              </a:ext>
            </a:extLst>
          </p:cNvPr>
          <p:cNvSpPr>
            <a:spLocks xmlns:a="http://schemas.openxmlformats.org/drawingml/2006/main" noGrp="1"/>
          </p:cNvSpPr>
          <p:nvPr/>
        </p:nvSpPr>
        <p:spPr>
          <a:xfrm xmlns:a="http://schemas.openxmlformats.org/drawingml/2006/main">
            <a:off x="609600" y="69532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F3C"/>
                </a:solidFill>
                <a:latin typeface="DejaVu Sans"/>
                <a:ea typeface="DejaVu Sans"/>
                <a:cs typeface="DejaVu Sans"/>
              </a:defRPr>
            </a:defPPr>
          </a:lstStyle>
          <a:p xmlns:a="http://schemas.openxmlformats.org/drawingml/2006/main">
            <a:pPr>
              <a:lnSpc>
                <a:spcPct val="105000"/>
              </a:lnSpc>
              <a:buNone/>
              <a:defRPr sz="3300" b="1">
                <a:solidFill>
                  <a:srgbClr val="172F3C"/>
                </a:solidFill>
                <a:latin typeface="DejaVu Sans"/>
                <a:ea typeface="DejaVu Sans"/>
                <a:cs typeface="DejaVu Sans"/>
              </a:defRPr>
            </a:pPr>
            <a:r>
              <a:rPr sz="3300" b="1">
                <a:solidFill>
                  <a:srgbClr val="172F3C"/>
                </a:solidFill>
                <a:latin typeface="DejaVu Sans"/>
                <a:ea typeface="DejaVu Sans"/>
                <a:cs typeface="DejaVu Sans"/>
              </a:rPr>
              <a:t>Nivel</a:t>
            </a:r>
          </a:p>
        </p:txBody>
      </p:sp>
      <p:sp>
        <p:nvSpPr>
          <p:cNvPr id="3" name="etiqueta-uml">
            <a:extLst xmlns:a="http://schemas.openxmlformats.org/drawingml/2006/main">
              <a:ext uri="{FF2B5EF4-FFF2-40B4-BE49-F238E27FC236}">
                <a16:creationId xmlns:a16="http://schemas.microsoft.com/office/drawing/2014/main" id="{6E233B33-A816-4488-A3C0-54829B878F45}"/>
              </a:ext>
            </a:extLst>
          </p:cNvPr>
          <p:cNvSpPr>
            <a:spLocks xmlns:a="http://schemas.openxmlformats.org/drawingml/2006/main" noGrp="1"/>
          </p:cNvSpPr>
          <p:nvPr/>
        </p:nvSpPr>
        <p:spPr>
          <a:xfrm xmlns:a="http://schemas.openxmlformats.org/drawingml/2006/main">
            <a:off x="609600" y="1495425"/>
            <a:ext cx="2809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UML: recorte original</a:t>
            </a:r>
          </a:p>
        </p:txBody>
      </p:sp>
      <p:pic>
        <p:nvPicPr>
          <p:cNvPr id="4" name="">
            <a:extLst xmlns:a="http://schemas.openxmlformats.org/drawingml/2006/main">
              <a:ext uri="{FF2B5EF4-FFF2-40B4-BE49-F238E27FC236}">
                <a16:creationId xmlns:a16="http://schemas.microsoft.com/office/drawing/2014/main" id="{87B0C709-9336-4121-AFD3-DFE385E207D3}"/>
              </a:ext>
            </a:extLst>
          </p:cNvPr>
          <p:cNvPicPr>
            <a:picLocks xmlns:a="http://schemas.openxmlformats.org/drawingml/2006/main" noChangeAspect="1"/>
          </p:cNvPicPr>
          <p:nvPr/>
        </p:nvPicPr>
        <p:blipFill>
          <a:blip xmlns:r="http://schemas.openxmlformats.org/officeDocument/2006/relationships" xmlns:a="http://schemas.openxmlformats.org/drawingml/2006/main" r:embed="R15f0a964a5bb4f6d"/>
          <a:stretch xmlns:a="http://schemas.openxmlformats.org/drawingml/2006/main"/>
        </p:blipFill>
        <p:spPr>
          <a:xfrm xmlns:a="http://schemas.openxmlformats.org/drawingml/2006/main">
            <a:off x="939228" y="1866900"/>
            <a:ext cx="2102995" cy="4381500"/>
          </a:xfrm>
          <a:prstGeom xmlns:a="http://schemas.openxmlformats.org/drawingml/2006/main" prst="rect">
            <a:avLst/>
          </a:prstGeom>
        </p:spPr>
      </p:pic>
      <p:sp>
        <p:nvSpPr>
          <p:cNvPr id="5" name="funcion-clase">
            <a:extLst xmlns:a="http://schemas.openxmlformats.org/drawingml/2006/main">
              <a:ext uri="{FF2B5EF4-FFF2-40B4-BE49-F238E27FC236}">
                <a16:creationId xmlns:a16="http://schemas.microsoft.com/office/drawing/2014/main" id="{076F63C0-ED1B-4155-A5E6-DED2527F5D48}"/>
              </a:ext>
            </a:extLst>
          </p:cNvPr>
          <p:cNvSpPr>
            <a:spLocks xmlns:a="http://schemas.openxmlformats.org/drawingml/2006/main" noGrp="1"/>
          </p:cNvSpPr>
          <p:nvPr/>
        </p:nvSpPr>
        <p:spPr>
          <a:xfrm xmlns:a="http://schemas.openxmlformats.org/drawingml/2006/main">
            <a:off x="3810000" y="1419225"/>
            <a:ext cx="7762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F3C"/>
                </a:solidFill>
                <a:latin typeface="DejaVu Sans"/>
                <a:ea typeface="DejaVu Sans"/>
                <a:cs typeface="DejaVu Sans"/>
              </a:defRPr>
            </a:defPPr>
          </a:lstStyle>
          <a:p xmlns:a="http://schemas.openxmlformats.org/drawingml/2006/main">
            <a:pPr>
              <a:lnSpc>
                <a:spcPct val="105000"/>
              </a:lnSpc>
              <a:buNone/>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Coordina uno de los cuatro niveles y resuelve sus interacciones.</a:t>
            </a:r>
          </a:p>
        </p:txBody>
      </p:sp>
      <p:sp>
        <p:nvSpPr>
          <p:cNvPr id="6" name="poo-0">
            <a:extLst xmlns:a="http://schemas.openxmlformats.org/drawingml/2006/main">
              <a:ext uri="{FF2B5EF4-FFF2-40B4-BE49-F238E27FC236}">
                <a16:creationId xmlns:a16="http://schemas.microsoft.com/office/drawing/2014/main" id="{7895B4D1-F8B6-4AB4-AAE9-30E5C96B2FC0}"/>
              </a:ext>
            </a:extLst>
          </p:cNvPr>
          <p:cNvSpPr>
            <a:spLocks xmlns:a="http://schemas.openxmlformats.org/drawingml/2006/main" noGrp="1"/>
          </p:cNvSpPr>
          <p:nvPr/>
        </p:nvSpPr>
        <p:spPr>
          <a:xfrm xmlns:a="http://schemas.openxmlformats.org/drawingml/2006/main">
            <a:off x="3810000" y="21717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Composición: construye Mapa y personajes.</a:t>
            </a:r>
          </a:p>
        </p:txBody>
      </p:sp>
      <p:sp>
        <p:nvSpPr>
          <p:cNvPr id="7" name="poo-1">
            <a:extLst xmlns:a="http://schemas.openxmlformats.org/drawingml/2006/main">
              <a:ext uri="{FF2B5EF4-FFF2-40B4-BE49-F238E27FC236}">
                <a16:creationId xmlns:a16="http://schemas.microsoft.com/office/drawing/2014/main" id="{997498EC-99E7-499F-9592-910CC5536371}"/>
              </a:ext>
            </a:extLst>
          </p:cNvPr>
          <p:cNvSpPr>
            <a:spLocks xmlns:a="http://schemas.openxmlformats.org/drawingml/2006/main" noGrp="1"/>
          </p:cNvSpPr>
          <p:nvPr/>
        </p:nvSpPr>
        <p:spPr>
          <a:xfrm xmlns:a="http://schemas.openxmlformats.org/drawingml/2006/main">
            <a:off x="3810000" y="25146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Agregación: recibe el Puntaje compartido.</a:t>
            </a:r>
          </a:p>
        </p:txBody>
      </p:sp>
      <p:sp>
        <p:nvSpPr>
          <p:cNvPr id="8" name="poo-2">
            <a:extLst xmlns:a="http://schemas.openxmlformats.org/drawingml/2006/main">
              <a:ext uri="{FF2B5EF4-FFF2-40B4-BE49-F238E27FC236}">
                <a16:creationId xmlns:a16="http://schemas.microsoft.com/office/drawing/2014/main" id="{13EAE1F6-D748-4448-9EB1-A0929FCCC543}"/>
              </a:ext>
            </a:extLst>
          </p:cNvPr>
          <p:cNvSpPr>
            <a:spLocks xmlns:a="http://schemas.openxmlformats.org/drawingml/2006/main" noGrp="1"/>
          </p:cNvSpPr>
          <p:nvPr/>
        </p:nvSpPr>
        <p:spPr>
          <a:xfrm xmlns:a="http://schemas.openxmlformats.org/drawingml/2006/main">
            <a:off x="3810000" y="28575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Polimorfismo: llama update sin distinguir personajes.</a:t>
            </a:r>
          </a:p>
        </p:txBody>
      </p:sp>
      <p:sp>
        <p:nvSpPr>
          <p:cNvPr id="9" name="etiqueta-codigo">
            <a:extLst xmlns:a="http://schemas.openxmlformats.org/drawingml/2006/main">
              <a:ext uri="{FF2B5EF4-FFF2-40B4-BE49-F238E27FC236}">
                <a16:creationId xmlns:a16="http://schemas.microsoft.com/office/drawing/2014/main" id="{43BA6B8F-0B29-443C-A936-96701A3F88FE}"/>
              </a:ext>
            </a:extLst>
          </p:cNvPr>
          <p:cNvSpPr>
            <a:spLocks xmlns:a="http://schemas.openxmlformats.org/drawingml/2006/main" noGrp="1"/>
          </p:cNvSpPr>
          <p:nvPr/>
        </p:nvSpPr>
        <p:spPr>
          <a:xfrm xmlns:a="http://schemas.openxmlformats.org/drawingml/2006/main">
            <a:off x="3810000" y="3162300"/>
            <a:ext cx="7762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Código del proyecto (fragmento)</a:t>
            </a:r>
          </a:p>
        </p:txBody>
      </p:sp>
      <p:sp>
        <p:nvSpPr>
          <p:cNvPr id="10" name="fragmento-codigo">
            <a:extLst xmlns:a="http://schemas.openxmlformats.org/drawingml/2006/main">
              <a:ext uri="{FF2B5EF4-FFF2-40B4-BE49-F238E27FC236}">
                <a16:creationId xmlns:a16="http://schemas.microsoft.com/office/drawing/2014/main" id="{2D1F6DFA-53B7-4CA4-B13F-312E9EFD7D92}"/>
              </a:ext>
            </a:extLst>
          </p:cNvPr>
          <p:cNvSpPr>
            <a:spLocks xmlns:a="http://schemas.openxmlformats.org/drawingml/2006/main" noGrp="1"/>
          </p:cNvSpPr>
          <p:nvPr/>
        </p:nvSpPr>
        <p:spPr>
          <a:xfrm xmlns:a="http://schemas.openxmlformats.org/drawingml/2006/main">
            <a:off x="3810000" y="3486150"/>
            <a:ext cx="7762875"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172F3C"/>
                </a:solidFill>
                <a:latin typeface="DejaVu Sans Mono"/>
                <a:ea typeface="DejaVu Sans Mono"/>
                <a:cs typeface="DejaVu Sans Mono"/>
              </a:defRPr>
            </a:defPPr>
          </a:lstStyle>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class Nivel:</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__init__(self, puntaje, indice=0):</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self.puntaje = puntaje</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self.mapa = Mapa(PLANOS[indice])</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actualizar(self, dt, teclas):</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for personaje in self.personajes:</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personaje.update()</a:t>
            </a:r>
          </a:p>
        </p:txBody>
      </p:sp>
      <p:sp>
        <p:nvSpPr>
          <p:cNvPr id="11" name="enlace-fuente">
            <a:extLst xmlns:a="http://schemas.openxmlformats.org/drawingml/2006/main">
              <a:ext uri="{FF2B5EF4-FFF2-40B4-BE49-F238E27FC236}">
                <a16:creationId xmlns:a16="http://schemas.microsoft.com/office/drawing/2014/main" id="{B179139E-8ECB-4B7A-914A-CFA834FC50B7}"/>
              </a:ext>
            </a:extLst>
          </p:cNvPr>
          <p:cNvSpPr>
            <a:spLocks xmlns:a="http://schemas.openxmlformats.org/drawingml/2006/main" noGrp="1"/>
          </p:cNvSpPr>
          <p:nvPr/>
        </p:nvSpPr>
        <p:spPr>
          <a:xfrm xmlns:a="http://schemas.openxmlformats.org/drawingml/2006/main">
            <a:off x="3810000" y="6457950"/>
            <a:ext cx="7762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526773"/>
                </a:solidFill>
                <a:latin typeface="DejaVu Sans"/>
                <a:ea typeface="DejaVu Sans"/>
                <a:cs typeface="DejaVu Sans"/>
              </a:defRPr>
            </a:defPPr>
          </a:lstStyle>
          <a:p xmlns:a="http://schemas.openxmlformats.org/drawingml/2006/main">
            <a:pPr>
              <a:lnSpc>
                <a:spcPct val="105000"/>
              </a:lnSpc>
              <a:buNone/>
              <a:defRPr sz="975" b="0">
                <a:solidFill>
                  <a:srgbClr val="526773"/>
                </a:solidFill>
                <a:latin typeface="DejaVu Sans"/>
                <a:ea typeface="DejaVu Sans"/>
                <a:cs typeface="DejaVu Sans"/>
              </a:defRPr>
            </a:pPr>
            <a:r>
              <a:rPr sz="975" b="0">
                <a:solidFill>
                  <a:srgbClr val="526773"/>
                </a:solidFill>
                <a:latin typeface="DejaVu Sans"/>
                <a:ea typeface="DejaVu Sans"/>
                <a:cs typeface="DejaVu Sans"/>
                <a:hlinkClick xmlns:r="http://schemas.openxmlformats.org/officeDocument/2006/relationships" r:id="R305b17ca366e4830"/>
              </a:rPr>
              <a:t>src/nivel.py, clase desde línea 85</a:t>
            </a:r>
          </a:p>
        </p:txBody>
      </p:sp>
      <p:sp>
        <p:nvSpPr>
          <p:cNvPr id="12" name="enlace-recorte">
            <a:extLst xmlns:a="http://schemas.openxmlformats.org/drawingml/2006/main">
              <a:ext uri="{FF2B5EF4-FFF2-40B4-BE49-F238E27FC236}">
                <a16:creationId xmlns:a16="http://schemas.microsoft.com/office/drawing/2014/main" id="{C00CEC0F-1B12-4EAE-AECF-441911C6DBF0}"/>
              </a:ext>
            </a:extLst>
          </p:cNvPr>
          <p:cNvSpPr>
            <a:spLocks xmlns:a="http://schemas.openxmlformats.org/drawingml/2006/main" noGrp="1"/>
          </p:cNvSpPr>
          <p:nvPr/>
        </p:nvSpPr>
        <p:spPr>
          <a:xfrm xmlns:a="http://schemas.openxmlformats.org/drawingml/2006/main">
            <a:off x="609600" y="6457950"/>
            <a:ext cx="285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16735D"/>
                </a:solidFill>
                <a:latin typeface="DejaVu Sans"/>
                <a:ea typeface="DejaVu Sans"/>
                <a:cs typeface="DejaVu Sans"/>
              </a:defRPr>
            </a:defPPr>
          </a:lstStyle>
          <a:p xmlns:a="http://schemas.openxmlformats.org/drawingml/2006/main">
            <a:pPr>
              <a:lnSpc>
                <a:spcPct val="105000"/>
              </a:lnSpc>
              <a:buNone/>
              <a:defRPr sz="975" b="0">
                <a:solidFill>
                  <a:srgbClr val="16735D"/>
                </a:solidFill>
                <a:latin typeface="DejaVu Sans"/>
                <a:ea typeface="DejaVu Sans"/>
                <a:cs typeface="DejaVu Sans"/>
              </a:defRPr>
            </a:pPr>
            <a:r>
              <a:rPr sz="975" b="0">
                <a:solidFill>
                  <a:srgbClr val="16735D"/>
                </a:solidFill>
                <a:latin typeface="DejaVu Sans"/>
                <a:ea typeface="DejaVu Sans"/>
                <a:cs typeface="DejaVu Sans"/>
                <a:hlinkClick xmlns:r="http://schemas.openxmlformats.org/officeDocument/2006/relationships" r:id="R86b84112a5d5437d"/>
              </a:rPr>
              <a:t>Abrir recorte en tamaño original</a:t>
            </a:r>
          </a:p>
        </p:txBody>
      </p:sp>
    </p:spTree>
    <p:extLst>
      <p:ext uri="{BB962C8B-B14F-4D97-AF65-F5344CB8AC3E}">
        <p14:creationId xmlns:p14="http://schemas.microsoft.com/office/powerpoint/2010/main" val="200229794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partado-clase">
            <a:extLst xmlns:a="http://schemas.openxmlformats.org/drawingml/2006/main">
              <a:ext uri="{FF2B5EF4-FFF2-40B4-BE49-F238E27FC236}">
                <a16:creationId xmlns:a16="http://schemas.microsoft.com/office/drawing/2014/main" id="{8EDF4EBA-9A40-4323-AE63-8CB10F5CDBA4}"/>
              </a:ext>
            </a:extLst>
          </p:cNvPr>
          <p:cNvSpPr>
            <a:spLocks xmlns:a="http://schemas.openxmlformats.org/drawingml/2006/main" noGrp="1"/>
          </p:cNvSpPr>
          <p:nvPr/>
        </p:nvSpPr>
        <p:spPr>
          <a:xfrm xmlns:a="http://schemas.openxmlformats.org/drawingml/2006/main">
            <a:off x="60960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lnSpc>
                <a:spcPct val="105000"/>
              </a:lnSpc>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Punto 7 de 7. VIII. Anexos. Clase 09 de 25</a:t>
            </a:r>
          </a:p>
        </p:txBody>
      </p:sp>
      <p:sp>
        <p:nvSpPr>
          <p:cNvPr id="2" name="titulo-clase">
            <a:extLst xmlns:a="http://schemas.openxmlformats.org/drawingml/2006/main">
              <a:ext uri="{FF2B5EF4-FFF2-40B4-BE49-F238E27FC236}">
                <a16:creationId xmlns:a16="http://schemas.microsoft.com/office/drawing/2014/main" id="{FB2F9F9E-F198-4ECC-A308-95E61E5FF2BB}"/>
              </a:ext>
            </a:extLst>
          </p:cNvPr>
          <p:cNvSpPr>
            <a:spLocks xmlns:a="http://schemas.openxmlformats.org/drawingml/2006/main" noGrp="1"/>
          </p:cNvSpPr>
          <p:nvPr/>
        </p:nvSpPr>
        <p:spPr>
          <a:xfrm xmlns:a="http://schemas.openxmlformats.org/drawingml/2006/main">
            <a:off x="609600" y="69532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F3C"/>
                </a:solidFill>
                <a:latin typeface="DejaVu Sans"/>
                <a:ea typeface="DejaVu Sans"/>
                <a:cs typeface="DejaVu Sans"/>
              </a:defRPr>
            </a:defPPr>
          </a:lstStyle>
          <a:p xmlns:a="http://schemas.openxmlformats.org/drawingml/2006/main">
            <a:pPr>
              <a:lnSpc>
                <a:spcPct val="105000"/>
              </a:lnSpc>
              <a:buNone/>
              <a:defRPr sz="3300" b="1">
                <a:solidFill>
                  <a:srgbClr val="172F3C"/>
                </a:solidFill>
                <a:latin typeface="DejaVu Sans"/>
                <a:ea typeface="DejaVu Sans"/>
                <a:cs typeface="DejaVu Sans"/>
              </a:defRPr>
            </a:pPr>
            <a:r>
              <a:rPr sz="3300" b="1">
                <a:solidFill>
                  <a:srgbClr val="172F3C"/>
                </a:solidFill>
                <a:latin typeface="DejaVu Sans"/>
                <a:ea typeface="DejaVu Sans"/>
                <a:cs typeface="DejaVu Sans"/>
              </a:rPr>
              <a:t>PuertaCelda</a:t>
            </a:r>
          </a:p>
        </p:txBody>
      </p:sp>
      <p:sp>
        <p:nvSpPr>
          <p:cNvPr id="3" name="etiqueta-uml">
            <a:extLst xmlns:a="http://schemas.openxmlformats.org/drawingml/2006/main">
              <a:ext uri="{FF2B5EF4-FFF2-40B4-BE49-F238E27FC236}">
                <a16:creationId xmlns:a16="http://schemas.microsoft.com/office/drawing/2014/main" id="{D27DAD6B-8C71-4FA6-89EE-41AA7BA8D23D}"/>
              </a:ext>
            </a:extLst>
          </p:cNvPr>
          <p:cNvSpPr>
            <a:spLocks xmlns:a="http://schemas.openxmlformats.org/drawingml/2006/main" noGrp="1"/>
          </p:cNvSpPr>
          <p:nvPr/>
        </p:nvSpPr>
        <p:spPr>
          <a:xfrm xmlns:a="http://schemas.openxmlformats.org/drawingml/2006/main">
            <a:off x="609600" y="1495425"/>
            <a:ext cx="2809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UML: recorte original</a:t>
            </a:r>
          </a:p>
        </p:txBody>
      </p:sp>
      <p:pic>
        <p:nvPicPr>
          <p:cNvPr id="4" name="">
            <a:extLst xmlns:a="http://schemas.openxmlformats.org/drawingml/2006/main">
              <a:ext uri="{FF2B5EF4-FFF2-40B4-BE49-F238E27FC236}">
                <a16:creationId xmlns:a16="http://schemas.microsoft.com/office/drawing/2014/main" id="{24AB3127-4954-4B08-8E3A-1DCA88E6A883}"/>
              </a:ext>
            </a:extLst>
          </p:cNvPr>
          <p:cNvPicPr>
            <a:picLocks xmlns:a="http://schemas.openxmlformats.org/drawingml/2006/main" noChangeAspect="1"/>
          </p:cNvPicPr>
          <p:nvPr/>
        </p:nvPicPr>
        <p:blipFill>
          <a:blip xmlns:r="http://schemas.openxmlformats.org/officeDocument/2006/relationships" xmlns:a="http://schemas.openxmlformats.org/drawingml/2006/main" r:embed="R15092f502d8f45c7"/>
          <a:stretch xmlns:a="http://schemas.openxmlformats.org/drawingml/2006/main"/>
        </p:blipFill>
        <p:spPr>
          <a:xfrm xmlns:a="http://schemas.openxmlformats.org/drawingml/2006/main">
            <a:off x="609600" y="3352625"/>
            <a:ext cx="2762250" cy="1410049"/>
          </a:xfrm>
          <a:prstGeom xmlns:a="http://schemas.openxmlformats.org/drawingml/2006/main" prst="rect">
            <a:avLst/>
          </a:prstGeom>
        </p:spPr>
      </p:pic>
      <p:sp>
        <p:nvSpPr>
          <p:cNvPr id="5" name="funcion-clase">
            <a:extLst xmlns:a="http://schemas.openxmlformats.org/drawingml/2006/main">
              <a:ext uri="{FF2B5EF4-FFF2-40B4-BE49-F238E27FC236}">
                <a16:creationId xmlns:a16="http://schemas.microsoft.com/office/drawing/2014/main" id="{42110017-7C4D-436A-88AE-0D4F42C14B52}"/>
              </a:ext>
            </a:extLst>
          </p:cNvPr>
          <p:cNvSpPr>
            <a:spLocks xmlns:a="http://schemas.openxmlformats.org/drawingml/2006/main" noGrp="1"/>
          </p:cNvSpPr>
          <p:nvPr/>
        </p:nvSpPr>
        <p:spPr>
          <a:xfrm xmlns:a="http://schemas.openxmlformats.org/drawingml/2006/main">
            <a:off x="3810000" y="1419225"/>
            <a:ext cx="7762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F3C"/>
                </a:solidFill>
                <a:latin typeface="DejaVu Sans"/>
                <a:ea typeface="DejaVu Sans"/>
                <a:cs typeface="DejaVu Sans"/>
              </a:defRPr>
            </a:defPPr>
          </a:lstStyle>
          <a:p xmlns:a="http://schemas.openxmlformats.org/drawingml/2006/main">
            <a:pPr>
              <a:lnSpc>
                <a:spcPct val="105000"/>
              </a:lnSpc>
              <a:buNone/>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Mantiene cerrada la celda inicial y controla cómo se fuerza su puerta.</a:t>
            </a:r>
          </a:p>
        </p:txBody>
      </p:sp>
      <p:sp>
        <p:nvSpPr>
          <p:cNvPr id="6" name="poo-0">
            <a:extLst xmlns:a="http://schemas.openxmlformats.org/drawingml/2006/main">
              <a:ext uri="{FF2B5EF4-FFF2-40B4-BE49-F238E27FC236}">
                <a16:creationId xmlns:a16="http://schemas.microsoft.com/office/drawing/2014/main" id="{72DBDE46-B8EA-4D84-AF6A-74CF4284FEE4}"/>
              </a:ext>
            </a:extLst>
          </p:cNvPr>
          <p:cNvSpPr>
            <a:spLocks xmlns:a="http://schemas.openxmlformats.org/drawingml/2006/main" noGrp="1"/>
          </p:cNvSpPr>
          <p:nvPr/>
        </p:nvSpPr>
        <p:spPr>
          <a:xfrm xmlns:a="http://schemas.openxmlformats.org/drawingml/2006/main">
            <a:off x="3810000" y="21717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Composición: Nivel crea su puerta inicial.</a:t>
            </a:r>
          </a:p>
        </p:txBody>
      </p:sp>
      <p:sp>
        <p:nvSpPr>
          <p:cNvPr id="7" name="poo-1">
            <a:extLst xmlns:a="http://schemas.openxmlformats.org/drawingml/2006/main">
              <a:ext uri="{FF2B5EF4-FFF2-40B4-BE49-F238E27FC236}">
                <a16:creationId xmlns:a16="http://schemas.microsoft.com/office/drawing/2014/main" id="{1D885153-02D0-40E2-BE84-34B48A7EC6F7}"/>
              </a:ext>
            </a:extLst>
          </p:cNvPr>
          <p:cNvSpPr>
            <a:spLocks xmlns:a="http://schemas.openxmlformats.org/drawingml/2006/main" noGrp="1"/>
          </p:cNvSpPr>
          <p:nvPr/>
        </p:nvSpPr>
        <p:spPr>
          <a:xfrm xmlns:a="http://schemas.openxmlformats.org/drawingml/2006/main">
            <a:off x="3810000" y="25146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Dependencia: actualizar recibe al Prisionero.</a:t>
            </a:r>
          </a:p>
        </p:txBody>
      </p:sp>
      <p:sp>
        <p:nvSpPr>
          <p:cNvPr id="8" name="etiqueta-codigo">
            <a:extLst xmlns:a="http://schemas.openxmlformats.org/drawingml/2006/main">
              <a:ext uri="{FF2B5EF4-FFF2-40B4-BE49-F238E27FC236}">
                <a16:creationId xmlns:a16="http://schemas.microsoft.com/office/drawing/2014/main" id="{757EE8BB-96A1-4765-80EA-9B4627E7F988}"/>
              </a:ext>
            </a:extLst>
          </p:cNvPr>
          <p:cNvSpPr>
            <a:spLocks xmlns:a="http://schemas.openxmlformats.org/drawingml/2006/main" noGrp="1"/>
          </p:cNvSpPr>
          <p:nvPr/>
        </p:nvSpPr>
        <p:spPr>
          <a:xfrm xmlns:a="http://schemas.openxmlformats.org/drawingml/2006/main">
            <a:off x="3810000" y="2819400"/>
            <a:ext cx="7762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Código del proyecto (fragmento)</a:t>
            </a:r>
          </a:p>
        </p:txBody>
      </p:sp>
      <p:sp>
        <p:nvSpPr>
          <p:cNvPr id="9" name="fragmento-codigo">
            <a:extLst xmlns:a="http://schemas.openxmlformats.org/drawingml/2006/main">
              <a:ext uri="{FF2B5EF4-FFF2-40B4-BE49-F238E27FC236}">
                <a16:creationId xmlns:a16="http://schemas.microsoft.com/office/drawing/2014/main" id="{6005CFE3-CB2D-4DCF-9A68-C274CAFAAFD7}"/>
              </a:ext>
            </a:extLst>
          </p:cNvPr>
          <p:cNvSpPr>
            <a:spLocks xmlns:a="http://schemas.openxmlformats.org/drawingml/2006/main" noGrp="1"/>
          </p:cNvSpPr>
          <p:nvPr/>
        </p:nvSpPr>
        <p:spPr>
          <a:xfrm xmlns:a="http://schemas.openxmlformats.org/drawingml/2006/main">
            <a:off x="3810000" y="3143250"/>
            <a:ext cx="77628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172F3C"/>
                </a:solidFill>
                <a:latin typeface="DejaVu Sans Mono"/>
                <a:ea typeface="DejaVu Sans Mono"/>
                <a:cs typeface="DejaVu Sans Mono"/>
              </a:defRPr>
            </a:defPPr>
          </a:lstStyle>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class PuertaCelda:</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actualizar(self, dt, prisionero, interactuar):</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if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not interactuar</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or distancia(self.posicion, prisionero.get_posicion())</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&gt; 48</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self.progreso = 0.0</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return False</a:t>
            </a:r>
          </a:p>
        </p:txBody>
      </p:sp>
      <p:sp>
        <p:nvSpPr>
          <p:cNvPr id="10" name="enlace-fuente">
            <a:extLst xmlns:a="http://schemas.openxmlformats.org/drawingml/2006/main">
              <a:ext uri="{FF2B5EF4-FFF2-40B4-BE49-F238E27FC236}">
                <a16:creationId xmlns:a16="http://schemas.microsoft.com/office/drawing/2014/main" id="{ACD78F80-3F2B-4A65-A23A-179051E73F1C}"/>
              </a:ext>
            </a:extLst>
          </p:cNvPr>
          <p:cNvSpPr>
            <a:spLocks xmlns:a="http://schemas.openxmlformats.org/drawingml/2006/main" noGrp="1"/>
          </p:cNvSpPr>
          <p:nvPr/>
        </p:nvSpPr>
        <p:spPr>
          <a:xfrm xmlns:a="http://schemas.openxmlformats.org/drawingml/2006/main">
            <a:off x="3810000" y="6457950"/>
            <a:ext cx="7762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526773"/>
                </a:solidFill>
                <a:latin typeface="DejaVu Sans"/>
                <a:ea typeface="DejaVu Sans"/>
                <a:cs typeface="DejaVu Sans"/>
              </a:defRPr>
            </a:defPPr>
          </a:lstStyle>
          <a:p xmlns:a="http://schemas.openxmlformats.org/drawingml/2006/main">
            <a:pPr>
              <a:lnSpc>
                <a:spcPct val="105000"/>
              </a:lnSpc>
              <a:buNone/>
              <a:defRPr sz="975" b="0">
                <a:solidFill>
                  <a:srgbClr val="526773"/>
                </a:solidFill>
                <a:latin typeface="DejaVu Sans"/>
                <a:ea typeface="DejaVu Sans"/>
                <a:cs typeface="DejaVu Sans"/>
              </a:defRPr>
            </a:pPr>
            <a:r>
              <a:rPr sz="975" b="0">
                <a:solidFill>
                  <a:srgbClr val="526773"/>
                </a:solidFill>
                <a:latin typeface="DejaVu Sans"/>
                <a:ea typeface="DejaVu Sans"/>
                <a:cs typeface="DejaVu Sans"/>
                <a:hlinkClick xmlns:r="http://schemas.openxmlformats.org/officeDocument/2006/relationships" r:id="Rb375b1f0dff04a91"/>
              </a:rPr>
              <a:t>src/nivel.py, clase desde línea 32</a:t>
            </a:r>
          </a:p>
        </p:txBody>
      </p:sp>
      <p:sp>
        <p:nvSpPr>
          <p:cNvPr id="11" name="enlace-recorte">
            <a:extLst xmlns:a="http://schemas.openxmlformats.org/drawingml/2006/main">
              <a:ext uri="{FF2B5EF4-FFF2-40B4-BE49-F238E27FC236}">
                <a16:creationId xmlns:a16="http://schemas.microsoft.com/office/drawing/2014/main" id="{A551B758-3D88-4A49-A204-E86661699912}"/>
              </a:ext>
            </a:extLst>
          </p:cNvPr>
          <p:cNvSpPr>
            <a:spLocks xmlns:a="http://schemas.openxmlformats.org/drawingml/2006/main" noGrp="1"/>
          </p:cNvSpPr>
          <p:nvPr/>
        </p:nvSpPr>
        <p:spPr>
          <a:xfrm xmlns:a="http://schemas.openxmlformats.org/drawingml/2006/main">
            <a:off x="609600" y="6457950"/>
            <a:ext cx="285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16735D"/>
                </a:solidFill>
                <a:latin typeface="DejaVu Sans"/>
                <a:ea typeface="DejaVu Sans"/>
                <a:cs typeface="DejaVu Sans"/>
              </a:defRPr>
            </a:defPPr>
          </a:lstStyle>
          <a:p xmlns:a="http://schemas.openxmlformats.org/drawingml/2006/main">
            <a:pPr>
              <a:lnSpc>
                <a:spcPct val="105000"/>
              </a:lnSpc>
              <a:buNone/>
              <a:defRPr sz="975" b="0">
                <a:solidFill>
                  <a:srgbClr val="16735D"/>
                </a:solidFill>
                <a:latin typeface="DejaVu Sans"/>
                <a:ea typeface="DejaVu Sans"/>
                <a:cs typeface="DejaVu Sans"/>
              </a:defRPr>
            </a:pPr>
            <a:r>
              <a:rPr sz="975" b="0">
                <a:solidFill>
                  <a:srgbClr val="16735D"/>
                </a:solidFill>
                <a:latin typeface="DejaVu Sans"/>
                <a:ea typeface="DejaVu Sans"/>
                <a:cs typeface="DejaVu Sans"/>
                <a:hlinkClick xmlns:r="http://schemas.openxmlformats.org/officeDocument/2006/relationships" r:id="R32d3fc667fd545da"/>
              </a:rPr>
              <a:t>Abrir recorte en tamaño original</a:t>
            </a:r>
          </a:p>
        </p:txBody>
      </p:sp>
    </p:spTree>
    <p:extLst>
      <p:ext uri="{BB962C8B-B14F-4D97-AF65-F5344CB8AC3E}">
        <p14:creationId xmlns:p14="http://schemas.microsoft.com/office/powerpoint/2010/main" val="9212779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partado-clase">
            <a:extLst xmlns:a="http://schemas.openxmlformats.org/drawingml/2006/main">
              <a:ext uri="{FF2B5EF4-FFF2-40B4-BE49-F238E27FC236}">
                <a16:creationId xmlns:a16="http://schemas.microsoft.com/office/drawing/2014/main" id="{3CC91CDF-15D1-486B-BFBA-865B7B9EE942}"/>
              </a:ext>
            </a:extLst>
          </p:cNvPr>
          <p:cNvSpPr>
            <a:spLocks xmlns:a="http://schemas.openxmlformats.org/drawingml/2006/main" noGrp="1"/>
          </p:cNvSpPr>
          <p:nvPr/>
        </p:nvSpPr>
        <p:spPr>
          <a:xfrm xmlns:a="http://schemas.openxmlformats.org/drawingml/2006/main">
            <a:off x="60960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lnSpc>
                <a:spcPct val="105000"/>
              </a:lnSpc>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Punto 7 de 7. VIII. Anexos. Clase 10 de 25</a:t>
            </a:r>
          </a:p>
        </p:txBody>
      </p:sp>
      <p:sp>
        <p:nvSpPr>
          <p:cNvPr id="2" name="titulo-clase">
            <a:extLst xmlns:a="http://schemas.openxmlformats.org/drawingml/2006/main">
              <a:ext uri="{FF2B5EF4-FFF2-40B4-BE49-F238E27FC236}">
                <a16:creationId xmlns:a16="http://schemas.microsoft.com/office/drawing/2014/main" id="{0A53BFE9-6121-49F5-A426-775014E1DE06}"/>
              </a:ext>
            </a:extLst>
          </p:cNvPr>
          <p:cNvSpPr>
            <a:spLocks xmlns:a="http://schemas.openxmlformats.org/drawingml/2006/main" noGrp="1"/>
          </p:cNvSpPr>
          <p:nvPr/>
        </p:nvSpPr>
        <p:spPr>
          <a:xfrm xmlns:a="http://schemas.openxmlformats.org/drawingml/2006/main">
            <a:off x="609600" y="69532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F3C"/>
                </a:solidFill>
                <a:latin typeface="DejaVu Sans"/>
                <a:ea typeface="DejaVu Sans"/>
                <a:cs typeface="DejaVu Sans"/>
              </a:defRPr>
            </a:defPPr>
          </a:lstStyle>
          <a:p xmlns:a="http://schemas.openxmlformats.org/drawingml/2006/main">
            <a:pPr>
              <a:lnSpc>
                <a:spcPct val="105000"/>
              </a:lnSpc>
              <a:buNone/>
              <a:defRPr sz="3300" b="1">
                <a:solidFill>
                  <a:srgbClr val="172F3C"/>
                </a:solidFill>
                <a:latin typeface="DejaVu Sans"/>
                <a:ea typeface="DejaVu Sans"/>
                <a:cs typeface="DejaVu Sans"/>
              </a:defRPr>
            </a:pPr>
            <a:r>
              <a:rPr sz="3300" b="1">
                <a:solidFill>
                  <a:srgbClr val="172F3C"/>
                </a:solidFill>
                <a:latin typeface="DejaVu Sans"/>
                <a:ea typeface="DejaVu Sans"/>
                <a:cs typeface="DejaVu Sans"/>
              </a:rPr>
              <a:t>Mapa</a:t>
            </a:r>
          </a:p>
        </p:txBody>
      </p:sp>
      <p:sp>
        <p:nvSpPr>
          <p:cNvPr id="3" name="etiqueta-uml">
            <a:extLst xmlns:a="http://schemas.openxmlformats.org/drawingml/2006/main">
              <a:ext uri="{FF2B5EF4-FFF2-40B4-BE49-F238E27FC236}">
                <a16:creationId xmlns:a16="http://schemas.microsoft.com/office/drawing/2014/main" id="{E29A5108-47C7-49B2-AC76-67C96D6BB13E}"/>
              </a:ext>
            </a:extLst>
          </p:cNvPr>
          <p:cNvSpPr>
            <a:spLocks xmlns:a="http://schemas.openxmlformats.org/drawingml/2006/main" noGrp="1"/>
          </p:cNvSpPr>
          <p:nvPr/>
        </p:nvSpPr>
        <p:spPr>
          <a:xfrm xmlns:a="http://schemas.openxmlformats.org/drawingml/2006/main">
            <a:off x="609600" y="1495425"/>
            <a:ext cx="2809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UML: recorte original</a:t>
            </a:r>
          </a:p>
        </p:txBody>
      </p:sp>
      <p:pic>
        <p:nvPicPr>
          <p:cNvPr id="4" name="">
            <a:extLst xmlns:a="http://schemas.openxmlformats.org/drawingml/2006/main">
              <a:ext uri="{FF2B5EF4-FFF2-40B4-BE49-F238E27FC236}">
                <a16:creationId xmlns:a16="http://schemas.microsoft.com/office/drawing/2014/main" id="{BE5035DD-D2F6-4B80-96B5-59D6705E4324}"/>
              </a:ext>
            </a:extLst>
          </p:cNvPr>
          <p:cNvPicPr>
            <a:picLocks xmlns:a="http://schemas.openxmlformats.org/drawingml/2006/main" noChangeAspect="1"/>
          </p:cNvPicPr>
          <p:nvPr/>
        </p:nvPicPr>
        <p:blipFill>
          <a:blip xmlns:r="http://schemas.openxmlformats.org/officeDocument/2006/relationships" xmlns:a="http://schemas.openxmlformats.org/drawingml/2006/main" r:embed="R4df544f751714a3b"/>
          <a:stretch xmlns:a="http://schemas.openxmlformats.org/drawingml/2006/main"/>
        </p:blipFill>
        <p:spPr>
          <a:xfrm xmlns:a="http://schemas.openxmlformats.org/drawingml/2006/main">
            <a:off x="609600" y="3106010"/>
            <a:ext cx="2762250" cy="1903279"/>
          </a:xfrm>
          <a:prstGeom xmlns:a="http://schemas.openxmlformats.org/drawingml/2006/main" prst="rect">
            <a:avLst/>
          </a:prstGeom>
        </p:spPr>
      </p:pic>
      <p:sp>
        <p:nvSpPr>
          <p:cNvPr id="5" name="funcion-clase">
            <a:extLst xmlns:a="http://schemas.openxmlformats.org/drawingml/2006/main">
              <a:ext uri="{FF2B5EF4-FFF2-40B4-BE49-F238E27FC236}">
                <a16:creationId xmlns:a16="http://schemas.microsoft.com/office/drawing/2014/main" id="{19DC044C-858D-4A35-94F8-9AA5CC683E10}"/>
              </a:ext>
            </a:extLst>
          </p:cNvPr>
          <p:cNvSpPr>
            <a:spLocks xmlns:a="http://schemas.openxmlformats.org/drawingml/2006/main" noGrp="1"/>
          </p:cNvSpPr>
          <p:nvPr/>
        </p:nvSpPr>
        <p:spPr>
          <a:xfrm xmlns:a="http://schemas.openxmlformats.org/drawingml/2006/main">
            <a:off x="3810000" y="1419225"/>
            <a:ext cx="7762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F3C"/>
                </a:solidFill>
                <a:latin typeface="DejaVu Sans"/>
                <a:ea typeface="DejaVu Sans"/>
                <a:cs typeface="DejaVu Sans"/>
              </a:defRPr>
            </a:defPPr>
          </a:lstStyle>
          <a:p xmlns:a="http://schemas.openxmlformats.org/drawingml/2006/main">
            <a:pPr>
              <a:lnSpc>
                <a:spcPct val="105000"/>
              </a:lnSpc>
              <a:buNone/>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Conserva el plano y reúne las reglas de paredes y caminos.</a:t>
            </a:r>
          </a:p>
        </p:txBody>
      </p:sp>
      <p:sp>
        <p:nvSpPr>
          <p:cNvPr id="6" name="poo-0">
            <a:extLst xmlns:a="http://schemas.openxmlformats.org/drawingml/2006/main">
              <a:ext uri="{FF2B5EF4-FFF2-40B4-BE49-F238E27FC236}">
                <a16:creationId xmlns:a16="http://schemas.microsoft.com/office/drawing/2014/main" id="{0457A888-BE66-48CC-94F9-A4A0E5CA1BB4}"/>
              </a:ext>
            </a:extLst>
          </p:cNvPr>
          <p:cNvSpPr>
            <a:spLocks xmlns:a="http://schemas.openxmlformats.org/drawingml/2006/main" noGrp="1"/>
          </p:cNvSpPr>
          <p:nvPr/>
        </p:nvSpPr>
        <p:spPr>
          <a:xfrm xmlns:a="http://schemas.openxmlformats.org/drawingml/2006/main">
            <a:off x="3810000" y="21717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Composición: Nivel crea su propio Mapa.</a:t>
            </a:r>
          </a:p>
        </p:txBody>
      </p:sp>
      <p:sp>
        <p:nvSpPr>
          <p:cNvPr id="7" name="poo-1">
            <a:extLst xmlns:a="http://schemas.openxmlformats.org/drawingml/2006/main">
              <a:ext uri="{FF2B5EF4-FFF2-40B4-BE49-F238E27FC236}">
                <a16:creationId xmlns:a16="http://schemas.microsoft.com/office/drawing/2014/main" id="{77459CE2-EE24-4710-B472-8AF2E60DF773}"/>
              </a:ext>
            </a:extLst>
          </p:cNvPr>
          <p:cNvSpPr>
            <a:spLocks xmlns:a="http://schemas.openxmlformats.org/drawingml/2006/main" noGrp="1"/>
          </p:cNvSpPr>
          <p:nvPr/>
        </p:nvSpPr>
        <p:spPr>
          <a:xfrm xmlns:a="http://schemas.openxmlformats.org/drawingml/2006/main">
            <a:off x="3810000" y="25146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Abstracción: ofrece colisiones y rutas mediante métodos.</a:t>
            </a:r>
          </a:p>
        </p:txBody>
      </p:sp>
      <p:sp>
        <p:nvSpPr>
          <p:cNvPr id="8" name="etiqueta-codigo">
            <a:extLst xmlns:a="http://schemas.openxmlformats.org/drawingml/2006/main">
              <a:ext uri="{FF2B5EF4-FFF2-40B4-BE49-F238E27FC236}">
                <a16:creationId xmlns:a16="http://schemas.microsoft.com/office/drawing/2014/main" id="{79F31273-7777-42C2-9375-23C8786327C4}"/>
              </a:ext>
            </a:extLst>
          </p:cNvPr>
          <p:cNvSpPr>
            <a:spLocks xmlns:a="http://schemas.openxmlformats.org/drawingml/2006/main" noGrp="1"/>
          </p:cNvSpPr>
          <p:nvPr/>
        </p:nvSpPr>
        <p:spPr>
          <a:xfrm xmlns:a="http://schemas.openxmlformats.org/drawingml/2006/main">
            <a:off x="3810000" y="2819400"/>
            <a:ext cx="7762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Código del proyecto (fragmento)</a:t>
            </a:r>
          </a:p>
        </p:txBody>
      </p:sp>
      <p:sp>
        <p:nvSpPr>
          <p:cNvPr id="9" name="fragmento-codigo">
            <a:extLst xmlns:a="http://schemas.openxmlformats.org/drawingml/2006/main">
              <a:ext uri="{FF2B5EF4-FFF2-40B4-BE49-F238E27FC236}">
                <a16:creationId xmlns:a16="http://schemas.microsoft.com/office/drawing/2014/main" id="{F6882585-4199-4012-AD4A-94759D64583B}"/>
              </a:ext>
            </a:extLst>
          </p:cNvPr>
          <p:cNvSpPr>
            <a:spLocks xmlns:a="http://schemas.openxmlformats.org/drawingml/2006/main" noGrp="1"/>
          </p:cNvSpPr>
          <p:nvPr/>
        </p:nvSpPr>
        <p:spPr>
          <a:xfrm xmlns:a="http://schemas.openxmlformats.org/drawingml/2006/main">
            <a:off x="3810000" y="3143250"/>
            <a:ext cx="77628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172F3C"/>
                </a:solidFill>
                <a:latin typeface="DejaVu Sans Mono"/>
                <a:ea typeface="DejaVu Sans Mono"/>
                <a:cs typeface="DejaVu Sans Mono"/>
              </a:defRPr>
            </a:defPPr>
          </a:lstStyle>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class Mapa:</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distancia_camino(self, origen, destino):</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ruta = self.buscar_ruta(origen, destino)</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if not ruta:</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return math.inf</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return sum(</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distancia(a, b) for a, b in zip([origen, *ruta], ruta)</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a:t>
            </a:r>
          </a:p>
        </p:txBody>
      </p:sp>
      <p:sp>
        <p:nvSpPr>
          <p:cNvPr id="10" name="enlace-fuente">
            <a:extLst xmlns:a="http://schemas.openxmlformats.org/drawingml/2006/main">
              <a:ext uri="{FF2B5EF4-FFF2-40B4-BE49-F238E27FC236}">
                <a16:creationId xmlns:a16="http://schemas.microsoft.com/office/drawing/2014/main" id="{3AE6C34D-E192-467A-8512-AE0E28B8AADA}"/>
              </a:ext>
            </a:extLst>
          </p:cNvPr>
          <p:cNvSpPr>
            <a:spLocks xmlns:a="http://schemas.openxmlformats.org/drawingml/2006/main" noGrp="1"/>
          </p:cNvSpPr>
          <p:nvPr/>
        </p:nvSpPr>
        <p:spPr>
          <a:xfrm xmlns:a="http://schemas.openxmlformats.org/drawingml/2006/main">
            <a:off x="3810000" y="6457950"/>
            <a:ext cx="7762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526773"/>
                </a:solidFill>
                <a:latin typeface="DejaVu Sans"/>
                <a:ea typeface="DejaVu Sans"/>
                <a:cs typeface="DejaVu Sans"/>
              </a:defRPr>
            </a:defPPr>
          </a:lstStyle>
          <a:p xmlns:a="http://schemas.openxmlformats.org/drawingml/2006/main">
            <a:pPr>
              <a:lnSpc>
                <a:spcPct val="105000"/>
              </a:lnSpc>
              <a:buNone/>
              <a:defRPr sz="975" b="0">
                <a:solidFill>
                  <a:srgbClr val="526773"/>
                </a:solidFill>
                <a:latin typeface="DejaVu Sans"/>
                <a:ea typeface="DejaVu Sans"/>
                <a:cs typeface="DejaVu Sans"/>
              </a:defRPr>
            </a:pPr>
            <a:r>
              <a:rPr sz="975" b="0">
                <a:solidFill>
                  <a:srgbClr val="526773"/>
                </a:solidFill>
                <a:latin typeface="DejaVu Sans"/>
                <a:ea typeface="DejaVu Sans"/>
                <a:cs typeface="DejaVu Sans"/>
                <a:hlinkClick xmlns:r="http://schemas.openxmlformats.org/officeDocument/2006/relationships" r:id="Rf117dcac3e3e4649"/>
              </a:rPr>
              <a:t>src/mapa.py, clase desde línea 82</a:t>
            </a:r>
          </a:p>
        </p:txBody>
      </p:sp>
      <p:sp>
        <p:nvSpPr>
          <p:cNvPr id="11" name="enlace-recorte">
            <a:extLst xmlns:a="http://schemas.openxmlformats.org/drawingml/2006/main">
              <a:ext uri="{FF2B5EF4-FFF2-40B4-BE49-F238E27FC236}">
                <a16:creationId xmlns:a16="http://schemas.microsoft.com/office/drawing/2014/main" id="{5106BC92-0FE6-4F31-BD4B-54CB3D16731B}"/>
              </a:ext>
            </a:extLst>
          </p:cNvPr>
          <p:cNvSpPr>
            <a:spLocks xmlns:a="http://schemas.openxmlformats.org/drawingml/2006/main" noGrp="1"/>
          </p:cNvSpPr>
          <p:nvPr/>
        </p:nvSpPr>
        <p:spPr>
          <a:xfrm xmlns:a="http://schemas.openxmlformats.org/drawingml/2006/main">
            <a:off x="609600" y="6457950"/>
            <a:ext cx="285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16735D"/>
                </a:solidFill>
                <a:latin typeface="DejaVu Sans"/>
                <a:ea typeface="DejaVu Sans"/>
                <a:cs typeface="DejaVu Sans"/>
              </a:defRPr>
            </a:defPPr>
          </a:lstStyle>
          <a:p xmlns:a="http://schemas.openxmlformats.org/drawingml/2006/main">
            <a:pPr>
              <a:lnSpc>
                <a:spcPct val="105000"/>
              </a:lnSpc>
              <a:buNone/>
              <a:defRPr sz="975" b="0">
                <a:solidFill>
                  <a:srgbClr val="16735D"/>
                </a:solidFill>
                <a:latin typeface="DejaVu Sans"/>
                <a:ea typeface="DejaVu Sans"/>
                <a:cs typeface="DejaVu Sans"/>
              </a:defRPr>
            </a:pPr>
            <a:r>
              <a:rPr sz="975" b="0">
                <a:solidFill>
                  <a:srgbClr val="16735D"/>
                </a:solidFill>
                <a:latin typeface="DejaVu Sans"/>
                <a:ea typeface="DejaVu Sans"/>
                <a:cs typeface="DejaVu Sans"/>
                <a:hlinkClick xmlns:r="http://schemas.openxmlformats.org/officeDocument/2006/relationships" r:id="Rc8cbf4ee9aed4b1c"/>
              </a:rPr>
              <a:t>Abrir recorte en tamaño original</a:t>
            </a:r>
          </a:p>
        </p:txBody>
      </p:sp>
    </p:spTree>
    <p:extLst>
      <p:ext uri="{BB962C8B-B14F-4D97-AF65-F5344CB8AC3E}">
        <p14:creationId xmlns:p14="http://schemas.microsoft.com/office/powerpoint/2010/main" val="107959613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partado-clase">
            <a:extLst xmlns:a="http://schemas.openxmlformats.org/drawingml/2006/main">
              <a:ext uri="{FF2B5EF4-FFF2-40B4-BE49-F238E27FC236}">
                <a16:creationId xmlns:a16="http://schemas.microsoft.com/office/drawing/2014/main" id="{0C0F372D-4E74-4544-BD8B-2BBD98B87034}"/>
              </a:ext>
            </a:extLst>
          </p:cNvPr>
          <p:cNvSpPr>
            <a:spLocks xmlns:a="http://schemas.openxmlformats.org/drawingml/2006/main" noGrp="1"/>
          </p:cNvSpPr>
          <p:nvPr/>
        </p:nvSpPr>
        <p:spPr>
          <a:xfrm xmlns:a="http://schemas.openxmlformats.org/drawingml/2006/main">
            <a:off x="60960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lnSpc>
                <a:spcPct val="105000"/>
              </a:lnSpc>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Punto 7 de 7. VIII. Anexos. Clase 11 de 25</a:t>
            </a:r>
          </a:p>
        </p:txBody>
      </p:sp>
      <p:sp>
        <p:nvSpPr>
          <p:cNvPr id="2" name="titulo-clase">
            <a:extLst xmlns:a="http://schemas.openxmlformats.org/drawingml/2006/main">
              <a:ext uri="{FF2B5EF4-FFF2-40B4-BE49-F238E27FC236}">
                <a16:creationId xmlns:a16="http://schemas.microsoft.com/office/drawing/2014/main" id="{37C31D11-C5A4-4CB5-B6B0-BEAAE8ECF846}"/>
              </a:ext>
            </a:extLst>
          </p:cNvPr>
          <p:cNvSpPr>
            <a:spLocks xmlns:a="http://schemas.openxmlformats.org/drawingml/2006/main" noGrp="1"/>
          </p:cNvSpPr>
          <p:nvPr/>
        </p:nvSpPr>
        <p:spPr>
          <a:xfrm xmlns:a="http://schemas.openxmlformats.org/drawingml/2006/main">
            <a:off x="609600" y="69532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F3C"/>
                </a:solidFill>
                <a:latin typeface="DejaVu Sans"/>
                <a:ea typeface="DejaVu Sans"/>
                <a:cs typeface="DejaVu Sans"/>
              </a:defRPr>
            </a:defPPr>
          </a:lstStyle>
          <a:p xmlns:a="http://schemas.openxmlformats.org/drawingml/2006/main">
            <a:pPr>
              <a:lnSpc>
                <a:spcPct val="105000"/>
              </a:lnSpc>
              <a:buNone/>
              <a:defRPr sz="3300" b="1">
                <a:solidFill>
                  <a:srgbClr val="172F3C"/>
                </a:solidFill>
                <a:latin typeface="DejaVu Sans"/>
                <a:ea typeface="DejaVu Sans"/>
                <a:cs typeface="DejaVu Sans"/>
              </a:defRPr>
            </a:pPr>
            <a:r>
              <a:rPr sz="3300" b="1">
                <a:solidFill>
                  <a:srgbClr val="172F3C"/>
                </a:solidFill>
                <a:latin typeface="DejaVu Sans"/>
                <a:ea typeface="DejaVu Sans"/>
                <a:cs typeface="DejaVu Sans"/>
              </a:rPr>
              <a:t>Personaje</a:t>
            </a:r>
          </a:p>
        </p:txBody>
      </p:sp>
      <p:sp>
        <p:nvSpPr>
          <p:cNvPr id="3" name="etiqueta-uml">
            <a:extLst xmlns:a="http://schemas.openxmlformats.org/drawingml/2006/main">
              <a:ext uri="{FF2B5EF4-FFF2-40B4-BE49-F238E27FC236}">
                <a16:creationId xmlns:a16="http://schemas.microsoft.com/office/drawing/2014/main" id="{0832C834-59E2-405E-A757-A12003F18CDE}"/>
              </a:ext>
            </a:extLst>
          </p:cNvPr>
          <p:cNvSpPr>
            <a:spLocks xmlns:a="http://schemas.openxmlformats.org/drawingml/2006/main" noGrp="1"/>
          </p:cNvSpPr>
          <p:nvPr/>
        </p:nvSpPr>
        <p:spPr>
          <a:xfrm xmlns:a="http://schemas.openxmlformats.org/drawingml/2006/main">
            <a:off x="609600" y="1495425"/>
            <a:ext cx="2809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UML: recorte original</a:t>
            </a:r>
          </a:p>
        </p:txBody>
      </p:sp>
      <p:pic>
        <p:nvPicPr>
          <p:cNvPr id="4" name="">
            <a:extLst xmlns:a="http://schemas.openxmlformats.org/drawingml/2006/main">
              <a:ext uri="{FF2B5EF4-FFF2-40B4-BE49-F238E27FC236}">
                <a16:creationId xmlns:a16="http://schemas.microsoft.com/office/drawing/2014/main" id="{31773F55-D398-4EBE-BD85-8580637F754C}"/>
              </a:ext>
            </a:extLst>
          </p:cNvPr>
          <p:cNvPicPr>
            <a:picLocks xmlns:a="http://schemas.openxmlformats.org/drawingml/2006/main" noChangeAspect="1"/>
          </p:cNvPicPr>
          <p:nvPr/>
        </p:nvPicPr>
        <p:blipFill>
          <a:blip xmlns:r="http://schemas.openxmlformats.org/officeDocument/2006/relationships" xmlns:a="http://schemas.openxmlformats.org/drawingml/2006/main" r:embed="Rb643497b6b7b418d"/>
          <a:stretch xmlns:a="http://schemas.openxmlformats.org/drawingml/2006/main"/>
        </p:blipFill>
        <p:spPr>
          <a:xfrm xmlns:a="http://schemas.openxmlformats.org/drawingml/2006/main">
            <a:off x="609600" y="2111098"/>
            <a:ext cx="2762250" cy="3893104"/>
          </a:xfrm>
          <a:prstGeom xmlns:a="http://schemas.openxmlformats.org/drawingml/2006/main" prst="rect">
            <a:avLst/>
          </a:prstGeom>
        </p:spPr>
      </p:pic>
      <p:sp>
        <p:nvSpPr>
          <p:cNvPr id="5" name="funcion-clase">
            <a:extLst xmlns:a="http://schemas.openxmlformats.org/drawingml/2006/main">
              <a:ext uri="{FF2B5EF4-FFF2-40B4-BE49-F238E27FC236}">
                <a16:creationId xmlns:a16="http://schemas.microsoft.com/office/drawing/2014/main" id="{7CBEE9EC-DABF-4612-B1D8-C6F8AA7D3D41}"/>
              </a:ext>
            </a:extLst>
          </p:cNvPr>
          <p:cNvSpPr>
            <a:spLocks xmlns:a="http://schemas.openxmlformats.org/drawingml/2006/main" noGrp="1"/>
          </p:cNvSpPr>
          <p:nvPr/>
        </p:nvSpPr>
        <p:spPr>
          <a:xfrm xmlns:a="http://schemas.openxmlformats.org/drawingml/2006/main">
            <a:off x="3810000" y="1419225"/>
            <a:ext cx="7762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F3C"/>
                </a:solidFill>
                <a:latin typeface="DejaVu Sans"/>
                <a:ea typeface="DejaVu Sans"/>
                <a:cs typeface="DejaVu Sans"/>
              </a:defRPr>
            </a:defPPr>
          </a:lstStyle>
          <a:p xmlns:a="http://schemas.openxmlformats.org/drawingml/2006/main">
            <a:pPr>
              <a:lnSpc>
                <a:spcPct val="105000"/>
              </a:lnSpc>
              <a:buNone/>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Reúne posición, tamaño y movimiento de los personajes.</a:t>
            </a:r>
          </a:p>
        </p:txBody>
      </p:sp>
      <p:sp>
        <p:nvSpPr>
          <p:cNvPr id="6" name="poo-0">
            <a:extLst xmlns:a="http://schemas.openxmlformats.org/drawingml/2006/main">
              <a:ext uri="{FF2B5EF4-FFF2-40B4-BE49-F238E27FC236}">
                <a16:creationId xmlns:a16="http://schemas.microsoft.com/office/drawing/2014/main" id="{933A628D-C2A3-41EF-A62A-71456137C511}"/>
              </a:ext>
            </a:extLst>
          </p:cNvPr>
          <p:cNvSpPr>
            <a:spLocks xmlns:a="http://schemas.openxmlformats.org/drawingml/2006/main" noGrp="1"/>
          </p:cNvSpPr>
          <p:nvPr/>
        </p:nvSpPr>
        <p:spPr>
          <a:xfrm xmlns:a="http://schemas.openxmlformats.org/drawingml/2006/main">
            <a:off x="3810000" y="21717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Abstracción y herencia: base de Prisionero y Guardia.</a:t>
            </a:r>
          </a:p>
        </p:txBody>
      </p:sp>
      <p:sp>
        <p:nvSpPr>
          <p:cNvPr id="7" name="poo-1">
            <a:extLst xmlns:a="http://schemas.openxmlformats.org/drawingml/2006/main">
              <a:ext uri="{FF2B5EF4-FFF2-40B4-BE49-F238E27FC236}">
                <a16:creationId xmlns:a16="http://schemas.microsoft.com/office/drawing/2014/main" id="{9D6EB7B9-F8E9-43D9-A18B-E1709C963833}"/>
              </a:ext>
            </a:extLst>
          </p:cNvPr>
          <p:cNvSpPr>
            <a:spLocks xmlns:a="http://schemas.openxmlformats.org/drawingml/2006/main" noGrp="1"/>
          </p:cNvSpPr>
          <p:nvPr/>
        </p:nvSpPr>
        <p:spPr>
          <a:xfrm xmlns:a="http://schemas.openxmlformats.org/drawingml/2006/main">
            <a:off x="3810000" y="25146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Encapsulamiento: _x, _y y _velocidad son internos.</a:t>
            </a:r>
          </a:p>
        </p:txBody>
      </p:sp>
      <p:sp>
        <p:nvSpPr>
          <p:cNvPr id="8" name="poo-2">
            <a:extLst xmlns:a="http://schemas.openxmlformats.org/drawingml/2006/main">
              <a:ext uri="{FF2B5EF4-FFF2-40B4-BE49-F238E27FC236}">
                <a16:creationId xmlns:a16="http://schemas.microsoft.com/office/drawing/2014/main" id="{2EFB1CF7-6243-4EED-B8D7-93EC8A3F068E}"/>
              </a:ext>
            </a:extLst>
          </p:cNvPr>
          <p:cNvSpPr>
            <a:spLocks xmlns:a="http://schemas.openxmlformats.org/drawingml/2006/main" noGrp="1"/>
          </p:cNvSpPr>
          <p:nvPr/>
        </p:nvSpPr>
        <p:spPr>
          <a:xfrm xmlns:a="http://schemas.openxmlformats.org/drawingml/2006/main">
            <a:off x="3810000" y="28575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Asociación: guarda el Nivel que recibe.</a:t>
            </a:r>
          </a:p>
        </p:txBody>
      </p:sp>
      <p:sp>
        <p:nvSpPr>
          <p:cNvPr id="9" name="etiqueta-codigo">
            <a:extLst xmlns:a="http://schemas.openxmlformats.org/drawingml/2006/main">
              <a:ext uri="{FF2B5EF4-FFF2-40B4-BE49-F238E27FC236}">
                <a16:creationId xmlns:a16="http://schemas.microsoft.com/office/drawing/2014/main" id="{8C6B5107-D18D-4DD2-9769-60B835FF90C2}"/>
              </a:ext>
            </a:extLst>
          </p:cNvPr>
          <p:cNvSpPr>
            <a:spLocks xmlns:a="http://schemas.openxmlformats.org/drawingml/2006/main" noGrp="1"/>
          </p:cNvSpPr>
          <p:nvPr/>
        </p:nvSpPr>
        <p:spPr>
          <a:xfrm xmlns:a="http://schemas.openxmlformats.org/drawingml/2006/main">
            <a:off x="3810000" y="3162300"/>
            <a:ext cx="7762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Código del proyecto (fragmento)</a:t>
            </a:r>
          </a:p>
        </p:txBody>
      </p:sp>
      <p:sp>
        <p:nvSpPr>
          <p:cNvPr id="10" name="fragmento-codigo">
            <a:extLst xmlns:a="http://schemas.openxmlformats.org/drawingml/2006/main">
              <a:ext uri="{FF2B5EF4-FFF2-40B4-BE49-F238E27FC236}">
                <a16:creationId xmlns:a16="http://schemas.microsoft.com/office/drawing/2014/main" id="{CD211D21-B501-4FAE-951C-1A6057E20C80}"/>
              </a:ext>
            </a:extLst>
          </p:cNvPr>
          <p:cNvSpPr>
            <a:spLocks xmlns:a="http://schemas.openxmlformats.org/drawingml/2006/main" noGrp="1"/>
          </p:cNvSpPr>
          <p:nvPr/>
        </p:nvSpPr>
        <p:spPr>
          <a:xfrm xmlns:a="http://schemas.openxmlformats.org/drawingml/2006/main">
            <a:off x="3810000" y="3486150"/>
            <a:ext cx="7762875"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13" b="0">
                <a:solidFill>
                  <a:srgbClr val="172F3C"/>
                </a:solidFill>
                <a:latin typeface="DejaVu Sans Mono"/>
                <a:ea typeface="DejaVu Sans Mono"/>
                <a:cs typeface="DejaVu Sans Mono"/>
              </a:defRPr>
            </a:defPPr>
          </a:lstStyle>
          <a:p xmlns:a="http://schemas.openxmlformats.org/drawingml/2006/main">
            <a:pPr>
              <a:lnSpc>
                <a:spcPct val="105000"/>
              </a:lnSpc>
              <a:buNone/>
              <a:defRPr sz="1413" b="0">
                <a:solidFill>
                  <a:srgbClr val="172F3C"/>
                </a:solidFill>
                <a:latin typeface="DejaVu Sans Mono"/>
                <a:ea typeface="DejaVu Sans Mono"/>
                <a:cs typeface="DejaVu Sans Mono"/>
              </a:defRPr>
            </a:pPr>
            <a:r>
              <a:rPr sz="1413" b="0">
                <a:solidFill>
                  <a:srgbClr val="172F3C"/>
                </a:solidFill>
                <a:latin typeface="DejaVu Sans Mono"/>
                <a:ea typeface="DejaVu Sans Mono"/>
                <a:cs typeface="DejaVu Sans Mono"/>
              </a:rPr>
              <a:t>class Personaje(ABC):</a:t>
            </a:r>
          </a:p>
          <a:p xmlns:a="http://schemas.openxmlformats.org/drawingml/2006/main">
            <a:r>
              <a:t/>
            </a:r>
          </a:p>
          <a:p xmlns:a="http://schemas.openxmlformats.org/drawingml/2006/main">
            <a:pPr>
              <a:lnSpc>
                <a:spcPct val="105000"/>
              </a:lnSpc>
              <a:buNone/>
              <a:defRPr sz="1413" b="0">
                <a:solidFill>
                  <a:srgbClr val="172F3C"/>
                </a:solidFill>
                <a:latin typeface="DejaVu Sans Mono"/>
                <a:ea typeface="DejaVu Sans Mono"/>
                <a:cs typeface="DejaVu Sans Mono"/>
              </a:defRPr>
            </a:pPr>
            <a:r>
              <a:rPr sz="1413" b="0">
                <a:solidFill>
                  <a:srgbClr val="172F3C"/>
                </a:solidFill>
                <a:latin typeface="DejaVu Sans Mono"/>
                <a:ea typeface="DejaVu Sans Mono"/>
                <a:cs typeface="DejaVu Sans Mono"/>
              </a:rPr>
              <a:t>    def __init__(self, nivel, x, y, velocidad):</a:t>
            </a:r>
          </a:p>
          <a:p xmlns:a="http://schemas.openxmlformats.org/drawingml/2006/main">
            <a:pPr>
              <a:lnSpc>
                <a:spcPct val="105000"/>
              </a:lnSpc>
              <a:buNone/>
              <a:defRPr sz="1413" b="0">
                <a:solidFill>
                  <a:srgbClr val="172F3C"/>
                </a:solidFill>
                <a:latin typeface="DejaVu Sans Mono"/>
                <a:ea typeface="DejaVu Sans Mono"/>
                <a:cs typeface="DejaVu Sans Mono"/>
              </a:defRPr>
            </a:pPr>
            <a:r>
              <a:rPr sz="1413" b="0">
                <a:solidFill>
                  <a:srgbClr val="172F3C"/>
                </a:solidFill>
                <a:latin typeface="DejaVu Sans Mono"/>
                <a:ea typeface="DejaVu Sans Mono"/>
                <a:cs typeface="DejaVu Sans Mono"/>
              </a:rPr>
              <a:t>        self.nivel = nivel</a:t>
            </a:r>
          </a:p>
          <a:p xmlns:a="http://schemas.openxmlformats.org/drawingml/2006/main">
            <a:pPr>
              <a:lnSpc>
                <a:spcPct val="105000"/>
              </a:lnSpc>
              <a:buNone/>
              <a:defRPr sz="1413" b="0">
                <a:solidFill>
                  <a:srgbClr val="172F3C"/>
                </a:solidFill>
                <a:latin typeface="DejaVu Sans Mono"/>
                <a:ea typeface="DejaVu Sans Mono"/>
                <a:cs typeface="DejaVu Sans Mono"/>
              </a:defRPr>
            </a:pPr>
            <a:r>
              <a:rPr sz="1413" b="0">
                <a:solidFill>
                  <a:srgbClr val="172F3C"/>
                </a:solidFill>
                <a:latin typeface="DejaVu Sans Mono"/>
                <a:ea typeface="DejaVu Sans Mono"/>
                <a:cs typeface="DejaVu Sans Mono"/>
              </a:rPr>
              <a:t>        self._x = float(x)</a:t>
            </a:r>
          </a:p>
          <a:p xmlns:a="http://schemas.openxmlformats.org/drawingml/2006/main">
            <a:pPr>
              <a:lnSpc>
                <a:spcPct val="105000"/>
              </a:lnSpc>
              <a:buNone/>
              <a:defRPr sz="1413" b="0">
                <a:solidFill>
                  <a:srgbClr val="172F3C"/>
                </a:solidFill>
                <a:latin typeface="DejaVu Sans Mono"/>
                <a:ea typeface="DejaVu Sans Mono"/>
                <a:cs typeface="DejaVu Sans Mono"/>
              </a:defRPr>
            </a:pPr>
            <a:r>
              <a:rPr sz="1413" b="0">
                <a:solidFill>
                  <a:srgbClr val="172F3C"/>
                </a:solidFill>
                <a:latin typeface="DejaVu Sans Mono"/>
                <a:ea typeface="DejaVu Sans Mono"/>
                <a:cs typeface="DejaVu Sans Mono"/>
              </a:rPr>
              <a:t>        self._y = float(y)</a:t>
            </a:r>
          </a:p>
          <a:p xmlns:a="http://schemas.openxmlformats.org/drawingml/2006/main">
            <a:r>
              <a:t/>
            </a:r>
          </a:p>
          <a:p xmlns:a="http://schemas.openxmlformats.org/drawingml/2006/main">
            <a:pPr>
              <a:lnSpc>
                <a:spcPct val="105000"/>
              </a:lnSpc>
              <a:buNone/>
              <a:defRPr sz="1413" b="0">
                <a:solidFill>
                  <a:srgbClr val="172F3C"/>
                </a:solidFill>
                <a:latin typeface="DejaVu Sans Mono"/>
                <a:ea typeface="DejaVu Sans Mono"/>
                <a:cs typeface="DejaVu Sans Mono"/>
              </a:defRPr>
            </a:pPr>
            <a:r>
              <a:rPr sz="1413" b="0">
                <a:solidFill>
                  <a:srgbClr val="172F3C"/>
                </a:solidFill>
                <a:latin typeface="DejaVu Sans Mono"/>
                <a:ea typeface="DejaVu Sans Mono"/>
                <a:cs typeface="DejaVu Sans Mono"/>
              </a:rPr>
              <a:t>    def get_posicion(self):</a:t>
            </a:r>
          </a:p>
          <a:p xmlns:a="http://schemas.openxmlformats.org/drawingml/2006/main">
            <a:pPr>
              <a:lnSpc>
                <a:spcPct val="105000"/>
              </a:lnSpc>
              <a:buNone/>
              <a:defRPr sz="1413" b="0">
                <a:solidFill>
                  <a:srgbClr val="172F3C"/>
                </a:solidFill>
                <a:latin typeface="DejaVu Sans Mono"/>
                <a:ea typeface="DejaVu Sans Mono"/>
                <a:cs typeface="DejaVu Sans Mono"/>
              </a:defRPr>
            </a:pPr>
            <a:r>
              <a:rPr sz="1413" b="0">
                <a:solidFill>
                  <a:srgbClr val="172F3C"/>
                </a:solidFill>
                <a:latin typeface="DejaVu Sans Mono"/>
                <a:ea typeface="DejaVu Sans Mono"/>
                <a:cs typeface="DejaVu Sans Mono"/>
              </a:rPr>
              <a:t>        return self._x, self._y</a:t>
            </a:r>
          </a:p>
          <a:p xmlns:a="http://schemas.openxmlformats.org/drawingml/2006/main">
            <a:r>
              <a:t/>
            </a:r>
          </a:p>
          <a:p xmlns:a="http://schemas.openxmlformats.org/drawingml/2006/main">
            <a:pPr>
              <a:lnSpc>
                <a:spcPct val="105000"/>
              </a:lnSpc>
              <a:buNone/>
              <a:defRPr sz="1413" b="0">
                <a:solidFill>
                  <a:srgbClr val="172F3C"/>
                </a:solidFill>
                <a:latin typeface="DejaVu Sans Mono"/>
                <a:ea typeface="DejaVu Sans Mono"/>
                <a:cs typeface="DejaVu Sans Mono"/>
              </a:defRPr>
            </a:pPr>
            <a:r>
              <a:rPr sz="1413" b="0">
                <a:solidFill>
                  <a:srgbClr val="172F3C"/>
                </a:solidFill>
                <a:latin typeface="DejaVu Sans Mono"/>
                <a:ea typeface="DejaVu Sans Mono"/>
                <a:cs typeface="DejaVu Sans Mono"/>
              </a:rPr>
              <a:t>    @abstractmethod</a:t>
            </a:r>
          </a:p>
          <a:p xmlns:a="http://schemas.openxmlformats.org/drawingml/2006/main">
            <a:pPr>
              <a:lnSpc>
                <a:spcPct val="105000"/>
              </a:lnSpc>
              <a:buNone/>
              <a:defRPr sz="1413" b="0">
                <a:solidFill>
                  <a:srgbClr val="172F3C"/>
                </a:solidFill>
                <a:latin typeface="DejaVu Sans Mono"/>
                <a:ea typeface="DejaVu Sans Mono"/>
                <a:cs typeface="DejaVu Sans Mono"/>
              </a:defRPr>
            </a:pPr>
            <a:r>
              <a:rPr sz="1413" b="0">
                <a:solidFill>
                  <a:srgbClr val="172F3C"/>
                </a:solidFill>
                <a:latin typeface="DejaVu Sans Mono"/>
                <a:ea typeface="DejaVu Sans Mono"/>
                <a:cs typeface="DejaVu Sans Mono"/>
              </a:rPr>
              <a:t>    def update(self):</a:t>
            </a:r>
          </a:p>
          <a:p xmlns:a="http://schemas.openxmlformats.org/drawingml/2006/main">
            <a:pPr>
              <a:lnSpc>
                <a:spcPct val="105000"/>
              </a:lnSpc>
              <a:buNone/>
              <a:defRPr sz="1413" b="0">
                <a:solidFill>
                  <a:srgbClr val="172F3C"/>
                </a:solidFill>
                <a:latin typeface="DejaVu Sans Mono"/>
                <a:ea typeface="DejaVu Sans Mono"/>
                <a:cs typeface="DejaVu Sans Mono"/>
              </a:defRPr>
            </a:pPr>
            <a:r>
              <a:rPr sz="1413" b="0">
                <a:solidFill>
                  <a:srgbClr val="172F3C"/>
                </a:solidFill>
                <a:latin typeface="DejaVu Sans Mono"/>
                <a:ea typeface="DejaVu Sans Mono"/>
                <a:cs typeface="DejaVu Sans Mono"/>
              </a:rPr>
              <a:t>        pass</a:t>
            </a:r>
          </a:p>
        </p:txBody>
      </p:sp>
      <p:sp>
        <p:nvSpPr>
          <p:cNvPr id="11" name="enlace-fuente">
            <a:extLst xmlns:a="http://schemas.openxmlformats.org/drawingml/2006/main">
              <a:ext uri="{FF2B5EF4-FFF2-40B4-BE49-F238E27FC236}">
                <a16:creationId xmlns:a16="http://schemas.microsoft.com/office/drawing/2014/main" id="{EB70EAF1-E2F2-49EA-BA56-0DA66D7E91CE}"/>
              </a:ext>
            </a:extLst>
          </p:cNvPr>
          <p:cNvSpPr>
            <a:spLocks xmlns:a="http://schemas.openxmlformats.org/drawingml/2006/main" noGrp="1"/>
          </p:cNvSpPr>
          <p:nvPr/>
        </p:nvSpPr>
        <p:spPr>
          <a:xfrm xmlns:a="http://schemas.openxmlformats.org/drawingml/2006/main">
            <a:off x="3810000" y="6457950"/>
            <a:ext cx="7762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526773"/>
                </a:solidFill>
                <a:latin typeface="DejaVu Sans"/>
                <a:ea typeface="DejaVu Sans"/>
                <a:cs typeface="DejaVu Sans"/>
              </a:defRPr>
            </a:defPPr>
          </a:lstStyle>
          <a:p xmlns:a="http://schemas.openxmlformats.org/drawingml/2006/main">
            <a:pPr>
              <a:lnSpc>
                <a:spcPct val="105000"/>
              </a:lnSpc>
              <a:buNone/>
              <a:defRPr sz="975" b="0">
                <a:solidFill>
                  <a:srgbClr val="526773"/>
                </a:solidFill>
                <a:latin typeface="DejaVu Sans"/>
                <a:ea typeface="DejaVu Sans"/>
                <a:cs typeface="DejaVu Sans"/>
              </a:defRPr>
            </a:pPr>
            <a:r>
              <a:rPr sz="975" b="0">
                <a:solidFill>
                  <a:srgbClr val="526773"/>
                </a:solidFill>
                <a:latin typeface="DejaVu Sans"/>
                <a:ea typeface="DejaVu Sans"/>
                <a:cs typeface="DejaVu Sans"/>
                <a:hlinkClick xmlns:r="http://schemas.openxmlformats.org/officeDocument/2006/relationships" r:id="Rd6de3c7f547843aa"/>
              </a:rPr>
              <a:t>src/personajes.py, clase desde línea 39</a:t>
            </a:r>
          </a:p>
        </p:txBody>
      </p:sp>
      <p:sp>
        <p:nvSpPr>
          <p:cNvPr id="12" name="enlace-recorte">
            <a:extLst xmlns:a="http://schemas.openxmlformats.org/drawingml/2006/main">
              <a:ext uri="{FF2B5EF4-FFF2-40B4-BE49-F238E27FC236}">
                <a16:creationId xmlns:a16="http://schemas.microsoft.com/office/drawing/2014/main" id="{58003179-A8F5-48C6-A9CD-8F04E49B23E8}"/>
              </a:ext>
            </a:extLst>
          </p:cNvPr>
          <p:cNvSpPr>
            <a:spLocks xmlns:a="http://schemas.openxmlformats.org/drawingml/2006/main" noGrp="1"/>
          </p:cNvSpPr>
          <p:nvPr/>
        </p:nvSpPr>
        <p:spPr>
          <a:xfrm xmlns:a="http://schemas.openxmlformats.org/drawingml/2006/main">
            <a:off x="609600" y="6457950"/>
            <a:ext cx="285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16735D"/>
                </a:solidFill>
                <a:latin typeface="DejaVu Sans"/>
                <a:ea typeface="DejaVu Sans"/>
                <a:cs typeface="DejaVu Sans"/>
              </a:defRPr>
            </a:defPPr>
          </a:lstStyle>
          <a:p xmlns:a="http://schemas.openxmlformats.org/drawingml/2006/main">
            <a:pPr>
              <a:lnSpc>
                <a:spcPct val="105000"/>
              </a:lnSpc>
              <a:buNone/>
              <a:defRPr sz="975" b="0">
                <a:solidFill>
                  <a:srgbClr val="16735D"/>
                </a:solidFill>
                <a:latin typeface="DejaVu Sans"/>
                <a:ea typeface="DejaVu Sans"/>
                <a:cs typeface="DejaVu Sans"/>
              </a:defRPr>
            </a:pPr>
            <a:r>
              <a:rPr sz="975" b="0">
                <a:solidFill>
                  <a:srgbClr val="16735D"/>
                </a:solidFill>
                <a:latin typeface="DejaVu Sans"/>
                <a:ea typeface="DejaVu Sans"/>
                <a:cs typeface="DejaVu Sans"/>
                <a:hlinkClick xmlns:r="http://schemas.openxmlformats.org/officeDocument/2006/relationships" r:id="R56b624b99f144bb3"/>
              </a:rPr>
              <a:t>Abrir recorte en tamaño original</a:t>
            </a:r>
          </a:p>
        </p:txBody>
      </p:sp>
    </p:spTree>
    <p:extLst>
      <p:ext uri="{BB962C8B-B14F-4D97-AF65-F5344CB8AC3E}">
        <p14:creationId xmlns:p14="http://schemas.microsoft.com/office/powerpoint/2010/main" val="39077878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partado-clase">
            <a:extLst xmlns:a="http://schemas.openxmlformats.org/drawingml/2006/main">
              <a:ext uri="{FF2B5EF4-FFF2-40B4-BE49-F238E27FC236}">
                <a16:creationId xmlns:a16="http://schemas.microsoft.com/office/drawing/2014/main" id="{B6AEC478-8598-4D44-A75E-273FDD0B331A}"/>
              </a:ext>
            </a:extLst>
          </p:cNvPr>
          <p:cNvSpPr>
            <a:spLocks xmlns:a="http://schemas.openxmlformats.org/drawingml/2006/main" noGrp="1"/>
          </p:cNvSpPr>
          <p:nvPr/>
        </p:nvSpPr>
        <p:spPr>
          <a:xfrm xmlns:a="http://schemas.openxmlformats.org/drawingml/2006/main">
            <a:off x="60960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lnSpc>
                <a:spcPct val="105000"/>
              </a:lnSpc>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Punto 7 de 7. VIII. Anexos. Clase 12 de 25</a:t>
            </a:r>
          </a:p>
        </p:txBody>
      </p:sp>
      <p:sp>
        <p:nvSpPr>
          <p:cNvPr id="2" name="titulo-clase">
            <a:extLst xmlns:a="http://schemas.openxmlformats.org/drawingml/2006/main">
              <a:ext uri="{FF2B5EF4-FFF2-40B4-BE49-F238E27FC236}">
                <a16:creationId xmlns:a16="http://schemas.microsoft.com/office/drawing/2014/main" id="{4256D3C2-AF55-46E1-AF44-0DAEC88FCD57}"/>
              </a:ext>
            </a:extLst>
          </p:cNvPr>
          <p:cNvSpPr>
            <a:spLocks xmlns:a="http://schemas.openxmlformats.org/drawingml/2006/main" noGrp="1"/>
          </p:cNvSpPr>
          <p:nvPr/>
        </p:nvSpPr>
        <p:spPr>
          <a:xfrm xmlns:a="http://schemas.openxmlformats.org/drawingml/2006/main">
            <a:off x="609600" y="69532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F3C"/>
                </a:solidFill>
                <a:latin typeface="DejaVu Sans"/>
                <a:ea typeface="DejaVu Sans"/>
                <a:cs typeface="DejaVu Sans"/>
              </a:defRPr>
            </a:defPPr>
          </a:lstStyle>
          <a:p xmlns:a="http://schemas.openxmlformats.org/drawingml/2006/main">
            <a:pPr>
              <a:lnSpc>
                <a:spcPct val="105000"/>
              </a:lnSpc>
              <a:buNone/>
              <a:defRPr sz="3300" b="1">
                <a:solidFill>
                  <a:srgbClr val="172F3C"/>
                </a:solidFill>
                <a:latin typeface="DejaVu Sans"/>
                <a:ea typeface="DejaVu Sans"/>
                <a:cs typeface="DejaVu Sans"/>
              </a:defRPr>
            </a:pPr>
            <a:r>
              <a:rPr sz="3300" b="1">
                <a:solidFill>
                  <a:srgbClr val="172F3C"/>
                </a:solidFill>
                <a:latin typeface="DejaVu Sans"/>
                <a:ea typeface="DejaVu Sans"/>
                <a:cs typeface="DejaVu Sans"/>
              </a:rPr>
              <a:t>Prisionero</a:t>
            </a:r>
          </a:p>
        </p:txBody>
      </p:sp>
      <p:sp>
        <p:nvSpPr>
          <p:cNvPr id="3" name="etiqueta-uml">
            <a:extLst xmlns:a="http://schemas.openxmlformats.org/drawingml/2006/main">
              <a:ext uri="{FF2B5EF4-FFF2-40B4-BE49-F238E27FC236}">
                <a16:creationId xmlns:a16="http://schemas.microsoft.com/office/drawing/2014/main" id="{5E72B958-A96D-47A0-A60E-7BD041099846}"/>
              </a:ext>
            </a:extLst>
          </p:cNvPr>
          <p:cNvSpPr>
            <a:spLocks xmlns:a="http://schemas.openxmlformats.org/drawingml/2006/main" noGrp="1"/>
          </p:cNvSpPr>
          <p:nvPr/>
        </p:nvSpPr>
        <p:spPr>
          <a:xfrm xmlns:a="http://schemas.openxmlformats.org/drawingml/2006/main">
            <a:off x="609600" y="1495425"/>
            <a:ext cx="2809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UML: recorte original</a:t>
            </a:r>
          </a:p>
        </p:txBody>
      </p:sp>
      <p:pic>
        <p:nvPicPr>
          <p:cNvPr id="4" name="">
            <a:extLst xmlns:a="http://schemas.openxmlformats.org/drawingml/2006/main">
              <a:ext uri="{FF2B5EF4-FFF2-40B4-BE49-F238E27FC236}">
                <a16:creationId xmlns:a16="http://schemas.microsoft.com/office/drawing/2014/main" id="{6D582025-97CC-4564-A4B2-1B95C4928BAF}"/>
              </a:ext>
            </a:extLst>
          </p:cNvPr>
          <p:cNvPicPr>
            <a:picLocks xmlns:a="http://schemas.openxmlformats.org/drawingml/2006/main" noChangeAspect="1"/>
          </p:cNvPicPr>
          <p:nvPr/>
        </p:nvPicPr>
        <p:blipFill>
          <a:blip xmlns:r="http://schemas.openxmlformats.org/officeDocument/2006/relationships" xmlns:a="http://schemas.openxmlformats.org/drawingml/2006/main" r:embed="Rf855a4b419234091"/>
          <a:stretch xmlns:a="http://schemas.openxmlformats.org/drawingml/2006/main"/>
        </p:blipFill>
        <p:spPr>
          <a:xfrm xmlns:a="http://schemas.openxmlformats.org/drawingml/2006/main">
            <a:off x="609600" y="2487699"/>
            <a:ext cx="2762250" cy="3139901"/>
          </a:xfrm>
          <a:prstGeom xmlns:a="http://schemas.openxmlformats.org/drawingml/2006/main" prst="rect">
            <a:avLst/>
          </a:prstGeom>
        </p:spPr>
      </p:pic>
      <p:sp>
        <p:nvSpPr>
          <p:cNvPr id="5" name="funcion-clase">
            <a:extLst xmlns:a="http://schemas.openxmlformats.org/drawingml/2006/main">
              <a:ext uri="{FF2B5EF4-FFF2-40B4-BE49-F238E27FC236}">
                <a16:creationId xmlns:a16="http://schemas.microsoft.com/office/drawing/2014/main" id="{ADAECD59-9809-4737-9C67-F099D0E63488}"/>
              </a:ext>
            </a:extLst>
          </p:cNvPr>
          <p:cNvSpPr>
            <a:spLocks xmlns:a="http://schemas.openxmlformats.org/drawingml/2006/main" noGrp="1"/>
          </p:cNvSpPr>
          <p:nvPr/>
        </p:nvSpPr>
        <p:spPr>
          <a:xfrm xmlns:a="http://schemas.openxmlformats.org/drawingml/2006/main">
            <a:off x="3810000" y="1419225"/>
            <a:ext cx="7762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F3C"/>
                </a:solidFill>
                <a:latin typeface="DejaVu Sans"/>
                <a:ea typeface="DejaVu Sans"/>
                <a:cs typeface="DejaVu Sans"/>
              </a:defRPr>
            </a:defPPr>
          </a:lstStyle>
          <a:p xmlns:a="http://schemas.openxmlformats.org/drawingml/2006/main">
            <a:pPr>
              <a:lnSpc>
                <a:spcPct val="105000"/>
              </a:lnSpc>
              <a:buNone/>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Es el personaje controlado por el jugador y el origen del ruido de pasos.</a:t>
            </a:r>
          </a:p>
        </p:txBody>
      </p:sp>
      <p:sp>
        <p:nvSpPr>
          <p:cNvPr id="6" name="poo-0">
            <a:extLst xmlns:a="http://schemas.openxmlformats.org/drawingml/2006/main">
              <a:ext uri="{FF2B5EF4-FFF2-40B4-BE49-F238E27FC236}">
                <a16:creationId xmlns:a16="http://schemas.microsoft.com/office/drawing/2014/main" id="{2E074BF5-FD28-4714-9CB6-597AFD56401A}"/>
              </a:ext>
            </a:extLst>
          </p:cNvPr>
          <p:cNvSpPr>
            <a:spLocks xmlns:a="http://schemas.openxmlformats.org/drawingml/2006/main" noGrp="1"/>
          </p:cNvSpPr>
          <p:nvPr/>
        </p:nvSpPr>
        <p:spPr>
          <a:xfrm xmlns:a="http://schemas.openxmlformats.org/drawingml/2006/main">
            <a:off x="3810000" y="21717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Herencia y polimorfismo: implementa update de Personaje.</a:t>
            </a:r>
          </a:p>
        </p:txBody>
      </p:sp>
      <p:sp>
        <p:nvSpPr>
          <p:cNvPr id="7" name="poo-1">
            <a:extLst xmlns:a="http://schemas.openxmlformats.org/drawingml/2006/main">
              <a:ext uri="{FF2B5EF4-FFF2-40B4-BE49-F238E27FC236}">
                <a16:creationId xmlns:a16="http://schemas.microsoft.com/office/drawing/2014/main" id="{E48B9882-23EB-4635-93D7-596FCB09DFB4}"/>
              </a:ext>
            </a:extLst>
          </p:cNvPr>
          <p:cNvSpPr>
            <a:spLocks xmlns:a="http://schemas.openxmlformats.org/drawingml/2006/main" noGrp="1"/>
          </p:cNvSpPr>
          <p:nvPr/>
        </p:nvSpPr>
        <p:spPr>
          <a:xfrm xmlns:a="http://schemas.openxmlformats.org/drawingml/2006/main">
            <a:off x="3810000" y="25146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Composición: crea su HabilidadCarrera.</a:t>
            </a:r>
          </a:p>
        </p:txBody>
      </p:sp>
      <p:sp>
        <p:nvSpPr>
          <p:cNvPr id="8" name="poo-2">
            <a:extLst xmlns:a="http://schemas.openxmlformats.org/drawingml/2006/main">
              <a:ext uri="{FF2B5EF4-FFF2-40B4-BE49-F238E27FC236}">
                <a16:creationId xmlns:a16="http://schemas.microsoft.com/office/drawing/2014/main" id="{6636A55B-2D3B-41E1-8B7B-4B39DF143EC8}"/>
              </a:ext>
            </a:extLst>
          </p:cNvPr>
          <p:cNvSpPr>
            <a:spLocks xmlns:a="http://schemas.openxmlformats.org/drawingml/2006/main" noGrp="1"/>
          </p:cNvSpPr>
          <p:nvPr/>
        </p:nvSpPr>
        <p:spPr>
          <a:xfrm xmlns:a="http://schemas.openxmlformats.org/drawingml/2006/main">
            <a:off x="3810000" y="28575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Encapsulamiento: controla _tiene_llave con métodos.</a:t>
            </a:r>
          </a:p>
        </p:txBody>
      </p:sp>
      <p:sp>
        <p:nvSpPr>
          <p:cNvPr id="9" name="etiqueta-codigo">
            <a:extLst xmlns:a="http://schemas.openxmlformats.org/drawingml/2006/main">
              <a:ext uri="{FF2B5EF4-FFF2-40B4-BE49-F238E27FC236}">
                <a16:creationId xmlns:a16="http://schemas.microsoft.com/office/drawing/2014/main" id="{CD03E70A-8B2C-453F-9389-46DD8FC348AC}"/>
              </a:ext>
            </a:extLst>
          </p:cNvPr>
          <p:cNvSpPr>
            <a:spLocks xmlns:a="http://schemas.openxmlformats.org/drawingml/2006/main" noGrp="1"/>
          </p:cNvSpPr>
          <p:nvPr/>
        </p:nvSpPr>
        <p:spPr>
          <a:xfrm xmlns:a="http://schemas.openxmlformats.org/drawingml/2006/main">
            <a:off x="3810000" y="3162300"/>
            <a:ext cx="7762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Código del proyecto (fragmento)</a:t>
            </a:r>
          </a:p>
        </p:txBody>
      </p:sp>
      <p:sp>
        <p:nvSpPr>
          <p:cNvPr id="10" name="fragmento-codigo">
            <a:extLst xmlns:a="http://schemas.openxmlformats.org/drawingml/2006/main">
              <a:ext uri="{FF2B5EF4-FFF2-40B4-BE49-F238E27FC236}">
                <a16:creationId xmlns:a16="http://schemas.microsoft.com/office/drawing/2014/main" id="{F3D43D5A-BF6A-43E9-A0E4-0611D50F20AE}"/>
              </a:ext>
            </a:extLst>
          </p:cNvPr>
          <p:cNvSpPr>
            <a:spLocks xmlns:a="http://schemas.openxmlformats.org/drawingml/2006/main" noGrp="1"/>
          </p:cNvSpPr>
          <p:nvPr/>
        </p:nvSpPr>
        <p:spPr>
          <a:xfrm xmlns:a="http://schemas.openxmlformats.org/drawingml/2006/main">
            <a:off x="3810000" y="3486150"/>
            <a:ext cx="7762875"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172F3C"/>
                </a:solidFill>
                <a:latin typeface="DejaVu Sans Mono"/>
                <a:ea typeface="DejaVu Sans Mono"/>
                <a:cs typeface="DejaVu Sans Mono"/>
              </a:defRPr>
            </a:defPPr>
          </a:lstStyle>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class Prisionero(Personaje):</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__init__(self, nivel, x, y):</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super().__init__(nivel, x, y, 145)</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self.carrera = HabilidadCarrera()</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tiene_llave(self):</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return self._tiene_llave</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recoger_llave(self):</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self._tiene_llave = True</a:t>
            </a:r>
          </a:p>
        </p:txBody>
      </p:sp>
      <p:sp>
        <p:nvSpPr>
          <p:cNvPr id="11" name="enlace-fuente">
            <a:extLst xmlns:a="http://schemas.openxmlformats.org/drawingml/2006/main">
              <a:ext uri="{FF2B5EF4-FFF2-40B4-BE49-F238E27FC236}">
                <a16:creationId xmlns:a16="http://schemas.microsoft.com/office/drawing/2014/main" id="{29FA3089-42C3-4E8E-9CB4-1BAF6FEC96BA}"/>
              </a:ext>
            </a:extLst>
          </p:cNvPr>
          <p:cNvSpPr>
            <a:spLocks xmlns:a="http://schemas.openxmlformats.org/drawingml/2006/main" noGrp="1"/>
          </p:cNvSpPr>
          <p:nvPr/>
        </p:nvSpPr>
        <p:spPr>
          <a:xfrm xmlns:a="http://schemas.openxmlformats.org/drawingml/2006/main">
            <a:off x="3810000" y="6457950"/>
            <a:ext cx="7762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526773"/>
                </a:solidFill>
                <a:latin typeface="DejaVu Sans"/>
                <a:ea typeface="DejaVu Sans"/>
                <a:cs typeface="DejaVu Sans"/>
              </a:defRPr>
            </a:defPPr>
          </a:lstStyle>
          <a:p xmlns:a="http://schemas.openxmlformats.org/drawingml/2006/main">
            <a:pPr>
              <a:lnSpc>
                <a:spcPct val="105000"/>
              </a:lnSpc>
              <a:buNone/>
              <a:defRPr sz="975" b="0">
                <a:solidFill>
                  <a:srgbClr val="526773"/>
                </a:solidFill>
                <a:latin typeface="DejaVu Sans"/>
                <a:ea typeface="DejaVu Sans"/>
                <a:cs typeface="DejaVu Sans"/>
              </a:defRPr>
            </a:pPr>
            <a:r>
              <a:rPr sz="975" b="0">
                <a:solidFill>
                  <a:srgbClr val="526773"/>
                </a:solidFill>
                <a:latin typeface="DejaVu Sans"/>
                <a:ea typeface="DejaVu Sans"/>
                <a:cs typeface="DejaVu Sans"/>
                <a:hlinkClick xmlns:r="http://schemas.openxmlformats.org/officeDocument/2006/relationships" r:id="R9978591a25e34fa1"/>
              </a:rPr>
              <a:t>src/personajes.py, clase desde línea 58</a:t>
            </a:r>
          </a:p>
        </p:txBody>
      </p:sp>
      <p:sp>
        <p:nvSpPr>
          <p:cNvPr id="12" name="enlace-recorte">
            <a:extLst xmlns:a="http://schemas.openxmlformats.org/drawingml/2006/main">
              <a:ext uri="{FF2B5EF4-FFF2-40B4-BE49-F238E27FC236}">
                <a16:creationId xmlns:a16="http://schemas.microsoft.com/office/drawing/2014/main" id="{5C0DABCD-93BC-44B6-9DD3-997B3DF22AD0}"/>
              </a:ext>
            </a:extLst>
          </p:cNvPr>
          <p:cNvSpPr>
            <a:spLocks xmlns:a="http://schemas.openxmlformats.org/drawingml/2006/main" noGrp="1"/>
          </p:cNvSpPr>
          <p:nvPr/>
        </p:nvSpPr>
        <p:spPr>
          <a:xfrm xmlns:a="http://schemas.openxmlformats.org/drawingml/2006/main">
            <a:off x="609600" y="6457950"/>
            <a:ext cx="285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16735D"/>
                </a:solidFill>
                <a:latin typeface="DejaVu Sans"/>
                <a:ea typeface="DejaVu Sans"/>
                <a:cs typeface="DejaVu Sans"/>
              </a:defRPr>
            </a:defPPr>
          </a:lstStyle>
          <a:p xmlns:a="http://schemas.openxmlformats.org/drawingml/2006/main">
            <a:pPr>
              <a:lnSpc>
                <a:spcPct val="105000"/>
              </a:lnSpc>
              <a:buNone/>
              <a:defRPr sz="975" b="0">
                <a:solidFill>
                  <a:srgbClr val="16735D"/>
                </a:solidFill>
                <a:latin typeface="DejaVu Sans"/>
                <a:ea typeface="DejaVu Sans"/>
                <a:cs typeface="DejaVu Sans"/>
              </a:defRPr>
            </a:pPr>
            <a:r>
              <a:rPr sz="975" b="0">
                <a:solidFill>
                  <a:srgbClr val="16735D"/>
                </a:solidFill>
                <a:latin typeface="DejaVu Sans"/>
                <a:ea typeface="DejaVu Sans"/>
                <a:cs typeface="DejaVu Sans"/>
                <a:hlinkClick xmlns:r="http://schemas.openxmlformats.org/officeDocument/2006/relationships" r:id="Reced866d83d7435c"/>
              </a:rPr>
              <a:t>Abrir recorte en tamaño original</a:t>
            </a:r>
          </a:p>
        </p:txBody>
      </p:sp>
    </p:spTree>
    <p:extLst>
      <p:ext uri="{BB962C8B-B14F-4D97-AF65-F5344CB8AC3E}">
        <p14:creationId xmlns:p14="http://schemas.microsoft.com/office/powerpoint/2010/main" val="97689877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partado-clase">
            <a:extLst xmlns:a="http://schemas.openxmlformats.org/drawingml/2006/main">
              <a:ext uri="{FF2B5EF4-FFF2-40B4-BE49-F238E27FC236}">
                <a16:creationId xmlns:a16="http://schemas.microsoft.com/office/drawing/2014/main" id="{FC49B971-4FDB-4090-B0BD-CA5548DAC8D5}"/>
              </a:ext>
            </a:extLst>
          </p:cNvPr>
          <p:cNvSpPr>
            <a:spLocks xmlns:a="http://schemas.openxmlformats.org/drawingml/2006/main" noGrp="1"/>
          </p:cNvSpPr>
          <p:nvPr/>
        </p:nvSpPr>
        <p:spPr>
          <a:xfrm xmlns:a="http://schemas.openxmlformats.org/drawingml/2006/main">
            <a:off x="60960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lnSpc>
                <a:spcPct val="105000"/>
              </a:lnSpc>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Punto 7 de 7. VIII. Anexos. Clase 13 de 25</a:t>
            </a:r>
          </a:p>
        </p:txBody>
      </p:sp>
      <p:sp>
        <p:nvSpPr>
          <p:cNvPr id="2" name="titulo-clase">
            <a:extLst xmlns:a="http://schemas.openxmlformats.org/drawingml/2006/main">
              <a:ext uri="{FF2B5EF4-FFF2-40B4-BE49-F238E27FC236}">
                <a16:creationId xmlns:a16="http://schemas.microsoft.com/office/drawing/2014/main" id="{6D420496-2B8A-46EB-9462-A405572A1B70}"/>
              </a:ext>
            </a:extLst>
          </p:cNvPr>
          <p:cNvSpPr>
            <a:spLocks xmlns:a="http://schemas.openxmlformats.org/drawingml/2006/main" noGrp="1"/>
          </p:cNvSpPr>
          <p:nvPr/>
        </p:nvSpPr>
        <p:spPr>
          <a:xfrm xmlns:a="http://schemas.openxmlformats.org/drawingml/2006/main">
            <a:off x="609600" y="69532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F3C"/>
                </a:solidFill>
                <a:latin typeface="DejaVu Sans"/>
                <a:ea typeface="DejaVu Sans"/>
                <a:cs typeface="DejaVu Sans"/>
              </a:defRPr>
            </a:defPPr>
          </a:lstStyle>
          <a:p xmlns:a="http://schemas.openxmlformats.org/drawingml/2006/main">
            <a:pPr>
              <a:lnSpc>
                <a:spcPct val="105000"/>
              </a:lnSpc>
              <a:buNone/>
              <a:defRPr sz="3300" b="1">
                <a:solidFill>
                  <a:srgbClr val="172F3C"/>
                </a:solidFill>
                <a:latin typeface="DejaVu Sans"/>
                <a:ea typeface="DejaVu Sans"/>
                <a:cs typeface="DejaVu Sans"/>
              </a:defRPr>
            </a:pPr>
            <a:r>
              <a:rPr sz="3300" b="1">
                <a:solidFill>
                  <a:srgbClr val="172F3C"/>
                </a:solidFill>
                <a:latin typeface="DejaVu Sans"/>
                <a:ea typeface="DejaVu Sans"/>
                <a:cs typeface="DejaVu Sans"/>
              </a:rPr>
              <a:t>Guardia</a:t>
            </a:r>
          </a:p>
        </p:txBody>
      </p:sp>
      <p:sp>
        <p:nvSpPr>
          <p:cNvPr id="3" name="etiqueta-uml">
            <a:extLst xmlns:a="http://schemas.openxmlformats.org/drawingml/2006/main">
              <a:ext uri="{FF2B5EF4-FFF2-40B4-BE49-F238E27FC236}">
                <a16:creationId xmlns:a16="http://schemas.microsoft.com/office/drawing/2014/main" id="{D4821087-37CC-4BCF-9022-55441BF4E7FE}"/>
              </a:ext>
            </a:extLst>
          </p:cNvPr>
          <p:cNvSpPr>
            <a:spLocks xmlns:a="http://schemas.openxmlformats.org/drawingml/2006/main" noGrp="1"/>
          </p:cNvSpPr>
          <p:nvPr/>
        </p:nvSpPr>
        <p:spPr>
          <a:xfrm xmlns:a="http://schemas.openxmlformats.org/drawingml/2006/main">
            <a:off x="609600" y="1495425"/>
            <a:ext cx="2809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UML: recorte original</a:t>
            </a:r>
          </a:p>
        </p:txBody>
      </p:sp>
      <p:pic>
        <p:nvPicPr>
          <p:cNvPr id="4" name="">
            <a:extLst xmlns:a="http://schemas.openxmlformats.org/drawingml/2006/main">
              <a:ext uri="{FF2B5EF4-FFF2-40B4-BE49-F238E27FC236}">
                <a16:creationId xmlns:a16="http://schemas.microsoft.com/office/drawing/2014/main" id="{CBC46661-B220-412D-AB63-92892A253E76}"/>
              </a:ext>
            </a:extLst>
          </p:cNvPr>
          <p:cNvPicPr>
            <a:picLocks xmlns:a="http://schemas.openxmlformats.org/drawingml/2006/main" noChangeAspect="1"/>
          </p:cNvPicPr>
          <p:nvPr/>
        </p:nvPicPr>
        <p:blipFill>
          <a:blip xmlns:r="http://schemas.openxmlformats.org/officeDocument/2006/relationships" xmlns:a="http://schemas.openxmlformats.org/drawingml/2006/main" r:embed="R9d2ecb627d5d4974"/>
          <a:stretch xmlns:a="http://schemas.openxmlformats.org/drawingml/2006/main"/>
        </p:blipFill>
        <p:spPr>
          <a:xfrm xmlns:a="http://schemas.openxmlformats.org/drawingml/2006/main">
            <a:off x="796668" y="1866900"/>
            <a:ext cx="2388115" cy="4381500"/>
          </a:xfrm>
          <a:prstGeom xmlns:a="http://schemas.openxmlformats.org/drawingml/2006/main" prst="rect">
            <a:avLst/>
          </a:prstGeom>
        </p:spPr>
      </p:pic>
      <p:sp>
        <p:nvSpPr>
          <p:cNvPr id="5" name="funcion-clase">
            <a:extLst xmlns:a="http://schemas.openxmlformats.org/drawingml/2006/main">
              <a:ext uri="{FF2B5EF4-FFF2-40B4-BE49-F238E27FC236}">
                <a16:creationId xmlns:a16="http://schemas.microsoft.com/office/drawing/2014/main" id="{DB04A6C7-F713-42F7-B0A9-66C338E5F49B}"/>
              </a:ext>
            </a:extLst>
          </p:cNvPr>
          <p:cNvSpPr>
            <a:spLocks xmlns:a="http://schemas.openxmlformats.org/drawingml/2006/main" noGrp="1"/>
          </p:cNvSpPr>
          <p:nvPr/>
        </p:nvSpPr>
        <p:spPr>
          <a:xfrm xmlns:a="http://schemas.openxmlformats.org/drawingml/2006/main">
            <a:off x="3810000" y="1419225"/>
            <a:ext cx="7762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F3C"/>
                </a:solidFill>
                <a:latin typeface="DejaVu Sans"/>
                <a:ea typeface="DejaVu Sans"/>
                <a:cs typeface="DejaVu Sans"/>
              </a:defRPr>
            </a:defPPr>
          </a:lstStyle>
          <a:p xmlns:a="http://schemas.openxmlformats.org/drawingml/2006/main">
            <a:pPr>
              <a:lnSpc>
                <a:spcPct val="105000"/>
              </a:lnSpc>
              <a:buNone/>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Patrulla, escucha ruidos, persigue al jugador y lo captura por contacto.</a:t>
            </a:r>
          </a:p>
        </p:txBody>
      </p:sp>
      <p:sp>
        <p:nvSpPr>
          <p:cNvPr id="6" name="poo-0">
            <a:extLst xmlns:a="http://schemas.openxmlformats.org/drawingml/2006/main">
              <a:ext uri="{FF2B5EF4-FFF2-40B4-BE49-F238E27FC236}">
                <a16:creationId xmlns:a16="http://schemas.microsoft.com/office/drawing/2014/main" id="{A41CA699-AE44-4AB3-A9E7-FED0F4725750}"/>
              </a:ext>
            </a:extLst>
          </p:cNvPr>
          <p:cNvSpPr>
            <a:spLocks xmlns:a="http://schemas.openxmlformats.org/drawingml/2006/main" noGrp="1"/>
          </p:cNvSpPr>
          <p:nvPr/>
        </p:nvSpPr>
        <p:spPr>
          <a:xfrm xmlns:a="http://schemas.openxmlformats.org/drawingml/2006/main">
            <a:off x="3810000" y="21717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Herencia y polimorfismo: implementa update de Personaje.</a:t>
            </a:r>
          </a:p>
        </p:txBody>
      </p:sp>
      <p:sp>
        <p:nvSpPr>
          <p:cNvPr id="7" name="poo-1">
            <a:extLst xmlns:a="http://schemas.openxmlformats.org/drawingml/2006/main">
              <a:ext uri="{FF2B5EF4-FFF2-40B4-BE49-F238E27FC236}">
                <a16:creationId xmlns:a16="http://schemas.microsoft.com/office/drawing/2014/main" id="{05FB3999-EC7F-4A3E-97B1-63B8AD70A43F}"/>
              </a:ext>
            </a:extLst>
          </p:cNvPr>
          <p:cNvSpPr>
            <a:spLocks xmlns:a="http://schemas.openxmlformats.org/drawingml/2006/main" noGrp="1"/>
          </p:cNvSpPr>
          <p:nvPr/>
        </p:nvSpPr>
        <p:spPr>
          <a:xfrm xmlns:a="http://schemas.openxmlformats.org/drawingml/2006/main">
            <a:off x="3810000" y="25146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Encapsulamiento: gestiona _objetivo y _camino.</a:t>
            </a:r>
          </a:p>
        </p:txBody>
      </p:sp>
      <p:sp>
        <p:nvSpPr>
          <p:cNvPr id="8" name="poo-2">
            <a:extLst xmlns:a="http://schemas.openxmlformats.org/drawingml/2006/main">
              <a:ext uri="{FF2B5EF4-FFF2-40B4-BE49-F238E27FC236}">
                <a16:creationId xmlns:a16="http://schemas.microsoft.com/office/drawing/2014/main" id="{A064A6E2-0D22-4B45-B34A-A1436EBAD64A}"/>
              </a:ext>
            </a:extLst>
          </p:cNvPr>
          <p:cNvSpPr>
            <a:spLocks xmlns:a="http://schemas.openxmlformats.org/drawingml/2006/main" noGrp="1"/>
          </p:cNvSpPr>
          <p:nvPr/>
        </p:nvSpPr>
        <p:spPr>
          <a:xfrm xmlns:a="http://schemas.openxmlformats.org/drawingml/2006/main">
            <a:off x="3810000" y="28575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Dependencia: consulta al Prisionero para detectarlo.</a:t>
            </a:r>
          </a:p>
        </p:txBody>
      </p:sp>
      <p:sp>
        <p:nvSpPr>
          <p:cNvPr id="9" name="etiqueta-codigo">
            <a:extLst xmlns:a="http://schemas.openxmlformats.org/drawingml/2006/main">
              <a:ext uri="{FF2B5EF4-FFF2-40B4-BE49-F238E27FC236}">
                <a16:creationId xmlns:a16="http://schemas.microsoft.com/office/drawing/2014/main" id="{F8089F83-9BC3-4464-B5C6-F076103EF1F6}"/>
              </a:ext>
            </a:extLst>
          </p:cNvPr>
          <p:cNvSpPr>
            <a:spLocks xmlns:a="http://schemas.openxmlformats.org/drawingml/2006/main" noGrp="1"/>
          </p:cNvSpPr>
          <p:nvPr/>
        </p:nvSpPr>
        <p:spPr>
          <a:xfrm xmlns:a="http://schemas.openxmlformats.org/drawingml/2006/main">
            <a:off x="3810000" y="3162300"/>
            <a:ext cx="7762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Código del proyecto (fragmento)</a:t>
            </a:r>
          </a:p>
        </p:txBody>
      </p:sp>
      <p:sp>
        <p:nvSpPr>
          <p:cNvPr id="10" name="fragmento-codigo">
            <a:extLst xmlns:a="http://schemas.openxmlformats.org/drawingml/2006/main">
              <a:ext uri="{FF2B5EF4-FFF2-40B4-BE49-F238E27FC236}">
                <a16:creationId xmlns:a16="http://schemas.microsoft.com/office/drawing/2014/main" id="{A964E4AF-429B-4C27-8A70-FC75BE216347}"/>
              </a:ext>
            </a:extLst>
          </p:cNvPr>
          <p:cNvSpPr>
            <a:spLocks xmlns:a="http://schemas.openxmlformats.org/drawingml/2006/main" noGrp="1"/>
          </p:cNvSpPr>
          <p:nvPr/>
        </p:nvSpPr>
        <p:spPr>
          <a:xfrm xmlns:a="http://schemas.openxmlformats.org/drawingml/2006/main">
            <a:off x="3810000" y="3486150"/>
            <a:ext cx="7762875"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172F3C"/>
                </a:solidFill>
                <a:latin typeface="DejaVu Sans Mono"/>
                <a:ea typeface="DejaVu Sans Mono"/>
                <a:cs typeface="DejaVu Sans Mono"/>
              </a:defRPr>
            </a:defPPr>
          </a:lstStyle>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class Guardia(Personaje):</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__init__(self, nivel, ruta):</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self._objetivo = 1</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self._camino = []</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update(self):</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if self.puede_detectar(self.nivel.prisionero):</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self.alertar(self.nivel.prisionero.get_posicion())</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elif self.modo == "PERSIGUE" and self._recuerdo == 0:</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self.modo = "BUSCA"</a:t>
            </a:r>
          </a:p>
        </p:txBody>
      </p:sp>
      <p:sp>
        <p:nvSpPr>
          <p:cNvPr id="11" name="enlace-fuente">
            <a:extLst xmlns:a="http://schemas.openxmlformats.org/drawingml/2006/main">
              <a:ext uri="{FF2B5EF4-FFF2-40B4-BE49-F238E27FC236}">
                <a16:creationId xmlns:a16="http://schemas.microsoft.com/office/drawing/2014/main" id="{318615D7-36E8-47F1-8831-737CAEE42003}"/>
              </a:ext>
            </a:extLst>
          </p:cNvPr>
          <p:cNvSpPr>
            <a:spLocks xmlns:a="http://schemas.openxmlformats.org/drawingml/2006/main" noGrp="1"/>
          </p:cNvSpPr>
          <p:nvPr/>
        </p:nvSpPr>
        <p:spPr>
          <a:xfrm xmlns:a="http://schemas.openxmlformats.org/drawingml/2006/main">
            <a:off x="3810000" y="6457950"/>
            <a:ext cx="7762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526773"/>
                </a:solidFill>
                <a:latin typeface="DejaVu Sans"/>
                <a:ea typeface="DejaVu Sans"/>
                <a:cs typeface="DejaVu Sans"/>
              </a:defRPr>
            </a:defPPr>
          </a:lstStyle>
          <a:p xmlns:a="http://schemas.openxmlformats.org/drawingml/2006/main">
            <a:pPr>
              <a:lnSpc>
                <a:spcPct val="105000"/>
              </a:lnSpc>
              <a:buNone/>
              <a:defRPr sz="975" b="0">
                <a:solidFill>
                  <a:srgbClr val="526773"/>
                </a:solidFill>
                <a:latin typeface="DejaVu Sans"/>
                <a:ea typeface="DejaVu Sans"/>
                <a:cs typeface="DejaVu Sans"/>
              </a:defRPr>
            </a:pPr>
            <a:r>
              <a:rPr sz="975" b="0">
                <a:solidFill>
                  <a:srgbClr val="526773"/>
                </a:solidFill>
                <a:latin typeface="DejaVu Sans"/>
                <a:ea typeface="DejaVu Sans"/>
                <a:cs typeface="DejaVu Sans"/>
                <a:hlinkClick xmlns:r="http://schemas.openxmlformats.org/officeDocument/2006/relationships" r:id="R33c99ca0f5154ddf"/>
              </a:rPr>
              <a:t>src/personajes.py, clase desde línea 97</a:t>
            </a:r>
          </a:p>
        </p:txBody>
      </p:sp>
      <p:sp>
        <p:nvSpPr>
          <p:cNvPr id="12" name="enlace-recorte">
            <a:extLst xmlns:a="http://schemas.openxmlformats.org/drawingml/2006/main">
              <a:ext uri="{FF2B5EF4-FFF2-40B4-BE49-F238E27FC236}">
                <a16:creationId xmlns:a16="http://schemas.microsoft.com/office/drawing/2014/main" id="{03588EE5-CD0F-45A1-97B3-356D5F13E805}"/>
              </a:ext>
            </a:extLst>
          </p:cNvPr>
          <p:cNvSpPr>
            <a:spLocks xmlns:a="http://schemas.openxmlformats.org/drawingml/2006/main" noGrp="1"/>
          </p:cNvSpPr>
          <p:nvPr/>
        </p:nvSpPr>
        <p:spPr>
          <a:xfrm xmlns:a="http://schemas.openxmlformats.org/drawingml/2006/main">
            <a:off x="609600" y="6457950"/>
            <a:ext cx="285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16735D"/>
                </a:solidFill>
                <a:latin typeface="DejaVu Sans"/>
                <a:ea typeface="DejaVu Sans"/>
                <a:cs typeface="DejaVu Sans"/>
              </a:defRPr>
            </a:defPPr>
          </a:lstStyle>
          <a:p xmlns:a="http://schemas.openxmlformats.org/drawingml/2006/main">
            <a:pPr>
              <a:lnSpc>
                <a:spcPct val="105000"/>
              </a:lnSpc>
              <a:buNone/>
              <a:defRPr sz="975" b="0">
                <a:solidFill>
                  <a:srgbClr val="16735D"/>
                </a:solidFill>
                <a:latin typeface="DejaVu Sans"/>
                <a:ea typeface="DejaVu Sans"/>
                <a:cs typeface="DejaVu Sans"/>
              </a:defRPr>
            </a:pPr>
            <a:r>
              <a:rPr sz="975" b="0">
                <a:solidFill>
                  <a:srgbClr val="16735D"/>
                </a:solidFill>
                <a:latin typeface="DejaVu Sans"/>
                <a:ea typeface="DejaVu Sans"/>
                <a:cs typeface="DejaVu Sans"/>
                <a:hlinkClick xmlns:r="http://schemas.openxmlformats.org/officeDocument/2006/relationships" r:id="R091d1df4ab0f4816"/>
              </a:rPr>
              <a:t>Abrir recorte en tamaño original</a:t>
            </a:r>
          </a:p>
        </p:txBody>
      </p:sp>
    </p:spTree>
    <p:extLst>
      <p:ext uri="{BB962C8B-B14F-4D97-AF65-F5344CB8AC3E}">
        <p14:creationId xmlns:p14="http://schemas.microsoft.com/office/powerpoint/2010/main" val="51056061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partado-clase">
            <a:extLst xmlns:a="http://schemas.openxmlformats.org/drawingml/2006/main">
              <a:ext uri="{FF2B5EF4-FFF2-40B4-BE49-F238E27FC236}">
                <a16:creationId xmlns:a16="http://schemas.microsoft.com/office/drawing/2014/main" id="{B583E64F-E701-4D24-A8F6-5B108351211C}"/>
              </a:ext>
            </a:extLst>
          </p:cNvPr>
          <p:cNvSpPr>
            <a:spLocks xmlns:a="http://schemas.openxmlformats.org/drawingml/2006/main" noGrp="1"/>
          </p:cNvSpPr>
          <p:nvPr/>
        </p:nvSpPr>
        <p:spPr>
          <a:xfrm xmlns:a="http://schemas.openxmlformats.org/drawingml/2006/main">
            <a:off x="60960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lnSpc>
                <a:spcPct val="105000"/>
              </a:lnSpc>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Punto 7 de 7. VIII. Anexos. Clase 14 de 25</a:t>
            </a:r>
          </a:p>
        </p:txBody>
      </p:sp>
      <p:sp>
        <p:nvSpPr>
          <p:cNvPr id="2" name="titulo-clase">
            <a:extLst xmlns:a="http://schemas.openxmlformats.org/drawingml/2006/main">
              <a:ext uri="{FF2B5EF4-FFF2-40B4-BE49-F238E27FC236}">
                <a16:creationId xmlns:a16="http://schemas.microsoft.com/office/drawing/2014/main" id="{5FC4B0D1-665B-4D52-ABCB-8FDA4D4B6F3F}"/>
              </a:ext>
            </a:extLst>
          </p:cNvPr>
          <p:cNvSpPr>
            <a:spLocks xmlns:a="http://schemas.openxmlformats.org/drawingml/2006/main" noGrp="1"/>
          </p:cNvSpPr>
          <p:nvPr/>
        </p:nvSpPr>
        <p:spPr>
          <a:xfrm xmlns:a="http://schemas.openxmlformats.org/drawingml/2006/main">
            <a:off x="609600" y="69532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F3C"/>
                </a:solidFill>
                <a:latin typeface="DejaVu Sans"/>
                <a:ea typeface="DejaVu Sans"/>
                <a:cs typeface="DejaVu Sans"/>
              </a:defRPr>
            </a:defPPr>
          </a:lstStyle>
          <a:p xmlns:a="http://schemas.openxmlformats.org/drawingml/2006/main">
            <a:pPr>
              <a:lnSpc>
                <a:spcPct val="105000"/>
              </a:lnSpc>
              <a:buNone/>
              <a:defRPr sz="3300" b="1">
                <a:solidFill>
                  <a:srgbClr val="172F3C"/>
                </a:solidFill>
                <a:latin typeface="DejaVu Sans"/>
                <a:ea typeface="DejaVu Sans"/>
                <a:cs typeface="DejaVu Sans"/>
              </a:defRPr>
            </a:pPr>
            <a:r>
              <a:rPr sz="3300" b="1">
                <a:solidFill>
                  <a:srgbClr val="172F3C"/>
                </a:solidFill>
                <a:latin typeface="DejaVu Sans"/>
                <a:ea typeface="DejaVu Sans"/>
                <a:cs typeface="DejaVu Sans"/>
              </a:rPr>
              <a:t>HabilidadCarrera</a:t>
            </a:r>
          </a:p>
        </p:txBody>
      </p:sp>
      <p:sp>
        <p:nvSpPr>
          <p:cNvPr id="3" name="etiqueta-uml">
            <a:extLst xmlns:a="http://schemas.openxmlformats.org/drawingml/2006/main">
              <a:ext uri="{FF2B5EF4-FFF2-40B4-BE49-F238E27FC236}">
                <a16:creationId xmlns:a16="http://schemas.microsoft.com/office/drawing/2014/main" id="{37881438-0357-4BF7-9907-737705ECD006}"/>
              </a:ext>
            </a:extLst>
          </p:cNvPr>
          <p:cNvSpPr>
            <a:spLocks xmlns:a="http://schemas.openxmlformats.org/drawingml/2006/main" noGrp="1"/>
          </p:cNvSpPr>
          <p:nvPr/>
        </p:nvSpPr>
        <p:spPr>
          <a:xfrm xmlns:a="http://schemas.openxmlformats.org/drawingml/2006/main">
            <a:off x="609600" y="1495425"/>
            <a:ext cx="2809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UML: recorte original</a:t>
            </a:r>
          </a:p>
        </p:txBody>
      </p:sp>
      <p:pic>
        <p:nvPicPr>
          <p:cNvPr id="4" name="">
            <a:extLst xmlns:a="http://schemas.openxmlformats.org/drawingml/2006/main">
              <a:ext uri="{FF2B5EF4-FFF2-40B4-BE49-F238E27FC236}">
                <a16:creationId xmlns:a16="http://schemas.microsoft.com/office/drawing/2014/main" id="{A5C08AD6-FF90-484D-9E48-0E0B2E6CEEF0}"/>
              </a:ext>
            </a:extLst>
          </p:cNvPr>
          <p:cNvPicPr>
            <a:picLocks xmlns:a="http://schemas.openxmlformats.org/drawingml/2006/main" noChangeAspect="1"/>
          </p:cNvPicPr>
          <p:nvPr/>
        </p:nvPicPr>
        <p:blipFill>
          <a:blip xmlns:r="http://schemas.openxmlformats.org/officeDocument/2006/relationships" xmlns:a="http://schemas.openxmlformats.org/drawingml/2006/main" r:embed="Rceffe3d1c80842f1"/>
          <a:stretch xmlns:a="http://schemas.openxmlformats.org/drawingml/2006/main"/>
        </p:blipFill>
        <p:spPr>
          <a:xfrm xmlns:a="http://schemas.openxmlformats.org/drawingml/2006/main">
            <a:off x="609600" y="2839453"/>
            <a:ext cx="2762250" cy="2436395"/>
          </a:xfrm>
          <a:prstGeom xmlns:a="http://schemas.openxmlformats.org/drawingml/2006/main" prst="rect">
            <a:avLst/>
          </a:prstGeom>
        </p:spPr>
      </p:pic>
      <p:sp>
        <p:nvSpPr>
          <p:cNvPr id="5" name="funcion-clase">
            <a:extLst xmlns:a="http://schemas.openxmlformats.org/drawingml/2006/main">
              <a:ext uri="{FF2B5EF4-FFF2-40B4-BE49-F238E27FC236}">
                <a16:creationId xmlns:a16="http://schemas.microsoft.com/office/drawing/2014/main" id="{0A5CB050-A9BD-4BCA-A64E-31AB43A88C08}"/>
              </a:ext>
            </a:extLst>
          </p:cNvPr>
          <p:cNvSpPr>
            <a:spLocks xmlns:a="http://schemas.openxmlformats.org/drawingml/2006/main" noGrp="1"/>
          </p:cNvSpPr>
          <p:nvPr/>
        </p:nvSpPr>
        <p:spPr>
          <a:xfrm xmlns:a="http://schemas.openxmlformats.org/drawingml/2006/main">
            <a:off x="3810000" y="1419225"/>
            <a:ext cx="7762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F3C"/>
                </a:solidFill>
                <a:latin typeface="DejaVu Sans"/>
                <a:ea typeface="DejaVu Sans"/>
                <a:cs typeface="DejaVu Sans"/>
              </a:defRPr>
            </a:defPPr>
          </a:lstStyle>
          <a:p xmlns:a="http://schemas.openxmlformats.org/drawingml/2006/main">
            <a:pPr>
              <a:lnSpc>
                <a:spcPct val="105000"/>
              </a:lnSpc>
              <a:buNone/>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Controla el aumento temporal de velocidad del prisionero.</a:t>
            </a:r>
          </a:p>
        </p:txBody>
      </p:sp>
      <p:sp>
        <p:nvSpPr>
          <p:cNvPr id="6" name="poo-0">
            <a:extLst xmlns:a="http://schemas.openxmlformats.org/drawingml/2006/main">
              <a:ext uri="{FF2B5EF4-FFF2-40B4-BE49-F238E27FC236}">
                <a16:creationId xmlns:a16="http://schemas.microsoft.com/office/drawing/2014/main" id="{EAF1E57E-004A-4F35-85A7-45DCE46FB83D}"/>
              </a:ext>
            </a:extLst>
          </p:cNvPr>
          <p:cNvSpPr>
            <a:spLocks xmlns:a="http://schemas.openxmlformats.org/drawingml/2006/main" noGrp="1"/>
          </p:cNvSpPr>
          <p:nvPr/>
        </p:nvSpPr>
        <p:spPr>
          <a:xfrm xmlns:a="http://schemas.openxmlformats.org/drawingml/2006/main">
            <a:off x="3810000" y="21717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Encapsulamiento: gestiona _duracion y _recarga.</a:t>
            </a:r>
          </a:p>
        </p:txBody>
      </p:sp>
      <p:sp>
        <p:nvSpPr>
          <p:cNvPr id="7" name="poo-1">
            <a:extLst xmlns:a="http://schemas.openxmlformats.org/drawingml/2006/main">
              <a:ext uri="{FF2B5EF4-FFF2-40B4-BE49-F238E27FC236}">
                <a16:creationId xmlns:a16="http://schemas.microsoft.com/office/drawing/2014/main" id="{CCC02275-88D1-4487-8E00-1A85ED579BB0}"/>
              </a:ext>
            </a:extLst>
          </p:cNvPr>
          <p:cNvSpPr>
            <a:spLocks xmlns:a="http://schemas.openxmlformats.org/drawingml/2006/main" noGrp="1"/>
          </p:cNvSpPr>
          <p:nvPr/>
        </p:nvSpPr>
        <p:spPr>
          <a:xfrm xmlns:a="http://schemas.openxmlformats.org/drawingml/2006/main">
            <a:off x="3810000" y="25146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Composición: es creada por cada Prisionero.</a:t>
            </a:r>
          </a:p>
        </p:txBody>
      </p:sp>
      <p:sp>
        <p:nvSpPr>
          <p:cNvPr id="8" name="etiqueta-codigo">
            <a:extLst xmlns:a="http://schemas.openxmlformats.org/drawingml/2006/main">
              <a:ext uri="{FF2B5EF4-FFF2-40B4-BE49-F238E27FC236}">
                <a16:creationId xmlns:a16="http://schemas.microsoft.com/office/drawing/2014/main" id="{2A3D2262-115B-48AC-83E2-987203C6DB98}"/>
              </a:ext>
            </a:extLst>
          </p:cNvPr>
          <p:cNvSpPr>
            <a:spLocks xmlns:a="http://schemas.openxmlformats.org/drawingml/2006/main" noGrp="1"/>
          </p:cNvSpPr>
          <p:nvPr/>
        </p:nvSpPr>
        <p:spPr>
          <a:xfrm xmlns:a="http://schemas.openxmlformats.org/drawingml/2006/main">
            <a:off x="3810000" y="2819400"/>
            <a:ext cx="7762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Código del proyecto (fragmento)</a:t>
            </a:r>
          </a:p>
        </p:txBody>
      </p:sp>
      <p:sp>
        <p:nvSpPr>
          <p:cNvPr id="9" name="fragmento-codigo">
            <a:extLst xmlns:a="http://schemas.openxmlformats.org/drawingml/2006/main">
              <a:ext uri="{FF2B5EF4-FFF2-40B4-BE49-F238E27FC236}">
                <a16:creationId xmlns:a16="http://schemas.microsoft.com/office/drawing/2014/main" id="{1B7263C2-7E56-4161-8914-6C0C99C87BFE}"/>
              </a:ext>
            </a:extLst>
          </p:cNvPr>
          <p:cNvSpPr>
            <a:spLocks xmlns:a="http://schemas.openxmlformats.org/drawingml/2006/main" noGrp="1"/>
          </p:cNvSpPr>
          <p:nvPr/>
        </p:nvSpPr>
        <p:spPr>
          <a:xfrm xmlns:a="http://schemas.openxmlformats.org/drawingml/2006/main">
            <a:off x="3810000" y="3143250"/>
            <a:ext cx="77628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172F3C"/>
                </a:solidFill>
                <a:latin typeface="DejaVu Sans Mono"/>
                <a:ea typeface="DejaVu Sans Mono"/>
                <a:cs typeface="DejaVu Sans Mono"/>
              </a:defRPr>
            </a:defPPr>
          </a:lstStyle>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class HabilidadCarrera:</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activar(self):</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if self._duracion &gt; 0 or self._recarga &gt; 0:</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return False</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self._duracion = 2.0</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return True</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get_multiplicador(self):</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if self._duracion &gt; 0:</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return 1.5</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return 1.0</a:t>
            </a:r>
          </a:p>
        </p:txBody>
      </p:sp>
      <p:sp>
        <p:nvSpPr>
          <p:cNvPr id="10" name="enlace-fuente">
            <a:extLst xmlns:a="http://schemas.openxmlformats.org/drawingml/2006/main">
              <a:ext uri="{FF2B5EF4-FFF2-40B4-BE49-F238E27FC236}">
                <a16:creationId xmlns:a16="http://schemas.microsoft.com/office/drawing/2014/main" id="{11D7D49F-52D0-4DD4-B60A-26E5D32C15E0}"/>
              </a:ext>
            </a:extLst>
          </p:cNvPr>
          <p:cNvSpPr>
            <a:spLocks xmlns:a="http://schemas.openxmlformats.org/drawingml/2006/main" noGrp="1"/>
          </p:cNvSpPr>
          <p:nvPr/>
        </p:nvSpPr>
        <p:spPr>
          <a:xfrm xmlns:a="http://schemas.openxmlformats.org/drawingml/2006/main">
            <a:off x="3810000" y="6457950"/>
            <a:ext cx="7762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526773"/>
                </a:solidFill>
                <a:latin typeface="DejaVu Sans"/>
                <a:ea typeface="DejaVu Sans"/>
                <a:cs typeface="DejaVu Sans"/>
              </a:defRPr>
            </a:defPPr>
          </a:lstStyle>
          <a:p xmlns:a="http://schemas.openxmlformats.org/drawingml/2006/main">
            <a:pPr>
              <a:lnSpc>
                <a:spcPct val="105000"/>
              </a:lnSpc>
              <a:buNone/>
              <a:defRPr sz="975" b="0">
                <a:solidFill>
                  <a:srgbClr val="526773"/>
                </a:solidFill>
                <a:latin typeface="DejaVu Sans"/>
                <a:ea typeface="DejaVu Sans"/>
                <a:cs typeface="DejaVu Sans"/>
              </a:defRPr>
            </a:pPr>
            <a:r>
              <a:rPr sz="975" b="0">
                <a:solidFill>
                  <a:srgbClr val="526773"/>
                </a:solidFill>
                <a:latin typeface="DejaVu Sans"/>
                <a:ea typeface="DejaVu Sans"/>
                <a:cs typeface="DejaVu Sans"/>
                <a:hlinkClick xmlns:r="http://schemas.openxmlformats.org/officeDocument/2006/relationships" r:id="R23abd6fb0a144790"/>
              </a:rPr>
              <a:t>src/personajes.py, clase desde línea 6</a:t>
            </a:r>
          </a:p>
        </p:txBody>
      </p:sp>
      <p:sp>
        <p:nvSpPr>
          <p:cNvPr id="11" name="enlace-recorte">
            <a:extLst xmlns:a="http://schemas.openxmlformats.org/drawingml/2006/main">
              <a:ext uri="{FF2B5EF4-FFF2-40B4-BE49-F238E27FC236}">
                <a16:creationId xmlns:a16="http://schemas.microsoft.com/office/drawing/2014/main" id="{A37B0612-5B62-4831-8EC3-E118B8A27B64}"/>
              </a:ext>
            </a:extLst>
          </p:cNvPr>
          <p:cNvSpPr>
            <a:spLocks xmlns:a="http://schemas.openxmlformats.org/drawingml/2006/main" noGrp="1"/>
          </p:cNvSpPr>
          <p:nvPr/>
        </p:nvSpPr>
        <p:spPr>
          <a:xfrm xmlns:a="http://schemas.openxmlformats.org/drawingml/2006/main">
            <a:off x="609600" y="6457950"/>
            <a:ext cx="285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16735D"/>
                </a:solidFill>
                <a:latin typeface="DejaVu Sans"/>
                <a:ea typeface="DejaVu Sans"/>
                <a:cs typeface="DejaVu Sans"/>
              </a:defRPr>
            </a:defPPr>
          </a:lstStyle>
          <a:p xmlns:a="http://schemas.openxmlformats.org/drawingml/2006/main">
            <a:pPr>
              <a:lnSpc>
                <a:spcPct val="105000"/>
              </a:lnSpc>
              <a:buNone/>
              <a:defRPr sz="975" b="0">
                <a:solidFill>
                  <a:srgbClr val="16735D"/>
                </a:solidFill>
                <a:latin typeface="DejaVu Sans"/>
                <a:ea typeface="DejaVu Sans"/>
                <a:cs typeface="DejaVu Sans"/>
              </a:defRPr>
            </a:pPr>
            <a:r>
              <a:rPr sz="975" b="0">
                <a:solidFill>
                  <a:srgbClr val="16735D"/>
                </a:solidFill>
                <a:latin typeface="DejaVu Sans"/>
                <a:ea typeface="DejaVu Sans"/>
                <a:cs typeface="DejaVu Sans"/>
                <a:hlinkClick xmlns:r="http://schemas.openxmlformats.org/officeDocument/2006/relationships" r:id="R01af2836561a4232"/>
              </a:rPr>
              <a:t>Abrir recorte en tamaño original</a:t>
            </a:r>
          </a:p>
        </p:txBody>
      </p:sp>
    </p:spTree>
    <p:extLst>
      <p:ext uri="{BB962C8B-B14F-4D97-AF65-F5344CB8AC3E}">
        <p14:creationId xmlns:p14="http://schemas.microsoft.com/office/powerpoint/2010/main" val="143293769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partado-clase">
            <a:extLst xmlns:a="http://schemas.openxmlformats.org/drawingml/2006/main">
              <a:ext uri="{FF2B5EF4-FFF2-40B4-BE49-F238E27FC236}">
                <a16:creationId xmlns:a16="http://schemas.microsoft.com/office/drawing/2014/main" id="{37CEED01-0CA6-4FF8-8DEA-4C03069D9CD4}"/>
              </a:ext>
            </a:extLst>
          </p:cNvPr>
          <p:cNvSpPr>
            <a:spLocks xmlns:a="http://schemas.openxmlformats.org/drawingml/2006/main" noGrp="1"/>
          </p:cNvSpPr>
          <p:nvPr/>
        </p:nvSpPr>
        <p:spPr>
          <a:xfrm xmlns:a="http://schemas.openxmlformats.org/drawingml/2006/main">
            <a:off x="60960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lnSpc>
                <a:spcPct val="105000"/>
              </a:lnSpc>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Punto 7 de 7. VIII. Anexos. Clase 15 de 25</a:t>
            </a:r>
          </a:p>
        </p:txBody>
      </p:sp>
      <p:sp>
        <p:nvSpPr>
          <p:cNvPr id="2" name="titulo-clase">
            <a:extLst xmlns:a="http://schemas.openxmlformats.org/drawingml/2006/main">
              <a:ext uri="{FF2B5EF4-FFF2-40B4-BE49-F238E27FC236}">
                <a16:creationId xmlns:a16="http://schemas.microsoft.com/office/drawing/2014/main" id="{D107B94A-7593-456F-BDF3-53DE3DC41DE3}"/>
              </a:ext>
            </a:extLst>
          </p:cNvPr>
          <p:cNvSpPr>
            <a:spLocks xmlns:a="http://schemas.openxmlformats.org/drawingml/2006/main" noGrp="1"/>
          </p:cNvSpPr>
          <p:nvPr/>
        </p:nvSpPr>
        <p:spPr>
          <a:xfrm xmlns:a="http://schemas.openxmlformats.org/drawingml/2006/main">
            <a:off x="609600" y="69532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F3C"/>
                </a:solidFill>
                <a:latin typeface="DejaVu Sans"/>
                <a:ea typeface="DejaVu Sans"/>
                <a:cs typeface="DejaVu Sans"/>
              </a:defRPr>
            </a:defPPr>
          </a:lstStyle>
          <a:p xmlns:a="http://schemas.openxmlformats.org/drawingml/2006/main">
            <a:pPr>
              <a:lnSpc>
                <a:spcPct val="105000"/>
              </a:lnSpc>
              <a:buNone/>
              <a:defRPr sz="3300" b="1">
                <a:solidFill>
                  <a:srgbClr val="172F3C"/>
                </a:solidFill>
                <a:latin typeface="DejaVu Sans"/>
                <a:ea typeface="DejaVu Sans"/>
                <a:cs typeface="DejaVu Sans"/>
              </a:defRPr>
            </a:pPr>
            <a:r>
              <a:rPr sz="3300" b="1">
                <a:solidFill>
                  <a:srgbClr val="172F3C"/>
                </a:solidFill>
                <a:latin typeface="DejaVu Sans"/>
                <a:ea typeface="DejaVu Sans"/>
                <a:cs typeface="DejaVu Sans"/>
              </a:rPr>
              <a:t>SistemaRuido</a:t>
            </a:r>
          </a:p>
        </p:txBody>
      </p:sp>
      <p:sp>
        <p:nvSpPr>
          <p:cNvPr id="3" name="etiqueta-uml">
            <a:extLst xmlns:a="http://schemas.openxmlformats.org/drawingml/2006/main">
              <a:ext uri="{FF2B5EF4-FFF2-40B4-BE49-F238E27FC236}">
                <a16:creationId xmlns:a16="http://schemas.microsoft.com/office/drawing/2014/main" id="{BB8B410A-FF96-4A5C-9005-EBCBCD555B10}"/>
              </a:ext>
            </a:extLst>
          </p:cNvPr>
          <p:cNvSpPr>
            <a:spLocks xmlns:a="http://schemas.openxmlformats.org/drawingml/2006/main" noGrp="1"/>
          </p:cNvSpPr>
          <p:nvPr/>
        </p:nvSpPr>
        <p:spPr>
          <a:xfrm xmlns:a="http://schemas.openxmlformats.org/drawingml/2006/main">
            <a:off x="609600" y="1495425"/>
            <a:ext cx="2809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UML: recorte original</a:t>
            </a:r>
          </a:p>
        </p:txBody>
      </p:sp>
      <p:pic>
        <p:nvPicPr>
          <p:cNvPr id="4" name="">
            <a:extLst xmlns:a="http://schemas.openxmlformats.org/drawingml/2006/main">
              <a:ext uri="{FF2B5EF4-FFF2-40B4-BE49-F238E27FC236}">
                <a16:creationId xmlns:a16="http://schemas.microsoft.com/office/drawing/2014/main" id="{1FA533C4-CF80-455C-AB41-AF7943E44D54}"/>
              </a:ext>
            </a:extLst>
          </p:cNvPr>
          <p:cNvPicPr>
            <a:picLocks xmlns:a="http://schemas.openxmlformats.org/drawingml/2006/main" noChangeAspect="1"/>
          </p:cNvPicPr>
          <p:nvPr/>
        </p:nvPicPr>
        <p:blipFill>
          <a:blip xmlns:r="http://schemas.openxmlformats.org/officeDocument/2006/relationships" xmlns:a="http://schemas.openxmlformats.org/drawingml/2006/main" r:embed="R43e8bef0531249a0"/>
          <a:stretch xmlns:a="http://schemas.openxmlformats.org/drawingml/2006/main"/>
        </p:blipFill>
        <p:spPr>
          <a:xfrm xmlns:a="http://schemas.openxmlformats.org/drawingml/2006/main">
            <a:off x="609600" y="3198577"/>
            <a:ext cx="2762250" cy="1718146"/>
          </a:xfrm>
          <a:prstGeom xmlns:a="http://schemas.openxmlformats.org/drawingml/2006/main" prst="rect">
            <a:avLst/>
          </a:prstGeom>
        </p:spPr>
      </p:pic>
      <p:sp>
        <p:nvSpPr>
          <p:cNvPr id="5" name="funcion-clase">
            <a:extLst xmlns:a="http://schemas.openxmlformats.org/drawingml/2006/main">
              <a:ext uri="{FF2B5EF4-FFF2-40B4-BE49-F238E27FC236}">
                <a16:creationId xmlns:a16="http://schemas.microsoft.com/office/drawing/2014/main" id="{9E1C8610-D17D-4E95-A2B8-19A231EBB100}"/>
              </a:ext>
            </a:extLst>
          </p:cNvPr>
          <p:cNvSpPr>
            <a:spLocks xmlns:a="http://schemas.openxmlformats.org/drawingml/2006/main" noGrp="1"/>
          </p:cNvSpPr>
          <p:nvPr/>
        </p:nvSpPr>
        <p:spPr>
          <a:xfrm xmlns:a="http://schemas.openxmlformats.org/drawingml/2006/main">
            <a:off x="3810000" y="1419225"/>
            <a:ext cx="7762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F3C"/>
                </a:solidFill>
                <a:latin typeface="DejaVu Sans"/>
                <a:ea typeface="DejaVu Sans"/>
                <a:cs typeface="DejaVu Sans"/>
              </a:defRPr>
            </a:defPPr>
          </a:lstStyle>
          <a:p xmlns:a="http://schemas.openxmlformats.org/drawingml/2006/main">
            <a:pPr>
              <a:lnSpc>
                <a:spcPct val="105000"/>
              </a:lnSpc>
              <a:buNone/>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Emite los ruidos de pasos y avisa a los guardias que pueden escucharlos.</a:t>
            </a:r>
          </a:p>
        </p:txBody>
      </p:sp>
      <p:sp>
        <p:nvSpPr>
          <p:cNvPr id="6" name="poo-0">
            <a:extLst xmlns:a="http://schemas.openxmlformats.org/drawingml/2006/main">
              <a:ext uri="{FF2B5EF4-FFF2-40B4-BE49-F238E27FC236}">
                <a16:creationId xmlns:a16="http://schemas.microsoft.com/office/drawing/2014/main" id="{B6C430AD-A522-4BAF-AEC2-F5D2AE548146}"/>
              </a:ext>
            </a:extLst>
          </p:cNvPr>
          <p:cNvSpPr>
            <a:spLocks xmlns:a="http://schemas.openxmlformats.org/drawingml/2006/main" noGrp="1"/>
          </p:cNvSpPr>
          <p:nvPr/>
        </p:nvSpPr>
        <p:spPr>
          <a:xfrm xmlns:a="http://schemas.openxmlformats.org/drawingml/2006/main">
            <a:off x="3810000" y="21717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Asociación: conserva el Mapa recibido.</a:t>
            </a:r>
          </a:p>
        </p:txBody>
      </p:sp>
      <p:sp>
        <p:nvSpPr>
          <p:cNvPr id="7" name="poo-1">
            <a:extLst xmlns:a="http://schemas.openxmlformats.org/drawingml/2006/main">
              <a:ext uri="{FF2B5EF4-FFF2-40B4-BE49-F238E27FC236}">
                <a16:creationId xmlns:a16="http://schemas.microsoft.com/office/drawing/2014/main" id="{3101AFC6-8CB4-426F-94C4-82C0FF11F93A}"/>
              </a:ext>
            </a:extLst>
          </p:cNvPr>
          <p:cNvSpPr>
            <a:spLocks xmlns:a="http://schemas.openxmlformats.org/drawingml/2006/main" noGrp="1"/>
          </p:cNvSpPr>
          <p:nvPr/>
        </p:nvSpPr>
        <p:spPr>
          <a:xfrm xmlns:a="http://schemas.openxmlformats.org/drawingml/2006/main">
            <a:off x="3810000" y="25146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Agregación: registra guardias creados por Nivel.</a:t>
            </a:r>
          </a:p>
        </p:txBody>
      </p:sp>
      <p:sp>
        <p:nvSpPr>
          <p:cNvPr id="8" name="poo-2">
            <a:extLst xmlns:a="http://schemas.openxmlformats.org/drawingml/2006/main">
              <a:ext uri="{FF2B5EF4-FFF2-40B4-BE49-F238E27FC236}">
                <a16:creationId xmlns:a16="http://schemas.microsoft.com/office/drawing/2014/main" id="{5808F15F-A360-4E4A-B7E5-8F24F8CA2487}"/>
              </a:ext>
            </a:extLst>
          </p:cNvPr>
          <p:cNvSpPr>
            <a:spLocks xmlns:a="http://schemas.openxmlformats.org/drawingml/2006/main" noGrp="1"/>
          </p:cNvSpPr>
          <p:nvPr/>
        </p:nvSpPr>
        <p:spPr>
          <a:xfrm xmlns:a="http://schemas.openxmlformats.org/drawingml/2006/main">
            <a:off x="3810000" y="28575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Notificación: avisa a los oyentes que pueden escuchar.</a:t>
            </a:r>
          </a:p>
        </p:txBody>
      </p:sp>
      <p:sp>
        <p:nvSpPr>
          <p:cNvPr id="9" name="etiqueta-codigo">
            <a:extLst xmlns:a="http://schemas.openxmlformats.org/drawingml/2006/main">
              <a:ext uri="{FF2B5EF4-FFF2-40B4-BE49-F238E27FC236}">
                <a16:creationId xmlns:a16="http://schemas.microsoft.com/office/drawing/2014/main" id="{3314C5DE-DE4A-40C1-B56B-FBC898613843}"/>
              </a:ext>
            </a:extLst>
          </p:cNvPr>
          <p:cNvSpPr>
            <a:spLocks xmlns:a="http://schemas.openxmlformats.org/drawingml/2006/main" noGrp="1"/>
          </p:cNvSpPr>
          <p:nvPr/>
        </p:nvSpPr>
        <p:spPr>
          <a:xfrm xmlns:a="http://schemas.openxmlformats.org/drawingml/2006/main">
            <a:off x="3810000" y="3162300"/>
            <a:ext cx="7762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Código del proyecto (fragmento)</a:t>
            </a:r>
          </a:p>
        </p:txBody>
      </p:sp>
      <p:sp>
        <p:nvSpPr>
          <p:cNvPr id="10" name="fragmento-codigo">
            <a:extLst xmlns:a="http://schemas.openxmlformats.org/drawingml/2006/main">
              <a:ext uri="{FF2B5EF4-FFF2-40B4-BE49-F238E27FC236}">
                <a16:creationId xmlns:a16="http://schemas.microsoft.com/office/drawing/2014/main" id="{D272F271-442F-4623-91D0-7922BFE53CCD}"/>
              </a:ext>
            </a:extLst>
          </p:cNvPr>
          <p:cNvSpPr>
            <a:spLocks xmlns:a="http://schemas.openxmlformats.org/drawingml/2006/main" noGrp="1"/>
          </p:cNvSpPr>
          <p:nvPr/>
        </p:nvSpPr>
        <p:spPr>
          <a:xfrm xmlns:a="http://schemas.openxmlformats.org/drawingml/2006/main">
            <a:off x="3810000" y="3486150"/>
            <a:ext cx="7762875"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172F3C"/>
                </a:solidFill>
                <a:latin typeface="DejaVu Sans Mono"/>
                <a:ea typeface="DejaVu Sans Mono"/>
                <a:cs typeface="DejaVu Sans Mono"/>
              </a:defRPr>
            </a:defPPr>
          </a:lstStyle>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class SistemaRuido:</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__init__(self, mapa):</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self.mapa = mapa</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self.oyentes = []</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registrar(self, oyente):</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if oyente not in self.oyentes:</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self.oyentes.append(oyente)</a:t>
            </a:r>
          </a:p>
        </p:txBody>
      </p:sp>
      <p:sp>
        <p:nvSpPr>
          <p:cNvPr id="11" name="enlace-fuente">
            <a:extLst xmlns:a="http://schemas.openxmlformats.org/drawingml/2006/main">
              <a:ext uri="{FF2B5EF4-FFF2-40B4-BE49-F238E27FC236}">
                <a16:creationId xmlns:a16="http://schemas.microsoft.com/office/drawing/2014/main" id="{7643BEDA-AC3D-4FDD-9F45-5AC3A01E9A7F}"/>
              </a:ext>
            </a:extLst>
          </p:cNvPr>
          <p:cNvSpPr>
            <a:spLocks xmlns:a="http://schemas.openxmlformats.org/drawingml/2006/main" noGrp="1"/>
          </p:cNvSpPr>
          <p:nvPr/>
        </p:nvSpPr>
        <p:spPr>
          <a:xfrm xmlns:a="http://schemas.openxmlformats.org/drawingml/2006/main">
            <a:off x="3810000" y="6457950"/>
            <a:ext cx="7762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526773"/>
                </a:solidFill>
                <a:latin typeface="DejaVu Sans"/>
                <a:ea typeface="DejaVu Sans"/>
                <a:cs typeface="DejaVu Sans"/>
              </a:defRPr>
            </a:defPPr>
          </a:lstStyle>
          <a:p xmlns:a="http://schemas.openxmlformats.org/drawingml/2006/main">
            <a:pPr>
              <a:lnSpc>
                <a:spcPct val="105000"/>
              </a:lnSpc>
              <a:buNone/>
              <a:defRPr sz="975" b="0">
                <a:solidFill>
                  <a:srgbClr val="526773"/>
                </a:solidFill>
                <a:latin typeface="DejaVu Sans"/>
                <a:ea typeface="DejaVu Sans"/>
                <a:cs typeface="DejaVu Sans"/>
              </a:defRPr>
            </a:pPr>
            <a:r>
              <a:rPr sz="975" b="0">
                <a:solidFill>
                  <a:srgbClr val="526773"/>
                </a:solidFill>
                <a:latin typeface="DejaVu Sans"/>
                <a:ea typeface="DejaVu Sans"/>
                <a:cs typeface="DejaVu Sans"/>
                <a:hlinkClick xmlns:r="http://schemas.openxmlformats.org/officeDocument/2006/relationships" r:id="Rc62491385f224c47"/>
              </a:rPr>
              <a:t>src/ruido.py, clase desde línea 4</a:t>
            </a:r>
          </a:p>
        </p:txBody>
      </p:sp>
      <p:sp>
        <p:nvSpPr>
          <p:cNvPr id="12" name="enlace-recorte">
            <a:extLst xmlns:a="http://schemas.openxmlformats.org/drawingml/2006/main">
              <a:ext uri="{FF2B5EF4-FFF2-40B4-BE49-F238E27FC236}">
                <a16:creationId xmlns:a16="http://schemas.microsoft.com/office/drawing/2014/main" id="{91ED8FD6-99BC-4313-9A9F-EF04A9461111}"/>
              </a:ext>
            </a:extLst>
          </p:cNvPr>
          <p:cNvSpPr>
            <a:spLocks xmlns:a="http://schemas.openxmlformats.org/drawingml/2006/main" noGrp="1"/>
          </p:cNvSpPr>
          <p:nvPr/>
        </p:nvSpPr>
        <p:spPr>
          <a:xfrm xmlns:a="http://schemas.openxmlformats.org/drawingml/2006/main">
            <a:off x="609600" y="6457950"/>
            <a:ext cx="285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16735D"/>
                </a:solidFill>
                <a:latin typeface="DejaVu Sans"/>
                <a:ea typeface="DejaVu Sans"/>
                <a:cs typeface="DejaVu Sans"/>
              </a:defRPr>
            </a:defPPr>
          </a:lstStyle>
          <a:p xmlns:a="http://schemas.openxmlformats.org/drawingml/2006/main">
            <a:pPr>
              <a:lnSpc>
                <a:spcPct val="105000"/>
              </a:lnSpc>
              <a:buNone/>
              <a:defRPr sz="975" b="0">
                <a:solidFill>
                  <a:srgbClr val="16735D"/>
                </a:solidFill>
                <a:latin typeface="DejaVu Sans"/>
                <a:ea typeface="DejaVu Sans"/>
                <a:cs typeface="DejaVu Sans"/>
              </a:defRPr>
            </a:pPr>
            <a:r>
              <a:rPr sz="975" b="0">
                <a:solidFill>
                  <a:srgbClr val="16735D"/>
                </a:solidFill>
                <a:latin typeface="DejaVu Sans"/>
                <a:ea typeface="DejaVu Sans"/>
                <a:cs typeface="DejaVu Sans"/>
                <a:hlinkClick xmlns:r="http://schemas.openxmlformats.org/officeDocument/2006/relationships" r:id="R04d60af16ad44eab"/>
              </a:rPr>
              <a:t>Abrir recorte en tamaño original</a:t>
            </a:r>
          </a:p>
        </p:txBody>
      </p:sp>
    </p:spTree>
    <p:extLst>
      <p:ext uri="{BB962C8B-B14F-4D97-AF65-F5344CB8AC3E}">
        <p14:creationId xmlns:p14="http://schemas.microsoft.com/office/powerpoint/2010/main" val="63290569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partado-clase">
            <a:extLst xmlns:a="http://schemas.openxmlformats.org/drawingml/2006/main">
              <a:ext uri="{FF2B5EF4-FFF2-40B4-BE49-F238E27FC236}">
                <a16:creationId xmlns:a16="http://schemas.microsoft.com/office/drawing/2014/main" id="{08CA966C-2FFA-45DC-99BF-19133E5B5BA5}"/>
              </a:ext>
            </a:extLst>
          </p:cNvPr>
          <p:cNvSpPr>
            <a:spLocks xmlns:a="http://schemas.openxmlformats.org/drawingml/2006/main" noGrp="1"/>
          </p:cNvSpPr>
          <p:nvPr/>
        </p:nvSpPr>
        <p:spPr>
          <a:xfrm xmlns:a="http://schemas.openxmlformats.org/drawingml/2006/main">
            <a:off x="60960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lnSpc>
                <a:spcPct val="105000"/>
              </a:lnSpc>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Punto 7 de 7. VIII. Anexos. Clase 16 de 25</a:t>
            </a:r>
          </a:p>
        </p:txBody>
      </p:sp>
      <p:sp>
        <p:nvSpPr>
          <p:cNvPr id="2" name="titulo-clase">
            <a:extLst xmlns:a="http://schemas.openxmlformats.org/drawingml/2006/main">
              <a:ext uri="{FF2B5EF4-FFF2-40B4-BE49-F238E27FC236}">
                <a16:creationId xmlns:a16="http://schemas.microsoft.com/office/drawing/2014/main" id="{9ADDB5BA-9603-47EC-ADB8-6BC4EDF9B9B2}"/>
              </a:ext>
            </a:extLst>
          </p:cNvPr>
          <p:cNvSpPr>
            <a:spLocks xmlns:a="http://schemas.openxmlformats.org/drawingml/2006/main" noGrp="1"/>
          </p:cNvSpPr>
          <p:nvPr/>
        </p:nvSpPr>
        <p:spPr>
          <a:xfrm xmlns:a="http://schemas.openxmlformats.org/drawingml/2006/main">
            <a:off x="609600" y="69532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F3C"/>
                </a:solidFill>
                <a:latin typeface="DejaVu Sans"/>
                <a:ea typeface="DejaVu Sans"/>
                <a:cs typeface="DejaVu Sans"/>
              </a:defRPr>
            </a:defPPr>
          </a:lstStyle>
          <a:p xmlns:a="http://schemas.openxmlformats.org/drawingml/2006/main">
            <a:pPr>
              <a:lnSpc>
                <a:spcPct val="105000"/>
              </a:lnSpc>
              <a:buNone/>
              <a:defRPr sz="3300" b="1">
                <a:solidFill>
                  <a:srgbClr val="172F3C"/>
                </a:solidFill>
                <a:latin typeface="DejaVu Sans"/>
                <a:ea typeface="DejaVu Sans"/>
                <a:cs typeface="DejaVu Sans"/>
              </a:defRPr>
            </a:pPr>
            <a:r>
              <a:rPr sz="3300" b="1">
                <a:solidFill>
                  <a:srgbClr val="172F3C"/>
                </a:solidFill>
                <a:latin typeface="DejaVu Sans"/>
                <a:ea typeface="DejaVu Sans"/>
                <a:cs typeface="DejaVu Sans"/>
              </a:rPr>
              <a:t>Camara</a:t>
            </a:r>
          </a:p>
        </p:txBody>
      </p:sp>
      <p:sp>
        <p:nvSpPr>
          <p:cNvPr id="3" name="etiqueta-uml">
            <a:extLst xmlns:a="http://schemas.openxmlformats.org/drawingml/2006/main">
              <a:ext uri="{FF2B5EF4-FFF2-40B4-BE49-F238E27FC236}">
                <a16:creationId xmlns:a16="http://schemas.microsoft.com/office/drawing/2014/main" id="{33C8EEF1-3F1C-4AFE-9B57-029ED93275C0}"/>
              </a:ext>
            </a:extLst>
          </p:cNvPr>
          <p:cNvSpPr>
            <a:spLocks xmlns:a="http://schemas.openxmlformats.org/drawingml/2006/main" noGrp="1"/>
          </p:cNvSpPr>
          <p:nvPr/>
        </p:nvSpPr>
        <p:spPr>
          <a:xfrm xmlns:a="http://schemas.openxmlformats.org/drawingml/2006/main">
            <a:off x="609600" y="1495425"/>
            <a:ext cx="2809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UML: recorte original</a:t>
            </a:r>
          </a:p>
        </p:txBody>
      </p:sp>
      <p:pic>
        <p:nvPicPr>
          <p:cNvPr id="4" name="">
            <a:extLst xmlns:a="http://schemas.openxmlformats.org/drawingml/2006/main">
              <a:ext uri="{FF2B5EF4-FFF2-40B4-BE49-F238E27FC236}">
                <a16:creationId xmlns:a16="http://schemas.microsoft.com/office/drawing/2014/main" id="{B493087E-9DC1-47A5-86E3-6C495086FCA2}"/>
              </a:ext>
            </a:extLst>
          </p:cNvPr>
          <p:cNvPicPr>
            <a:picLocks xmlns:a="http://schemas.openxmlformats.org/drawingml/2006/main" noChangeAspect="1"/>
          </p:cNvPicPr>
          <p:nvPr/>
        </p:nvPicPr>
        <p:blipFill>
          <a:blip xmlns:r="http://schemas.openxmlformats.org/officeDocument/2006/relationships" xmlns:a="http://schemas.openxmlformats.org/drawingml/2006/main" r:embed="Rd1c5b6324c314440"/>
          <a:stretch xmlns:a="http://schemas.openxmlformats.org/drawingml/2006/main"/>
        </p:blipFill>
        <p:spPr>
          <a:xfrm xmlns:a="http://schemas.openxmlformats.org/drawingml/2006/main">
            <a:off x="609600" y="2942655"/>
            <a:ext cx="2762250" cy="2229989"/>
          </a:xfrm>
          <a:prstGeom xmlns:a="http://schemas.openxmlformats.org/drawingml/2006/main" prst="rect">
            <a:avLst/>
          </a:prstGeom>
        </p:spPr>
      </p:pic>
      <p:sp>
        <p:nvSpPr>
          <p:cNvPr id="5" name="funcion-clase">
            <a:extLst xmlns:a="http://schemas.openxmlformats.org/drawingml/2006/main">
              <a:ext uri="{FF2B5EF4-FFF2-40B4-BE49-F238E27FC236}">
                <a16:creationId xmlns:a16="http://schemas.microsoft.com/office/drawing/2014/main" id="{2FC6A75C-E39E-458E-A555-1CA009FC8FD2}"/>
              </a:ext>
            </a:extLst>
          </p:cNvPr>
          <p:cNvSpPr>
            <a:spLocks xmlns:a="http://schemas.openxmlformats.org/drawingml/2006/main" noGrp="1"/>
          </p:cNvSpPr>
          <p:nvPr/>
        </p:nvSpPr>
        <p:spPr>
          <a:xfrm xmlns:a="http://schemas.openxmlformats.org/drawingml/2006/main">
            <a:off x="3810000" y="1419225"/>
            <a:ext cx="7762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F3C"/>
                </a:solidFill>
                <a:latin typeface="DejaVu Sans"/>
                <a:ea typeface="DejaVu Sans"/>
                <a:cs typeface="DejaVu Sans"/>
              </a:defRPr>
            </a:defPPr>
          </a:lstStyle>
          <a:p xmlns:a="http://schemas.openxmlformats.org/drawingml/2006/main">
            <a:pPr>
              <a:lnSpc>
                <a:spcPct val="105000"/>
              </a:lnSpc>
              <a:buNone/>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Comprueba si el prisionero está dentro de su campo de visión.</a:t>
            </a:r>
          </a:p>
        </p:txBody>
      </p:sp>
      <p:sp>
        <p:nvSpPr>
          <p:cNvPr id="6" name="poo-0">
            <a:extLst xmlns:a="http://schemas.openxmlformats.org/drawingml/2006/main">
              <a:ext uri="{FF2B5EF4-FFF2-40B4-BE49-F238E27FC236}">
                <a16:creationId xmlns:a16="http://schemas.microsoft.com/office/drawing/2014/main" id="{0A87B801-7C27-4FB4-B326-A13CEA92D944}"/>
              </a:ext>
            </a:extLst>
          </p:cNvPr>
          <p:cNvSpPr>
            <a:spLocks xmlns:a="http://schemas.openxmlformats.org/drawingml/2006/main" noGrp="1"/>
          </p:cNvSpPr>
          <p:nvPr/>
        </p:nvSpPr>
        <p:spPr>
          <a:xfrm xmlns:a="http://schemas.openxmlformats.org/drawingml/2006/main">
            <a:off x="3810000" y="21717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Composición: Nivel construye sus cámaras.</a:t>
            </a:r>
          </a:p>
        </p:txBody>
      </p:sp>
      <p:sp>
        <p:nvSpPr>
          <p:cNvPr id="7" name="poo-1">
            <a:extLst xmlns:a="http://schemas.openxmlformats.org/drawingml/2006/main">
              <a:ext uri="{FF2B5EF4-FFF2-40B4-BE49-F238E27FC236}">
                <a16:creationId xmlns:a16="http://schemas.microsoft.com/office/drawing/2014/main" id="{0ECEFC04-E2DB-40FB-8737-4F4E129C6F57}"/>
              </a:ext>
            </a:extLst>
          </p:cNvPr>
          <p:cNvSpPr>
            <a:spLocks xmlns:a="http://schemas.openxmlformats.org/drawingml/2006/main" noGrp="1"/>
          </p:cNvSpPr>
          <p:nvPr/>
        </p:nvSpPr>
        <p:spPr>
          <a:xfrm xmlns:a="http://schemas.openxmlformats.org/drawingml/2006/main">
            <a:off x="3810000" y="25146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Dependencia: detectar recibe Prisionero y muros.</a:t>
            </a:r>
          </a:p>
        </p:txBody>
      </p:sp>
      <p:sp>
        <p:nvSpPr>
          <p:cNvPr id="8" name="etiqueta-codigo">
            <a:extLst xmlns:a="http://schemas.openxmlformats.org/drawingml/2006/main">
              <a:ext uri="{FF2B5EF4-FFF2-40B4-BE49-F238E27FC236}">
                <a16:creationId xmlns:a16="http://schemas.microsoft.com/office/drawing/2014/main" id="{B919006E-6519-4835-9DC4-2FBE67417E6F}"/>
              </a:ext>
            </a:extLst>
          </p:cNvPr>
          <p:cNvSpPr>
            <a:spLocks xmlns:a="http://schemas.openxmlformats.org/drawingml/2006/main" noGrp="1"/>
          </p:cNvSpPr>
          <p:nvPr/>
        </p:nvSpPr>
        <p:spPr>
          <a:xfrm xmlns:a="http://schemas.openxmlformats.org/drawingml/2006/main">
            <a:off x="3810000" y="2819400"/>
            <a:ext cx="7762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Código del proyecto (fragmento)</a:t>
            </a:r>
          </a:p>
        </p:txBody>
      </p:sp>
      <p:sp>
        <p:nvSpPr>
          <p:cNvPr id="9" name="fragmento-codigo">
            <a:extLst xmlns:a="http://schemas.openxmlformats.org/drawingml/2006/main">
              <a:ext uri="{FF2B5EF4-FFF2-40B4-BE49-F238E27FC236}">
                <a16:creationId xmlns:a16="http://schemas.microsoft.com/office/drawing/2014/main" id="{E4DB8E91-0CD3-4F51-90C1-6C197AECD32E}"/>
              </a:ext>
            </a:extLst>
          </p:cNvPr>
          <p:cNvSpPr>
            <a:spLocks xmlns:a="http://schemas.openxmlformats.org/drawingml/2006/main" noGrp="1"/>
          </p:cNvSpPr>
          <p:nvPr/>
        </p:nvSpPr>
        <p:spPr>
          <a:xfrm xmlns:a="http://schemas.openxmlformats.org/drawingml/2006/main">
            <a:off x="3810000" y="3143250"/>
            <a:ext cx="77628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172F3C"/>
                </a:solidFill>
                <a:latin typeface="DejaVu Sans Mono"/>
                <a:ea typeface="DejaVu Sans Mono"/>
                <a:cs typeface="DejaVu Sans Mono"/>
              </a:defRPr>
            </a:defPPr>
          </a:lstStyle>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class Camara:</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detectar(self, prisionero, muros):</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return dentro_de_vision(</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self.posicion,</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prisionero.get_posicion(),</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self.angulo,</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self.alcance,</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self.apertura,</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muros,</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prisionero.radio,</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a:t>
            </a:r>
          </a:p>
        </p:txBody>
      </p:sp>
      <p:sp>
        <p:nvSpPr>
          <p:cNvPr id="10" name="enlace-fuente">
            <a:extLst xmlns:a="http://schemas.openxmlformats.org/drawingml/2006/main">
              <a:ext uri="{FF2B5EF4-FFF2-40B4-BE49-F238E27FC236}">
                <a16:creationId xmlns:a16="http://schemas.microsoft.com/office/drawing/2014/main" id="{58FDA4E1-B90F-4C14-8253-02B0E89018A4}"/>
              </a:ext>
            </a:extLst>
          </p:cNvPr>
          <p:cNvSpPr>
            <a:spLocks xmlns:a="http://schemas.openxmlformats.org/drawingml/2006/main" noGrp="1"/>
          </p:cNvSpPr>
          <p:nvPr/>
        </p:nvSpPr>
        <p:spPr>
          <a:xfrm xmlns:a="http://schemas.openxmlformats.org/drawingml/2006/main">
            <a:off x="3810000" y="6457950"/>
            <a:ext cx="7762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526773"/>
                </a:solidFill>
                <a:latin typeface="DejaVu Sans"/>
                <a:ea typeface="DejaVu Sans"/>
                <a:cs typeface="DejaVu Sans"/>
              </a:defRPr>
            </a:defPPr>
          </a:lstStyle>
          <a:p xmlns:a="http://schemas.openxmlformats.org/drawingml/2006/main">
            <a:pPr>
              <a:lnSpc>
                <a:spcPct val="105000"/>
              </a:lnSpc>
              <a:buNone/>
              <a:defRPr sz="975" b="0">
                <a:solidFill>
                  <a:srgbClr val="526773"/>
                </a:solidFill>
                <a:latin typeface="DejaVu Sans"/>
                <a:ea typeface="DejaVu Sans"/>
                <a:cs typeface="DejaVu Sans"/>
              </a:defRPr>
            </a:pPr>
            <a:r>
              <a:rPr sz="975" b="0">
                <a:solidFill>
                  <a:srgbClr val="526773"/>
                </a:solidFill>
                <a:latin typeface="DejaVu Sans"/>
                <a:ea typeface="DejaVu Sans"/>
                <a:cs typeface="DejaVu Sans"/>
                <a:hlinkClick xmlns:r="http://schemas.openxmlformats.org/officeDocument/2006/relationships" r:id="R83711aa2e5364d3c"/>
              </a:rPr>
              <a:t>src/nivel.py, clase desde línea 51</a:t>
            </a:r>
          </a:p>
        </p:txBody>
      </p:sp>
      <p:sp>
        <p:nvSpPr>
          <p:cNvPr id="11" name="enlace-recorte">
            <a:extLst xmlns:a="http://schemas.openxmlformats.org/drawingml/2006/main">
              <a:ext uri="{FF2B5EF4-FFF2-40B4-BE49-F238E27FC236}">
                <a16:creationId xmlns:a16="http://schemas.microsoft.com/office/drawing/2014/main" id="{75737399-35DD-4F50-BA70-F4CE2812058E}"/>
              </a:ext>
            </a:extLst>
          </p:cNvPr>
          <p:cNvSpPr>
            <a:spLocks xmlns:a="http://schemas.openxmlformats.org/drawingml/2006/main" noGrp="1"/>
          </p:cNvSpPr>
          <p:nvPr/>
        </p:nvSpPr>
        <p:spPr>
          <a:xfrm xmlns:a="http://schemas.openxmlformats.org/drawingml/2006/main">
            <a:off x="609600" y="6457950"/>
            <a:ext cx="285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16735D"/>
                </a:solidFill>
                <a:latin typeface="DejaVu Sans"/>
                <a:ea typeface="DejaVu Sans"/>
                <a:cs typeface="DejaVu Sans"/>
              </a:defRPr>
            </a:defPPr>
          </a:lstStyle>
          <a:p xmlns:a="http://schemas.openxmlformats.org/drawingml/2006/main">
            <a:pPr>
              <a:lnSpc>
                <a:spcPct val="105000"/>
              </a:lnSpc>
              <a:buNone/>
              <a:defRPr sz="975" b="0">
                <a:solidFill>
                  <a:srgbClr val="16735D"/>
                </a:solidFill>
                <a:latin typeface="DejaVu Sans"/>
                <a:ea typeface="DejaVu Sans"/>
                <a:cs typeface="DejaVu Sans"/>
              </a:defRPr>
            </a:pPr>
            <a:r>
              <a:rPr sz="975" b="0">
                <a:solidFill>
                  <a:srgbClr val="16735D"/>
                </a:solidFill>
                <a:latin typeface="DejaVu Sans"/>
                <a:ea typeface="DejaVu Sans"/>
                <a:cs typeface="DejaVu Sans"/>
                <a:hlinkClick xmlns:r="http://schemas.openxmlformats.org/officeDocument/2006/relationships" r:id="R27e1637338c74bdc"/>
              </a:rPr>
              <a:t>Abrir recorte en tamaño original</a:t>
            </a:r>
          </a:p>
        </p:txBody>
      </p:sp>
    </p:spTree>
    <p:extLst>
      <p:ext uri="{BB962C8B-B14F-4D97-AF65-F5344CB8AC3E}">
        <p14:creationId xmlns:p14="http://schemas.microsoft.com/office/powerpoint/2010/main" val="62836572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partado-clase">
            <a:extLst xmlns:a="http://schemas.openxmlformats.org/drawingml/2006/main">
              <a:ext uri="{FF2B5EF4-FFF2-40B4-BE49-F238E27FC236}">
                <a16:creationId xmlns:a16="http://schemas.microsoft.com/office/drawing/2014/main" id="{6475A754-1919-4661-9373-6227663C811C}"/>
              </a:ext>
            </a:extLst>
          </p:cNvPr>
          <p:cNvSpPr>
            <a:spLocks xmlns:a="http://schemas.openxmlformats.org/drawingml/2006/main" noGrp="1"/>
          </p:cNvSpPr>
          <p:nvPr/>
        </p:nvSpPr>
        <p:spPr>
          <a:xfrm xmlns:a="http://schemas.openxmlformats.org/drawingml/2006/main">
            <a:off x="60960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lnSpc>
                <a:spcPct val="105000"/>
              </a:lnSpc>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Punto 7 de 7. VIII. Anexos. Clase 17 de 25</a:t>
            </a:r>
          </a:p>
        </p:txBody>
      </p:sp>
      <p:sp>
        <p:nvSpPr>
          <p:cNvPr id="2" name="titulo-clase">
            <a:extLst xmlns:a="http://schemas.openxmlformats.org/drawingml/2006/main">
              <a:ext uri="{FF2B5EF4-FFF2-40B4-BE49-F238E27FC236}">
                <a16:creationId xmlns:a16="http://schemas.microsoft.com/office/drawing/2014/main" id="{E3F217C4-6D4C-42C8-BE32-B2BF8FB1BCB6}"/>
              </a:ext>
            </a:extLst>
          </p:cNvPr>
          <p:cNvSpPr>
            <a:spLocks xmlns:a="http://schemas.openxmlformats.org/drawingml/2006/main" noGrp="1"/>
          </p:cNvSpPr>
          <p:nvPr/>
        </p:nvSpPr>
        <p:spPr>
          <a:xfrm xmlns:a="http://schemas.openxmlformats.org/drawingml/2006/main">
            <a:off x="609600" y="69532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F3C"/>
                </a:solidFill>
                <a:latin typeface="DejaVu Sans"/>
                <a:ea typeface="DejaVu Sans"/>
                <a:cs typeface="DejaVu Sans"/>
              </a:defRPr>
            </a:defPPr>
          </a:lstStyle>
          <a:p xmlns:a="http://schemas.openxmlformats.org/drawingml/2006/main">
            <a:pPr>
              <a:lnSpc>
                <a:spcPct val="105000"/>
              </a:lnSpc>
              <a:buNone/>
              <a:defRPr sz="3300" b="1">
                <a:solidFill>
                  <a:srgbClr val="172F3C"/>
                </a:solidFill>
                <a:latin typeface="DejaVu Sans"/>
                <a:ea typeface="DejaVu Sans"/>
                <a:cs typeface="DejaVu Sans"/>
              </a:defRPr>
            </a:pPr>
            <a:r>
              <a:rPr sz="3300" b="1">
                <a:solidFill>
                  <a:srgbClr val="172F3C"/>
                </a:solidFill>
                <a:latin typeface="DejaVu Sans"/>
                <a:ea typeface="DejaVu Sans"/>
                <a:cs typeface="DejaVu Sans"/>
              </a:rPr>
              <a:t>Llave</a:t>
            </a:r>
          </a:p>
        </p:txBody>
      </p:sp>
      <p:sp>
        <p:nvSpPr>
          <p:cNvPr id="3" name="etiqueta-uml">
            <a:extLst xmlns:a="http://schemas.openxmlformats.org/drawingml/2006/main">
              <a:ext uri="{FF2B5EF4-FFF2-40B4-BE49-F238E27FC236}">
                <a16:creationId xmlns:a16="http://schemas.microsoft.com/office/drawing/2014/main" id="{D40F50A4-A5CE-4598-926A-32A875E24B4B}"/>
              </a:ext>
            </a:extLst>
          </p:cNvPr>
          <p:cNvSpPr>
            <a:spLocks xmlns:a="http://schemas.openxmlformats.org/drawingml/2006/main" noGrp="1"/>
          </p:cNvSpPr>
          <p:nvPr/>
        </p:nvSpPr>
        <p:spPr>
          <a:xfrm xmlns:a="http://schemas.openxmlformats.org/drawingml/2006/main">
            <a:off x="609600" y="1495425"/>
            <a:ext cx="2809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UML: recorte original</a:t>
            </a:r>
          </a:p>
        </p:txBody>
      </p:sp>
      <p:pic>
        <p:nvPicPr>
          <p:cNvPr id="4" name="">
            <a:extLst xmlns:a="http://schemas.openxmlformats.org/drawingml/2006/main">
              <a:ext uri="{FF2B5EF4-FFF2-40B4-BE49-F238E27FC236}">
                <a16:creationId xmlns:a16="http://schemas.microsoft.com/office/drawing/2014/main" id="{51F8ED12-E4F1-4E06-9EFE-EB287A879B8C}"/>
              </a:ext>
            </a:extLst>
          </p:cNvPr>
          <p:cNvPicPr>
            <a:picLocks xmlns:a="http://schemas.openxmlformats.org/drawingml/2006/main" noChangeAspect="1"/>
          </p:cNvPicPr>
          <p:nvPr/>
        </p:nvPicPr>
        <p:blipFill>
          <a:blip xmlns:r="http://schemas.openxmlformats.org/officeDocument/2006/relationships" xmlns:a="http://schemas.openxmlformats.org/drawingml/2006/main" r:embed="Rfa17b68b011b43b5"/>
          <a:stretch xmlns:a="http://schemas.openxmlformats.org/drawingml/2006/main"/>
        </p:blipFill>
        <p:spPr>
          <a:xfrm xmlns:a="http://schemas.openxmlformats.org/drawingml/2006/main">
            <a:off x="609600" y="3054795"/>
            <a:ext cx="2762250" cy="2005710"/>
          </a:xfrm>
          <a:prstGeom xmlns:a="http://schemas.openxmlformats.org/drawingml/2006/main" prst="rect">
            <a:avLst/>
          </a:prstGeom>
        </p:spPr>
      </p:pic>
      <p:sp>
        <p:nvSpPr>
          <p:cNvPr id="5" name="funcion-clase">
            <a:extLst xmlns:a="http://schemas.openxmlformats.org/drawingml/2006/main">
              <a:ext uri="{FF2B5EF4-FFF2-40B4-BE49-F238E27FC236}">
                <a16:creationId xmlns:a16="http://schemas.microsoft.com/office/drawing/2014/main" id="{D1997612-54DE-477B-878A-7C50A8E4D9AE}"/>
              </a:ext>
            </a:extLst>
          </p:cNvPr>
          <p:cNvSpPr>
            <a:spLocks xmlns:a="http://schemas.openxmlformats.org/drawingml/2006/main" noGrp="1"/>
          </p:cNvSpPr>
          <p:nvPr/>
        </p:nvSpPr>
        <p:spPr>
          <a:xfrm xmlns:a="http://schemas.openxmlformats.org/drawingml/2006/main">
            <a:off x="3810000" y="1419225"/>
            <a:ext cx="7762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F3C"/>
                </a:solidFill>
                <a:latin typeface="DejaVu Sans"/>
                <a:ea typeface="DejaVu Sans"/>
                <a:cs typeface="DejaVu Sans"/>
              </a:defRPr>
            </a:defPPr>
          </a:lstStyle>
          <a:p xmlns:a="http://schemas.openxmlformats.org/drawingml/2006/main">
            <a:pPr>
              <a:lnSpc>
                <a:spcPct val="105000"/>
              </a:lnSpc>
              <a:buNone/>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Es el objeto que habilita la salida.</a:t>
            </a:r>
          </a:p>
        </p:txBody>
      </p:sp>
      <p:sp>
        <p:nvSpPr>
          <p:cNvPr id="6" name="poo-0">
            <a:extLst xmlns:a="http://schemas.openxmlformats.org/drawingml/2006/main">
              <a:ext uri="{FF2B5EF4-FFF2-40B4-BE49-F238E27FC236}">
                <a16:creationId xmlns:a16="http://schemas.microsoft.com/office/drawing/2014/main" id="{BBECAFAD-FDF4-4D88-B3FA-EFC8A7BF68CF}"/>
              </a:ext>
            </a:extLst>
          </p:cNvPr>
          <p:cNvSpPr>
            <a:spLocks xmlns:a="http://schemas.openxmlformats.org/drawingml/2006/main" noGrp="1"/>
          </p:cNvSpPr>
          <p:nvPr/>
        </p:nvSpPr>
        <p:spPr>
          <a:xfrm xmlns:a="http://schemas.openxmlformats.org/drawingml/2006/main">
            <a:off x="3810000" y="21717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Composición: cada Nivel crea su Llave.</a:t>
            </a:r>
          </a:p>
        </p:txBody>
      </p:sp>
      <p:sp>
        <p:nvSpPr>
          <p:cNvPr id="7" name="poo-1">
            <a:extLst xmlns:a="http://schemas.openxmlformats.org/drawingml/2006/main">
              <a:ext uri="{FF2B5EF4-FFF2-40B4-BE49-F238E27FC236}">
                <a16:creationId xmlns:a16="http://schemas.microsoft.com/office/drawing/2014/main" id="{F30E9B71-7B92-4C68-A3EB-532A44EABB22}"/>
              </a:ext>
            </a:extLst>
          </p:cNvPr>
          <p:cNvSpPr>
            <a:spLocks xmlns:a="http://schemas.openxmlformats.org/drawingml/2006/main" noGrp="1"/>
          </p:cNvSpPr>
          <p:nvPr/>
        </p:nvSpPr>
        <p:spPr>
          <a:xfrm xmlns:a="http://schemas.openxmlformats.org/drawingml/2006/main">
            <a:off x="3810000" y="25146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Dependencia: recoger utiliza el Prisionero recibido.</a:t>
            </a:r>
          </a:p>
        </p:txBody>
      </p:sp>
      <p:sp>
        <p:nvSpPr>
          <p:cNvPr id="8" name="etiqueta-codigo">
            <a:extLst xmlns:a="http://schemas.openxmlformats.org/drawingml/2006/main">
              <a:ext uri="{FF2B5EF4-FFF2-40B4-BE49-F238E27FC236}">
                <a16:creationId xmlns:a16="http://schemas.microsoft.com/office/drawing/2014/main" id="{2B4F0A35-D717-4B63-9773-3F10A3F34681}"/>
              </a:ext>
            </a:extLst>
          </p:cNvPr>
          <p:cNvSpPr>
            <a:spLocks xmlns:a="http://schemas.openxmlformats.org/drawingml/2006/main" noGrp="1"/>
          </p:cNvSpPr>
          <p:nvPr/>
        </p:nvSpPr>
        <p:spPr>
          <a:xfrm xmlns:a="http://schemas.openxmlformats.org/drawingml/2006/main">
            <a:off x="3810000" y="2819400"/>
            <a:ext cx="7762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Código del proyecto (fragmento)</a:t>
            </a:r>
          </a:p>
        </p:txBody>
      </p:sp>
      <p:sp>
        <p:nvSpPr>
          <p:cNvPr id="9" name="fragmento-codigo">
            <a:extLst xmlns:a="http://schemas.openxmlformats.org/drawingml/2006/main">
              <a:ext uri="{FF2B5EF4-FFF2-40B4-BE49-F238E27FC236}">
                <a16:creationId xmlns:a16="http://schemas.microsoft.com/office/drawing/2014/main" id="{E6E82875-478D-4820-83E2-DF2E77115D91}"/>
              </a:ext>
            </a:extLst>
          </p:cNvPr>
          <p:cNvSpPr>
            <a:spLocks xmlns:a="http://schemas.openxmlformats.org/drawingml/2006/main" noGrp="1"/>
          </p:cNvSpPr>
          <p:nvPr/>
        </p:nvSpPr>
        <p:spPr>
          <a:xfrm xmlns:a="http://schemas.openxmlformats.org/drawingml/2006/main">
            <a:off x="3810000" y="3143250"/>
            <a:ext cx="77628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172F3C"/>
                </a:solidFill>
                <a:latin typeface="DejaVu Sans Mono"/>
                <a:ea typeface="DejaVu Sans Mono"/>
                <a:cs typeface="DejaVu Sans Mono"/>
              </a:defRPr>
            </a:defPPr>
          </a:lstStyle>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class Llave:</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recoger(self, prisionero):</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if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self.disponible</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and distancia(</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self.posicion, prisionero.get_posicion()</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&lt; 22</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self.disponible = False</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prisionero.recoger_llave()</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return True</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return False</a:t>
            </a:r>
          </a:p>
        </p:txBody>
      </p:sp>
      <p:sp>
        <p:nvSpPr>
          <p:cNvPr id="10" name="enlace-fuente">
            <a:extLst xmlns:a="http://schemas.openxmlformats.org/drawingml/2006/main">
              <a:ext uri="{FF2B5EF4-FFF2-40B4-BE49-F238E27FC236}">
                <a16:creationId xmlns:a16="http://schemas.microsoft.com/office/drawing/2014/main" id="{88B34B8C-F515-40C0-B5B4-3C47EFB803E2}"/>
              </a:ext>
            </a:extLst>
          </p:cNvPr>
          <p:cNvSpPr>
            <a:spLocks xmlns:a="http://schemas.openxmlformats.org/drawingml/2006/main" noGrp="1"/>
          </p:cNvSpPr>
          <p:nvPr/>
        </p:nvSpPr>
        <p:spPr>
          <a:xfrm xmlns:a="http://schemas.openxmlformats.org/drawingml/2006/main">
            <a:off x="3810000" y="6457950"/>
            <a:ext cx="7762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526773"/>
                </a:solidFill>
                <a:latin typeface="DejaVu Sans"/>
                <a:ea typeface="DejaVu Sans"/>
                <a:cs typeface="DejaVu Sans"/>
              </a:defRPr>
            </a:defPPr>
          </a:lstStyle>
          <a:p xmlns:a="http://schemas.openxmlformats.org/drawingml/2006/main">
            <a:pPr>
              <a:lnSpc>
                <a:spcPct val="105000"/>
              </a:lnSpc>
              <a:buNone/>
              <a:defRPr sz="975" b="0">
                <a:solidFill>
                  <a:srgbClr val="526773"/>
                </a:solidFill>
                <a:latin typeface="DejaVu Sans"/>
                <a:ea typeface="DejaVu Sans"/>
                <a:cs typeface="DejaVu Sans"/>
              </a:defRPr>
            </a:pPr>
            <a:r>
              <a:rPr sz="975" b="0">
                <a:solidFill>
                  <a:srgbClr val="526773"/>
                </a:solidFill>
                <a:latin typeface="DejaVu Sans"/>
                <a:ea typeface="DejaVu Sans"/>
                <a:cs typeface="DejaVu Sans"/>
                <a:hlinkClick xmlns:r="http://schemas.openxmlformats.org/officeDocument/2006/relationships" r:id="R24e397765f2b4a07"/>
              </a:rPr>
              <a:t>src/nivel.py, clase desde línea 64</a:t>
            </a:r>
          </a:p>
        </p:txBody>
      </p:sp>
      <p:sp>
        <p:nvSpPr>
          <p:cNvPr id="11" name="enlace-recorte">
            <a:extLst xmlns:a="http://schemas.openxmlformats.org/drawingml/2006/main">
              <a:ext uri="{FF2B5EF4-FFF2-40B4-BE49-F238E27FC236}">
                <a16:creationId xmlns:a16="http://schemas.microsoft.com/office/drawing/2014/main" id="{C1CF9F2C-7FD8-4E8F-AE40-A6E90724BD3A}"/>
              </a:ext>
            </a:extLst>
          </p:cNvPr>
          <p:cNvSpPr>
            <a:spLocks xmlns:a="http://schemas.openxmlformats.org/drawingml/2006/main" noGrp="1"/>
          </p:cNvSpPr>
          <p:nvPr/>
        </p:nvSpPr>
        <p:spPr>
          <a:xfrm xmlns:a="http://schemas.openxmlformats.org/drawingml/2006/main">
            <a:off x="609600" y="6457950"/>
            <a:ext cx="285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16735D"/>
                </a:solidFill>
                <a:latin typeface="DejaVu Sans"/>
                <a:ea typeface="DejaVu Sans"/>
                <a:cs typeface="DejaVu Sans"/>
              </a:defRPr>
            </a:defPPr>
          </a:lstStyle>
          <a:p xmlns:a="http://schemas.openxmlformats.org/drawingml/2006/main">
            <a:pPr>
              <a:lnSpc>
                <a:spcPct val="105000"/>
              </a:lnSpc>
              <a:buNone/>
              <a:defRPr sz="975" b="0">
                <a:solidFill>
                  <a:srgbClr val="16735D"/>
                </a:solidFill>
                <a:latin typeface="DejaVu Sans"/>
                <a:ea typeface="DejaVu Sans"/>
                <a:cs typeface="DejaVu Sans"/>
              </a:defRPr>
            </a:pPr>
            <a:r>
              <a:rPr sz="975" b="0">
                <a:solidFill>
                  <a:srgbClr val="16735D"/>
                </a:solidFill>
                <a:latin typeface="DejaVu Sans"/>
                <a:ea typeface="DejaVu Sans"/>
                <a:cs typeface="DejaVu Sans"/>
                <a:hlinkClick xmlns:r="http://schemas.openxmlformats.org/officeDocument/2006/relationships" r:id="R1e25117f9d5c47ba"/>
              </a:rPr>
              <a:t>Abrir recorte en tamaño original</a:t>
            </a:r>
          </a:p>
        </p:txBody>
      </p:sp>
    </p:spTree>
    <p:extLst>
      <p:ext uri="{BB962C8B-B14F-4D97-AF65-F5344CB8AC3E}">
        <p14:creationId xmlns:p14="http://schemas.microsoft.com/office/powerpoint/2010/main" val="7580406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partado-clase">
            <a:extLst xmlns:a="http://schemas.openxmlformats.org/drawingml/2006/main">
              <a:ext uri="{FF2B5EF4-FFF2-40B4-BE49-F238E27FC236}">
                <a16:creationId xmlns:a16="http://schemas.microsoft.com/office/drawing/2014/main" id="{9BBBEEDD-7035-4079-9A59-42FE3D73444F}"/>
              </a:ext>
            </a:extLst>
          </p:cNvPr>
          <p:cNvSpPr>
            <a:spLocks xmlns:a="http://schemas.openxmlformats.org/drawingml/2006/main" noGrp="1"/>
          </p:cNvSpPr>
          <p:nvPr/>
        </p:nvSpPr>
        <p:spPr>
          <a:xfrm xmlns:a="http://schemas.openxmlformats.org/drawingml/2006/main">
            <a:off x="60960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lnSpc>
                <a:spcPct val="105000"/>
              </a:lnSpc>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Punto 7 de 7. VIII. Anexos. Clase 18 de 25</a:t>
            </a:r>
          </a:p>
        </p:txBody>
      </p:sp>
      <p:sp>
        <p:nvSpPr>
          <p:cNvPr id="2" name="titulo-clase">
            <a:extLst xmlns:a="http://schemas.openxmlformats.org/drawingml/2006/main">
              <a:ext uri="{FF2B5EF4-FFF2-40B4-BE49-F238E27FC236}">
                <a16:creationId xmlns:a16="http://schemas.microsoft.com/office/drawing/2014/main" id="{DDB6D55B-EB0A-4B77-9FFF-D02C64932CF0}"/>
              </a:ext>
            </a:extLst>
          </p:cNvPr>
          <p:cNvSpPr>
            <a:spLocks xmlns:a="http://schemas.openxmlformats.org/drawingml/2006/main" noGrp="1"/>
          </p:cNvSpPr>
          <p:nvPr/>
        </p:nvSpPr>
        <p:spPr>
          <a:xfrm xmlns:a="http://schemas.openxmlformats.org/drawingml/2006/main">
            <a:off x="609600" y="69532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F3C"/>
                </a:solidFill>
                <a:latin typeface="DejaVu Sans"/>
                <a:ea typeface="DejaVu Sans"/>
                <a:cs typeface="DejaVu Sans"/>
              </a:defRPr>
            </a:defPPr>
          </a:lstStyle>
          <a:p xmlns:a="http://schemas.openxmlformats.org/drawingml/2006/main">
            <a:pPr>
              <a:lnSpc>
                <a:spcPct val="105000"/>
              </a:lnSpc>
              <a:buNone/>
              <a:defRPr sz="3300" b="1">
                <a:solidFill>
                  <a:srgbClr val="172F3C"/>
                </a:solidFill>
                <a:latin typeface="DejaVu Sans"/>
                <a:ea typeface="DejaVu Sans"/>
                <a:cs typeface="DejaVu Sans"/>
              </a:defRPr>
            </a:pPr>
            <a:r>
              <a:rPr sz="3300" b="1">
                <a:solidFill>
                  <a:srgbClr val="172F3C"/>
                </a:solidFill>
                <a:latin typeface="DejaVu Sans"/>
                <a:ea typeface="DejaVu Sans"/>
                <a:cs typeface="DejaVu Sans"/>
              </a:rPr>
              <a:t>PuertaSalida</a:t>
            </a:r>
          </a:p>
        </p:txBody>
      </p:sp>
      <p:sp>
        <p:nvSpPr>
          <p:cNvPr id="3" name="etiqueta-uml">
            <a:extLst xmlns:a="http://schemas.openxmlformats.org/drawingml/2006/main">
              <a:ext uri="{FF2B5EF4-FFF2-40B4-BE49-F238E27FC236}">
                <a16:creationId xmlns:a16="http://schemas.microsoft.com/office/drawing/2014/main" id="{BD347834-F157-4758-AF05-AB98FE5BFDDE}"/>
              </a:ext>
            </a:extLst>
          </p:cNvPr>
          <p:cNvSpPr>
            <a:spLocks xmlns:a="http://schemas.openxmlformats.org/drawingml/2006/main" noGrp="1"/>
          </p:cNvSpPr>
          <p:nvPr/>
        </p:nvSpPr>
        <p:spPr>
          <a:xfrm xmlns:a="http://schemas.openxmlformats.org/drawingml/2006/main">
            <a:off x="609600" y="1495425"/>
            <a:ext cx="2809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UML: recorte original</a:t>
            </a:r>
          </a:p>
        </p:txBody>
      </p:sp>
      <p:pic>
        <p:nvPicPr>
          <p:cNvPr id="4" name="">
            <a:extLst xmlns:a="http://schemas.openxmlformats.org/drawingml/2006/main">
              <a:ext uri="{FF2B5EF4-FFF2-40B4-BE49-F238E27FC236}">
                <a16:creationId xmlns:a16="http://schemas.microsoft.com/office/drawing/2014/main" id="{54485856-0325-423F-BE93-089B3FC78F5C}"/>
              </a:ext>
            </a:extLst>
          </p:cNvPr>
          <p:cNvPicPr>
            <a:picLocks xmlns:a="http://schemas.openxmlformats.org/drawingml/2006/main" noChangeAspect="1"/>
          </p:cNvPicPr>
          <p:nvPr/>
        </p:nvPicPr>
        <p:blipFill>
          <a:blip xmlns:r="http://schemas.openxmlformats.org/officeDocument/2006/relationships" xmlns:a="http://schemas.openxmlformats.org/drawingml/2006/main" r:embed="R36cd2033403b4fe3"/>
          <a:stretch xmlns:a="http://schemas.openxmlformats.org/drawingml/2006/main"/>
        </p:blipFill>
        <p:spPr>
          <a:xfrm xmlns:a="http://schemas.openxmlformats.org/drawingml/2006/main">
            <a:off x="609600" y="3362358"/>
            <a:ext cx="2762250" cy="1390585"/>
          </a:xfrm>
          <a:prstGeom xmlns:a="http://schemas.openxmlformats.org/drawingml/2006/main" prst="rect">
            <a:avLst/>
          </a:prstGeom>
        </p:spPr>
      </p:pic>
      <p:sp>
        <p:nvSpPr>
          <p:cNvPr id="5" name="funcion-clase">
            <a:extLst xmlns:a="http://schemas.openxmlformats.org/drawingml/2006/main">
              <a:ext uri="{FF2B5EF4-FFF2-40B4-BE49-F238E27FC236}">
                <a16:creationId xmlns:a16="http://schemas.microsoft.com/office/drawing/2014/main" id="{4B052033-C878-45E6-9C80-4AF5E34A85D2}"/>
              </a:ext>
            </a:extLst>
          </p:cNvPr>
          <p:cNvSpPr>
            <a:spLocks xmlns:a="http://schemas.openxmlformats.org/drawingml/2006/main" noGrp="1"/>
          </p:cNvSpPr>
          <p:nvPr/>
        </p:nvSpPr>
        <p:spPr>
          <a:xfrm xmlns:a="http://schemas.openxmlformats.org/drawingml/2006/main">
            <a:off x="3810000" y="1419225"/>
            <a:ext cx="7762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F3C"/>
                </a:solidFill>
                <a:latin typeface="DejaVu Sans"/>
                <a:ea typeface="DejaVu Sans"/>
                <a:cs typeface="DejaVu Sans"/>
              </a:defRPr>
            </a:defPPr>
          </a:lstStyle>
          <a:p xmlns:a="http://schemas.openxmlformats.org/drawingml/2006/main">
            <a:pPr>
              <a:lnSpc>
                <a:spcPct val="105000"/>
              </a:lnSpc>
              <a:buNone/>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Representa el lugar por el que se termina un nivel.</a:t>
            </a:r>
          </a:p>
        </p:txBody>
      </p:sp>
      <p:sp>
        <p:nvSpPr>
          <p:cNvPr id="6" name="poo-0">
            <a:extLst xmlns:a="http://schemas.openxmlformats.org/drawingml/2006/main">
              <a:ext uri="{FF2B5EF4-FFF2-40B4-BE49-F238E27FC236}">
                <a16:creationId xmlns:a16="http://schemas.microsoft.com/office/drawing/2014/main" id="{0098F99F-9215-4F63-9FB0-01E9761B5E82}"/>
              </a:ext>
            </a:extLst>
          </p:cNvPr>
          <p:cNvSpPr>
            <a:spLocks xmlns:a="http://schemas.openxmlformats.org/drawingml/2006/main" noGrp="1"/>
          </p:cNvSpPr>
          <p:nvPr/>
        </p:nvSpPr>
        <p:spPr>
          <a:xfrm xmlns:a="http://schemas.openxmlformats.org/drawingml/2006/main">
            <a:off x="3810000" y="21717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Composición: Nivel crea su PuertaSalida.</a:t>
            </a:r>
          </a:p>
        </p:txBody>
      </p:sp>
      <p:sp>
        <p:nvSpPr>
          <p:cNvPr id="7" name="poo-1">
            <a:extLst xmlns:a="http://schemas.openxmlformats.org/drawingml/2006/main">
              <a:ext uri="{FF2B5EF4-FFF2-40B4-BE49-F238E27FC236}">
                <a16:creationId xmlns:a16="http://schemas.microsoft.com/office/drawing/2014/main" id="{C1BBB0A6-6261-47E6-A5DB-BC3BAC08075A}"/>
              </a:ext>
            </a:extLst>
          </p:cNvPr>
          <p:cNvSpPr>
            <a:spLocks xmlns:a="http://schemas.openxmlformats.org/drawingml/2006/main" noGrp="1"/>
          </p:cNvSpPr>
          <p:nvPr/>
        </p:nvSpPr>
        <p:spPr>
          <a:xfrm xmlns:a="http://schemas.openxmlformats.org/drawingml/2006/main">
            <a:off x="3810000" y="25146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Dependencia: puede_salir consulta al Prisionero.</a:t>
            </a:r>
          </a:p>
        </p:txBody>
      </p:sp>
      <p:sp>
        <p:nvSpPr>
          <p:cNvPr id="8" name="etiqueta-codigo">
            <a:extLst xmlns:a="http://schemas.openxmlformats.org/drawingml/2006/main">
              <a:ext uri="{FF2B5EF4-FFF2-40B4-BE49-F238E27FC236}">
                <a16:creationId xmlns:a16="http://schemas.microsoft.com/office/drawing/2014/main" id="{DB3A189F-7CC7-4BB1-8BAA-18DC301875AC}"/>
              </a:ext>
            </a:extLst>
          </p:cNvPr>
          <p:cNvSpPr>
            <a:spLocks xmlns:a="http://schemas.openxmlformats.org/drawingml/2006/main" noGrp="1"/>
          </p:cNvSpPr>
          <p:nvPr/>
        </p:nvSpPr>
        <p:spPr>
          <a:xfrm xmlns:a="http://schemas.openxmlformats.org/drawingml/2006/main">
            <a:off x="3810000" y="2819400"/>
            <a:ext cx="7762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Código del proyecto (fragmento)</a:t>
            </a:r>
          </a:p>
        </p:txBody>
      </p:sp>
      <p:sp>
        <p:nvSpPr>
          <p:cNvPr id="9" name="fragmento-codigo">
            <a:extLst xmlns:a="http://schemas.openxmlformats.org/drawingml/2006/main">
              <a:ext uri="{FF2B5EF4-FFF2-40B4-BE49-F238E27FC236}">
                <a16:creationId xmlns:a16="http://schemas.microsoft.com/office/drawing/2014/main" id="{CFB2FFD9-E080-463F-BE55-E0A5B9E5F6A1}"/>
              </a:ext>
            </a:extLst>
          </p:cNvPr>
          <p:cNvSpPr>
            <a:spLocks xmlns:a="http://schemas.openxmlformats.org/drawingml/2006/main" noGrp="1"/>
          </p:cNvSpPr>
          <p:nvPr/>
        </p:nvSpPr>
        <p:spPr>
          <a:xfrm xmlns:a="http://schemas.openxmlformats.org/drawingml/2006/main">
            <a:off x="3810000" y="3143250"/>
            <a:ext cx="77628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172F3C"/>
                </a:solidFill>
                <a:latin typeface="DejaVu Sans Mono"/>
                <a:ea typeface="DejaVu Sans Mono"/>
                <a:cs typeface="DejaVu Sans Mono"/>
              </a:defRPr>
            </a:defPPr>
          </a:lstStyle>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class PuertaSalida:</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puede_salir(self, prisionero):</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return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prisionero.tiene_llave()</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and distancia(</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self.posicion, prisionero.get_posicion()</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&lt; 22</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a:t>
            </a:r>
          </a:p>
        </p:txBody>
      </p:sp>
      <p:sp>
        <p:nvSpPr>
          <p:cNvPr id="10" name="enlace-fuente">
            <a:extLst xmlns:a="http://schemas.openxmlformats.org/drawingml/2006/main">
              <a:ext uri="{FF2B5EF4-FFF2-40B4-BE49-F238E27FC236}">
                <a16:creationId xmlns:a16="http://schemas.microsoft.com/office/drawing/2014/main" id="{AEBA4840-76F5-4FB1-B5A8-6C8E2810DDDA}"/>
              </a:ext>
            </a:extLst>
          </p:cNvPr>
          <p:cNvSpPr>
            <a:spLocks xmlns:a="http://schemas.openxmlformats.org/drawingml/2006/main" noGrp="1"/>
          </p:cNvSpPr>
          <p:nvPr/>
        </p:nvSpPr>
        <p:spPr>
          <a:xfrm xmlns:a="http://schemas.openxmlformats.org/drawingml/2006/main">
            <a:off x="3810000" y="6457950"/>
            <a:ext cx="7762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526773"/>
                </a:solidFill>
                <a:latin typeface="DejaVu Sans"/>
                <a:ea typeface="DejaVu Sans"/>
                <a:cs typeface="DejaVu Sans"/>
              </a:defRPr>
            </a:defPPr>
          </a:lstStyle>
          <a:p xmlns:a="http://schemas.openxmlformats.org/drawingml/2006/main">
            <a:pPr>
              <a:lnSpc>
                <a:spcPct val="105000"/>
              </a:lnSpc>
              <a:buNone/>
              <a:defRPr sz="975" b="0">
                <a:solidFill>
                  <a:srgbClr val="526773"/>
                </a:solidFill>
                <a:latin typeface="DejaVu Sans"/>
                <a:ea typeface="DejaVu Sans"/>
                <a:cs typeface="DejaVu Sans"/>
              </a:defRPr>
            </a:pPr>
            <a:r>
              <a:rPr sz="975" b="0">
                <a:solidFill>
                  <a:srgbClr val="526773"/>
                </a:solidFill>
                <a:latin typeface="DejaVu Sans"/>
                <a:ea typeface="DejaVu Sans"/>
                <a:cs typeface="DejaVu Sans"/>
                <a:hlinkClick xmlns:r="http://schemas.openxmlformats.org/officeDocument/2006/relationships" r:id="Redacb0b22f434146"/>
              </a:rPr>
              <a:t>src/nivel.py, clase desde línea 77</a:t>
            </a:r>
          </a:p>
        </p:txBody>
      </p:sp>
      <p:sp>
        <p:nvSpPr>
          <p:cNvPr id="11" name="enlace-recorte">
            <a:extLst xmlns:a="http://schemas.openxmlformats.org/drawingml/2006/main">
              <a:ext uri="{FF2B5EF4-FFF2-40B4-BE49-F238E27FC236}">
                <a16:creationId xmlns:a16="http://schemas.microsoft.com/office/drawing/2014/main" id="{4A091198-5540-46AC-8DBA-AC4A80CD1C96}"/>
              </a:ext>
            </a:extLst>
          </p:cNvPr>
          <p:cNvSpPr>
            <a:spLocks xmlns:a="http://schemas.openxmlformats.org/drawingml/2006/main" noGrp="1"/>
          </p:cNvSpPr>
          <p:nvPr/>
        </p:nvSpPr>
        <p:spPr>
          <a:xfrm xmlns:a="http://schemas.openxmlformats.org/drawingml/2006/main">
            <a:off x="609600" y="6457950"/>
            <a:ext cx="285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16735D"/>
                </a:solidFill>
                <a:latin typeface="DejaVu Sans"/>
                <a:ea typeface="DejaVu Sans"/>
                <a:cs typeface="DejaVu Sans"/>
              </a:defRPr>
            </a:defPPr>
          </a:lstStyle>
          <a:p xmlns:a="http://schemas.openxmlformats.org/drawingml/2006/main">
            <a:pPr>
              <a:lnSpc>
                <a:spcPct val="105000"/>
              </a:lnSpc>
              <a:buNone/>
              <a:defRPr sz="975" b="0">
                <a:solidFill>
                  <a:srgbClr val="16735D"/>
                </a:solidFill>
                <a:latin typeface="DejaVu Sans"/>
                <a:ea typeface="DejaVu Sans"/>
                <a:cs typeface="DejaVu Sans"/>
              </a:defRPr>
            </a:pPr>
            <a:r>
              <a:rPr sz="975" b="0">
                <a:solidFill>
                  <a:srgbClr val="16735D"/>
                </a:solidFill>
                <a:latin typeface="DejaVu Sans"/>
                <a:ea typeface="DejaVu Sans"/>
                <a:cs typeface="DejaVu Sans"/>
                <a:hlinkClick xmlns:r="http://schemas.openxmlformats.org/officeDocument/2006/relationships" r:id="R354d1c7020ee49e1"/>
              </a:rPr>
              <a:t>Abrir recorte en tamaño original</a:t>
            </a:r>
          </a:p>
        </p:txBody>
      </p:sp>
    </p:spTree>
    <p:extLst>
      <p:ext uri="{BB962C8B-B14F-4D97-AF65-F5344CB8AC3E}">
        <p14:creationId xmlns:p14="http://schemas.microsoft.com/office/powerpoint/2010/main" val="78103171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partado-clase">
            <a:extLst xmlns:a="http://schemas.openxmlformats.org/drawingml/2006/main">
              <a:ext uri="{FF2B5EF4-FFF2-40B4-BE49-F238E27FC236}">
                <a16:creationId xmlns:a16="http://schemas.microsoft.com/office/drawing/2014/main" id="{0AC5B3F8-8EF5-453F-8172-C15D93BE06AD}"/>
              </a:ext>
            </a:extLst>
          </p:cNvPr>
          <p:cNvSpPr>
            <a:spLocks xmlns:a="http://schemas.openxmlformats.org/drawingml/2006/main" noGrp="1"/>
          </p:cNvSpPr>
          <p:nvPr/>
        </p:nvSpPr>
        <p:spPr>
          <a:xfrm xmlns:a="http://schemas.openxmlformats.org/drawingml/2006/main">
            <a:off x="60960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lnSpc>
                <a:spcPct val="105000"/>
              </a:lnSpc>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Punto 7 de 7. VIII. Anexos. Clase 19 de 25</a:t>
            </a:r>
          </a:p>
        </p:txBody>
      </p:sp>
      <p:sp>
        <p:nvSpPr>
          <p:cNvPr id="2" name="titulo-clase">
            <a:extLst xmlns:a="http://schemas.openxmlformats.org/drawingml/2006/main">
              <a:ext uri="{FF2B5EF4-FFF2-40B4-BE49-F238E27FC236}">
                <a16:creationId xmlns:a16="http://schemas.microsoft.com/office/drawing/2014/main" id="{2929A4DF-C989-4EE1-82CC-F9EB1F3DF765}"/>
              </a:ext>
            </a:extLst>
          </p:cNvPr>
          <p:cNvSpPr>
            <a:spLocks xmlns:a="http://schemas.openxmlformats.org/drawingml/2006/main" noGrp="1"/>
          </p:cNvSpPr>
          <p:nvPr/>
        </p:nvSpPr>
        <p:spPr>
          <a:xfrm xmlns:a="http://schemas.openxmlformats.org/drawingml/2006/main">
            <a:off x="609600" y="69532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F3C"/>
                </a:solidFill>
                <a:latin typeface="DejaVu Sans"/>
                <a:ea typeface="DejaVu Sans"/>
                <a:cs typeface="DejaVu Sans"/>
              </a:defRPr>
            </a:defPPr>
          </a:lstStyle>
          <a:p xmlns:a="http://schemas.openxmlformats.org/drawingml/2006/main">
            <a:pPr>
              <a:lnSpc>
                <a:spcPct val="105000"/>
              </a:lnSpc>
              <a:buNone/>
              <a:defRPr sz="3300" b="1">
                <a:solidFill>
                  <a:srgbClr val="172F3C"/>
                </a:solidFill>
                <a:latin typeface="DejaVu Sans"/>
                <a:ea typeface="DejaVu Sans"/>
                <a:cs typeface="DejaVu Sans"/>
              </a:defRPr>
            </a:pPr>
            <a:r>
              <a:rPr sz="3300" b="1">
                <a:solidFill>
                  <a:srgbClr val="172F3C"/>
                </a:solidFill>
                <a:latin typeface="DejaVu Sans"/>
                <a:ea typeface="DejaVu Sans"/>
                <a:cs typeface="DejaVu Sans"/>
              </a:rPr>
              <a:t>Puntaje</a:t>
            </a:r>
          </a:p>
        </p:txBody>
      </p:sp>
      <p:sp>
        <p:nvSpPr>
          <p:cNvPr id="3" name="etiqueta-uml">
            <a:extLst xmlns:a="http://schemas.openxmlformats.org/drawingml/2006/main">
              <a:ext uri="{FF2B5EF4-FFF2-40B4-BE49-F238E27FC236}">
                <a16:creationId xmlns:a16="http://schemas.microsoft.com/office/drawing/2014/main" id="{FFEDBDF7-C881-4E38-8B72-6EC034EB7DA1}"/>
              </a:ext>
            </a:extLst>
          </p:cNvPr>
          <p:cNvSpPr>
            <a:spLocks xmlns:a="http://schemas.openxmlformats.org/drawingml/2006/main" noGrp="1"/>
          </p:cNvSpPr>
          <p:nvPr/>
        </p:nvSpPr>
        <p:spPr>
          <a:xfrm xmlns:a="http://schemas.openxmlformats.org/drawingml/2006/main">
            <a:off x="609600" y="1495425"/>
            <a:ext cx="2809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UML: recorte original</a:t>
            </a:r>
          </a:p>
        </p:txBody>
      </p:sp>
      <p:pic>
        <p:nvPicPr>
          <p:cNvPr id="4" name="">
            <a:extLst xmlns:a="http://schemas.openxmlformats.org/drawingml/2006/main">
              <a:ext uri="{FF2B5EF4-FFF2-40B4-BE49-F238E27FC236}">
                <a16:creationId xmlns:a16="http://schemas.microsoft.com/office/drawing/2014/main" id="{6921FD54-B502-4C3B-B850-793122C96303}"/>
              </a:ext>
            </a:extLst>
          </p:cNvPr>
          <p:cNvPicPr>
            <a:picLocks xmlns:a="http://schemas.openxmlformats.org/drawingml/2006/main" noChangeAspect="1"/>
          </p:cNvPicPr>
          <p:nvPr/>
        </p:nvPicPr>
        <p:blipFill>
          <a:blip xmlns:r="http://schemas.openxmlformats.org/officeDocument/2006/relationships" xmlns:a="http://schemas.openxmlformats.org/drawingml/2006/main" r:embed="R428caa3355e0485f"/>
          <a:stretch xmlns:a="http://schemas.openxmlformats.org/drawingml/2006/main"/>
        </p:blipFill>
        <p:spPr>
          <a:xfrm xmlns:a="http://schemas.openxmlformats.org/drawingml/2006/main">
            <a:off x="609600" y="2833868"/>
            <a:ext cx="2762250" cy="2447563"/>
          </a:xfrm>
          <a:prstGeom xmlns:a="http://schemas.openxmlformats.org/drawingml/2006/main" prst="rect">
            <a:avLst/>
          </a:prstGeom>
        </p:spPr>
      </p:pic>
      <p:sp>
        <p:nvSpPr>
          <p:cNvPr id="5" name="funcion-clase">
            <a:extLst xmlns:a="http://schemas.openxmlformats.org/drawingml/2006/main">
              <a:ext uri="{FF2B5EF4-FFF2-40B4-BE49-F238E27FC236}">
                <a16:creationId xmlns:a16="http://schemas.microsoft.com/office/drawing/2014/main" id="{0FE4C32F-081D-46CB-8AE8-A2EFFEE634F8}"/>
              </a:ext>
            </a:extLst>
          </p:cNvPr>
          <p:cNvSpPr>
            <a:spLocks xmlns:a="http://schemas.openxmlformats.org/drawingml/2006/main" noGrp="1"/>
          </p:cNvSpPr>
          <p:nvPr/>
        </p:nvSpPr>
        <p:spPr>
          <a:xfrm xmlns:a="http://schemas.openxmlformats.org/drawingml/2006/main">
            <a:off x="3810000" y="1419225"/>
            <a:ext cx="7762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F3C"/>
                </a:solidFill>
                <a:latin typeface="DejaVu Sans"/>
                <a:ea typeface="DejaVu Sans"/>
                <a:cs typeface="DejaVu Sans"/>
              </a:defRPr>
            </a:defPPr>
          </a:lstStyle>
          <a:p xmlns:a="http://schemas.openxmlformats.org/drawingml/2006/main">
            <a:pPr>
              <a:lnSpc>
                <a:spcPct val="105000"/>
              </a:lnSpc>
              <a:buNone/>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Conserva los puntos y avisa cuando cambian.</a:t>
            </a:r>
          </a:p>
        </p:txBody>
      </p:sp>
      <p:sp>
        <p:nvSpPr>
          <p:cNvPr id="6" name="poo-0">
            <a:extLst xmlns:a="http://schemas.openxmlformats.org/drawingml/2006/main">
              <a:ext uri="{FF2B5EF4-FFF2-40B4-BE49-F238E27FC236}">
                <a16:creationId xmlns:a16="http://schemas.microsoft.com/office/drawing/2014/main" id="{57940EC6-E603-4051-855A-B47F2A51D1F8}"/>
              </a:ext>
            </a:extLst>
          </p:cNvPr>
          <p:cNvSpPr>
            <a:spLocks xmlns:a="http://schemas.openxmlformats.org/drawingml/2006/main" noGrp="1"/>
          </p:cNvSpPr>
          <p:nvPr/>
        </p:nvSpPr>
        <p:spPr>
          <a:xfrm xmlns:a="http://schemas.openxmlformats.org/drawingml/2006/main">
            <a:off x="3810000" y="21717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Encapsulamiento: valida los cambios de _valor.</a:t>
            </a:r>
          </a:p>
        </p:txBody>
      </p:sp>
      <p:sp>
        <p:nvSpPr>
          <p:cNvPr id="7" name="poo-1">
            <a:extLst xmlns:a="http://schemas.openxmlformats.org/drawingml/2006/main">
              <a:ext uri="{FF2B5EF4-FFF2-40B4-BE49-F238E27FC236}">
                <a16:creationId xmlns:a16="http://schemas.microsoft.com/office/drawing/2014/main" id="{D846063D-8D97-4A27-B9D6-A03FBA85D9B1}"/>
              </a:ext>
            </a:extLst>
          </p:cNvPr>
          <p:cNvSpPr>
            <a:spLocks xmlns:a="http://schemas.openxmlformats.org/drawingml/2006/main" noGrp="1"/>
          </p:cNvSpPr>
          <p:nvPr/>
        </p:nvSpPr>
        <p:spPr>
          <a:xfrm xmlns:a="http://schemas.openxmlformats.org/drawingml/2006/main">
            <a:off x="3810000" y="25146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Agregación: conserva observadores creados fuera.</a:t>
            </a:r>
          </a:p>
        </p:txBody>
      </p:sp>
      <p:sp>
        <p:nvSpPr>
          <p:cNvPr id="8" name="poo-2">
            <a:extLst xmlns:a="http://schemas.openxmlformats.org/drawingml/2006/main">
              <a:ext uri="{FF2B5EF4-FFF2-40B4-BE49-F238E27FC236}">
                <a16:creationId xmlns:a16="http://schemas.microsoft.com/office/drawing/2014/main" id="{7FDD0FBA-35BD-4B66-83DF-891CD2D199A2}"/>
              </a:ext>
            </a:extLst>
          </p:cNvPr>
          <p:cNvSpPr>
            <a:spLocks xmlns:a="http://schemas.openxmlformats.org/drawingml/2006/main" noGrp="1"/>
          </p:cNvSpPr>
          <p:nvPr/>
        </p:nvSpPr>
        <p:spPr>
          <a:xfrm xmlns:a="http://schemas.openxmlformats.org/drawingml/2006/main">
            <a:off x="3810000" y="28575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Observer: notifica mediante actualizar_puntaje.</a:t>
            </a:r>
          </a:p>
        </p:txBody>
      </p:sp>
      <p:sp>
        <p:nvSpPr>
          <p:cNvPr id="9" name="etiqueta-codigo">
            <a:extLst xmlns:a="http://schemas.openxmlformats.org/drawingml/2006/main">
              <a:ext uri="{FF2B5EF4-FFF2-40B4-BE49-F238E27FC236}">
                <a16:creationId xmlns:a16="http://schemas.microsoft.com/office/drawing/2014/main" id="{8ED8BA29-3C94-43EB-ADD5-B14C848715A9}"/>
              </a:ext>
            </a:extLst>
          </p:cNvPr>
          <p:cNvSpPr>
            <a:spLocks xmlns:a="http://schemas.openxmlformats.org/drawingml/2006/main" noGrp="1"/>
          </p:cNvSpPr>
          <p:nvPr/>
        </p:nvSpPr>
        <p:spPr>
          <a:xfrm xmlns:a="http://schemas.openxmlformats.org/drawingml/2006/main">
            <a:off x="3810000" y="3162300"/>
            <a:ext cx="7762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Código del proyecto (fragmento)</a:t>
            </a:r>
          </a:p>
        </p:txBody>
      </p:sp>
      <p:sp>
        <p:nvSpPr>
          <p:cNvPr id="10" name="fragmento-codigo">
            <a:extLst xmlns:a="http://schemas.openxmlformats.org/drawingml/2006/main">
              <a:ext uri="{FF2B5EF4-FFF2-40B4-BE49-F238E27FC236}">
                <a16:creationId xmlns:a16="http://schemas.microsoft.com/office/drawing/2014/main" id="{8B8350BD-112E-4A8E-96E2-F7F7EA53A2EF}"/>
              </a:ext>
            </a:extLst>
          </p:cNvPr>
          <p:cNvSpPr>
            <a:spLocks xmlns:a="http://schemas.openxmlformats.org/drawingml/2006/main" noGrp="1"/>
          </p:cNvSpPr>
          <p:nvPr/>
        </p:nvSpPr>
        <p:spPr>
          <a:xfrm xmlns:a="http://schemas.openxmlformats.org/drawingml/2006/main">
            <a:off x="3810000" y="3486150"/>
            <a:ext cx="7762875"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13" b="0">
                <a:solidFill>
                  <a:srgbClr val="172F3C"/>
                </a:solidFill>
                <a:latin typeface="DejaVu Sans Mono"/>
                <a:ea typeface="DejaVu Sans Mono"/>
                <a:cs typeface="DejaVu Sans Mono"/>
              </a:defRPr>
            </a:defPPr>
          </a:lstStyle>
          <a:p xmlns:a="http://schemas.openxmlformats.org/drawingml/2006/main">
            <a:pPr>
              <a:lnSpc>
                <a:spcPct val="105000"/>
              </a:lnSpc>
              <a:buNone/>
              <a:defRPr sz="1413" b="0">
                <a:solidFill>
                  <a:srgbClr val="172F3C"/>
                </a:solidFill>
                <a:latin typeface="DejaVu Sans Mono"/>
                <a:ea typeface="DejaVu Sans Mono"/>
                <a:cs typeface="DejaVu Sans Mono"/>
              </a:defRPr>
            </a:pPr>
            <a:r>
              <a:rPr sz="1413" b="0">
                <a:solidFill>
                  <a:srgbClr val="172F3C"/>
                </a:solidFill>
                <a:latin typeface="DejaVu Sans Mono"/>
                <a:ea typeface="DejaVu Sans Mono"/>
                <a:cs typeface="DejaVu Sans Mono"/>
              </a:rPr>
              <a:t>class Puntaje:</a:t>
            </a:r>
          </a:p>
          <a:p xmlns:a="http://schemas.openxmlformats.org/drawingml/2006/main">
            <a:r>
              <a:t/>
            </a:r>
          </a:p>
          <a:p xmlns:a="http://schemas.openxmlformats.org/drawingml/2006/main">
            <a:pPr>
              <a:lnSpc>
                <a:spcPct val="105000"/>
              </a:lnSpc>
              <a:buNone/>
              <a:defRPr sz="1413" b="0">
                <a:solidFill>
                  <a:srgbClr val="172F3C"/>
                </a:solidFill>
                <a:latin typeface="DejaVu Sans Mono"/>
                <a:ea typeface="DejaVu Sans Mono"/>
                <a:cs typeface="DejaVu Sans Mono"/>
              </a:defRPr>
            </a:pPr>
            <a:r>
              <a:rPr sz="1413" b="0">
                <a:solidFill>
                  <a:srgbClr val="172F3C"/>
                </a:solidFill>
                <a:latin typeface="DejaVu Sans Mono"/>
                <a:ea typeface="DejaVu Sans Mono"/>
                <a:cs typeface="DejaVu Sans Mono"/>
              </a:rPr>
              <a:t>    def set_valor(self, valor):</a:t>
            </a:r>
          </a:p>
          <a:p xmlns:a="http://schemas.openxmlformats.org/drawingml/2006/main">
            <a:pPr>
              <a:lnSpc>
                <a:spcPct val="105000"/>
              </a:lnSpc>
              <a:buNone/>
              <a:defRPr sz="1413" b="0">
                <a:solidFill>
                  <a:srgbClr val="172F3C"/>
                </a:solidFill>
                <a:latin typeface="DejaVu Sans Mono"/>
                <a:ea typeface="DejaVu Sans Mono"/>
                <a:cs typeface="DejaVu Sans Mono"/>
              </a:defRPr>
            </a:pPr>
            <a:r>
              <a:rPr sz="1413" b="0">
                <a:solidFill>
                  <a:srgbClr val="172F3C"/>
                </a:solidFill>
                <a:latin typeface="DejaVu Sans Mono"/>
                <a:ea typeface="DejaVu Sans Mono"/>
                <a:cs typeface="DejaVu Sans Mono"/>
              </a:rPr>
              <a:t>        if type(valor) is not int or valor &lt; 0:</a:t>
            </a:r>
          </a:p>
          <a:p xmlns:a="http://schemas.openxmlformats.org/drawingml/2006/main">
            <a:pPr>
              <a:lnSpc>
                <a:spcPct val="105000"/>
              </a:lnSpc>
              <a:buNone/>
              <a:defRPr sz="1413" b="0">
                <a:solidFill>
                  <a:srgbClr val="172F3C"/>
                </a:solidFill>
                <a:latin typeface="DejaVu Sans Mono"/>
                <a:ea typeface="DejaVu Sans Mono"/>
                <a:cs typeface="DejaVu Sans Mono"/>
              </a:defRPr>
            </a:pPr>
            <a:r>
              <a:rPr sz="1413" b="0">
                <a:solidFill>
                  <a:srgbClr val="172F3C"/>
                </a:solidFill>
                <a:latin typeface="DejaVu Sans Mono"/>
                <a:ea typeface="DejaVu Sans Mono"/>
                <a:cs typeface="DejaVu Sans Mono"/>
              </a:rPr>
              <a:t>            raise ValueError(</a:t>
            </a:r>
          </a:p>
          <a:p xmlns:a="http://schemas.openxmlformats.org/drawingml/2006/main">
            <a:pPr>
              <a:lnSpc>
                <a:spcPct val="105000"/>
              </a:lnSpc>
              <a:buNone/>
              <a:defRPr sz="1413" b="0">
                <a:solidFill>
                  <a:srgbClr val="172F3C"/>
                </a:solidFill>
                <a:latin typeface="DejaVu Sans Mono"/>
                <a:ea typeface="DejaVu Sans Mono"/>
                <a:cs typeface="DejaVu Sans Mono"/>
              </a:defRPr>
            </a:pPr>
            <a:r>
              <a:rPr sz="1413" b="0">
                <a:solidFill>
                  <a:srgbClr val="172F3C"/>
                </a:solidFill>
                <a:latin typeface="DejaVu Sans Mono"/>
                <a:ea typeface="DejaVu Sans Mono"/>
                <a:cs typeface="DejaVu Sans Mono"/>
              </a:rPr>
              <a:t>                "El puntaje debe ser un entero no negativo."</a:t>
            </a:r>
          </a:p>
          <a:p xmlns:a="http://schemas.openxmlformats.org/drawingml/2006/main">
            <a:pPr>
              <a:lnSpc>
                <a:spcPct val="105000"/>
              </a:lnSpc>
              <a:buNone/>
              <a:defRPr sz="1413" b="0">
                <a:solidFill>
                  <a:srgbClr val="172F3C"/>
                </a:solidFill>
                <a:latin typeface="DejaVu Sans Mono"/>
                <a:ea typeface="DejaVu Sans Mono"/>
                <a:cs typeface="DejaVu Sans Mono"/>
              </a:defRPr>
            </a:pPr>
            <a:r>
              <a:rPr sz="1413" b="0">
                <a:solidFill>
                  <a:srgbClr val="172F3C"/>
                </a:solidFill>
                <a:latin typeface="DejaVu Sans Mono"/>
                <a:ea typeface="DejaVu Sans Mono"/>
                <a:cs typeface="DejaVu Sans Mono"/>
              </a:rPr>
              <a:t>            )</a:t>
            </a:r>
          </a:p>
          <a:p xmlns:a="http://schemas.openxmlformats.org/drawingml/2006/main">
            <a:pPr>
              <a:lnSpc>
                <a:spcPct val="105000"/>
              </a:lnSpc>
              <a:buNone/>
              <a:defRPr sz="1413" b="0">
                <a:solidFill>
                  <a:srgbClr val="172F3C"/>
                </a:solidFill>
                <a:latin typeface="DejaVu Sans Mono"/>
                <a:ea typeface="DejaVu Sans Mono"/>
                <a:cs typeface="DejaVu Sans Mono"/>
              </a:defRPr>
            </a:pPr>
            <a:r>
              <a:rPr sz="1413" b="0">
                <a:solidFill>
                  <a:srgbClr val="172F3C"/>
                </a:solidFill>
                <a:latin typeface="DejaVu Sans Mono"/>
                <a:ea typeface="DejaVu Sans Mono"/>
                <a:cs typeface="DejaVu Sans Mono"/>
              </a:rPr>
              <a:t>        self._valor = valor</a:t>
            </a:r>
          </a:p>
          <a:p xmlns:a="http://schemas.openxmlformats.org/drawingml/2006/main">
            <a:pPr>
              <a:lnSpc>
                <a:spcPct val="105000"/>
              </a:lnSpc>
              <a:buNone/>
              <a:defRPr sz="1413" b="0">
                <a:solidFill>
                  <a:srgbClr val="172F3C"/>
                </a:solidFill>
                <a:latin typeface="DejaVu Sans Mono"/>
                <a:ea typeface="DejaVu Sans Mono"/>
                <a:cs typeface="DejaVu Sans Mono"/>
              </a:defRPr>
            </a:pPr>
            <a:r>
              <a:rPr sz="1413" b="0">
                <a:solidFill>
                  <a:srgbClr val="172F3C"/>
                </a:solidFill>
                <a:latin typeface="DejaVu Sans Mono"/>
                <a:ea typeface="DejaVu Sans Mono"/>
                <a:cs typeface="DejaVu Sans Mono"/>
              </a:rPr>
              <a:t>        self._notificar()</a:t>
            </a:r>
          </a:p>
          <a:p xmlns:a="http://schemas.openxmlformats.org/drawingml/2006/main">
            <a:r>
              <a:t/>
            </a:r>
          </a:p>
          <a:p xmlns:a="http://schemas.openxmlformats.org/drawingml/2006/main">
            <a:pPr>
              <a:lnSpc>
                <a:spcPct val="105000"/>
              </a:lnSpc>
              <a:buNone/>
              <a:defRPr sz="1413" b="0">
                <a:solidFill>
                  <a:srgbClr val="172F3C"/>
                </a:solidFill>
                <a:latin typeface="DejaVu Sans Mono"/>
                <a:ea typeface="DejaVu Sans Mono"/>
                <a:cs typeface="DejaVu Sans Mono"/>
              </a:defRPr>
            </a:pPr>
            <a:r>
              <a:rPr sz="1413" b="0">
                <a:solidFill>
                  <a:srgbClr val="172F3C"/>
                </a:solidFill>
                <a:latin typeface="DejaVu Sans Mono"/>
                <a:ea typeface="DejaVu Sans Mono"/>
                <a:cs typeface="DejaVu Sans Mono"/>
              </a:rPr>
              <a:t>    def _notificar(self):</a:t>
            </a:r>
          </a:p>
          <a:p xmlns:a="http://schemas.openxmlformats.org/drawingml/2006/main">
            <a:pPr>
              <a:lnSpc>
                <a:spcPct val="105000"/>
              </a:lnSpc>
              <a:buNone/>
              <a:defRPr sz="1413" b="0">
                <a:solidFill>
                  <a:srgbClr val="172F3C"/>
                </a:solidFill>
                <a:latin typeface="DejaVu Sans Mono"/>
                <a:ea typeface="DejaVu Sans Mono"/>
                <a:cs typeface="DejaVu Sans Mono"/>
              </a:defRPr>
            </a:pPr>
            <a:r>
              <a:rPr sz="1413" b="0">
                <a:solidFill>
                  <a:srgbClr val="172F3C"/>
                </a:solidFill>
                <a:latin typeface="DejaVu Sans Mono"/>
                <a:ea typeface="DejaVu Sans Mono"/>
                <a:cs typeface="DejaVu Sans Mono"/>
              </a:rPr>
              <a:t>        for observador in tuple(self._observadores):</a:t>
            </a:r>
          </a:p>
          <a:p xmlns:a="http://schemas.openxmlformats.org/drawingml/2006/main">
            <a:pPr>
              <a:lnSpc>
                <a:spcPct val="105000"/>
              </a:lnSpc>
              <a:buNone/>
              <a:defRPr sz="1413" b="0">
                <a:solidFill>
                  <a:srgbClr val="172F3C"/>
                </a:solidFill>
                <a:latin typeface="DejaVu Sans Mono"/>
                <a:ea typeface="DejaVu Sans Mono"/>
                <a:cs typeface="DejaVu Sans Mono"/>
              </a:defRPr>
            </a:pPr>
            <a:r>
              <a:rPr sz="1413" b="0">
                <a:solidFill>
                  <a:srgbClr val="172F3C"/>
                </a:solidFill>
                <a:latin typeface="DejaVu Sans Mono"/>
                <a:ea typeface="DejaVu Sans Mono"/>
                <a:cs typeface="DejaVu Sans Mono"/>
              </a:rPr>
              <a:t>            observador.actualizar_puntaje(self._valor)</a:t>
            </a:r>
          </a:p>
        </p:txBody>
      </p:sp>
      <p:sp>
        <p:nvSpPr>
          <p:cNvPr id="11" name="enlace-fuente">
            <a:extLst xmlns:a="http://schemas.openxmlformats.org/drawingml/2006/main">
              <a:ext uri="{FF2B5EF4-FFF2-40B4-BE49-F238E27FC236}">
                <a16:creationId xmlns:a16="http://schemas.microsoft.com/office/drawing/2014/main" id="{0F1DFC29-E039-4E9D-85D6-1855CC7855C6}"/>
              </a:ext>
            </a:extLst>
          </p:cNvPr>
          <p:cNvSpPr>
            <a:spLocks xmlns:a="http://schemas.openxmlformats.org/drawingml/2006/main" noGrp="1"/>
          </p:cNvSpPr>
          <p:nvPr/>
        </p:nvSpPr>
        <p:spPr>
          <a:xfrm xmlns:a="http://schemas.openxmlformats.org/drawingml/2006/main">
            <a:off x="3810000" y="6457950"/>
            <a:ext cx="7762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526773"/>
                </a:solidFill>
                <a:latin typeface="DejaVu Sans"/>
                <a:ea typeface="DejaVu Sans"/>
                <a:cs typeface="DejaVu Sans"/>
              </a:defRPr>
            </a:defPPr>
          </a:lstStyle>
          <a:p xmlns:a="http://schemas.openxmlformats.org/drawingml/2006/main">
            <a:pPr>
              <a:lnSpc>
                <a:spcPct val="105000"/>
              </a:lnSpc>
              <a:buNone/>
              <a:defRPr sz="975" b="0">
                <a:solidFill>
                  <a:srgbClr val="526773"/>
                </a:solidFill>
                <a:latin typeface="DejaVu Sans"/>
                <a:ea typeface="DejaVu Sans"/>
                <a:cs typeface="DejaVu Sans"/>
              </a:defRPr>
            </a:pPr>
            <a:r>
              <a:rPr sz="975" b="0">
                <a:solidFill>
                  <a:srgbClr val="526773"/>
                </a:solidFill>
                <a:latin typeface="DejaVu Sans"/>
                <a:ea typeface="DejaVu Sans"/>
                <a:cs typeface="DejaVu Sans"/>
                <a:hlinkClick xmlns:r="http://schemas.openxmlformats.org/officeDocument/2006/relationships" r:id="R95c0fed3f2a74af3"/>
              </a:rPr>
              <a:t>src/puntuacion.py, clase desde línea 18</a:t>
            </a:r>
          </a:p>
        </p:txBody>
      </p:sp>
      <p:sp>
        <p:nvSpPr>
          <p:cNvPr id="12" name="enlace-recorte">
            <a:extLst xmlns:a="http://schemas.openxmlformats.org/drawingml/2006/main">
              <a:ext uri="{FF2B5EF4-FFF2-40B4-BE49-F238E27FC236}">
                <a16:creationId xmlns:a16="http://schemas.microsoft.com/office/drawing/2014/main" id="{B625EB75-1F18-4F4A-BD50-7667D3887B6D}"/>
              </a:ext>
            </a:extLst>
          </p:cNvPr>
          <p:cNvSpPr>
            <a:spLocks xmlns:a="http://schemas.openxmlformats.org/drawingml/2006/main" noGrp="1"/>
          </p:cNvSpPr>
          <p:nvPr/>
        </p:nvSpPr>
        <p:spPr>
          <a:xfrm xmlns:a="http://schemas.openxmlformats.org/drawingml/2006/main">
            <a:off x="609600" y="6457950"/>
            <a:ext cx="285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16735D"/>
                </a:solidFill>
                <a:latin typeface="DejaVu Sans"/>
                <a:ea typeface="DejaVu Sans"/>
                <a:cs typeface="DejaVu Sans"/>
              </a:defRPr>
            </a:defPPr>
          </a:lstStyle>
          <a:p xmlns:a="http://schemas.openxmlformats.org/drawingml/2006/main">
            <a:pPr>
              <a:lnSpc>
                <a:spcPct val="105000"/>
              </a:lnSpc>
              <a:buNone/>
              <a:defRPr sz="975" b="0">
                <a:solidFill>
                  <a:srgbClr val="16735D"/>
                </a:solidFill>
                <a:latin typeface="DejaVu Sans"/>
                <a:ea typeface="DejaVu Sans"/>
                <a:cs typeface="DejaVu Sans"/>
              </a:defRPr>
            </a:pPr>
            <a:r>
              <a:rPr sz="975" b="0">
                <a:solidFill>
                  <a:srgbClr val="16735D"/>
                </a:solidFill>
                <a:latin typeface="DejaVu Sans"/>
                <a:ea typeface="DejaVu Sans"/>
                <a:cs typeface="DejaVu Sans"/>
                <a:hlinkClick xmlns:r="http://schemas.openxmlformats.org/officeDocument/2006/relationships" r:id="R9f3d05a86b74479a"/>
              </a:rPr>
              <a:t>Abrir recorte en tamaño original</a:t>
            </a:r>
          </a:p>
        </p:txBody>
      </p:sp>
    </p:spTree>
    <p:extLst>
      <p:ext uri="{BB962C8B-B14F-4D97-AF65-F5344CB8AC3E}">
        <p14:creationId xmlns:p14="http://schemas.microsoft.com/office/powerpoint/2010/main" val="30822692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partado-clase">
            <a:extLst xmlns:a="http://schemas.openxmlformats.org/drawingml/2006/main">
              <a:ext uri="{FF2B5EF4-FFF2-40B4-BE49-F238E27FC236}">
                <a16:creationId xmlns:a16="http://schemas.microsoft.com/office/drawing/2014/main" id="{DA4A4F9F-7C9D-4596-B8B3-E5BF8CFC8FC7}"/>
              </a:ext>
            </a:extLst>
          </p:cNvPr>
          <p:cNvSpPr>
            <a:spLocks xmlns:a="http://schemas.openxmlformats.org/drawingml/2006/main" noGrp="1"/>
          </p:cNvSpPr>
          <p:nvPr/>
        </p:nvSpPr>
        <p:spPr>
          <a:xfrm xmlns:a="http://schemas.openxmlformats.org/drawingml/2006/main">
            <a:off x="60960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lnSpc>
                <a:spcPct val="105000"/>
              </a:lnSpc>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Punto 7 de 7. VIII. Anexos. Clase 20 de 25</a:t>
            </a:r>
          </a:p>
        </p:txBody>
      </p:sp>
      <p:sp>
        <p:nvSpPr>
          <p:cNvPr id="2" name="titulo-clase">
            <a:extLst xmlns:a="http://schemas.openxmlformats.org/drawingml/2006/main">
              <a:ext uri="{FF2B5EF4-FFF2-40B4-BE49-F238E27FC236}">
                <a16:creationId xmlns:a16="http://schemas.microsoft.com/office/drawing/2014/main" id="{FCAD069E-FA79-4E34-AEB0-331981AD36DE}"/>
              </a:ext>
            </a:extLst>
          </p:cNvPr>
          <p:cNvSpPr>
            <a:spLocks xmlns:a="http://schemas.openxmlformats.org/drawingml/2006/main" noGrp="1"/>
          </p:cNvSpPr>
          <p:nvPr/>
        </p:nvSpPr>
        <p:spPr>
          <a:xfrm xmlns:a="http://schemas.openxmlformats.org/drawingml/2006/main">
            <a:off x="609600" y="69532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F3C"/>
                </a:solidFill>
                <a:latin typeface="DejaVu Sans"/>
                <a:ea typeface="DejaVu Sans"/>
                <a:cs typeface="DejaVu Sans"/>
              </a:defRPr>
            </a:defPPr>
          </a:lstStyle>
          <a:p xmlns:a="http://schemas.openxmlformats.org/drawingml/2006/main">
            <a:pPr>
              <a:lnSpc>
                <a:spcPct val="105000"/>
              </a:lnSpc>
              <a:buNone/>
              <a:defRPr sz="3300" b="1">
                <a:solidFill>
                  <a:srgbClr val="172F3C"/>
                </a:solidFill>
                <a:latin typeface="DejaVu Sans"/>
                <a:ea typeface="DejaVu Sans"/>
                <a:cs typeface="DejaVu Sans"/>
              </a:defRPr>
            </a:pPr>
            <a:r>
              <a:rPr sz="3300" b="1">
                <a:solidFill>
                  <a:srgbClr val="172F3C"/>
                </a:solidFill>
                <a:latin typeface="DejaVu Sans"/>
                <a:ea typeface="DejaVu Sans"/>
                <a:cs typeface="DejaVu Sans"/>
              </a:rPr>
              <a:t>ObservadorPuntaje</a:t>
            </a:r>
          </a:p>
        </p:txBody>
      </p:sp>
      <p:sp>
        <p:nvSpPr>
          <p:cNvPr id="3" name="etiqueta-uml">
            <a:extLst xmlns:a="http://schemas.openxmlformats.org/drawingml/2006/main">
              <a:ext uri="{FF2B5EF4-FFF2-40B4-BE49-F238E27FC236}">
                <a16:creationId xmlns:a16="http://schemas.microsoft.com/office/drawing/2014/main" id="{60B53ECA-7849-47F3-8BE5-98C79315AC9A}"/>
              </a:ext>
            </a:extLst>
          </p:cNvPr>
          <p:cNvSpPr>
            <a:spLocks xmlns:a="http://schemas.openxmlformats.org/drawingml/2006/main" noGrp="1"/>
          </p:cNvSpPr>
          <p:nvPr/>
        </p:nvSpPr>
        <p:spPr>
          <a:xfrm xmlns:a="http://schemas.openxmlformats.org/drawingml/2006/main">
            <a:off x="609600" y="1495425"/>
            <a:ext cx="2809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UML: recorte original</a:t>
            </a:r>
          </a:p>
        </p:txBody>
      </p:sp>
      <p:pic>
        <p:nvPicPr>
          <p:cNvPr id="4" name="">
            <a:extLst xmlns:a="http://schemas.openxmlformats.org/drawingml/2006/main">
              <a:ext uri="{FF2B5EF4-FFF2-40B4-BE49-F238E27FC236}">
                <a16:creationId xmlns:a16="http://schemas.microsoft.com/office/drawing/2014/main" id="{F60D61D4-7074-4AF9-901C-34661836B745}"/>
              </a:ext>
            </a:extLst>
          </p:cNvPr>
          <p:cNvPicPr>
            <a:picLocks xmlns:a="http://schemas.openxmlformats.org/drawingml/2006/main" noChangeAspect="1"/>
          </p:cNvPicPr>
          <p:nvPr/>
        </p:nvPicPr>
        <p:blipFill>
          <a:blip xmlns:r="http://schemas.openxmlformats.org/officeDocument/2006/relationships" xmlns:a="http://schemas.openxmlformats.org/drawingml/2006/main" r:embed="R6d287ba05b554f31"/>
          <a:stretch xmlns:a="http://schemas.openxmlformats.org/drawingml/2006/main"/>
        </p:blipFill>
        <p:spPr>
          <a:xfrm xmlns:a="http://schemas.openxmlformats.org/drawingml/2006/main">
            <a:off x="609600" y="3429679"/>
            <a:ext cx="2762250" cy="1255941"/>
          </a:xfrm>
          <a:prstGeom xmlns:a="http://schemas.openxmlformats.org/drawingml/2006/main" prst="rect">
            <a:avLst/>
          </a:prstGeom>
        </p:spPr>
      </p:pic>
      <p:sp>
        <p:nvSpPr>
          <p:cNvPr id="5" name="funcion-clase">
            <a:extLst xmlns:a="http://schemas.openxmlformats.org/drawingml/2006/main">
              <a:ext uri="{FF2B5EF4-FFF2-40B4-BE49-F238E27FC236}">
                <a16:creationId xmlns:a16="http://schemas.microsoft.com/office/drawing/2014/main" id="{E96531D6-1F0D-4C14-B873-6414AAC984E3}"/>
              </a:ext>
            </a:extLst>
          </p:cNvPr>
          <p:cNvSpPr>
            <a:spLocks xmlns:a="http://schemas.openxmlformats.org/drawingml/2006/main" noGrp="1"/>
          </p:cNvSpPr>
          <p:nvPr/>
        </p:nvSpPr>
        <p:spPr>
          <a:xfrm xmlns:a="http://schemas.openxmlformats.org/drawingml/2006/main">
            <a:off x="3810000" y="1419225"/>
            <a:ext cx="7762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F3C"/>
                </a:solidFill>
                <a:latin typeface="DejaVu Sans"/>
                <a:ea typeface="DejaVu Sans"/>
                <a:cs typeface="DejaVu Sans"/>
              </a:defRPr>
            </a:defPPr>
          </a:lstStyle>
          <a:p xmlns:a="http://schemas.openxmlformats.org/drawingml/2006/main">
            <a:pPr>
              <a:lnSpc>
                <a:spcPct val="105000"/>
              </a:lnSpc>
              <a:buNone/>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Define cómo debe recibir los cambios un observador del puntaje.</a:t>
            </a:r>
          </a:p>
        </p:txBody>
      </p:sp>
      <p:sp>
        <p:nvSpPr>
          <p:cNvPr id="6" name="poo-0">
            <a:extLst xmlns:a="http://schemas.openxmlformats.org/drawingml/2006/main">
              <a:ext uri="{FF2B5EF4-FFF2-40B4-BE49-F238E27FC236}">
                <a16:creationId xmlns:a16="http://schemas.microsoft.com/office/drawing/2014/main" id="{2EFD86A5-28E1-415E-9BC2-00040729A387}"/>
              </a:ext>
            </a:extLst>
          </p:cNvPr>
          <p:cNvSpPr>
            <a:spLocks xmlns:a="http://schemas.openxmlformats.org/drawingml/2006/main" noGrp="1"/>
          </p:cNvSpPr>
          <p:nvPr/>
        </p:nvSpPr>
        <p:spPr>
          <a:xfrm xmlns:a="http://schemas.openxmlformats.org/drawingml/2006/main">
            <a:off x="3810000" y="21717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Abstracción: exige implementar actualizar_puntaje.</a:t>
            </a:r>
          </a:p>
        </p:txBody>
      </p:sp>
      <p:sp>
        <p:nvSpPr>
          <p:cNvPr id="7" name="poo-1">
            <a:extLst xmlns:a="http://schemas.openxmlformats.org/drawingml/2006/main">
              <a:ext uri="{FF2B5EF4-FFF2-40B4-BE49-F238E27FC236}">
                <a16:creationId xmlns:a16="http://schemas.microsoft.com/office/drawing/2014/main" id="{824EFF66-29EB-4CF8-99C0-68566F36AE08}"/>
              </a:ext>
            </a:extLst>
          </p:cNvPr>
          <p:cNvSpPr>
            <a:spLocks xmlns:a="http://schemas.openxmlformats.org/drawingml/2006/main" noGrp="1"/>
          </p:cNvSpPr>
          <p:nvPr/>
        </p:nvSpPr>
        <p:spPr>
          <a:xfrm xmlns:a="http://schemas.openxmlformats.org/drawingml/2006/main">
            <a:off x="3810000" y="25146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Herencia: es la base de PanelPuntaje.</a:t>
            </a:r>
          </a:p>
        </p:txBody>
      </p:sp>
      <p:sp>
        <p:nvSpPr>
          <p:cNvPr id="8" name="etiqueta-codigo">
            <a:extLst xmlns:a="http://schemas.openxmlformats.org/drawingml/2006/main">
              <a:ext uri="{FF2B5EF4-FFF2-40B4-BE49-F238E27FC236}">
                <a16:creationId xmlns:a16="http://schemas.microsoft.com/office/drawing/2014/main" id="{70988ED5-7597-4A76-BE1A-ACCCEFB43856}"/>
              </a:ext>
            </a:extLst>
          </p:cNvPr>
          <p:cNvSpPr>
            <a:spLocks xmlns:a="http://schemas.openxmlformats.org/drawingml/2006/main" noGrp="1"/>
          </p:cNvSpPr>
          <p:nvPr/>
        </p:nvSpPr>
        <p:spPr>
          <a:xfrm xmlns:a="http://schemas.openxmlformats.org/drawingml/2006/main">
            <a:off x="3810000" y="2819400"/>
            <a:ext cx="7762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Código del proyecto (fragmento)</a:t>
            </a:r>
          </a:p>
        </p:txBody>
      </p:sp>
      <p:sp>
        <p:nvSpPr>
          <p:cNvPr id="9" name="fragmento-codigo">
            <a:extLst xmlns:a="http://schemas.openxmlformats.org/drawingml/2006/main">
              <a:ext uri="{FF2B5EF4-FFF2-40B4-BE49-F238E27FC236}">
                <a16:creationId xmlns:a16="http://schemas.microsoft.com/office/drawing/2014/main" id="{51AD3B96-9AA2-4EEB-BB4C-A67B763F1818}"/>
              </a:ext>
            </a:extLst>
          </p:cNvPr>
          <p:cNvSpPr>
            <a:spLocks xmlns:a="http://schemas.openxmlformats.org/drawingml/2006/main" noGrp="1"/>
          </p:cNvSpPr>
          <p:nvPr/>
        </p:nvSpPr>
        <p:spPr>
          <a:xfrm xmlns:a="http://schemas.openxmlformats.org/drawingml/2006/main">
            <a:off x="3810000" y="3143250"/>
            <a:ext cx="77628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172F3C"/>
                </a:solidFill>
                <a:latin typeface="DejaVu Sans Mono"/>
                <a:ea typeface="DejaVu Sans Mono"/>
                <a:cs typeface="DejaVu Sans Mono"/>
              </a:defRPr>
            </a:defPPr>
          </a:lstStyle>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class ObservadorPuntaje(ABC):</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@abstractmethod</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actualizar_puntaje(self, valor):</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pass</a:t>
            </a:r>
          </a:p>
        </p:txBody>
      </p:sp>
      <p:sp>
        <p:nvSpPr>
          <p:cNvPr id="10" name="enlace-fuente">
            <a:extLst xmlns:a="http://schemas.openxmlformats.org/drawingml/2006/main">
              <a:ext uri="{FF2B5EF4-FFF2-40B4-BE49-F238E27FC236}">
                <a16:creationId xmlns:a16="http://schemas.microsoft.com/office/drawing/2014/main" id="{61E26A02-6CB1-4F63-8FF0-F2ADD96516B5}"/>
              </a:ext>
            </a:extLst>
          </p:cNvPr>
          <p:cNvSpPr>
            <a:spLocks xmlns:a="http://schemas.openxmlformats.org/drawingml/2006/main" noGrp="1"/>
          </p:cNvSpPr>
          <p:nvPr/>
        </p:nvSpPr>
        <p:spPr>
          <a:xfrm xmlns:a="http://schemas.openxmlformats.org/drawingml/2006/main">
            <a:off x="3810000" y="6457950"/>
            <a:ext cx="7762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526773"/>
                </a:solidFill>
                <a:latin typeface="DejaVu Sans"/>
                <a:ea typeface="DejaVu Sans"/>
                <a:cs typeface="DejaVu Sans"/>
              </a:defRPr>
            </a:defPPr>
          </a:lstStyle>
          <a:p xmlns:a="http://schemas.openxmlformats.org/drawingml/2006/main">
            <a:pPr>
              <a:lnSpc>
                <a:spcPct val="105000"/>
              </a:lnSpc>
              <a:buNone/>
              <a:defRPr sz="975" b="0">
                <a:solidFill>
                  <a:srgbClr val="526773"/>
                </a:solidFill>
                <a:latin typeface="DejaVu Sans"/>
                <a:ea typeface="DejaVu Sans"/>
                <a:cs typeface="DejaVu Sans"/>
              </a:defRPr>
            </a:pPr>
            <a:r>
              <a:rPr sz="975" b="0">
                <a:solidFill>
                  <a:srgbClr val="526773"/>
                </a:solidFill>
                <a:latin typeface="DejaVu Sans"/>
                <a:ea typeface="DejaVu Sans"/>
                <a:cs typeface="DejaVu Sans"/>
                <a:hlinkClick xmlns:r="http://schemas.openxmlformats.org/officeDocument/2006/relationships" r:id="Rd828e368d5f9415b"/>
              </a:rPr>
              <a:t>src/puntuacion.py, clase desde línea 4</a:t>
            </a:r>
          </a:p>
        </p:txBody>
      </p:sp>
      <p:sp>
        <p:nvSpPr>
          <p:cNvPr id="11" name="enlace-recorte">
            <a:extLst xmlns:a="http://schemas.openxmlformats.org/drawingml/2006/main">
              <a:ext uri="{FF2B5EF4-FFF2-40B4-BE49-F238E27FC236}">
                <a16:creationId xmlns:a16="http://schemas.microsoft.com/office/drawing/2014/main" id="{B196E0FB-F745-4C21-98D4-9B64B8004A96}"/>
              </a:ext>
            </a:extLst>
          </p:cNvPr>
          <p:cNvSpPr>
            <a:spLocks xmlns:a="http://schemas.openxmlformats.org/drawingml/2006/main" noGrp="1"/>
          </p:cNvSpPr>
          <p:nvPr/>
        </p:nvSpPr>
        <p:spPr>
          <a:xfrm xmlns:a="http://schemas.openxmlformats.org/drawingml/2006/main">
            <a:off x="609600" y="6457950"/>
            <a:ext cx="285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16735D"/>
                </a:solidFill>
                <a:latin typeface="DejaVu Sans"/>
                <a:ea typeface="DejaVu Sans"/>
                <a:cs typeface="DejaVu Sans"/>
              </a:defRPr>
            </a:defPPr>
          </a:lstStyle>
          <a:p xmlns:a="http://schemas.openxmlformats.org/drawingml/2006/main">
            <a:pPr>
              <a:lnSpc>
                <a:spcPct val="105000"/>
              </a:lnSpc>
              <a:buNone/>
              <a:defRPr sz="975" b="0">
                <a:solidFill>
                  <a:srgbClr val="16735D"/>
                </a:solidFill>
                <a:latin typeface="DejaVu Sans"/>
                <a:ea typeface="DejaVu Sans"/>
                <a:cs typeface="DejaVu Sans"/>
              </a:defRPr>
            </a:pPr>
            <a:r>
              <a:rPr sz="975" b="0">
                <a:solidFill>
                  <a:srgbClr val="16735D"/>
                </a:solidFill>
                <a:latin typeface="DejaVu Sans"/>
                <a:ea typeface="DejaVu Sans"/>
                <a:cs typeface="DejaVu Sans"/>
                <a:hlinkClick xmlns:r="http://schemas.openxmlformats.org/officeDocument/2006/relationships" r:id="R8e6f702d0f1747fd"/>
              </a:rPr>
              <a:t>Abrir recorte en tamaño original</a:t>
            </a:r>
          </a:p>
        </p:txBody>
      </p:sp>
    </p:spTree>
    <p:extLst>
      <p:ext uri="{BB962C8B-B14F-4D97-AF65-F5344CB8AC3E}">
        <p14:creationId xmlns:p14="http://schemas.microsoft.com/office/powerpoint/2010/main" val="197625409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partado-clase">
            <a:extLst xmlns:a="http://schemas.openxmlformats.org/drawingml/2006/main">
              <a:ext uri="{FF2B5EF4-FFF2-40B4-BE49-F238E27FC236}">
                <a16:creationId xmlns:a16="http://schemas.microsoft.com/office/drawing/2014/main" id="{FCF62E2A-36D4-4CC4-A61A-B0AC75EDB635}"/>
              </a:ext>
            </a:extLst>
          </p:cNvPr>
          <p:cNvSpPr>
            <a:spLocks xmlns:a="http://schemas.openxmlformats.org/drawingml/2006/main" noGrp="1"/>
          </p:cNvSpPr>
          <p:nvPr/>
        </p:nvSpPr>
        <p:spPr>
          <a:xfrm xmlns:a="http://schemas.openxmlformats.org/drawingml/2006/main">
            <a:off x="60960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lnSpc>
                <a:spcPct val="105000"/>
              </a:lnSpc>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Punto 7 de 7. VIII. Anexos. Clase 21 de 25</a:t>
            </a:r>
          </a:p>
        </p:txBody>
      </p:sp>
      <p:sp>
        <p:nvSpPr>
          <p:cNvPr id="2" name="titulo-clase">
            <a:extLst xmlns:a="http://schemas.openxmlformats.org/drawingml/2006/main">
              <a:ext uri="{FF2B5EF4-FFF2-40B4-BE49-F238E27FC236}">
                <a16:creationId xmlns:a16="http://schemas.microsoft.com/office/drawing/2014/main" id="{C27B509E-F505-4572-9AF4-6F50A4A9E845}"/>
              </a:ext>
            </a:extLst>
          </p:cNvPr>
          <p:cNvSpPr>
            <a:spLocks xmlns:a="http://schemas.openxmlformats.org/drawingml/2006/main" noGrp="1"/>
          </p:cNvSpPr>
          <p:nvPr/>
        </p:nvSpPr>
        <p:spPr>
          <a:xfrm xmlns:a="http://schemas.openxmlformats.org/drawingml/2006/main">
            <a:off x="609600" y="69532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F3C"/>
                </a:solidFill>
                <a:latin typeface="DejaVu Sans"/>
                <a:ea typeface="DejaVu Sans"/>
                <a:cs typeface="DejaVu Sans"/>
              </a:defRPr>
            </a:defPPr>
          </a:lstStyle>
          <a:p xmlns:a="http://schemas.openxmlformats.org/drawingml/2006/main">
            <a:pPr>
              <a:lnSpc>
                <a:spcPct val="105000"/>
              </a:lnSpc>
              <a:buNone/>
              <a:defRPr sz="3300" b="1">
                <a:solidFill>
                  <a:srgbClr val="172F3C"/>
                </a:solidFill>
                <a:latin typeface="DejaVu Sans"/>
                <a:ea typeface="DejaVu Sans"/>
                <a:cs typeface="DejaVu Sans"/>
              </a:defRPr>
            </a:pPr>
            <a:r>
              <a:rPr sz="3300" b="1">
                <a:solidFill>
                  <a:srgbClr val="172F3C"/>
                </a:solidFill>
                <a:latin typeface="DejaVu Sans"/>
                <a:ea typeface="DejaVu Sans"/>
                <a:cs typeface="DejaVu Sans"/>
              </a:rPr>
              <a:t>PanelPuntaje</a:t>
            </a:r>
          </a:p>
        </p:txBody>
      </p:sp>
      <p:sp>
        <p:nvSpPr>
          <p:cNvPr id="3" name="etiqueta-uml">
            <a:extLst xmlns:a="http://schemas.openxmlformats.org/drawingml/2006/main">
              <a:ext uri="{FF2B5EF4-FFF2-40B4-BE49-F238E27FC236}">
                <a16:creationId xmlns:a16="http://schemas.microsoft.com/office/drawing/2014/main" id="{D12FD46F-076A-48C2-AE27-1F46F3D81E6C}"/>
              </a:ext>
            </a:extLst>
          </p:cNvPr>
          <p:cNvSpPr>
            <a:spLocks xmlns:a="http://schemas.openxmlformats.org/drawingml/2006/main" noGrp="1"/>
          </p:cNvSpPr>
          <p:nvPr/>
        </p:nvSpPr>
        <p:spPr>
          <a:xfrm xmlns:a="http://schemas.openxmlformats.org/drawingml/2006/main">
            <a:off x="609600" y="1495425"/>
            <a:ext cx="2809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UML: recorte original</a:t>
            </a:r>
          </a:p>
        </p:txBody>
      </p:sp>
      <p:pic>
        <p:nvPicPr>
          <p:cNvPr id="4" name="">
            <a:extLst xmlns:a="http://schemas.openxmlformats.org/drawingml/2006/main">
              <a:ext uri="{FF2B5EF4-FFF2-40B4-BE49-F238E27FC236}">
                <a16:creationId xmlns:a16="http://schemas.microsoft.com/office/drawing/2014/main" id="{7E7258BE-48A6-4CAC-B895-8296F87E531C}"/>
              </a:ext>
            </a:extLst>
          </p:cNvPr>
          <p:cNvPicPr>
            <a:picLocks xmlns:a="http://schemas.openxmlformats.org/drawingml/2006/main" noChangeAspect="1"/>
          </p:cNvPicPr>
          <p:nvPr/>
        </p:nvPicPr>
        <p:blipFill>
          <a:blip xmlns:r="http://schemas.openxmlformats.org/officeDocument/2006/relationships" xmlns:a="http://schemas.openxmlformats.org/drawingml/2006/main" r:embed="Re44b0c49ee3242b5"/>
          <a:stretch xmlns:a="http://schemas.openxmlformats.org/drawingml/2006/main"/>
        </p:blipFill>
        <p:spPr>
          <a:xfrm xmlns:a="http://schemas.openxmlformats.org/drawingml/2006/main">
            <a:off x="609600" y="3409007"/>
            <a:ext cx="2762250" cy="1297287"/>
          </a:xfrm>
          <a:prstGeom xmlns:a="http://schemas.openxmlformats.org/drawingml/2006/main" prst="rect">
            <a:avLst/>
          </a:prstGeom>
        </p:spPr>
      </p:pic>
      <p:sp>
        <p:nvSpPr>
          <p:cNvPr id="5" name="funcion-clase">
            <a:extLst xmlns:a="http://schemas.openxmlformats.org/drawingml/2006/main">
              <a:ext uri="{FF2B5EF4-FFF2-40B4-BE49-F238E27FC236}">
                <a16:creationId xmlns:a16="http://schemas.microsoft.com/office/drawing/2014/main" id="{26BE5921-DBE5-445B-A9F1-FF872DD5182F}"/>
              </a:ext>
            </a:extLst>
          </p:cNvPr>
          <p:cNvSpPr>
            <a:spLocks xmlns:a="http://schemas.openxmlformats.org/drawingml/2006/main" noGrp="1"/>
          </p:cNvSpPr>
          <p:nvPr/>
        </p:nvSpPr>
        <p:spPr>
          <a:xfrm xmlns:a="http://schemas.openxmlformats.org/drawingml/2006/main">
            <a:off x="3810000" y="1419225"/>
            <a:ext cx="7762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F3C"/>
                </a:solidFill>
                <a:latin typeface="DejaVu Sans"/>
                <a:ea typeface="DejaVu Sans"/>
                <a:cs typeface="DejaVu Sans"/>
              </a:defRPr>
            </a:defPPr>
          </a:lstStyle>
          <a:p xmlns:a="http://schemas.openxmlformats.org/drawingml/2006/main">
            <a:pPr>
              <a:lnSpc>
                <a:spcPct val="105000"/>
              </a:lnSpc>
              <a:buNone/>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Conserva el último puntaje notificado para mostrarlo en pantalla.</a:t>
            </a:r>
          </a:p>
        </p:txBody>
      </p:sp>
      <p:sp>
        <p:nvSpPr>
          <p:cNvPr id="6" name="poo-0">
            <a:extLst xmlns:a="http://schemas.openxmlformats.org/drawingml/2006/main">
              <a:ext uri="{FF2B5EF4-FFF2-40B4-BE49-F238E27FC236}">
                <a16:creationId xmlns:a16="http://schemas.microsoft.com/office/drawing/2014/main" id="{26285B3F-EE25-42C0-B495-CA53891D79D2}"/>
              </a:ext>
            </a:extLst>
          </p:cNvPr>
          <p:cNvSpPr>
            <a:spLocks xmlns:a="http://schemas.openxmlformats.org/drawingml/2006/main" noGrp="1"/>
          </p:cNvSpPr>
          <p:nvPr/>
        </p:nvSpPr>
        <p:spPr>
          <a:xfrm xmlns:a="http://schemas.openxmlformats.org/drawingml/2006/main">
            <a:off x="3810000" y="21717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Herencia: deriva de ObservadorPuntaje.</a:t>
            </a:r>
          </a:p>
        </p:txBody>
      </p:sp>
      <p:sp>
        <p:nvSpPr>
          <p:cNvPr id="7" name="poo-1">
            <a:extLst xmlns:a="http://schemas.openxmlformats.org/drawingml/2006/main">
              <a:ext uri="{FF2B5EF4-FFF2-40B4-BE49-F238E27FC236}">
                <a16:creationId xmlns:a16="http://schemas.microsoft.com/office/drawing/2014/main" id="{4129970D-5278-46FA-ABAD-EC3466F7DD65}"/>
              </a:ext>
            </a:extLst>
          </p:cNvPr>
          <p:cNvSpPr>
            <a:spLocks xmlns:a="http://schemas.openxmlformats.org/drawingml/2006/main" noGrp="1"/>
          </p:cNvSpPr>
          <p:nvPr/>
        </p:nvSpPr>
        <p:spPr>
          <a:xfrm xmlns:a="http://schemas.openxmlformats.org/drawingml/2006/main">
            <a:off x="3810000" y="25146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Polimorfismo: implementa actualizar_puntaje.</a:t>
            </a:r>
          </a:p>
        </p:txBody>
      </p:sp>
      <p:sp>
        <p:nvSpPr>
          <p:cNvPr id="8" name="poo-2">
            <a:extLst xmlns:a="http://schemas.openxmlformats.org/drawingml/2006/main">
              <a:ext uri="{FF2B5EF4-FFF2-40B4-BE49-F238E27FC236}">
                <a16:creationId xmlns:a16="http://schemas.microsoft.com/office/drawing/2014/main" id="{786AD3D4-C1E5-4F6A-9CDE-66730DF7E8DB}"/>
              </a:ext>
            </a:extLst>
          </p:cNvPr>
          <p:cNvSpPr>
            <a:spLocks xmlns:a="http://schemas.openxmlformats.org/drawingml/2006/main" noGrp="1"/>
          </p:cNvSpPr>
          <p:nvPr/>
        </p:nvSpPr>
        <p:spPr>
          <a:xfrm xmlns:a="http://schemas.openxmlformats.org/drawingml/2006/main">
            <a:off x="3810000" y="28575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Observer: recibe el nuevo valor que luego dibuja Vista.</a:t>
            </a:r>
          </a:p>
        </p:txBody>
      </p:sp>
      <p:sp>
        <p:nvSpPr>
          <p:cNvPr id="9" name="etiqueta-codigo">
            <a:extLst xmlns:a="http://schemas.openxmlformats.org/drawingml/2006/main">
              <a:ext uri="{FF2B5EF4-FFF2-40B4-BE49-F238E27FC236}">
                <a16:creationId xmlns:a16="http://schemas.microsoft.com/office/drawing/2014/main" id="{6339E332-433E-45D1-9A77-F8A3B61A1798}"/>
              </a:ext>
            </a:extLst>
          </p:cNvPr>
          <p:cNvSpPr>
            <a:spLocks xmlns:a="http://schemas.openxmlformats.org/drawingml/2006/main" noGrp="1"/>
          </p:cNvSpPr>
          <p:nvPr/>
        </p:nvSpPr>
        <p:spPr>
          <a:xfrm xmlns:a="http://schemas.openxmlformats.org/drawingml/2006/main">
            <a:off x="3810000" y="3162300"/>
            <a:ext cx="7762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Código del proyecto (fragmento)</a:t>
            </a:r>
          </a:p>
        </p:txBody>
      </p:sp>
      <p:sp>
        <p:nvSpPr>
          <p:cNvPr id="10" name="fragmento-codigo">
            <a:extLst xmlns:a="http://schemas.openxmlformats.org/drawingml/2006/main">
              <a:ext uri="{FF2B5EF4-FFF2-40B4-BE49-F238E27FC236}">
                <a16:creationId xmlns:a16="http://schemas.microsoft.com/office/drawing/2014/main" id="{0AC136CE-7554-4250-91A1-1AFC94778678}"/>
              </a:ext>
            </a:extLst>
          </p:cNvPr>
          <p:cNvSpPr>
            <a:spLocks xmlns:a="http://schemas.openxmlformats.org/drawingml/2006/main" noGrp="1"/>
          </p:cNvSpPr>
          <p:nvPr/>
        </p:nvSpPr>
        <p:spPr>
          <a:xfrm xmlns:a="http://schemas.openxmlformats.org/drawingml/2006/main">
            <a:off x="3810000" y="3486150"/>
            <a:ext cx="7762875"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172F3C"/>
                </a:solidFill>
                <a:latin typeface="DejaVu Sans Mono"/>
                <a:ea typeface="DejaVu Sans Mono"/>
                <a:cs typeface="DejaVu Sans Mono"/>
              </a:defRPr>
            </a:defPPr>
          </a:lstStyle>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class PanelPuntaje(ObservadorPuntaje):</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__init__(self):</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self.valor = 0</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actualizar_puntaje(self, valor):</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self.valor = valor</a:t>
            </a:r>
          </a:p>
        </p:txBody>
      </p:sp>
      <p:sp>
        <p:nvSpPr>
          <p:cNvPr id="11" name="enlace-fuente">
            <a:extLst xmlns:a="http://schemas.openxmlformats.org/drawingml/2006/main">
              <a:ext uri="{FF2B5EF4-FFF2-40B4-BE49-F238E27FC236}">
                <a16:creationId xmlns:a16="http://schemas.microsoft.com/office/drawing/2014/main" id="{1E3C9F68-1883-44AD-9956-5306C99B3083}"/>
              </a:ext>
            </a:extLst>
          </p:cNvPr>
          <p:cNvSpPr>
            <a:spLocks xmlns:a="http://schemas.openxmlformats.org/drawingml/2006/main" noGrp="1"/>
          </p:cNvSpPr>
          <p:nvPr/>
        </p:nvSpPr>
        <p:spPr>
          <a:xfrm xmlns:a="http://schemas.openxmlformats.org/drawingml/2006/main">
            <a:off x="3810000" y="6457950"/>
            <a:ext cx="7762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526773"/>
                </a:solidFill>
                <a:latin typeface="DejaVu Sans"/>
                <a:ea typeface="DejaVu Sans"/>
                <a:cs typeface="DejaVu Sans"/>
              </a:defRPr>
            </a:defPPr>
          </a:lstStyle>
          <a:p xmlns:a="http://schemas.openxmlformats.org/drawingml/2006/main">
            <a:pPr>
              <a:lnSpc>
                <a:spcPct val="105000"/>
              </a:lnSpc>
              <a:buNone/>
              <a:defRPr sz="975" b="0">
                <a:solidFill>
                  <a:srgbClr val="526773"/>
                </a:solidFill>
                <a:latin typeface="DejaVu Sans"/>
                <a:ea typeface="DejaVu Sans"/>
                <a:cs typeface="DejaVu Sans"/>
              </a:defRPr>
            </a:pPr>
            <a:r>
              <a:rPr sz="975" b="0">
                <a:solidFill>
                  <a:srgbClr val="526773"/>
                </a:solidFill>
                <a:latin typeface="DejaVu Sans"/>
                <a:ea typeface="DejaVu Sans"/>
                <a:cs typeface="DejaVu Sans"/>
                <a:hlinkClick xmlns:r="http://schemas.openxmlformats.org/officeDocument/2006/relationships" r:id="Rbac89a7ea67844bb"/>
              </a:rPr>
              <a:t>src/puntuacion.py, clase desde línea 10</a:t>
            </a:r>
          </a:p>
        </p:txBody>
      </p:sp>
      <p:sp>
        <p:nvSpPr>
          <p:cNvPr id="12" name="enlace-recorte">
            <a:extLst xmlns:a="http://schemas.openxmlformats.org/drawingml/2006/main">
              <a:ext uri="{FF2B5EF4-FFF2-40B4-BE49-F238E27FC236}">
                <a16:creationId xmlns:a16="http://schemas.microsoft.com/office/drawing/2014/main" id="{6F91A0B3-FC0D-42CD-B383-95045D3FD8EC}"/>
              </a:ext>
            </a:extLst>
          </p:cNvPr>
          <p:cNvSpPr>
            <a:spLocks xmlns:a="http://schemas.openxmlformats.org/drawingml/2006/main" noGrp="1"/>
          </p:cNvSpPr>
          <p:nvPr/>
        </p:nvSpPr>
        <p:spPr>
          <a:xfrm xmlns:a="http://schemas.openxmlformats.org/drawingml/2006/main">
            <a:off x="609600" y="6457950"/>
            <a:ext cx="285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16735D"/>
                </a:solidFill>
                <a:latin typeface="DejaVu Sans"/>
                <a:ea typeface="DejaVu Sans"/>
                <a:cs typeface="DejaVu Sans"/>
              </a:defRPr>
            </a:defPPr>
          </a:lstStyle>
          <a:p xmlns:a="http://schemas.openxmlformats.org/drawingml/2006/main">
            <a:pPr>
              <a:lnSpc>
                <a:spcPct val="105000"/>
              </a:lnSpc>
              <a:buNone/>
              <a:defRPr sz="975" b="0">
                <a:solidFill>
                  <a:srgbClr val="16735D"/>
                </a:solidFill>
                <a:latin typeface="DejaVu Sans"/>
                <a:ea typeface="DejaVu Sans"/>
                <a:cs typeface="DejaVu Sans"/>
              </a:defRPr>
            </a:pPr>
            <a:r>
              <a:rPr sz="975" b="0">
                <a:solidFill>
                  <a:srgbClr val="16735D"/>
                </a:solidFill>
                <a:latin typeface="DejaVu Sans"/>
                <a:ea typeface="DejaVu Sans"/>
                <a:cs typeface="DejaVu Sans"/>
                <a:hlinkClick xmlns:r="http://schemas.openxmlformats.org/officeDocument/2006/relationships" r:id="R82ee44c4003549a6"/>
              </a:rPr>
              <a:t>Abrir recorte en tamaño original</a:t>
            </a:r>
          </a:p>
        </p:txBody>
      </p:sp>
    </p:spTree>
    <p:extLst>
      <p:ext uri="{BB962C8B-B14F-4D97-AF65-F5344CB8AC3E}">
        <p14:creationId xmlns:p14="http://schemas.microsoft.com/office/powerpoint/2010/main" val="6300999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partado-clase">
            <a:extLst xmlns:a="http://schemas.openxmlformats.org/drawingml/2006/main">
              <a:ext uri="{FF2B5EF4-FFF2-40B4-BE49-F238E27FC236}">
                <a16:creationId xmlns:a16="http://schemas.microsoft.com/office/drawing/2014/main" id="{E103D04B-809A-48A6-A925-30C269BE99C1}"/>
              </a:ext>
            </a:extLst>
          </p:cNvPr>
          <p:cNvSpPr>
            <a:spLocks xmlns:a="http://schemas.openxmlformats.org/drawingml/2006/main" noGrp="1"/>
          </p:cNvSpPr>
          <p:nvPr/>
        </p:nvSpPr>
        <p:spPr>
          <a:xfrm xmlns:a="http://schemas.openxmlformats.org/drawingml/2006/main">
            <a:off x="60960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lnSpc>
                <a:spcPct val="105000"/>
              </a:lnSpc>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Punto 7 de 7. VIII. Anexos. Clase 22 de 25</a:t>
            </a:r>
          </a:p>
        </p:txBody>
      </p:sp>
      <p:sp>
        <p:nvSpPr>
          <p:cNvPr id="2" name="titulo-clase">
            <a:extLst xmlns:a="http://schemas.openxmlformats.org/drawingml/2006/main">
              <a:ext uri="{FF2B5EF4-FFF2-40B4-BE49-F238E27FC236}">
                <a16:creationId xmlns:a16="http://schemas.microsoft.com/office/drawing/2014/main" id="{07340C3A-B055-4520-B343-6309B03C2437}"/>
              </a:ext>
            </a:extLst>
          </p:cNvPr>
          <p:cNvSpPr>
            <a:spLocks xmlns:a="http://schemas.openxmlformats.org/drawingml/2006/main" noGrp="1"/>
          </p:cNvSpPr>
          <p:nvPr/>
        </p:nvSpPr>
        <p:spPr>
          <a:xfrm xmlns:a="http://schemas.openxmlformats.org/drawingml/2006/main">
            <a:off x="609600" y="69532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F3C"/>
                </a:solidFill>
                <a:latin typeface="DejaVu Sans"/>
                <a:ea typeface="DejaVu Sans"/>
                <a:cs typeface="DejaVu Sans"/>
              </a:defRPr>
            </a:defPPr>
          </a:lstStyle>
          <a:p xmlns:a="http://schemas.openxmlformats.org/drawingml/2006/main">
            <a:pPr>
              <a:lnSpc>
                <a:spcPct val="105000"/>
              </a:lnSpc>
              <a:buNone/>
              <a:defRPr sz="3300" b="1">
                <a:solidFill>
                  <a:srgbClr val="172F3C"/>
                </a:solidFill>
                <a:latin typeface="DejaVu Sans"/>
                <a:ea typeface="DejaVu Sans"/>
                <a:cs typeface="DejaVu Sans"/>
              </a:defRPr>
            </a:pPr>
            <a:r>
              <a:rPr sz="3300" b="1">
                <a:solidFill>
                  <a:srgbClr val="172F3C"/>
                </a:solidFill>
                <a:latin typeface="DejaVu Sans"/>
                <a:ea typeface="DejaVu Sans"/>
                <a:cs typeface="DejaVu Sans"/>
              </a:rPr>
              <a:t>Proyectil</a:t>
            </a:r>
          </a:p>
        </p:txBody>
      </p:sp>
      <p:sp>
        <p:nvSpPr>
          <p:cNvPr id="3" name="etiqueta-uml">
            <a:extLst xmlns:a="http://schemas.openxmlformats.org/drawingml/2006/main">
              <a:ext uri="{FF2B5EF4-FFF2-40B4-BE49-F238E27FC236}">
                <a16:creationId xmlns:a16="http://schemas.microsoft.com/office/drawing/2014/main" id="{1E98C399-C8DA-43C5-AC9C-7B156B41ACCE}"/>
              </a:ext>
            </a:extLst>
          </p:cNvPr>
          <p:cNvSpPr>
            <a:spLocks xmlns:a="http://schemas.openxmlformats.org/drawingml/2006/main" noGrp="1"/>
          </p:cNvSpPr>
          <p:nvPr/>
        </p:nvSpPr>
        <p:spPr>
          <a:xfrm xmlns:a="http://schemas.openxmlformats.org/drawingml/2006/main">
            <a:off x="609600" y="1495425"/>
            <a:ext cx="2809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UML: recorte original</a:t>
            </a:r>
          </a:p>
        </p:txBody>
      </p:sp>
      <p:pic>
        <p:nvPicPr>
          <p:cNvPr id="4" name="">
            <a:extLst xmlns:a="http://schemas.openxmlformats.org/drawingml/2006/main">
              <a:ext uri="{FF2B5EF4-FFF2-40B4-BE49-F238E27FC236}">
                <a16:creationId xmlns:a16="http://schemas.microsoft.com/office/drawing/2014/main" id="{133014CD-0D57-4BC6-975A-D873D4ED5258}"/>
              </a:ext>
            </a:extLst>
          </p:cNvPr>
          <p:cNvPicPr>
            <a:picLocks xmlns:a="http://schemas.openxmlformats.org/drawingml/2006/main" noChangeAspect="1"/>
          </p:cNvPicPr>
          <p:nvPr/>
        </p:nvPicPr>
        <p:blipFill>
          <a:blip xmlns:r="http://schemas.openxmlformats.org/officeDocument/2006/relationships" xmlns:a="http://schemas.openxmlformats.org/drawingml/2006/main" r:embed="R4656d6f6bc4642d6"/>
          <a:stretch xmlns:a="http://schemas.openxmlformats.org/drawingml/2006/main"/>
        </p:blipFill>
        <p:spPr>
          <a:xfrm xmlns:a="http://schemas.openxmlformats.org/drawingml/2006/main">
            <a:off x="649779" y="1866900"/>
            <a:ext cx="2681892" cy="4381500"/>
          </a:xfrm>
          <a:prstGeom xmlns:a="http://schemas.openxmlformats.org/drawingml/2006/main" prst="rect">
            <a:avLst/>
          </a:prstGeom>
        </p:spPr>
      </p:pic>
      <p:sp>
        <p:nvSpPr>
          <p:cNvPr id="5" name="funcion-clase">
            <a:extLst xmlns:a="http://schemas.openxmlformats.org/drawingml/2006/main">
              <a:ext uri="{FF2B5EF4-FFF2-40B4-BE49-F238E27FC236}">
                <a16:creationId xmlns:a16="http://schemas.microsoft.com/office/drawing/2014/main" id="{8CEFE169-F168-4BE3-AC37-3DD10FAA39CC}"/>
              </a:ext>
            </a:extLst>
          </p:cNvPr>
          <p:cNvSpPr>
            <a:spLocks xmlns:a="http://schemas.openxmlformats.org/drawingml/2006/main" noGrp="1"/>
          </p:cNvSpPr>
          <p:nvPr/>
        </p:nvSpPr>
        <p:spPr>
          <a:xfrm xmlns:a="http://schemas.openxmlformats.org/drawingml/2006/main">
            <a:off x="3810000" y="1419225"/>
            <a:ext cx="7762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F3C"/>
                </a:solidFill>
                <a:latin typeface="DejaVu Sans"/>
                <a:ea typeface="DejaVu Sans"/>
                <a:cs typeface="DejaVu Sans"/>
              </a:defRPr>
            </a:defPPr>
          </a:lstStyle>
          <a:p xmlns:a="http://schemas.openxmlformats.org/drawingml/2006/main">
            <a:pPr>
              <a:lnSpc>
                <a:spcPct val="105000"/>
              </a:lnSpc>
              <a:buNone/>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Guarda la posición, velocidad, tamaño y duración de un disparo.</a:t>
            </a:r>
          </a:p>
        </p:txBody>
      </p:sp>
      <p:sp>
        <p:nvSpPr>
          <p:cNvPr id="6" name="poo-0">
            <a:extLst xmlns:a="http://schemas.openxmlformats.org/drawingml/2006/main">
              <a:ext uri="{FF2B5EF4-FFF2-40B4-BE49-F238E27FC236}">
                <a16:creationId xmlns:a16="http://schemas.microsoft.com/office/drawing/2014/main" id="{CEB546D9-21B2-4504-80BB-7661BADC7B98}"/>
              </a:ext>
            </a:extLst>
          </p:cNvPr>
          <p:cNvSpPr>
            <a:spLocks xmlns:a="http://schemas.openxmlformats.org/drawingml/2006/main" noGrp="1"/>
          </p:cNvSpPr>
          <p:nvPr/>
        </p:nvSpPr>
        <p:spPr>
          <a:xfrm xmlns:a="http://schemas.openxmlformats.org/drawingml/2006/main">
            <a:off x="3810000" y="21717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Composición: Combate crea y conserva los disparos.</a:t>
            </a:r>
          </a:p>
        </p:txBody>
      </p:sp>
      <p:sp>
        <p:nvSpPr>
          <p:cNvPr id="7" name="poo-1">
            <a:extLst xmlns:a="http://schemas.openxmlformats.org/drawingml/2006/main">
              <a:ext uri="{FF2B5EF4-FFF2-40B4-BE49-F238E27FC236}">
                <a16:creationId xmlns:a16="http://schemas.microsoft.com/office/drawing/2014/main" id="{627E85C8-9992-47C1-A19A-6028A8889A2D}"/>
              </a:ext>
            </a:extLst>
          </p:cNvPr>
          <p:cNvSpPr>
            <a:spLocks xmlns:a="http://schemas.openxmlformats.org/drawingml/2006/main" noGrp="1"/>
          </p:cNvSpPr>
          <p:nvPr/>
        </p:nvSpPr>
        <p:spPr>
          <a:xfrm xmlns:a="http://schemas.openxmlformats.org/drawingml/2006/main">
            <a:off x="3810000" y="25146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Dataclass: genera el constructor de sus datos.</a:t>
            </a:r>
          </a:p>
        </p:txBody>
      </p:sp>
      <p:sp>
        <p:nvSpPr>
          <p:cNvPr id="8" name="etiqueta-codigo">
            <a:extLst xmlns:a="http://schemas.openxmlformats.org/drawingml/2006/main">
              <a:ext uri="{FF2B5EF4-FFF2-40B4-BE49-F238E27FC236}">
                <a16:creationId xmlns:a16="http://schemas.microsoft.com/office/drawing/2014/main" id="{689D5CC1-7F02-4870-9A04-59D9E0155C0F}"/>
              </a:ext>
            </a:extLst>
          </p:cNvPr>
          <p:cNvSpPr>
            <a:spLocks xmlns:a="http://schemas.openxmlformats.org/drawingml/2006/main" noGrp="1"/>
          </p:cNvSpPr>
          <p:nvPr/>
        </p:nvSpPr>
        <p:spPr>
          <a:xfrm xmlns:a="http://schemas.openxmlformats.org/drawingml/2006/main">
            <a:off x="3810000" y="2819400"/>
            <a:ext cx="7762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Código del proyecto (fragmento)</a:t>
            </a:r>
          </a:p>
        </p:txBody>
      </p:sp>
      <p:sp>
        <p:nvSpPr>
          <p:cNvPr id="9" name="fragmento-codigo">
            <a:extLst xmlns:a="http://schemas.openxmlformats.org/drawingml/2006/main">
              <a:ext uri="{FF2B5EF4-FFF2-40B4-BE49-F238E27FC236}">
                <a16:creationId xmlns:a16="http://schemas.microsoft.com/office/drawing/2014/main" id="{35E479AE-9401-41D2-A82D-75D540E6AC3D}"/>
              </a:ext>
            </a:extLst>
          </p:cNvPr>
          <p:cNvSpPr>
            <a:spLocks xmlns:a="http://schemas.openxmlformats.org/drawingml/2006/main" noGrp="1"/>
          </p:cNvSpPr>
          <p:nvPr/>
        </p:nvSpPr>
        <p:spPr>
          <a:xfrm xmlns:a="http://schemas.openxmlformats.org/drawingml/2006/main">
            <a:off x="3810000" y="3143250"/>
            <a:ext cx="77628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172F3C"/>
                </a:solidFill>
                <a:latin typeface="DejaVu Sans Mono"/>
                <a:ea typeface="DejaVu Sans Mono"/>
                <a:cs typeface="DejaVu Sans Mono"/>
              </a:defRPr>
            </a:defPPr>
          </a:lstStyle>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@dataclass</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class Proyectil:</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x: float</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y: float</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vx: float</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vy: float</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avanzar(self, dt):</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inicio = self.posicion</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self.x += self.vx * dt</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self.y += self.vy * dt</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self.duracion -= dt</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return inicio, self.posicion</a:t>
            </a:r>
          </a:p>
        </p:txBody>
      </p:sp>
      <p:sp>
        <p:nvSpPr>
          <p:cNvPr id="10" name="enlace-fuente">
            <a:extLst xmlns:a="http://schemas.openxmlformats.org/drawingml/2006/main">
              <a:ext uri="{FF2B5EF4-FFF2-40B4-BE49-F238E27FC236}">
                <a16:creationId xmlns:a16="http://schemas.microsoft.com/office/drawing/2014/main" id="{1570C11D-39C5-4212-B75D-5E6AF20A44CB}"/>
              </a:ext>
            </a:extLst>
          </p:cNvPr>
          <p:cNvSpPr>
            <a:spLocks xmlns:a="http://schemas.openxmlformats.org/drawingml/2006/main" noGrp="1"/>
          </p:cNvSpPr>
          <p:nvPr/>
        </p:nvSpPr>
        <p:spPr>
          <a:xfrm xmlns:a="http://schemas.openxmlformats.org/drawingml/2006/main">
            <a:off x="3810000" y="6457950"/>
            <a:ext cx="7762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526773"/>
                </a:solidFill>
                <a:latin typeface="DejaVu Sans"/>
                <a:ea typeface="DejaVu Sans"/>
                <a:cs typeface="DejaVu Sans"/>
              </a:defRPr>
            </a:defPPr>
          </a:lstStyle>
          <a:p xmlns:a="http://schemas.openxmlformats.org/drawingml/2006/main">
            <a:pPr>
              <a:lnSpc>
                <a:spcPct val="105000"/>
              </a:lnSpc>
              <a:buNone/>
              <a:defRPr sz="975" b="0">
                <a:solidFill>
                  <a:srgbClr val="526773"/>
                </a:solidFill>
                <a:latin typeface="DejaVu Sans"/>
                <a:ea typeface="DejaVu Sans"/>
                <a:cs typeface="DejaVu Sans"/>
              </a:defRPr>
            </a:pPr>
            <a:r>
              <a:rPr sz="975" b="0">
                <a:solidFill>
                  <a:srgbClr val="526773"/>
                </a:solidFill>
                <a:latin typeface="DejaVu Sans"/>
                <a:ea typeface="DejaVu Sans"/>
                <a:cs typeface="DejaVu Sans"/>
                <a:hlinkClick xmlns:r="http://schemas.openxmlformats.org/officeDocument/2006/relationships" r:id="R5d62bfeb7233404c"/>
              </a:rPr>
              <a:t>src/combate.py, clase desde línea 8</a:t>
            </a:r>
          </a:p>
        </p:txBody>
      </p:sp>
      <p:sp>
        <p:nvSpPr>
          <p:cNvPr id="11" name="enlace-recorte">
            <a:extLst xmlns:a="http://schemas.openxmlformats.org/drawingml/2006/main">
              <a:ext uri="{FF2B5EF4-FFF2-40B4-BE49-F238E27FC236}">
                <a16:creationId xmlns:a16="http://schemas.microsoft.com/office/drawing/2014/main" id="{DE952871-1115-44B0-A7B7-0340319F9364}"/>
              </a:ext>
            </a:extLst>
          </p:cNvPr>
          <p:cNvSpPr>
            <a:spLocks xmlns:a="http://schemas.openxmlformats.org/drawingml/2006/main" noGrp="1"/>
          </p:cNvSpPr>
          <p:nvPr/>
        </p:nvSpPr>
        <p:spPr>
          <a:xfrm xmlns:a="http://schemas.openxmlformats.org/drawingml/2006/main">
            <a:off x="609600" y="6457950"/>
            <a:ext cx="285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16735D"/>
                </a:solidFill>
                <a:latin typeface="DejaVu Sans"/>
                <a:ea typeface="DejaVu Sans"/>
                <a:cs typeface="DejaVu Sans"/>
              </a:defRPr>
            </a:defPPr>
          </a:lstStyle>
          <a:p xmlns:a="http://schemas.openxmlformats.org/drawingml/2006/main">
            <a:pPr>
              <a:lnSpc>
                <a:spcPct val="105000"/>
              </a:lnSpc>
              <a:buNone/>
              <a:defRPr sz="975" b="0">
                <a:solidFill>
                  <a:srgbClr val="16735D"/>
                </a:solidFill>
                <a:latin typeface="DejaVu Sans"/>
                <a:ea typeface="DejaVu Sans"/>
                <a:cs typeface="DejaVu Sans"/>
              </a:defRPr>
            </a:pPr>
            <a:r>
              <a:rPr sz="975" b="0">
                <a:solidFill>
                  <a:srgbClr val="16735D"/>
                </a:solidFill>
                <a:latin typeface="DejaVu Sans"/>
                <a:ea typeface="DejaVu Sans"/>
                <a:cs typeface="DejaVu Sans"/>
                <a:hlinkClick xmlns:r="http://schemas.openxmlformats.org/officeDocument/2006/relationships" r:id="R221f94586ee548b7"/>
              </a:rPr>
              <a:t>Abrir recorte en tamaño original</a:t>
            </a:r>
          </a:p>
        </p:txBody>
      </p:sp>
    </p:spTree>
    <p:extLst>
      <p:ext uri="{BB962C8B-B14F-4D97-AF65-F5344CB8AC3E}">
        <p14:creationId xmlns:p14="http://schemas.microsoft.com/office/powerpoint/2010/main" val="123301286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partado-clase">
            <a:extLst xmlns:a="http://schemas.openxmlformats.org/drawingml/2006/main">
              <a:ext uri="{FF2B5EF4-FFF2-40B4-BE49-F238E27FC236}">
                <a16:creationId xmlns:a16="http://schemas.microsoft.com/office/drawing/2014/main" id="{8BA692B7-C92C-4277-8699-32FABCE012D9}"/>
              </a:ext>
            </a:extLst>
          </p:cNvPr>
          <p:cNvSpPr>
            <a:spLocks xmlns:a="http://schemas.openxmlformats.org/drawingml/2006/main" noGrp="1"/>
          </p:cNvSpPr>
          <p:nvPr/>
        </p:nvSpPr>
        <p:spPr>
          <a:xfrm xmlns:a="http://schemas.openxmlformats.org/drawingml/2006/main">
            <a:off x="60960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lnSpc>
                <a:spcPct val="105000"/>
              </a:lnSpc>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Punto 7 de 7. VIII. Anexos. Clase 23 de 25</a:t>
            </a:r>
          </a:p>
        </p:txBody>
      </p:sp>
      <p:sp>
        <p:nvSpPr>
          <p:cNvPr id="2" name="titulo-clase">
            <a:extLst xmlns:a="http://schemas.openxmlformats.org/drawingml/2006/main">
              <a:ext uri="{FF2B5EF4-FFF2-40B4-BE49-F238E27FC236}">
                <a16:creationId xmlns:a16="http://schemas.microsoft.com/office/drawing/2014/main" id="{31F05630-DF57-4C45-B4F4-7C90045B63CE}"/>
              </a:ext>
            </a:extLst>
          </p:cNvPr>
          <p:cNvSpPr>
            <a:spLocks xmlns:a="http://schemas.openxmlformats.org/drawingml/2006/main" noGrp="1"/>
          </p:cNvSpPr>
          <p:nvPr/>
        </p:nvSpPr>
        <p:spPr>
          <a:xfrm xmlns:a="http://schemas.openxmlformats.org/drawingml/2006/main">
            <a:off x="609600" y="69532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F3C"/>
                </a:solidFill>
                <a:latin typeface="DejaVu Sans"/>
                <a:ea typeface="DejaVu Sans"/>
                <a:cs typeface="DejaVu Sans"/>
              </a:defRPr>
            </a:defPPr>
          </a:lstStyle>
          <a:p xmlns:a="http://schemas.openxmlformats.org/drawingml/2006/main">
            <a:pPr>
              <a:lnSpc>
                <a:spcPct val="105000"/>
              </a:lnSpc>
              <a:buNone/>
              <a:defRPr sz="3300" b="1">
                <a:solidFill>
                  <a:srgbClr val="172F3C"/>
                </a:solidFill>
                <a:latin typeface="DejaVu Sans"/>
                <a:ea typeface="DejaVu Sans"/>
                <a:cs typeface="DejaVu Sans"/>
              </a:defRPr>
            </a:pPr>
            <a:r>
              <a:rPr sz="3300" b="1">
                <a:solidFill>
                  <a:srgbClr val="172F3C"/>
                </a:solidFill>
                <a:latin typeface="DejaVu Sans"/>
                <a:ea typeface="DejaVu Sans"/>
                <a:cs typeface="DejaVu Sans"/>
              </a:rPr>
              <a:t>Alcaide</a:t>
            </a:r>
          </a:p>
        </p:txBody>
      </p:sp>
      <p:sp>
        <p:nvSpPr>
          <p:cNvPr id="3" name="etiqueta-uml">
            <a:extLst xmlns:a="http://schemas.openxmlformats.org/drawingml/2006/main">
              <a:ext uri="{FF2B5EF4-FFF2-40B4-BE49-F238E27FC236}">
                <a16:creationId xmlns:a16="http://schemas.microsoft.com/office/drawing/2014/main" id="{E8DA73BF-9AFE-4729-AB1A-4D9BEDB9D615}"/>
              </a:ext>
            </a:extLst>
          </p:cNvPr>
          <p:cNvSpPr>
            <a:spLocks xmlns:a="http://schemas.openxmlformats.org/drawingml/2006/main" noGrp="1"/>
          </p:cNvSpPr>
          <p:nvPr/>
        </p:nvSpPr>
        <p:spPr>
          <a:xfrm xmlns:a="http://schemas.openxmlformats.org/drawingml/2006/main">
            <a:off x="609600" y="1495425"/>
            <a:ext cx="2809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UML: recorte original</a:t>
            </a:r>
          </a:p>
        </p:txBody>
      </p:sp>
      <p:pic>
        <p:nvPicPr>
          <p:cNvPr id="4" name="">
            <a:extLst xmlns:a="http://schemas.openxmlformats.org/drawingml/2006/main">
              <a:ext uri="{FF2B5EF4-FFF2-40B4-BE49-F238E27FC236}">
                <a16:creationId xmlns:a16="http://schemas.microsoft.com/office/drawing/2014/main" id="{D28619A8-9F73-4A61-82ED-34CECE239B2C}"/>
              </a:ext>
            </a:extLst>
          </p:cNvPr>
          <p:cNvPicPr>
            <a:picLocks xmlns:a="http://schemas.openxmlformats.org/drawingml/2006/main" noChangeAspect="1"/>
          </p:cNvPicPr>
          <p:nvPr/>
        </p:nvPicPr>
        <p:blipFill>
          <a:blip xmlns:r="http://schemas.openxmlformats.org/officeDocument/2006/relationships" xmlns:a="http://schemas.openxmlformats.org/drawingml/2006/main" r:embed="R4f27fd270745409e"/>
          <a:stretch xmlns:a="http://schemas.openxmlformats.org/drawingml/2006/main"/>
        </p:blipFill>
        <p:spPr>
          <a:xfrm xmlns:a="http://schemas.openxmlformats.org/drawingml/2006/main">
            <a:off x="1086838" y="1866900"/>
            <a:ext cx="1807774" cy="4381500"/>
          </a:xfrm>
          <a:prstGeom xmlns:a="http://schemas.openxmlformats.org/drawingml/2006/main" prst="rect">
            <a:avLst/>
          </a:prstGeom>
        </p:spPr>
      </p:pic>
      <p:sp>
        <p:nvSpPr>
          <p:cNvPr id="5" name="funcion-clase">
            <a:extLst xmlns:a="http://schemas.openxmlformats.org/drawingml/2006/main">
              <a:ext uri="{FF2B5EF4-FFF2-40B4-BE49-F238E27FC236}">
                <a16:creationId xmlns:a16="http://schemas.microsoft.com/office/drawing/2014/main" id="{C95FEBC2-B203-4819-A3F5-2BD4000AC413}"/>
              </a:ext>
            </a:extLst>
          </p:cNvPr>
          <p:cNvSpPr>
            <a:spLocks xmlns:a="http://schemas.openxmlformats.org/drawingml/2006/main" noGrp="1"/>
          </p:cNvSpPr>
          <p:nvPr/>
        </p:nvSpPr>
        <p:spPr>
          <a:xfrm xmlns:a="http://schemas.openxmlformats.org/drawingml/2006/main">
            <a:off x="3810000" y="1419225"/>
            <a:ext cx="7762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F3C"/>
                </a:solidFill>
                <a:latin typeface="DejaVu Sans"/>
                <a:ea typeface="DejaVu Sans"/>
                <a:cs typeface="DejaVu Sans"/>
              </a:defRPr>
            </a:defPPr>
          </a:lstStyle>
          <a:p xmlns:a="http://schemas.openxmlformats.org/drawingml/2006/main">
            <a:pPr>
              <a:lnSpc>
                <a:spcPct val="105000"/>
              </a:lnSpc>
              <a:buNone/>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Controla al jefe del último nivel.</a:t>
            </a:r>
          </a:p>
        </p:txBody>
      </p:sp>
      <p:sp>
        <p:nvSpPr>
          <p:cNvPr id="6" name="poo-0">
            <a:extLst xmlns:a="http://schemas.openxmlformats.org/drawingml/2006/main">
              <a:ext uri="{FF2B5EF4-FFF2-40B4-BE49-F238E27FC236}">
                <a16:creationId xmlns:a16="http://schemas.microsoft.com/office/drawing/2014/main" id="{6582B1C2-3052-411B-9E1A-D8FEC5840042}"/>
              </a:ext>
            </a:extLst>
          </p:cNvPr>
          <p:cNvSpPr>
            <a:spLocks xmlns:a="http://schemas.openxmlformats.org/drawingml/2006/main" noGrp="1"/>
          </p:cNvSpPr>
          <p:nvPr/>
        </p:nvSpPr>
        <p:spPr>
          <a:xfrm xmlns:a="http://schemas.openxmlformats.org/drawingml/2006/main">
            <a:off x="3810000" y="21717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Composición: Combate crea su Alcaide.</a:t>
            </a:r>
          </a:p>
        </p:txBody>
      </p:sp>
      <p:sp>
        <p:nvSpPr>
          <p:cNvPr id="7" name="poo-1">
            <a:extLst xmlns:a="http://schemas.openxmlformats.org/drawingml/2006/main">
              <a:ext uri="{FF2B5EF4-FFF2-40B4-BE49-F238E27FC236}">
                <a16:creationId xmlns:a16="http://schemas.microsoft.com/office/drawing/2014/main" id="{5B7959D9-B8D5-4042-9074-1A437F1993FF}"/>
              </a:ext>
            </a:extLst>
          </p:cNvPr>
          <p:cNvSpPr>
            <a:spLocks xmlns:a="http://schemas.openxmlformats.org/drawingml/2006/main" noGrp="1"/>
          </p:cNvSpPr>
          <p:nvPr/>
        </p:nvSpPr>
        <p:spPr>
          <a:xfrm xmlns:a="http://schemas.openxmlformats.org/drawingml/2006/main">
            <a:off x="3810000" y="25146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Dependencia: actualizar recibe el Combate.</a:t>
            </a:r>
          </a:p>
        </p:txBody>
      </p:sp>
      <p:sp>
        <p:nvSpPr>
          <p:cNvPr id="8" name="poo-2">
            <a:extLst xmlns:a="http://schemas.openxmlformats.org/drawingml/2006/main">
              <a:ext uri="{FF2B5EF4-FFF2-40B4-BE49-F238E27FC236}">
                <a16:creationId xmlns:a16="http://schemas.microsoft.com/office/drawing/2014/main" id="{B5975245-9A31-4244-83C9-47F7F2BBE9BA}"/>
              </a:ext>
            </a:extLst>
          </p:cNvPr>
          <p:cNvSpPr>
            <a:spLocks xmlns:a="http://schemas.openxmlformats.org/drawingml/2006/main" noGrp="1"/>
          </p:cNvSpPr>
          <p:nvPr/>
        </p:nvSpPr>
        <p:spPr>
          <a:xfrm xmlns:a="http://schemas.openxmlformats.org/drawingml/2006/main">
            <a:off x="3810000" y="28575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Propiedades: consultan fase, posición y derrota.</a:t>
            </a:r>
          </a:p>
        </p:txBody>
      </p:sp>
      <p:sp>
        <p:nvSpPr>
          <p:cNvPr id="9" name="etiqueta-codigo">
            <a:extLst xmlns:a="http://schemas.openxmlformats.org/drawingml/2006/main">
              <a:ext uri="{FF2B5EF4-FFF2-40B4-BE49-F238E27FC236}">
                <a16:creationId xmlns:a16="http://schemas.microsoft.com/office/drawing/2014/main" id="{41AB3FBE-9419-4B1B-9D10-A37254D1FD89}"/>
              </a:ext>
            </a:extLst>
          </p:cNvPr>
          <p:cNvSpPr>
            <a:spLocks xmlns:a="http://schemas.openxmlformats.org/drawingml/2006/main" noGrp="1"/>
          </p:cNvSpPr>
          <p:nvPr/>
        </p:nvSpPr>
        <p:spPr>
          <a:xfrm xmlns:a="http://schemas.openxmlformats.org/drawingml/2006/main">
            <a:off x="3810000" y="3162300"/>
            <a:ext cx="7762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Código del proyecto (fragmento)</a:t>
            </a:r>
          </a:p>
        </p:txBody>
      </p:sp>
      <p:sp>
        <p:nvSpPr>
          <p:cNvPr id="10" name="fragmento-codigo">
            <a:extLst xmlns:a="http://schemas.openxmlformats.org/drawingml/2006/main">
              <a:ext uri="{FF2B5EF4-FFF2-40B4-BE49-F238E27FC236}">
                <a16:creationId xmlns:a16="http://schemas.microsoft.com/office/drawing/2014/main" id="{2B0DFD3D-0156-4D2E-ADCC-0561B7C033A1}"/>
              </a:ext>
            </a:extLst>
          </p:cNvPr>
          <p:cNvSpPr>
            <a:spLocks xmlns:a="http://schemas.openxmlformats.org/drawingml/2006/main" noGrp="1"/>
          </p:cNvSpPr>
          <p:nvPr/>
        </p:nvSpPr>
        <p:spPr>
          <a:xfrm xmlns:a="http://schemas.openxmlformats.org/drawingml/2006/main">
            <a:off x="3810000" y="3486150"/>
            <a:ext cx="7762875"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172F3C"/>
                </a:solidFill>
                <a:latin typeface="DejaVu Sans Mono"/>
                <a:ea typeface="DejaVu Sans Mono"/>
                <a:cs typeface="DejaVu Sans Mono"/>
              </a:defRPr>
            </a:defPPr>
          </a:lstStyle>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class Alcaide:</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@property</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posicion(self):</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return self.x, self.y</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@property</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derrotado(self):</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return self.vida &lt;= 0</a:t>
            </a:r>
          </a:p>
        </p:txBody>
      </p:sp>
      <p:sp>
        <p:nvSpPr>
          <p:cNvPr id="11" name="enlace-fuente">
            <a:extLst xmlns:a="http://schemas.openxmlformats.org/drawingml/2006/main">
              <a:ext uri="{FF2B5EF4-FFF2-40B4-BE49-F238E27FC236}">
                <a16:creationId xmlns:a16="http://schemas.microsoft.com/office/drawing/2014/main" id="{181999A9-BDDB-49E9-9106-15EF68C62966}"/>
              </a:ext>
            </a:extLst>
          </p:cNvPr>
          <p:cNvSpPr>
            <a:spLocks xmlns:a="http://schemas.openxmlformats.org/drawingml/2006/main" noGrp="1"/>
          </p:cNvSpPr>
          <p:nvPr/>
        </p:nvSpPr>
        <p:spPr>
          <a:xfrm xmlns:a="http://schemas.openxmlformats.org/drawingml/2006/main">
            <a:off x="3810000" y="6457950"/>
            <a:ext cx="7762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526773"/>
                </a:solidFill>
                <a:latin typeface="DejaVu Sans"/>
                <a:ea typeface="DejaVu Sans"/>
                <a:cs typeface="DejaVu Sans"/>
              </a:defRPr>
            </a:defPPr>
          </a:lstStyle>
          <a:p xmlns:a="http://schemas.openxmlformats.org/drawingml/2006/main">
            <a:pPr>
              <a:lnSpc>
                <a:spcPct val="105000"/>
              </a:lnSpc>
              <a:buNone/>
              <a:defRPr sz="975" b="0">
                <a:solidFill>
                  <a:srgbClr val="526773"/>
                </a:solidFill>
                <a:latin typeface="DejaVu Sans"/>
                <a:ea typeface="DejaVu Sans"/>
                <a:cs typeface="DejaVu Sans"/>
              </a:defRPr>
            </a:pPr>
            <a:r>
              <a:rPr sz="975" b="0">
                <a:solidFill>
                  <a:srgbClr val="526773"/>
                </a:solidFill>
                <a:latin typeface="DejaVu Sans"/>
                <a:ea typeface="DejaVu Sans"/>
                <a:cs typeface="DejaVu Sans"/>
                <a:hlinkClick xmlns:r="http://schemas.openxmlformats.org/officeDocument/2006/relationships" r:id="R92d07d4e2c2749ca"/>
              </a:rPr>
              <a:t>src/combate.py, clase desde línea 47</a:t>
            </a:r>
          </a:p>
        </p:txBody>
      </p:sp>
      <p:sp>
        <p:nvSpPr>
          <p:cNvPr id="12" name="enlace-recorte">
            <a:extLst xmlns:a="http://schemas.openxmlformats.org/drawingml/2006/main">
              <a:ext uri="{FF2B5EF4-FFF2-40B4-BE49-F238E27FC236}">
                <a16:creationId xmlns:a16="http://schemas.microsoft.com/office/drawing/2014/main" id="{B4238D90-2434-462F-8708-DCC89D5D5959}"/>
              </a:ext>
            </a:extLst>
          </p:cNvPr>
          <p:cNvSpPr>
            <a:spLocks xmlns:a="http://schemas.openxmlformats.org/drawingml/2006/main" noGrp="1"/>
          </p:cNvSpPr>
          <p:nvPr/>
        </p:nvSpPr>
        <p:spPr>
          <a:xfrm xmlns:a="http://schemas.openxmlformats.org/drawingml/2006/main">
            <a:off x="609600" y="6457950"/>
            <a:ext cx="285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16735D"/>
                </a:solidFill>
                <a:latin typeface="DejaVu Sans"/>
                <a:ea typeface="DejaVu Sans"/>
                <a:cs typeface="DejaVu Sans"/>
              </a:defRPr>
            </a:defPPr>
          </a:lstStyle>
          <a:p xmlns:a="http://schemas.openxmlformats.org/drawingml/2006/main">
            <a:pPr>
              <a:lnSpc>
                <a:spcPct val="105000"/>
              </a:lnSpc>
              <a:buNone/>
              <a:defRPr sz="975" b="0">
                <a:solidFill>
                  <a:srgbClr val="16735D"/>
                </a:solidFill>
                <a:latin typeface="DejaVu Sans"/>
                <a:ea typeface="DejaVu Sans"/>
                <a:cs typeface="DejaVu Sans"/>
              </a:defRPr>
            </a:pPr>
            <a:r>
              <a:rPr sz="975" b="0">
                <a:solidFill>
                  <a:srgbClr val="16735D"/>
                </a:solidFill>
                <a:latin typeface="DejaVu Sans"/>
                <a:ea typeface="DejaVu Sans"/>
                <a:cs typeface="DejaVu Sans"/>
                <a:hlinkClick xmlns:r="http://schemas.openxmlformats.org/officeDocument/2006/relationships" r:id="R48f222a92d4744b9"/>
              </a:rPr>
              <a:t>Abrir recorte en tamaño original</a:t>
            </a:r>
          </a:p>
        </p:txBody>
      </p:sp>
    </p:spTree>
    <p:extLst>
      <p:ext uri="{BB962C8B-B14F-4D97-AF65-F5344CB8AC3E}">
        <p14:creationId xmlns:p14="http://schemas.microsoft.com/office/powerpoint/2010/main" val="752412108"/>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partado-clase">
            <a:extLst xmlns:a="http://schemas.openxmlformats.org/drawingml/2006/main">
              <a:ext uri="{FF2B5EF4-FFF2-40B4-BE49-F238E27FC236}">
                <a16:creationId xmlns:a16="http://schemas.microsoft.com/office/drawing/2014/main" id="{BE853500-A536-4654-B854-02A91AA3EB8C}"/>
              </a:ext>
            </a:extLst>
          </p:cNvPr>
          <p:cNvSpPr>
            <a:spLocks xmlns:a="http://schemas.openxmlformats.org/drawingml/2006/main" noGrp="1"/>
          </p:cNvSpPr>
          <p:nvPr/>
        </p:nvSpPr>
        <p:spPr>
          <a:xfrm xmlns:a="http://schemas.openxmlformats.org/drawingml/2006/main">
            <a:off x="60960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lnSpc>
                <a:spcPct val="105000"/>
              </a:lnSpc>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Punto 7 de 7. VIII. Anexos. Clase 24 de 25</a:t>
            </a:r>
          </a:p>
        </p:txBody>
      </p:sp>
      <p:sp>
        <p:nvSpPr>
          <p:cNvPr id="2" name="titulo-clase">
            <a:extLst xmlns:a="http://schemas.openxmlformats.org/drawingml/2006/main">
              <a:ext uri="{FF2B5EF4-FFF2-40B4-BE49-F238E27FC236}">
                <a16:creationId xmlns:a16="http://schemas.microsoft.com/office/drawing/2014/main" id="{9AE60E77-7744-4E6F-88EB-7300B072E665}"/>
              </a:ext>
            </a:extLst>
          </p:cNvPr>
          <p:cNvSpPr>
            <a:spLocks xmlns:a="http://schemas.openxmlformats.org/drawingml/2006/main" noGrp="1"/>
          </p:cNvSpPr>
          <p:nvPr/>
        </p:nvSpPr>
        <p:spPr>
          <a:xfrm xmlns:a="http://schemas.openxmlformats.org/drawingml/2006/main">
            <a:off x="609600" y="69532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F3C"/>
                </a:solidFill>
                <a:latin typeface="DejaVu Sans"/>
                <a:ea typeface="DejaVu Sans"/>
                <a:cs typeface="DejaVu Sans"/>
              </a:defRPr>
            </a:defPPr>
          </a:lstStyle>
          <a:p xmlns:a="http://schemas.openxmlformats.org/drawingml/2006/main">
            <a:pPr>
              <a:lnSpc>
                <a:spcPct val="105000"/>
              </a:lnSpc>
              <a:buNone/>
              <a:defRPr sz="3300" b="1">
                <a:solidFill>
                  <a:srgbClr val="172F3C"/>
                </a:solidFill>
                <a:latin typeface="DejaVu Sans"/>
                <a:ea typeface="DejaVu Sans"/>
                <a:cs typeface="DejaVu Sans"/>
              </a:defRPr>
            </a:pPr>
            <a:r>
              <a:rPr sz="3300" b="1">
                <a:solidFill>
                  <a:srgbClr val="172F3C"/>
                </a:solidFill>
                <a:latin typeface="DejaVu Sans"/>
                <a:ea typeface="DejaVu Sans"/>
                <a:cs typeface="DejaVu Sans"/>
              </a:rPr>
              <a:t>Combate</a:t>
            </a:r>
          </a:p>
        </p:txBody>
      </p:sp>
      <p:sp>
        <p:nvSpPr>
          <p:cNvPr id="3" name="etiqueta-uml">
            <a:extLst xmlns:a="http://schemas.openxmlformats.org/drawingml/2006/main">
              <a:ext uri="{FF2B5EF4-FFF2-40B4-BE49-F238E27FC236}">
                <a16:creationId xmlns:a16="http://schemas.microsoft.com/office/drawing/2014/main" id="{999C8896-78EE-4AC3-B55D-D9916793DA58}"/>
              </a:ext>
            </a:extLst>
          </p:cNvPr>
          <p:cNvSpPr>
            <a:spLocks xmlns:a="http://schemas.openxmlformats.org/drawingml/2006/main" noGrp="1"/>
          </p:cNvSpPr>
          <p:nvPr/>
        </p:nvSpPr>
        <p:spPr>
          <a:xfrm xmlns:a="http://schemas.openxmlformats.org/drawingml/2006/main">
            <a:off x="609600" y="1495425"/>
            <a:ext cx="2809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UML: recorte original</a:t>
            </a:r>
          </a:p>
        </p:txBody>
      </p:sp>
      <p:pic>
        <p:nvPicPr>
          <p:cNvPr id="4" name="">
            <a:extLst xmlns:a="http://schemas.openxmlformats.org/drawingml/2006/main">
              <a:ext uri="{FF2B5EF4-FFF2-40B4-BE49-F238E27FC236}">
                <a16:creationId xmlns:a16="http://schemas.microsoft.com/office/drawing/2014/main" id="{D017E03C-4747-4041-B912-E4D8B8A323EA}"/>
              </a:ext>
            </a:extLst>
          </p:cNvPr>
          <p:cNvPicPr>
            <a:picLocks xmlns:a="http://schemas.openxmlformats.org/drawingml/2006/main" noChangeAspect="1"/>
          </p:cNvPicPr>
          <p:nvPr/>
        </p:nvPicPr>
        <p:blipFill>
          <a:blip xmlns:r="http://schemas.openxmlformats.org/officeDocument/2006/relationships" xmlns:a="http://schemas.openxmlformats.org/drawingml/2006/main" r:embed="R09569965b997414a"/>
          <a:stretch xmlns:a="http://schemas.openxmlformats.org/drawingml/2006/main"/>
        </p:blipFill>
        <p:spPr>
          <a:xfrm xmlns:a="http://schemas.openxmlformats.org/drawingml/2006/main">
            <a:off x="609600" y="2863963"/>
            <a:ext cx="2762250" cy="2387373"/>
          </a:xfrm>
          <a:prstGeom xmlns:a="http://schemas.openxmlformats.org/drawingml/2006/main" prst="rect">
            <a:avLst/>
          </a:prstGeom>
        </p:spPr>
      </p:pic>
      <p:sp>
        <p:nvSpPr>
          <p:cNvPr id="5" name="funcion-clase">
            <a:extLst xmlns:a="http://schemas.openxmlformats.org/drawingml/2006/main">
              <a:ext uri="{FF2B5EF4-FFF2-40B4-BE49-F238E27FC236}">
                <a16:creationId xmlns:a16="http://schemas.microsoft.com/office/drawing/2014/main" id="{0E1DDC27-B95A-4800-8496-0454CA69D287}"/>
              </a:ext>
            </a:extLst>
          </p:cNvPr>
          <p:cNvSpPr>
            <a:spLocks xmlns:a="http://schemas.openxmlformats.org/drawingml/2006/main" noGrp="1"/>
          </p:cNvSpPr>
          <p:nvPr/>
        </p:nvSpPr>
        <p:spPr>
          <a:xfrm xmlns:a="http://schemas.openxmlformats.org/drawingml/2006/main">
            <a:off x="3810000" y="1419225"/>
            <a:ext cx="7762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F3C"/>
                </a:solidFill>
                <a:latin typeface="DejaVu Sans"/>
                <a:ea typeface="DejaVu Sans"/>
                <a:cs typeface="DejaVu Sans"/>
              </a:defRPr>
            </a:defPPr>
          </a:lstStyle>
          <a:p xmlns:a="http://schemas.openxmlformats.org/drawingml/2006/main">
            <a:pPr>
              <a:lnSpc>
                <a:spcPct val="105000"/>
              </a:lnSpc>
              <a:buNone/>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Resuelve los ataques, los proyectiles y la vida en la arena.</a:t>
            </a:r>
          </a:p>
        </p:txBody>
      </p:sp>
      <p:sp>
        <p:nvSpPr>
          <p:cNvPr id="6" name="poo-0">
            <a:extLst xmlns:a="http://schemas.openxmlformats.org/drawingml/2006/main">
              <a:ext uri="{FF2B5EF4-FFF2-40B4-BE49-F238E27FC236}">
                <a16:creationId xmlns:a16="http://schemas.microsoft.com/office/drawing/2014/main" id="{F3AF69DD-5BC4-4383-A5F8-83764E4A38BC}"/>
              </a:ext>
            </a:extLst>
          </p:cNvPr>
          <p:cNvSpPr>
            <a:spLocks xmlns:a="http://schemas.openxmlformats.org/drawingml/2006/main" noGrp="1"/>
          </p:cNvSpPr>
          <p:nvPr/>
        </p:nvSpPr>
        <p:spPr>
          <a:xfrm xmlns:a="http://schemas.openxmlformats.org/drawingml/2006/main">
            <a:off x="3810000" y="21717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Composición: crea Alcaide y Proyectil.</a:t>
            </a:r>
          </a:p>
        </p:txBody>
      </p:sp>
      <p:sp>
        <p:nvSpPr>
          <p:cNvPr id="7" name="poo-1">
            <a:extLst xmlns:a="http://schemas.openxmlformats.org/drawingml/2006/main">
              <a:ext uri="{FF2B5EF4-FFF2-40B4-BE49-F238E27FC236}">
                <a16:creationId xmlns:a16="http://schemas.microsoft.com/office/drawing/2014/main" id="{061472EF-343C-44D5-87CF-B01EB2B182F5}"/>
              </a:ext>
            </a:extLst>
          </p:cNvPr>
          <p:cNvSpPr>
            <a:spLocks xmlns:a="http://schemas.openxmlformats.org/drawingml/2006/main" noGrp="1"/>
          </p:cNvSpPr>
          <p:nvPr/>
        </p:nvSpPr>
        <p:spPr>
          <a:xfrm xmlns:a="http://schemas.openxmlformats.org/drawingml/2006/main">
            <a:off x="3810000" y="25146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Asociación: conserva el Nivel recibido.</a:t>
            </a:r>
          </a:p>
        </p:txBody>
      </p:sp>
      <p:sp>
        <p:nvSpPr>
          <p:cNvPr id="8" name="etiqueta-codigo">
            <a:extLst xmlns:a="http://schemas.openxmlformats.org/drawingml/2006/main">
              <a:ext uri="{FF2B5EF4-FFF2-40B4-BE49-F238E27FC236}">
                <a16:creationId xmlns:a16="http://schemas.microsoft.com/office/drawing/2014/main" id="{5E155A6E-2013-41C3-840C-9365A2ABA683}"/>
              </a:ext>
            </a:extLst>
          </p:cNvPr>
          <p:cNvSpPr>
            <a:spLocks xmlns:a="http://schemas.openxmlformats.org/drawingml/2006/main" noGrp="1"/>
          </p:cNvSpPr>
          <p:nvPr/>
        </p:nvSpPr>
        <p:spPr>
          <a:xfrm xmlns:a="http://schemas.openxmlformats.org/drawingml/2006/main">
            <a:off x="3810000" y="2819400"/>
            <a:ext cx="7762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Código del proyecto (fragmento)</a:t>
            </a:r>
          </a:p>
        </p:txBody>
      </p:sp>
      <p:sp>
        <p:nvSpPr>
          <p:cNvPr id="9" name="fragmento-codigo">
            <a:extLst xmlns:a="http://schemas.openxmlformats.org/drawingml/2006/main">
              <a:ext uri="{FF2B5EF4-FFF2-40B4-BE49-F238E27FC236}">
                <a16:creationId xmlns:a16="http://schemas.microsoft.com/office/drawing/2014/main" id="{5634E045-444F-4F96-8820-B2EB7FA703DB}"/>
              </a:ext>
            </a:extLst>
          </p:cNvPr>
          <p:cNvSpPr>
            <a:spLocks xmlns:a="http://schemas.openxmlformats.org/drawingml/2006/main" noGrp="1"/>
          </p:cNvSpPr>
          <p:nvPr/>
        </p:nvSpPr>
        <p:spPr>
          <a:xfrm xmlns:a="http://schemas.openxmlformats.org/drawingml/2006/main">
            <a:off x="3810000" y="3143250"/>
            <a:ext cx="77628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172F3C"/>
                </a:solidFill>
                <a:latin typeface="DejaVu Sans Mono"/>
                <a:ea typeface="DejaVu Sans Mono"/>
                <a:cs typeface="DejaVu Sans Mono"/>
              </a:defRPr>
            </a:defPPr>
          </a:lstStyle>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class Combate:</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__init__(self, nivel):</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self.nivel = nivel</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self.jefe = Alcaide()</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self.proyectiles = []</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emitir(self, origen, angulo, velocidad, enemigo=True):</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self.proyectiles.append(Proyectil(</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*origen, math.cos(angulo) * velocidad,</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math.sin(angulo) * velocidad, enemigo,</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6 if enemigo else 5))</a:t>
            </a:r>
          </a:p>
        </p:txBody>
      </p:sp>
      <p:sp>
        <p:nvSpPr>
          <p:cNvPr id="10" name="enlace-fuente">
            <a:extLst xmlns:a="http://schemas.openxmlformats.org/drawingml/2006/main">
              <a:ext uri="{FF2B5EF4-FFF2-40B4-BE49-F238E27FC236}">
                <a16:creationId xmlns:a16="http://schemas.microsoft.com/office/drawing/2014/main" id="{D99DD549-8540-4665-B088-88CB8AD97E00}"/>
              </a:ext>
            </a:extLst>
          </p:cNvPr>
          <p:cNvSpPr>
            <a:spLocks xmlns:a="http://schemas.openxmlformats.org/drawingml/2006/main" noGrp="1"/>
          </p:cNvSpPr>
          <p:nvPr/>
        </p:nvSpPr>
        <p:spPr>
          <a:xfrm xmlns:a="http://schemas.openxmlformats.org/drawingml/2006/main">
            <a:off x="3810000" y="6457950"/>
            <a:ext cx="7762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526773"/>
                </a:solidFill>
                <a:latin typeface="DejaVu Sans"/>
                <a:ea typeface="DejaVu Sans"/>
                <a:cs typeface="DejaVu Sans"/>
              </a:defRPr>
            </a:defPPr>
          </a:lstStyle>
          <a:p xmlns:a="http://schemas.openxmlformats.org/drawingml/2006/main">
            <a:pPr>
              <a:lnSpc>
                <a:spcPct val="105000"/>
              </a:lnSpc>
              <a:buNone/>
              <a:defRPr sz="975" b="0">
                <a:solidFill>
                  <a:srgbClr val="526773"/>
                </a:solidFill>
                <a:latin typeface="DejaVu Sans"/>
                <a:ea typeface="DejaVu Sans"/>
                <a:cs typeface="DejaVu Sans"/>
              </a:defRPr>
            </a:pPr>
            <a:r>
              <a:rPr sz="975" b="0">
                <a:solidFill>
                  <a:srgbClr val="526773"/>
                </a:solidFill>
                <a:latin typeface="DejaVu Sans"/>
                <a:ea typeface="DejaVu Sans"/>
                <a:cs typeface="DejaVu Sans"/>
                <a:hlinkClick xmlns:r="http://schemas.openxmlformats.org/officeDocument/2006/relationships" r:id="R9766b1ad1b684acf"/>
              </a:rPr>
              <a:t>src/combate.py, clase desde línea 162</a:t>
            </a:r>
          </a:p>
        </p:txBody>
      </p:sp>
      <p:sp>
        <p:nvSpPr>
          <p:cNvPr id="11" name="enlace-recorte">
            <a:extLst xmlns:a="http://schemas.openxmlformats.org/drawingml/2006/main">
              <a:ext uri="{FF2B5EF4-FFF2-40B4-BE49-F238E27FC236}">
                <a16:creationId xmlns:a16="http://schemas.microsoft.com/office/drawing/2014/main" id="{4CA82263-0A1D-438C-80E6-ED6272C1EAA4}"/>
              </a:ext>
            </a:extLst>
          </p:cNvPr>
          <p:cNvSpPr>
            <a:spLocks xmlns:a="http://schemas.openxmlformats.org/drawingml/2006/main" noGrp="1"/>
          </p:cNvSpPr>
          <p:nvPr/>
        </p:nvSpPr>
        <p:spPr>
          <a:xfrm xmlns:a="http://schemas.openxmlformats.org/drawingml/2006/main">
            <a:off x="609600" y="6457950"/>
            <a:ext cx="285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16735D"/>
                </a:solidFill>
                <a:latin typeface="DejaVu Sans"/>
                <a:ea typeface="DejaVu Sans"/>
                <a:cs typeface="DejaVu Sans"/>
              </a:defRPr>
            </a:defPPr>
          </a:lstStyle>
          <a:p xmlns:a="http://schemas.openxmlformats.org/drawingml/2006/main">
            <a:pPr>
              <a:lnSpc>
                <a:spcPct val="105000"/>
              </a:lnSpc>
              <a:buNone/>
              <a:defRPr sz="975" b="0">
                <a:solidFill>
                  <a:srgbClr val="16735D"/>
                </a:solidFill>
                <a:latin typeface="DejaVu Sans"/>
                <a:ea typeface="DejaVu Sans"/>
                <a:cs typeface="DejaVu Sans"/>
              </a:defRPr>
            </a:pPr>
            <a:r>
              <a:rPr sz="975" b="0">
                <a:solidFill>
                  <a:srgbClr val="16735D"/>
                </a:solidFill>
                <a:latin typeface="DejaVu Sans"/>
                <a:ea typeface="DejaVu Sans"/>
                <a:cs typeface="DejaVu Sans"/>
                <a:hlinkClick xmlns:r="http://schemas.openxmlformats.org/officeDocument/2006/relationships" r:id="R4b506da0006640cd"/>
              </a:rPr>
              <a:t>Abrir recorte en tamaño original</a:t>
            </a:r>
          </a:p>
        </p:txBody>
      </p:sp>
    </p:spTree>
    <p:extLst>
      <p:ext uri="{BB962C8B-B14F-4D97-AF65-F5344CB8AC3E}">
        <p14:creationId xmlns:p14="http://schemas.microsoft.com/office/powerpoint/2010/main" val="129119752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partado-clase">
            <a:extLst xmlns:a="http://schemas.openxmlformats.org/drawingml/2006/main">
              <a:ext uri="{FF2B5EF4-FFF2-40B4-BE49-F238E27FC236}">
                <a16:creationId xmlns:a16="http://schemas.microsoft.com/office/drawing/2014/main" id="{37D7050A-854A-4A9F-B707-6ED65383A3A7}"/>
              </a:ext>
            </a:extLst>
          </p:cNvPr>
          <p:cNvSpPr>
            <a:spLocks xmlns:a="http://schemas.openxmlformats.org/drawingml/2006/main" noGrp="1"/>
          </p:cNvSpPr>
          <p:nvPr/>
        </p:nvSpPr>
        <p:spPr>
          <a:xfrm xmlns:a="http://schemas.openxmlformats.org/drawingml/2006/main">
            <a:off x="609600" y="22860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00" b="1">
                <a:solidFill>
                  <a:srgbClr val="16735D"/>
                </a:solidFill>
                <a:latin typeface="DejaVu Sans"/>
                <a:ea typeface="DejaVu Sans"/>
                <a:cs typeface="DejaVu Sans"/>
              </a:defRPr>
            </a:defPPr>
          </a:lstStyle>
          <a:p xmlns:a="http://schemas.openxmlformats.org/drawingml/2006/main">
            <a:pPr>
              <a:lnSpc>
                <a:spcPct val="105000"/>
              </a:lnSpc>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Punto 7 de 7. VIII. Anexos. Clase 25 de 25</a:t>
            </a:r>
          </a:p>
        </p:txBody>
      </p:sp>
      <p:sp>
        <p:nvSpPr>
          <p:cNvPr id="2" name="titulo-clase">
            <a:extLst xmlns:a="http://schemas.openxmlformats.org/drawingml/2006/main">
              <a:ext uri="{FF2B5EF4-FFF2-40B4-BE49-F238E27FC236}">
                <a16:creationId xmlns:a16="http://schemas.microsoft.com/office/drawing/2014/main" id="{BCE72575-9666-4024-B9A0-27AF6107CEEF}"/>
              </a:ext>
            </a:extLst>
          </p:cNvPr>
          <p:cNvSpPr>
            <a:spLocks xmlns:a="http://schemas.openxmlformats.org/drawingml/2006/main" noGrp="1"/>
          </p:cNvSpPr>
          <p:nvPr/>
        </p:nvSpPr>
        <p:spPr>
          <a:xfrm xmlns:a="http://schemas.openxmlformats.org/drawingml/2006/main">
            <a:off x="609600" y="69532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72F3C"/>
                </a:solidFill>
                <a:latin typeface="DejaVu Sans"/>
                <a:ea typeface="DejaVu Sans"/>
                <a:cs typeface="DejaVu Sans"/>
              </a:defRPr>
            </a:defPPr>
          </a:lstStyle>
          <a:p xmlns:a="http://schemas.openxmlformats.org/drawingml/2006/main">
            <a:pPr>
              <a:lnSpc>
                <a:spcPct val="105000"/>
              </a:lnSpc>
              <a:buNone/>
              <a:defRPr sz="3300" b="1">
                <a:solidFill>
                  <a:srgbClr val="172F3C"/>
                </a:solidFill>
                <a:latin typeface="DejaVu Sans"/>
                <a:ea typeface="DejaVu Sans"/>
                <a:cs typeface="DejaVu Sans"/>
              </a:defRPr>
            </a:pPr>
            <a:r>
              <a:rPr sz="3300" b="1">
                <a:solidFill>
                  <a:srgbClr val="172F3C"/>
                </a:solidFill>
                <a:latin typeface="DejaVu Sans"/>
                <a:ea typeface="DejaVu Sans"/>
                <a:cs typeface="DejaVu Sans"/>
              </a:rPr>
              <a:t>Vista</a:t>
            </a:r>
          </a:p>
        </p:txBody>
      </p:sp>
      <p:sp>
        <p:nvSpPr>
          <p:cNvPr id="3" name="etiqueta-uml">
            <a:extLst xmlns:a="http://schemas.openxmlformats.org/drawingml/2006/main">
              <a:ext uri="{FF2B5EF4-FFF2-40B4-BE49-F238E27FC236}">
                <a16:creationId xmlns:a16="http://schemas.microsoft.com/office/drawing/2014/main" id="{F9FCD0F6-5C66-4697-91F6-92A9D7136B7A}"/>
              </a:ext>
            </a:extLst>
          </p:cNvPr>
          <p:cNvSpPr>
            <a:spLocks xmlns:a="http://schemas.openxmlformats.org/drawingml/2006/main" noGrp="1"/>
          </p:cNvSpPr>
          <p:nvPr/>
        </p:nvSpPr>
        <p:spPr>
          <a:xfrm xmlns:a="http://schemas.openxmlformats.org/drawingml/2006/main">
            <a:off x="609600" y="1495425"/>
            <a:ext cx="2809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UML: recorte original</a:t>
            </a:r>
          </a:p>
        </p:txBody>
      </p:sp>
      <p:pic>
        <p:nvPicPr>
          <p:cNvPr id="4" name="">
            <a:extLst xmlns:a="http://schemas.openxmlformats.org/drawingml/2006/main">
              <a:ext uri="{FF2B5EF4-FFF2-40B4-BE49-F238E27FC236}">
                <a16:creationId xmlns:a16="http://schemas.microsoft.com/office/drawing/2014/main" id="{24024347-7C12-425F-9CF3-02A212E5A13C}"/>
              </a:ext>
            </a:extLst>
          </p:cNvPr>
          <p:cNvPicPr>
            <a:picLocks xmlns:a="http://schemas.openxmlformats.org/drawingml/2006/main" noChangeAspect="1"/>
          </p:cNvPicPr>
          <p:nvPr/>
        </p:nvPicPr>
        <p:blipFill>
          <a:blip xmlns:r="http://schemas.openxmlformats.org/officeDocument/2006/relationships" xmlns:a="http://schemas.openxmlformats.org/drawingml/2006/main" r:embed="Rb8f853d0c2894234"/>
          <a:stretch xmlns:a="http://schemas.openxmlformats.org/drawingml/2006/main"/>
        </p:blipFill>
        <p:spPr>
          <a:xfrm xmlns:a="http://schemas.openxmlformats.org/drawingml/2006/main">
            <a:off x="609600" y="2675280"/>
            <a:ext cx="2762250" cy="2764741"/>
          </a:xfrm>
          <a:prstGeom xmlns:a="http://schemas.openxmlformats.org/drawingml/2006/main" prst="rect">
            <a:avLst/>
          </a:prstGeom>
        </p:spPr>
      </p:pic>
      <p:sp>
        <p:nvSpPr>
          <p:cNvPr id="5" name="funcion-clase">
            <a:extLst xmlns:a="http://schemas.openxmlformats.org/drawingml/2006/main">
              <a:ext uri="{FF2B5EF4-FFF2-40B4-BE49-F238E27FC236}">
                <a16:creationId xmlns:a16="http://schemas.microsoft.com/office/drawing/2014/main" id="{481BE638-C861-4B9A-8087-58267A0F30E8}"/>
              </a:ext>
            </a:extLst>
          </p:cNvPr>
          <p:cNvSpPr>
            <a:spLocks xmlns:a="http://schemas.openxmlformats.org/drawingml/2006/main" noGrp="1"/>
          </p:cNvSpPr>
          <p:nvPr/>
        </p:nvSpPr>
        <p:spPr>
          <a:xfrm xmlns:a="http://schemas.openxmlformats.org/drawingml/2006/main">
            <a:off x="3810000" y="1419225"/>
            <a:ext cx="7762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F3C"/>
                </a:solidFill>
                <a:latin typeface="DejaVu Sans"/>
                <a:ea typeface="DejaVu Sans"/>
                <a:cs typeface="DejaVu Sans"/>
              </a:defRPr>
            </a:defPPr>
          </a:lstStyle>
          <a:p xmlns:a="http://schemas.openxmlformats.org/drawingml/2006/main">
            <a:pPr>
              <a:lnSpc>
                <a:spcPct val="105000"/>
              </a:lnSpc>
              <a:buNone/>
              <a:defRPr sz="1800" b="0">
                <a:solidFill>
                  <a:srgbClr val="172F3C"/>
                </a:solidFill>
                <a:latin typeface="DejaVu Sans"/>
                <a:ea typeface="DejaVu Sans"/>
                <a:cs typeface="DejaVu Sans"/>
              </a:defRPr>
            </a:pPr>
            <a:r>
              <a:rPr sz="1800" b="0">
                <a:solidFill>
                  <a:srgbClr val="172F3C"/>
                </a:solidFill>
                <a:latin typeface="DejaVu Sans"/>
                <a:ea typeface="DejaVu Sans"/>
                <a:cs typeface="DejaVu Sans"/>
              </a:rPr>
              <a:t>Dibuja la interfaz, los mapas y los personajes stickman con Pygame.</a:t>
            </a:r>
          </a:p>
        </p:txBody>
      </p:sp>
      <p:sp>
        <p:nvSpPr>
          <p:cNvPr id="6" name="poo-0">
            <a:extLst xmlns:a="http://schemas.openxmlformats.org/drawingml/2006/main">
              <a:ext uri="{FF2B5EF4-FFF2-40B4-BE49-F238E27FC236}">
                <a16:creationId xmlns:a16="http://schemas.microsoft.com/office/drawing/2014/main" id="{261FD2BC-298C-4C9A-A059-9E802FA2A50A}"/>
              </a:ext>
            </a:extLst>
          </p:cNvPr>
          <p:cNvSpPr>
            <a:spLocks xmlns:a="http://schemas.openxmlformats.org/drawingml/2006/main" noGrp="1"/>
          </p:cNvSpPr>
          <p:nvPr/>
        </p:nvSpPr>
        <p:spPr>
          <a:xfrm xmlns:a="http://schemas.openxmlformats.org/drawingml/2006/main">
            <a:off x="3810000" y="21717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Asociación: conserva la pantalla que recibe.</a:t>
            </a:r>
          </a:p>
        </p:txBody>
      </p:sp>
      <p:sp>
        <p:nvSpPr>
          <p:cNvPr id="7" name="poo-1">
            <a:extLst xmlns:a="http://schemas.openxmlformats.org/drawingml/2006/main">
              <a:ext uri="{FF2B5EF4-FFF2-40B4-BE49-F238E27FC236}">
                <a16:creationId xmlns:a16="http://schemas.microsoft.com/office/drawing/2014/main" id="{A529C314-9760-4DA5-BA10-E01A8B0C520E}"/>
              </a:ext>
            </a:extLst>
          </p:cNvPr>
          <p:cNvSpPr>
            <a:spLocks xmlns:a="http://schemas.openxmlformats.org/drawingml/2006/main" noGrp="1"/>
          </p:cNvSpPr>
          <p:nvPr/>
        </p:nvSpPr>
        <p:spPr>
          <a:xfrm xmlns:a="http://schemas.openxmlformats.org/drawingml/2006/main">
            <a:off x="3810000" y="2514600"/>
            <a:ext cx="7762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538" b="0">
                <a:solidFill>
                  <a:srgbClr val="172F3C"/>
                </a:solidFill>
                <a:latin typeface="DejaVu Sans"/>
                <a:ea typeface="DejaVu Sans"/>
                <a:cs typeface="DejaVu Sans"/>
              </a:defRPr>
            </a:defPPr>
          </a:lstStyle>
          <a:p xmlns:a="http://schemas.openxmlformats.org/drawingml/2006/main">
            <a:pPr>
              <a:lnSpc>
                <a:spcPct val="105000"/>
              </a:lnSpc>
              <a:buNone/>
              <a:defRPr sz="1538" b="0">
                <a:solidFill>
                  <a:srgbClr val="172F3C"/>
                </a:solidFill>
                <a:latin typeface="DejaVu Sans"/>
                <a:ea typeface="DejaVu Sans"/>
                <a:cs typeface="DejaVu Sans"/>
              </a:defRPr>
            </a:pPr>
            <a:r>
              <a:rPr sz="1538" b="0">
                <a:solidFill>
                  <a:srgbClr val="172F3C"/>
                </a:solidFill>
                <a:latin typeface="DejaVu Sans"/>
                <a:ea typeface="DejaVu Sans"/>
                <a:cs typeface="DejaVu Sans"/>
              </a:rPr>
              <a:t>Dependencia: dibujar consulta Juego y Nivel.</a:t>
            </a:r>
          </a:p>
        </p:txBody>
      </p:sp>
      <p:sp>
        <p:nvSpPr>
          <p:cNvPr id="8" name="etiqueta-codigo">
            <a:extLst xmlns:a="http://schemas.openxmlformats.org/drawingml/2006/main">
              <a:ext uri="{FF2B5EF4-FFF2-40B4-BE49-F238E27FC236}">
                <a16:creationId xmlns:a16="http://schemas.microsoft.com/office/drawing/2014/main" id="{B3E4E7AB-8572-4045-88ED-0913B344C260}"/>
              </a:ext>
            </a:extLst>
          </p:cNvPr>
          <p:cNvSpPr>
            <a:spLocks xmlns:a="http://schemas.openxmlformats.org/drawingml/2006/main" noGrp="1"/>
          </p:cNvSpPr>
          <p:nvPr/>
        </p:nvSpPr>
        <p:spPr>
          <a:xfrm xmlns:a="http://schemas.openxmlformats.org/drawingml/2006/main">
            <a:off x="3810000" y="2819400"/>
            <a:ext cx="7762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75" b="1">
                <a:solidFill>
                  <a:srgbClr val="16735D"/>
                </a:solidFill>
                <a:latin typeface="DejaVu Sans"/>
                <a:ea typeface="DejaVu Sans"/>
                <a:cs typeface="DejaVu Sans"/>
              </a:defRPr>
            </a:defPPr>
          </a:lstStyle>
          <a:p xmlns:a="http://schemas.openxmlformats.org/drawingml/2006/main">
            <a:pPr>
              <a:lnSpc>
                <a:spcPct val="105000"/>
              </a:lnSpc>
              <a:buNone/>
              <a:defRPr sz="1275" b="1">
                <a:solidFill>
                  <a:srgbClr val="16735D"/>
                </a:solidFill>
                <a:latin typeface="DejaVu Sans"/>
                <a:ea typeface="DejaVu Sans"/>
                <a:cs typeface="DejaVu Sans"/>
              </a:defRPr>
            </a:pPr>
            <a:r>
              <a:rPr sz="1275" b="1">
                <a:solidFill>
                  <a:srgbClr val="16735D"/>
                </a:solidFill>
                <a:latin typeface="DejaVu Sans"/>
                <a:ea typeface="DejaVu Sans"/>
                <a:cs typeface="DejaVu Sans"/>
              </a:rPr>
              <a:t>Código del proyecto (fragmento)</a:t>
            </a:r>
          </a:p>
        </p:txBody>
      </p:sp>
      <p:sp>
        <p:nvSpPr>
          <p:cNvPr id="9" name="fragmento-codigo">
            <a:extLst xmlns:a="http://schemas.openxmlformats.org/drawingml/2006/main">
              <a:ext uri="{FF2B5EF4-FFF2-40B4-BE49-F238E27FC236}">
                <a16:creationId xmlns:a16="http://schemas.microsoft.com/office/drawing/2014/main" id="{0FDA3C21-60EB-432E-B89C-7D81839AB587}"/>
              </a:ext>
            </a:extLst>
          </p:cNvPr>
          <p:cNvSpPr>
            <a:spLocks xmlns:a="http://schemas.openxmlformats.org/drawingml/2006/main" noGrp="1"/>
          </p:cNvSpPr>
          <p:nvPr/>
        </p:nvSpPr>
        <p:spPr>
          <a:xfrm xmlns:a="http://schemas.openxmlformats.org/drawingml/2006/main">
            <a:off x="3810000" y="3143250"/>
            <a:ext cx="77628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425" b="0">
                <a:solidFill>
                  <a:srgbClr val="172F3C"/>
                </a:solidFill>
                <a:latin typeface="DejaVu Sans Mono"/>
                <a:ea typeface="DejaVu Sans Mono"/>
                <a:cs typeface="DejaVu Sans Mono"/>
              </a:defRPr>
            </a:defPPr>
          </a:lstStyle>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class Vista:</a:t>
            </a:r>
          </a:p>
          <a:p xmlns:a="http://schemas.openxmlformats.org/drawingml/2006/main">
            <a:r>
              <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def dibujar(self, juego):</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nivel = juego.nivel</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self._dibujar_encabezado(juego)</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self._dibujar_mapa(nivel)</a:t>
            </a:r>
          </a:p>
          <a:p xmlns:a="http://schemas.openxmlformats.org/drawingml/2006/main">
            <a:pPr>
              <a:lnSpc>
                <a:spcPct val="105000"/>
              </a:lnSpc>
              <a:buNone/>
              <a:defRPr sz="1425" b="0">
                <a:solidFill>
                  <a:srgbClr val="172F3C"/>
                </a:solidFill>
                <a:latin typeface="DejaVu Sans Mono"/>
                <a:ea typeface="DejaVu Sans Mono"/>
                <a:cs typeface="DejaVu Sans Mono"/>
              </a:defRPr>
            </a:pPr>
            <a:r>
              <a:rPr sz="1425" b="0">
                <a:solidFill>
                  <a:srgbClr val="172F3C"/>
                </a:solidFill>
                <a:latin typeface="DejaVu Sans Mono"/>
                <a:ea typeface="DejaVu Sans Mono"/>
                <a:cs typeface="DejaVu Sans Mono"/>
              </a:rPr>
              <a:t>        self._dibujar_objetivos(nivel)</a:t>
            </a:r>
          </a:p>
        </p:txBody>
      </p:sp>
      <p:sp>
        <p:nvSpPr>
          <p:cNvPr id="10" name="enlace-fuente">
            <a:extLst xmlns:a="http://schemas.openxmlformats.org/drawingml/2006/main">
              <a:ext uri="{FF2B5EF4-FFF2-40B4-BE49-F238E27FC236}">
                <a16:creationId xmlns:a16="http://schemas.microsoft.com/office/drawing/2014/main" id="{A537B87B-50A6-4D91-B692-762B8D4DD9DD}"/>
              </a:ext>
            </a:extLst>
          </p:cNvPr>
          <p:cNvSpPr>
            <a:spLocks xmlns:a="http://schemas.openxmlformats.org/drawingml/2006/main" noGrp="1"/>
          </p:cNvSpPr>
          <p:nvPr/>
        </p:nvSpPr>
        <p:spPr>
          <a:xfrm xmlns:a="http://schemas.openxmlformats.org/drawingml/2006/main">
            <a:off x="3810000" y="6457950"/>
            <a:ext cx="7762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526773"/>
                </a:solidFill>
                <a:latin typeface="DejaVu Sans"/>
                <a:ea typeface="DejaVu Sans"/>
                <a:cs typeface="DejaVu Sans"/>
              </a:defRPr>
            </a:defPPr>
          </a:lstStyle>
          <a:p xmlns:a="http://schemas.openxmlformats.org/drawingml/2006/main">
            <a:pPr>
              <a:lnSpc>
                <a:spcPct val="105000"/>
              </a:lnSpc>
              <a:buNone/>
              <a:defRPr sz="975" b="0">
                <a:solidFill>
                  <a:srgbClr val="526773"/>
                </a:solidFill>
                <a:latin typeface="DejaVu Sans"/>
                <a:ea typeface="DejaVu Sans"/>
                <a:cs typeface="DejaVu Sans"/>
              </a:defRPr>
            </a:pPr>
            <a:r>
              <a:rPr sz="975" b="0">
                <a:solidFill>
                  <a:srgbClr val="526773"/>
                </a:solidFill>
                <a:latin typeface="DejaVu Sans"/>
                <a:ea typeface="DejaVu Sans"/>
                <a:cs typeface="DejaVu Sans"/>
                <a:hlinkClick xmlns:r="http://schemas.openxmlformats.org/officeDocument/2006/relationships" r:id="R4a256b8f5df3433a"/>
              </a:rPr>
              <a:t>src/vista.py, clase desde línea 12</a:t>
            </a:r>
          </a:p>
        </p:txBody>
      </p:sp>
      <p:sp>
        <p:nvSpPr>
          <p:cNvPr id="11" name="enlace-recorte">
            <a:extLst xmlns:a="http://schemas.openxmlformats.org/drawingml/2006/main">
              <a:ext uri="{FF2B5EF4-FFF2-40B4-BE49-F238E27FC236}">
                <a16:creationId xmlns:a16="http://schemas.microsoft.com/office/drawing/2014/main" id="{A0B328BB-B1DA-43ED-ACF7-73E0D8A335C9}"/>
              </a:ext>
            </a:extLst>
          </p:cNvPr>
          <p:cNvSpPr>
            <a:spLocks xmlns:a="http://schemas.openxmlformats.org/drawingml/2006/main" noGrp="1"/>
          </p:cNvSpPr>
          <p:nvPr/>
        </p:nvSpPr>
        <p:spPr>
          <a:xfrm xmlns:a="http://schemas.openxmlformats.org/drawingml/2006/main">
            <a:off x="609600" y="6457950"/>
            <a:ext cx="285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975" b="0">
                <a:solidFill>
                  <a:srgbClr val="16735D"/>
                </a:solidFill>
                <a:latin typeface="DejaVu Sans"/>
                <a:ea typeface="DejaVu Sans"/>
                <a:cs typeface="DejaVu Sans"/>
              </a:defRPr>
            </a:defPPr>
          </a:lstStyle>
          <a:p xmlns:a="http://schemas.openxmlformats.org/drawingml/2006/main">
            <a:pPr>
              <a:lnSpc>
                <a:spcPct val="105000"/>
              </a:lnSpc>
              <a:buNone/>
              <a:defRPr sz="975" b="0">
                <a:solidFill>
                  <a:srgbClr val="16735D"/>
                </a:solidFill>
                <a:latin typeface="DejaVu Sans"/>
                <a:ea typeface="DejaVu Sans"/>
                <a:cs typeface="DejaVu Sans"/>
              </a:defRPr>
            </a:pPr>
            <a:r>
              <a:rPr sz="975" b="0">
                <a:solidFill>
                  <a:srgbClr val="16735D"/>
                </a:solidFill>
                <a:latin typeface="DejaVu Sans"/>
                <a:ea typeface="DejaVu Sans"/>
                <a:cs typeface="DejaVu Sans"/>
                <a:hlinkClick xmlns:r="http://schemas.openxmlformats.org/officeDocument/2006/relationships" r:id="R8443bf5e35684ff4"/>
              </a:rPr>
              <a:t>Abrir recorte en tamaño original</a:t>
            </a:r>
          </a:p>
        </p:txBody>
      </p:sp>
    </p:spTree>
    <p:extLst>
      <p:ext uri="{BB962C8B-B14F-4D97-AF65-F5344CB8AC3E}">
        <p14:creationId xmlns:p14="http://schemas.microsoft.com/office/powerpoint/2010/main" val="691614609"/>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partado-rubrica">
            <a:extLst xmlns:a="http://schemas.openxmlformats.org/drawingml/2006/main">
              <a:ext uri="{FF2B5EF4-FFF2-40B4-BE49-F238E27FC236}">
                <a16:creationId xmlns:a16="http://schemas.microsoft.com/office/drawing/2014/main" id="{DA9BE330-7799-4431-8E20-F06A17D223E6}"/>
              </a:ext>
            </a:extLst>
          </p:cNvPr>
          <p:cNvSpPr>
            <a:spLocks xmlns:a="http://schemas.openxmlformats.org/drawingml/2006/main" noGrp="1"/>
          </p:cNvSpPr>
          <p:nvPr/>
        </p:nvSpPr>
        <p:spPr>
          <a:xfrm xmlns:a="http://schemas.openxmlformats.org/drawingml/2006/main">
            <a:off x="609600" y="285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6735D"/>
                </a:solidFill>
                <a:latin typeface="DejaVu Sans"/>
                <a:ea typeface="DejaVu Sans"/>
                <a:cs typeface="DejaVu Sans"/>
              </a:defRPr>
            </a:defPPr>
          </a:lstStyle>
          <a:p xmlns:a="http://schemas.openxmlformats.org/drawingml/2006/main">
            <a:pPr algn="l">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II. Introducción</a:t>
            </a:r>
          </a:p>
        </p:txBody>
      </p:sp>
      <p:sp>
        <p:nvSpPr>
          <p:cNvPr id="2" name="titulo">
            <a:extLst xmlns:a="http://schemas.openxmlformats.org/drawingml/2006/main">
              <a:ext uri="{FF2B5EF4-FFF2-40B4-BE49-F238E27FC236}">
                <a16:creationId xmlns:a16="http://schemas.microsoft.com/office/drawing/2014/main" id="{DDB512D1-B8D6-4CB2-8B0F-BE65B03E7F9B}"/>
              </a:ext>
            </a:extLst>
          </p:cNvPr>
          <p:cNvSpPr>
            <a:spLocks xmlns:a="http://schemas.openxmlformats.org/drawingml/2006/main" noGrp="1"/>
          </p:cNvSpPr>
          <p:nvPr/>
        </p:nvSpPr>
        <p:spPr>
          <a:xfrm xmlns:a="http://schemas.openxmlformats.org/drawingml/2006/main">
            <a:off x="609600" y="790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72F3C"/>
                </a:solidFill>
                <a:latin typeface="DejaVu Sans"/>
                <a:ea typeface="DejaVu Sans"/>
                <a:cs typeface="DejaVu Sans"/>
              </a:defRPr>
            </a:defPPr>
          </a:lstStyle>
          <a:p xmlns:a="http://schemas.openxmlformats.org/drawingml/2006/main">
            <a:pPr algn="l">
              <a:buNone/>
              <a:defRPr sz="3150" b="1">
                <a:solidFill>
                  <a:srgbClr val="172F3C"/>
                </a:solidFill>
                <a:latin typeface="DejaVu Sans"/>
                <a:ea typeface="DejaVu Sans"/>
                <a:cs typeface="DejaVu Sans"/>
              </a:defRPr>
            </a:pPr>
            <a:r>
              <a:rPr sz="3150" b="1">
                <a:solidFill>
                  <a:srgbClr val="172F3C"/>
                </a:solidFill>
                <a:latin typeface="DejaVu Sans"/>
                <a:ea typeface="DejaVu Sans"/>
                <a:cs typeface="DejaVu Sans"/>
              </a:rPr>
              <a:t>Reglas del juego</a:t>
            </a:r>
          </a:p>
        </p:txBody>
      </p:sp>
      <p:sp>
        <p:nvSpPr>
          <p:cNvPr id="3" name="numero">
            <a:extLst xmlns:a="http://schemas.openxmlformats.org/drawingml/2006/main">
              <a:ext uri="{FF2B5EF4-FFF2-40B4-BE49-F238E27FC236}">
                <a16:creationId xmlns:a16="http://schemas.microsoft.com/office/drawing/2014/main" id="{FA76EAA5-D037-4751-840F-4D3BF10D514E}"/>
              </a:ext>
            </a:extLst>
          </p:cNvPr>
          <p:cNvSpPr>
            <a:spLocks xmlns:a="http://schemas.openxmlformats.org/drawingml/2006/main" noGrp="1"/>
          </p:cNvSpPr>
          <p:nvPr/>
        </p:nvSpPr>
        <p:spPr>
          <a:xfrm xmlns:a="http://schemas.openxmlformats.org/drawingml/2006/main">
            <a:off x="11210925" y="64770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526773"/>
                </a:solidFill>
                <a:latin typeface="DejaVu Sans"/>
                <a:ea typeface="DejaVu Sans"/>
                <a:cs typeface="DejaVu Sans"/>
              </a:defRPr>
            </a:defPPr>
          </a:lstStyle>
          <a:p xmlns:a="http://schemas.openxmlformats.org/drawingml/2006/main">
            <a:pPr algn="l">
              <a:buNone/>
              <a:defRPr sz="1050" b="0">
                <a:solidFill>
                  <a:srgbClr val="526773"/>
                </a:solidFill>
                <a:latin typeface="DejaVu Sans"/>
                <a:ea typeface="DejaVu Sans"/>
                <a:cs typeface="DejaVu Sans"/>
              </a:defRPr>
            </a:pPr>
            <a:r>
              <a:rPr sz="1050" b="0">
                <a:solidFill>
                  <a:srgbClr val="526773"/>
                </a:solidFill>
                <a:latin typeface="DejaVu Sans"/>
                <a:ea typeface="DejaVu Sans"/>
                <a:cs typeface="DejaVu Sans"/>
              </a:rPr>
              <a:t>04</a:t>
            </a:r>
          </a:p>
        </p:txBody>
      </p:sp>
      <p:sp>
        <p:nvSpPr>
          <p:cNvPr id="11" name="">
            <a:extLst xmlns:a="http://schemas.openxmlformats.org/drawingml/2006/main">
              <a:ext uri="{FF2B5EF4-FFF2-40B4-BE49-F238E27FC236}">
                <a16:creationId xmlns:a16="http://schemas.microsoft.com/office/drawing/2014/main" id="{51873FBB-7FC1-4F71-AA27-020083F2AB8B}"/>
              </a:ext>
            </a:extLst>
          </p:cNvPr>
          <p:cNvSpPr>
            <a:spLocks xmlns:a="http://schemas.openxmlformats.org/drawingml/2006/main" noGrp="1"/>
          </p:cNvSpPr>
          <p:nvPr/>
        </p:nvSpPr>
        <p:spPr>
          <a:xfrm xmlns:a="http://schemas.openxmlformats.org/drawingml/2006/main">
            <a:off x="609600" y="1952625"/>
            <a:ext cx="1095375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2F3C"/>
                </a:solidFill>
                <a:latin typeface="DejaVu Sans"/>
                <a:ea typeface="DejaVu Sans"/>
                <a:cs typeface="DejaVu Sans"/>
              </a:defRPr>
            </a:defPPr>
          </a:lstStyle>
          <a:p xmlns:a="http://schemas.openxmlformats.org/drawingml/2006/main">
            <a:pPr marL="228600" indent="-114300" algn="l">
              <a:spcAft>
                <a:spcPts val="1500"/>
              </a:spcAft>
              <a:buChar char="•"/>
              <a:defRPr sz="2025" b="0">
                <a:solidFill>
                  <a:srgbClr val="172F3C"/>
                </a:solidFill>
                <a:latin typeface="DejaVu Sans"/>
                <a:ea typeface="DejaVu Sans"/>
                <a:cs typeface="DejaVu Sans"/>
              </a:defRPr>
            </a:pPr>
            <a:r>
              <a:rPr sz="2025">
                <a:solidFill>
                  <a:srgbClr val="172F3C"/>
                </a:solidFill>
                <a:latin typeface="DejaVu Sans"/>
                <a:ea typeface="DejaVu Sans"/>
                <a:cs typeface="DejaVu Sans"/>
              </a:rPr>
              <a:t>Consigue la llave para habilitar la salida de cada nivel.</a:t>
            </a:r>
          </a:p>
          <a:p xmlns:a="http://schemas.openxmlformats.org/drawingml/2006/main">
            <a:pPr marL="228600" indent="-114300" algn="l">
              <a:spcAft>
                <a:spcPts val="1500"/>
              </a:spcAft>
              <a:buChar char="•"/>
              <a:defRPr sz="2025" b="0">
                <a:solidFill>
                  <a:srgbClr val="172F3C"/>
                </a:solidFill>
                <a:latin typeface="DejaVu Sans"/>
                <a:ea typeface="DejaVu Sans"/>
                <a:cs typeface="DejaVu Sans"/>
              </a:defRPr>
            </a:pPr>
            <a:r>
              <a:rPr sz="2025">
                <a:solidFill>
                  <a:srgbClr val="172F3C"/>
                </a:solidFill>
                <a:latin typeface="DejaVu Sans"/>
                <a:ea typeface="DejaVu Sans"/>
                <a:cs typeface="DejaVu Sans"/>
              </a:rPr>
              <a:t>Los pasos generan ruido y correr se escucha desde más lejos.</a:t>
            </a:r>
          </a:p>
          <a:p xmlns:a="http://schemas.openxmlformats.org/drawingml/2006/main">
            <a:pPr marL="228600" indent="-114300" algn="l">
              <a:spcAft>
                <a:spcPts val="1500"/>
              </a:spcAft>
              <a:buChar char="•"/>
              <a:defRPr sz="2025" b="0">
                <a:solidFill>
                  <a:srgbClr val="172F3C"/>
                </a:solidFill>
                <a:latin typeface="DejaVu Sans"/>
                <a:ea typeface="DejaVu Sans"/>
                <a:cs typeface="DejaVu Sans"/>
              </a:defRPr>
            </a:pPr>
            <a:r>
              <a:rPr sz="2025">
                <a:solidFill>
                  <a:srgbClr val="172F3C"/>
                </a:solidFill>
                <a:latin typeface="DejaVu Sans"/>
                <a:ea typeface="DejaVu Sans"/>
                <a:cs typeface="DejaVu Sans"/>
              </a:rPr>
              <a:t>Las cámaras alertan a todos los guardias. La captura ocurre por contacto.</a:t>
            </a:r>
          </a:p>
          <a:p xmlns:a="http://schemas.openxmlformats.org/drawingml/2006/main">
            <a:pPr marL="228600" indent="-114300" algn="l">
              <a:spcAft>
                <a:spcPts val="1500"/>
              </a:spcAft>
              <a:buChar char="•"/>
              <a:defRPr sz="2025" b="0">
                <a:solidFill>
                  <a:srgbClr val="172F3C"/>
                </a:solidFill>
                <a:latin typeface="DejaVu Sans"/>
                <a:ea typeface="DejaVu Sans"/>
                <a:cs typeface="DejaVu Sans"/>
              </a:defRPr>
            </a:pPr>
            <a:r>
              <a:rPr sz="2025">
                <a:solidFill>
                  <a:srgbClr val="172F3C"/>
                </a:solidFill>
                <a:latin typeface="DejaVu Sans"/>
                <a:ea typeface="DejaVu Sans"/>
                <a:cs typeface="DejaVu Sans"/>
              </a:rPr>
              <a:t>En el Patio, recoger la llave también abre los atajos de regreso.</a:t>
            </a:r>
          </a:p>
          <a:p xmlns:a="http://schemas.openxmlformats.org/drawingml/2006/main">
            <a:pPr marL="228600" indent="-114300" algn="l">
              <a:spcAft>
                <a:spcPts val="1500"/>
              </a:spcAft>
              <a:buChar char="•"/>
              <a:defRPr sz="2025" b="0">
                <a:solidFill>
                  <a:srgbClr val="172F3C"/>
                </a:solidFill>
                <a:latin typeface="DejaVu Sans"/>
                <a:ea typeface="DejaVu Sans"/>
                <a:cs typeface="DejaVu Sans"/>
              </a:defRPr>
            </a:pPr>
            <a:r>
              <a:rPr sz="2025">
                <a:solidFill>
                  <a:srgbClr val="172F3C"/>
                </a:solidFill>
                <a:latin typeface="DejaVu Sans"/>
                <a:ea typeface="DejaVu Sans"/>
                <a:cs typeface="DejaVu Sans"/>
              </a:rPr>
              <a:t>El Alcaide tiene tres capas de vida. Cada capa agotada aumenta la dificultad.</a:t>
            </a:r>
          </a:p>
          <a:p xmlns:a="http://schemas.openxmlformats.org/drawingml/2006/main">
            <a:pPr marL="228600" indent="-114300" algn="l">
              <a:spcAft>
                <a:spcPts val="1500"/>
              </a:spcAft>
              <a:buChar char="•"/>
              <a:defRPr sz="2025" b="0">
                <a:solidFill>
                  <a:srgbClr val="172F3C"/>
                </a:solidFill>
                <a:latin typeface="DejaVu Sans"/>
                <a:ea typeface="DejaVu Sans"/>
                <a:cs typeface="DejaVu Sans"/>
              </a:defRPr>
            </a:pPr>
            <a:r>
              <a:rPr sz="2025">
                <a:solidFill>
                  <a:srgbClr val="172F3C"/>
                </a:solidFill>
                <a:latin typeface="DejaVu Sans"/>
                <a:ea typeface="DejaVu Sans"/>
                <a:cs typeface="DejaVu Sans"/>
              </a:rPr>
              <a:t>La victoria exige derrotar al jefe, recoger su llave y alcanzar la salida.</a:t>
            </a:r>
          </a:p>
        </p:txBody>
      </p:sp>
      <p:sp>
        <p:nvSpPr>
          <p:cNvPr id="12" name="">
            <a:extLst xmlns:a="http://schemas.openxmlformats.org/drawingml/2006/main">
              <a:ext uri="{FF2B5EF4-FFF2-40B4-BE49-F238E27FC236}">
                <a16:creationId xmlns:a16="http://schemas.microsoft.com/office/drawing/2014/main" id="{981169BA-DC18-4301-9C24-B3B5FD711F9E}"/>
              </a:ext>
            </a:extLst>
          </p:cNvPr>
          <p:cNvSpPr>
            <a:spLocks xmlns:a="http://schemas.openxmlformats.org/drawingml/2006/main" noGrp="1"/>
          </p:cNvSpPr>
          <p:nvPr/>
        </p:nvSpPr>
        <p:spPr>
          <a:xfrm xmlns:a="http://schemas.openxmlformats.org/drawingml/2006/main">
            <a:off x="609600" y="581977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3"/>
                </a:solidFill>
                <a:latin typeface="DejaVu Sans"/>
                <a:ea typeface="DejaVu Sans"/>
                <a:cs typeface="DejaVu Sans"/>
              </a:defRPr>
            </a:defPPr>
          </a:lstStyle>
          <a:p xmlns:a="http://schemas.openxmlformats.org/drawingml/2006/main">
            <a:pPr algn="l">
              <a:defRPr sz="1575" b="0">
                <a:solidFill>
                  <a:srgbClr val="526773"/>
                </a:solidFill>
                <a:latin typeface="DejaVu Sans"/>
                <a:ea typeface="DejaVu Sans"/>
                <a:cs typeface="DejaVu Sans"/>
              </a:defRPr>
            </a:pPr>
            <a:r>
              <a:rPr sz="1575" b="0">
                <a:solidFill>
                  <a:srgbClr val="526773"/>
                </a:solidFill>
                <a:latin typeface="DejaVu Sans"/>
                <a:ea typeface="DejaVu Sans"/>
                <a:cs typeface="DejaVu Sans"/>
              </a:rPr>
              <a:t>Puntaje: 100 por llave, 500 por salida y 1000 por el jefe. Total de la campaña: 3400.</a:t>
            </a:r>
          </a:p>
        </p:txBody>
      </p:sp>
    </p:spTree>
    <p:extLst>
      <p:ext uri="{BB962C8B-B14F-4D97-AF65-F5344CB8AC3E}">
        <p14:creationId xmlns:p14="http://schemas.microsoft.com/office/powerpoint/2010/main" val="1632482957"/>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partado-rubrica">
            <a:extLst xmlns:a="http://schemas.openxmlformats.org/drawingml/2006/main">
              <a:ext uri="{FF2B5EF4-FFF2-40B4-BE49-F238E27FC236}">
                <a16:creationId xmlns:a16="http://schemas.microsoft.com/office/drawing/2014/main" id="{DA9BE330-7799-4431-8E20-F06A17D223E6}"/>
              </a:ext>
            </a:extLst>
          </p:cNvPr>
          <p:cNvSpPr>
            <a:spLocks xmlns:a="http://schemas.openxmlformats.org/drawingml/2006/main" noGrp="1"/>
          </p:cNvSpPr>
          <p:nvPr/>
        </p:nvSpPr>
        <p:spPr>
          <a:xfrm xmlns:a="http://schemas.openxmlformats.org/drawingml/2006/main">
            <a:off x="609600" y="285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6735D"/>
                </a:solidFill>
                <a:latin typeface="DejaVu Sans"/>
                <a:ea typeface="DejaVu Sans"/>
                <a:cs typeface="DejaVu Sans"/>
              </a:defRPr>
            </a:defPPr>
          </a:lstStyle>
          <a:p xmlns:a="http://schemas.openxmlformats.org/drawingml/2006/main">
            <a:pPr algn="l">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II. Introducción</a:t>
            </a:r>
          </a:p>
        </p:txBody>
      </p:sp>
      <p:sp>
        <p:nvSpPr>
          <p:cNvPr id="2" name="titulo">
            <a:extLst xmlns:a="http://schemas.openxmlformats.org/drawingml/2006/main">
              <a:ext uri="{FF2B5EF4-FFF2-40B4-BE49-F238E27FC236}">
                <a16:creationId xmlns:a16="http://schemas.microsoft.com/office/drawing/2014/main" id="{DDB512D1-B8D6-4CB2-8B0F-BE65B03E7F9B}"/>
              </a:ext>
            </a:extLst>
          </p:cNvPr>
          <p:cNvSpPr>
            <a:spLocks xmlns:a="http://schemas.openxmlformats.org/drawingml/2006/main" noGrp="1"/>
          </p:cNvSpPr>
          <p:nvPr/>
        </p:nvSpPr>
        <p:spPr>
          <a:xfrm xmlns:a="http://schemas.openxmlformats.org/drawingml/2006/main">
            <a:off x="609600" y="790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72F3C"/>
                </a:solidFill>
                <a:latin typeface="DejaVu Sans"/>
                <a:ea typeface="DejaVu Sans"/>
                <a:cs typeface="DejaVu Sans"/>
              </a:defRPr>
            </a:defPPr>
          </a:lstStyle>
          <a:p xmlns:a="http://schemas.openxmlformats.org/drawingml/2006/main">
            <a:pPr algn="l">
              <a:buNone/>
              <a:defRPr sz="3150" b="1">
                <a:solidFill>
                  <a:srgbClr val="172F3C"/>
                </a:solidFill>
                <a:latin typeface="DejaVu Sans"/>
                <a:ea typeface="DejaVu Sans"/>
                <a:cs typeface="DejaVu Sans"/>
              </a:defRPr>
            </a:pPr>
            <a:r>
              <a:rPr sz="3150" b="1">
                <a:solidFill>
                  <a:srgbClr val="172F3C"/>
                </a:solidFill>
                <a:latin typeface="DejaVu Sans"/>
                <a:ea typeface="DejaVu Sans"/>
                <a:cs typeface="DejaVu Sans"/>
              </a:rPr>
              <a:t>Controles del juego</a:t>
            </a:r>
          </a:p>
        </p:txBody>
      </p:sp>
      <p:sp>
        <p:nvSpPr>
          <p:cNvPr id="3" name="numero">
            <a:extLst xmlns:a="http://schemas.openxmlformats.org/drawingml/2006/main">
              <a:ext uri="{FF2B5EF4-FFF2-40B4-BE49-F238E27FC236}">
                <a16:creationId xmlns:a16="http://schemas.microsoft.com/office/drawing/2014/main" id="{FA76EAA5-D037-4751-840F-4D3BF10D514E}"/>
              </a:ext>
            </a:extLst>
          </p:cNvPr>
          <p:cNvSpPr>
            <a:spLocks xmlns:a="http://schemas.openxmlformats.org/drawingml/2006/main" noGrp="1"/>
          </p:cNvSpPr>
          <p:nvPr/>
        </p:nvSpPr>
        <p:spPr>
          <a:xfrm xmlns:a="http://schemas.openxmlformats.org/drawingml/2006/main">
            <a:off x="11210925" y="64770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526773"/>
                </a:solidFill>
                <a:latin typeface="DejaVu Sans"/>
                <a:ea typeface="DejaVu Sans"/>
                <a:cs typeface="DejaVu Sans"/>
              </a:defRPr>
            </a:defPPr>
          </a:lstStyle>
          <a:p xmlns:a="http://schemas.openxmlformats.org/drawingml/2006/main">
            <a:pPr algn="l">
              <a:buNone/>
              <a:defRPr sz="1050" b="0">
                <a:solidFill>
                  <a:srgbClr val="526773"/>
                </a:solidFill>
                <a:latin typeface="DejaVu Sans"/>
                <a:ea typeface="DejaVu Sans"/>
                <a:cs typeface="DejaVu Sans"/>
              </a:defRPr>
            </a:pPr>
            <a:r>
              <a:rPr sz="1050" b="0">
                <a:solidFill>
                  <a:srgbClr val="526773"/>
                </a:solidFill>
                <a:latin typeface="DejaVu Sans"/>
                <a:ea typeface="DejaVu Sans"/>
                <a:cs typeface="DejaVu Sans"/>
              </a:rPr>
              <a:t>05</a:t>
            </a:r>
          </a:p>
        </p:txBody>
      </p:sp>
      <p:graphicFrame>
        <p:nvGraphicFramePr>
          <p:cNvPr id="11" name="">
            <a:extLst xmlns:a="http://schemas.openxmlformats.org/drawingml/2006/main">
              <a:ext uri="{FF2B5EF4-FFF2-40B4-BE49-F238E27FC236}">
                <a16:creationId xmlns:a16="http://schemas.microsoft.com/office/drawing/2014/main" id="{DBB360D6-DB46-45EB-B176-34041DB7A671}"/>
              </a:ext>
            </a:extLst>
          </p:cNvPr>
          <p:cNvGraphicFramePr/>
          <p:nvPr/>
        </p:nvGraphicFramePr>
        <p:xfrm>
          <a:off xmlns:a="http://schemas.openxmlformats.org/drawingml/2006/main" x="609600" y="1857375"/>
          <a:ext xmlns:a="http://schemas.openxmlformats.org/drawingml/2006/main" cx="10953750" cy="4295775"/>
        </p:xfrm>
        <a:graphic xmlns:a="http://schemas.openxmlformats.org/drawingml/2006/main">
          <a:graphicData uri="http://schemas.openxmlformats.org/drawingml/2006/table">
            <a:tbl>
              <a:tblPr firstRow="1" bandRow="0"/>
              <a:tblGrid>
                <a:gridCol w="2362200"/>
                <a:gridCol w="8591550"/>
              </a:tblGrid>
              <a:tr h="390525">
                <a:tc>
                  <a:txBody>
                    <a:bodyPr wrap="square" lIns="114300" tIns="47625" rIns="114300" bIns="47625">
                      <a:noAutofit/>
                    </a:bodyPr>
                    <a:lstStyle/>
                    <a:p>
                      <a:r>
                        <a:rPr sz="1725" b="1">
                          <a:solidFill>
                            <a:srgbClr val="16735D"/>
                          </a:solidFill>
                          <a:latin typeface="DejaVu Sans"/>
                          <a:ea typeface="DejaVu Sans"/>
                          <a:cs typeface="DejaVu Sans"/>
                        </a:rPr>
                        <a:t>Tecla</a:t>
                      </a:r>
                    </a:p>
                  </a:txBody>
                  <a:tcPr marL="91440" marR="91440" marT="45720" marB="45720" anchor="ctr">
                    <a:lnL w="7620">
                      <a:solidFill>
                        <a:srgbClr val="C8D5DA"/>
                      </a:solidFill>
                      <a:prstDash val="solid"/>
                    </a:lnL>
                    <a:lnR w="7620">
                      <a:solidFill>
                        <a:srgbClr val="C8D5DA"/>
                      </a:solidFill>
                      <a:prstDash val="solid"/>
                    </a:lnR>
                    <a:lnT w="7620">
                      <a:solidFill>
                        <a:srgbClr val="C8D5DA"/>
                      </a:solidFill>
                      <a:prstDash val="solid"/>
                    </a:lnT>
                    <a:lnB w="7620">
                      <a:solidFill>
                        <a:srgbClr val="C8D5DA"/>
                      </a:solidFill>
                      <a:prstDash val="solid"/>
                    </a:lnB>
                    <a:solidFill>
                      <a:srgbClr val="E9F1F3"/>
                    </a:solidFill>
                  </a:tcPr>
                </a:tc>
                <a:tc>
                  <a:txBody>
                    <a:bodyPr wrap="square" lIns="114300" tIns="47625" rIns="114300" bIns="47625">
                      <a:noAutofit/>
                    </a:bodyPr>
                    <a:lstStyle/>
                    <a:p>
                      <a:r>
                        <a:rPr sz="1725" b="1">
                          <a:solidFill>
                            <a:srgbClr val="16735D"/>
                          </a:solidFill>
                          <a:latin typeface="DejaVu Sans"/>
                          <a:ea typeface="DejaVu Sans"/>
                          <a:cs typeface="DejaVu Sans"/>
                        </a:rPr>
                        <a:t>Acción</a:t>
                      </a:r>
                    </a:p>
                  </a:txBody>
                  <a:tcPr marL="91440" marR="91440" marT="45720" marB="45720" anchor="ctr">
                    <a:lnR w="7620">
                      <a:solidFill>
                        <a:srgbClr val="C8D5DA"/>
                      </a:solidFill>
                      <a:prstDash val="solid"/>
                    </a:lnR>
                    <a:lnT w="7620">
                      <a:solidFill>
                        <a:srgbClr val="C8D5DA"/>
                      </a:solidFill>
                      <a:prstDash val="solid"/>
                    </a:lnT>
                    <a:lnB w="7620">
                      <a:solidFill>
                        <a:srgbClr val="C8D5DA"/>
                      </a:solidFill>
                      <a:prstDash val="solid"/>
                    </a:lnB>
                    <a:solidFill>
                      <a:srgbClr val="E9F1F3"/>
                    </a:solidFill>
                  </a:tcPr>
                </a:tc>
              </a:tr>
              <a:tr h="390525">
                <a:tc>
                  <a:txBody>
                    <a:bodyPr wrap="square" lIns="114300" tIns="47625" rIns="114300" bIns="47625">
                      <a:noAutofit/>
                    </a:bodyPr>
                    <a:lstStyle/>
                    <a:p>
                      <a:r>
                        <a:rPr sz="1725" b="0">
                          <a:solidFill>
                            <a:srgbClr val="172F3C"/>
                          </a:solidFill>
                          <a:latin typeface="DejaVu Sans"/>
                          <a:ea typeface="DejaVu Sans"/>
                          <a:cs typeface="DejaVu Sans"/>
                        </a:rPr>
                        <a:t>WASD o flechas</a:t>
                      </a:r>
                    </a:p>
                  </a:txBody>
                  <a:tcPr marL="91440" marR="91440" marT="45720" marB="45720" anchor="ctr">
                    <a:lnL w="7620">
                      <a:solidFill>
                        <a:srgbClr val="C8D5DA"/>
                      </a:solidFill>
                      <a:prstDash val="solid"/>
                    </a:lnL>
                    <a:lnR w="7620">
                      <a:solidFill>
                        <a:srgbClr val="C8D5DA"/>
                      </a:solidFill>
                      <a:prstDash val="solid"/>
                    </a:lnR>
                    <a:lnB w="7620">
                      <a:solidFill>
                        <a:srgbClr val="C8D5DA"/>
                      </a:solidFill>
                      <a:prstDash val="solid"/>
                    </a:lnB>
                    <a:solidFill>
                      <a:srgbClr val="FFFFFF"/>
                    </a:solidFill>
                  </a:tcPr>
                </a:tc>
                <a:tc>
                  <a:txBody>
                    <a:bodyPr wrap="square" lIns="114300" tIns="47625" rIns="114300" bIns="47625">
                      <a:noAutofit/>
                    </a:bodyPr>
                    <a:lstStyle/>
                    <a:p>
                      <a:r>
                        <a:rPr sz="1725" b="0">
                          <a:solidFill>
                            <a:srgbClr val="172F3C"/>
                          </a:solidFill>
                          <a:latin typeface="DejaVu Sans"/>
                          <a:ea typeface="DejaVu Sans"/>
                          <a:cs typeface="DejaVu Sans"/>
                        </a:rPr>
                        <a:t>Mover al prisionero.</a:t>
                      </a:r>
                    </a:p>
                  </a:txBody>
                  <a:tcPr marL="91440" marR="91440" marT="45720" marB="45720" anchor="ctr">
                    <a:lnR w="7620">
                      <a:solidFill>
                        <a:srgbClr val="C8D5DA"/>
                      </a:solidFill>
                      <a:prstDash val="solid"/>
                    </a:lnR>
                    <a:lnB w="7620">
                      <a:solidFill>
                        <a:srgbClr val="C8D5DA"/>
                      </a:solidFill>
                      <a:prstDash val="solid"/>
                    </a:lnB>
                    <a:solidFill>
                      <a:srgbClr val="FFFFFF"/>
                    </a:solidFill>
                  </a:tcPr>
                </a:tc>
              </a:tr>
              <a:tr h="390525">
                <a:tc>
                  <a:txBody>
                    <a:bodyPr wrap="square" lIns="114300" tIns="47625" rIns="114300" bIns="47625">
                      <a:noAutofit/>
                    </a:bodyPr>
                    <a:lstStyle/>
                    <a:p>
                      <a:r>
                        <a:rPr sz="1725" b="0">
                          <a:solidFill>
                            <a:srgbClr val="172F3C"/>
                          </a:solidFill>
                          <a:latin typeface="DejaVu Sans"/>
                          <a:ea typeface="DejaVu Sans"/>
                          <a:cs typeface="DejaVu Sans"/>
                        </a:rPr>
                        <a:t>E durante 2 s</a:t>
                      </a:r>
                    </a:p>
                  </a:txBody>
                  <a:tcPr marL="91440" marR="91440" marT="45720" marB="45720" anchor="ctr">
                    <a:lnL w="7620">
                      <a:solidFill>
                        <a:srgbClr val="C8D5DA"/>
                      </a:solidFill>
                      <a:prstDash val="solid"/>
                    </a:lnL>
                    <a:lnR w="7620">
                      <a:solidFill>
                        <a:srgbClr val="C8D5DA"/>
                      </a:solidFill>
                      <a:prstDash val="solid"/>
                    </a:lnR>
                    <a:lnB w="7620">
                      <a:solidFill>
                        <a:srgbClr val="C8D5DA"/>
                      </a:solidFill>
                      <a:prstDash val="solid"/>
                    </a:lnB>
                    <a:solidFill>
                      <a:srgbClr val="FFFFFF"/>
                    </a:solidFill>
                  </a:tcPr>
                </a:tc>
                <a:tc>
                  <a:txBody>
                    <a:bodyPr wrap="square" lIns="114300" tIns="47625" rIns="114300" bIns="47625">
                      <a:noAutofit/>
                    </a:bodyPr>
                    <a:lstStyle/>
                    <a:p>
                      <a:r>
                        <a:rPr sz="1725" b="0">
                          <a:solidFill>
                            <a:srgbClr val="172F3C"/>
                          </a:solidFill>
                          <a:latin typeface="DejaVu Sans"/>
                          <a:ea typeface="DejaVu Sans"/>
                          <a:cs typeface="DejaVu Sans"/>
                        </a:rPr>
                        <a:t>Forzar la celda inicial estando cerca de su puerta.</a:t>
                      </a:r>
                    </a:p>
                  </a:txBody>
                  <a:tcPr marL="91440" marR="91440" marT="45720" marB="45720" anchor="ctr">
                    <a:lnR w="7620">
                      <a:solidFill>
                        <a:srgbClr val="C8D5DA"/>
                      </a:solidFill>
                      <a:prstDash val="solid"/>
                    </a:lnR>
                    <a:lnB w="7620">
                      <a:solidFill>
                        <a:srgbClr val="C8D5DA"/>
                      </a:solidFill>
                      <a:prstDash val="solid"/>
                    </a:lnB>
                    <a:solidFill>
                      <a:srgbClr val="FFFFFF"/>
                    </a:solidFill>
                  </a:tcPr>
                </a:tc>
              </a:tr>
              <a:tr h="390525">
                <a:tc>
                  <a:txBody>
                    <a:bodyPr wrap="square" lIns="114300" tIns="47625" rIns="114300" bIns="47625">
                      <a:noAutofit/>
                    </a:bodyPr>
                    <a:lstStyle/>
                    <a:p>
                      <a:r>
                        <a:rPr sz="1725" b="0">
                          <a:solidFill>
                            <a:srgbClr val="172F3C"/>
                          </a:solidFill>
                          <a:latin typeface="DejaVu Sans"/>
                          <a:ea typeface="DejaVu Sans"/>
                          <a:cs typeface="DejaVu Sans"/>
                        </a:rPr>
                        <a:t>Ctrl</a:t>
                      </a:r>
                    </a:p>
                  </a:txBody>
                  <a:tcPr marL="91440" marR="91440" marT="45720" marB="45720" anchor="ctr">
                    <a:lnL w="7620">
                      <a:solidFill>
                        <a:srgbClr val="C8D5DA"/>
                      </a:solidFill>
                      <a:prstDash val="solid"/>
                    </a:lnL>
                    <a:lnR w="7620">
                      <a:solidFill>
                        <a:srgbClr val="C8D5DA"/>
                      </a:solidFill>
                      <a:prstDash val="solid"/>
                    </a:lnR>
                    <a:lnB w="7620">
                      <a:solidFill>
                        <a:srgbClr val="C8D5DA"/>
                      </a:solidFill>
                      <a:prstDash val="solid"/>
                    </a:lnB>
                    <a:solidFill>
                      <a:srgbClr val="FFFFFF"/>
                    </a:solidFill>
                  </a:tcPr>
                </a:tc>
                <a:tc>
                  <a:txBody>
                    <a:bodyPr wrap="square" lIns="114300" tIns="47625" rIns="114300" bIns="47625">
                      <a:noAutofit/>
                    </a:bodyPr>
                    <a:lstStyle/>
                    <a:p>
                      <a:r>
                        <a:rPr sz="1725" b="0">
                          <a:solidFill>
                            <a:srgbClr val="172F3C"/>
                          </a:solidFill>
                          <a:latin typeface="DejaVu Sans"/>
                          <a:ea typeface="DejaVu Sans"/>
                          <a:cs typeface="DejaVu Sans"/>
                        </a:rPr>
                        <a:t>Caminar en sigilo, con menos velocidad y ruido.</a:t>
                      </a:r>
                    </a:p>
                  </a:txBody>
                  <a:tcPr marL="91440" marR="91440" marT="45720" marB="45720" anchor="ctr">
                    <a:lnR w="7620">
                      <a:solidFill>
                        <a:srgbClr val="C8D5DA"/>
                      </a:solidFill>
                      <a:prstDash val="solid"/>
                    </a:lnR>
                    <a:lnB w="7620">
                      <a:solidFill>
                        <a:srgbClr val="C8D5DA"/>
                      </a:solidFill>
                      <a:prstDash val="solid"/>
                    </a:lnB>
                    <a:solidFill>
                      <a:srgbClr val="FFFFFF"/>
                    </a:solidFill>
                  </a:tcPr>
                </a:tc>
              </a:tr>
              <a:tr h="390525">
                <a:tc>
                  <a:txBody>
                    <a:bodyPr wrap="square" lIns="114300" tIns="47625" rIns="114300" bIns="47625">
                      <a:noAutofit/>
                    </a:bodyPr>
                    <a:lstStyle/>
                    <a:p>
                      <a:r>
                        <a:rPr sz="1725" b="0">
                          <a:solidFill>
                            <a:srgbClr val="172F3C"/>
                          </a:solidFill>
                          <a:latin typeface="DejaVu Sans"/>
                          <a:ea typeface="DejaVu Sans"/>
                          <a:cs typeface="DejaVu Sans"/>
                        </a:rPr>
                        <a:t>Shift</a:t>
                      </a:r>
                    </a:p>
                  </a:txBody>
                  <a:tcPr marL="91440" marR="91440" marT="45720" marB="45720" anchor="ctr">
                    <a:lnL w="7620">
                      <a:solidFill>
                        <a:srgbClr val="C8D5DA"/>
                      </a:solidFill>
                      <a:prstDash val="solid"/>
                    </a:lnL>
                    <a:lnR w="7620">
                      <a:solidFill>
                        <a:srgbClr val="C8D5DA"/>
                      </a:solidFill>
                      <a:prstDash val="solid"/>
                    </a:lnR>
                    <a:lnB w="7620">
                      <a:solidFill>
                        <a:srgbClr val="C8D5DA"/>
                      </a:solidFill>
                      <a:prstDash val="solid"/>
                    </a:lnB>
                    <a:solidFill>
                      <a:srgbClr val="FFFFFF"/>
                    </a:solidFill>
                  </a:tcPr>
                </a:tc>
                <a:tc>
                  <a:txBody>
                    <a:bodyPr wrap="square" lIns="114300" tIns="47625" rIns="114300" bIns="47625">
                      <a:noAutofit/>
                    </a:bodyPr>
                    <a:lstStyle/>
                    <a:p>
                      <a:r>
                        <a:rPr sz="1725" b="0">
                          <a:solidFill>
                            <a:srgbClr val="172F3C"/>
                          </a:solidFill>
                          <a:latin typeface="DejaVu Sans"/>
                          <a:ea typeface="DejaVu Sans"/>
                          <a:cs typeface="DejaVu Sans"/>
                        </a:rPr>
                        <a:t>Correr durante 2 s. Después requiere 5 s de recarga.</a:t>
                      </a:r>
                    </a:p>
                  </a:txBody>
                  <a:tcPr marL="91440" marR="91440" marT="45720" marB="45720" anchor="ctr">
                    <a:lnR w="7620">
                      <a:solidFill>
                        <a:srgbClr val="C8D5DA"/>
                      </a:solidFill>
                      <a:prstDash val="solid"/>
                    </a:lnR>
                    <a:lnB w="7620">
                      <a:solidFill>
                        <a:srgbClr val="C8D5DA"/>
                      </a:solidFill>
                      <a:prstDash val="solid"/>
                    </a:lnB>
                    <a:solidFill>
                      <a:srgbClr val="FFFFFF"/>
                    </a:solidFill>
                  </a:tcPr>
                </a:tc>
              </a:tr>
              <a:tr h="390525">
                <a:tc>
                  <a:txBody>
                    <a:bodyPr wrap="square" lIns="114300" tIns="47625" rIns="114300" bIns="47625">
                      <a:noAutofit/>
                    </a:bodyPr>
                    <a:lstStyle/>
                    <a:p>
                      <a:r>
                        <a:rPr sz="1725" b="0">
                          <a:solidFill>
                            <a:srgbClr val="172F3C"/>
                          </a:solidFill>
                          <a:latin typeface="DejaVu Sans"/>
                          <a:ea typeface="DejaVu Sans"/>
                          <a:cs typeface="DejaVu Sans"/>
                        </a:rPr>
                        <a:t>Espacio</a:t>
                      </a:r>
                    </a:p>
                  </a:txBody>
                  <a:tcPr marL="91440" marR="91440" marT="45720" marB="45720" anchor="ctr">
                    <a:lnL w="7620">
                      <a:solidFill>
                        <a:srgbClr val="C8D5DA"/>
                      </a:solidFill>
                      <a:prstDash val="solid"/>
                    </a:lnL>
                    <a:lnR w="7620">
                      <a:solidFill>
                        <a:srgbClr val="C8D5DA"/>
                      </a:solidFill>
                      <a:prstDash val="solid"/>
                    </a:lnR>
                    <a:lnB w="7620">
                      <a:solidFill>
                        <a:srgbClr val="C8D5DA"/>
                      </a:solidFill>
                      <a:prstDash val="solid"/>
                    </a:lnB>
                    <a:solidFill>
                      <a:srgbClr val="FFFFFF"/>
                    </a:solidFill>
                  </a:tcPr>
                </a:tc>
                <a:tc>
                  <a:txBody>
                    <a:bodyPr wrap="square" lIns="114300" tIns="47625" rIns="114300" bIns="47625">
                      <a:noAutofit/>
                    </a:bodyPr>
                    <a:lstStyle/>
                    <a:p>
                      <a:r>
                        <a:rPr sz="1725" b="0">
                          <a:solidFill>
                            <a:srgbClr val="172F3C"/>
                          </a:solidFill>
                          <a:latin typeface="DejaVu Sans"/>
                          <a:ea typeface="DejaVu Sans"/>
                          <a:cs typeface="DejaVu Sans"/>
                        </a:rPr>
                        <a:t>Disparar hacia el jefe en la arena.</a:t>
                      </a:r>
                    </a:p>
                  </a:txBody>
                  <a:tcPr marL="91440" marR="91440" marT="45720" marB="45720" anchor="ctr">
                    <a:lnR w="7620">
                      <a:solidFill>
                        <a:srgbClr val="C8D5DA"/>
                      </a:solidFill>
                      <a:prstDash val="solid"/>
                    </a:lnR>
                    <a:lnB w="7620">
                      <a:solidFill>
                        <a:srgbClr val="C8D5DA"/>
                      </a:solidFill>
                      <a:prstDash val="solid"/>
                    </a:lnB>
                    <a:solidFill>
                      <a:srgbClr val="FFFFFF"/>
                    </a:solidFill>
                  </a:tcPr>
                </a:tc>
              </a:tr>
              <a:tr h="390525">
                <a:tc>
                  <a:txBody>
                    <a:bodyPr wrap="square" lIns="114300" tIns="47625" rIns="114300" bIns="47625">
                      <a:noAutofit/>
                    </a:bodyPr>
                    <a:lstStyle/>
                    <a:p>
                      <a:r>
                        <a:rPr sz="1725" b="0">
                          <a:solidFill>
                            <a:srgbClr val="172F3C"/>
                          </a:solidFill>
                          <a:latin typeface="DejaVu Sans"/>
                          <a:ea typeface="DejaVu Sans"/>
                          <a:cs typeface="DejaVu Sans"/>
                        </a:rPr>
                        <a:t>I, J, K, L</a:t>
                      </a:r>
                    </a:p>
                  </a:txBody>
                  <a:tcPr marL="91440" marR="91440" marT="45720" marB="45720" anchor="ctr">
                    <a:lnL w="7620">
                      <a:solidFill>
                        <a:srgbClr val="C8D5DA"/>
                      </a:solidFill>
                      <a:prstDash val="solid"/>
                    </a:lnL>
                    <a:lnR w="7620">
                      <a:solidFill>
                        <a:srgbClr val="C8D5DA"/>
                      </a:solidFill>
                      <a:prstDash val="solid"/>
                    </a:lnR>
                    <a:lnB w="7620">
                      <a:solidFill>
                        <a:srgbClr val="C8D5DA"/>
                      </a:solidFill>
                      <a:prstDash val="solid"/>
                    </a:lnB>
                    <a:solidFill>
                      <a:srgbClr val="FFFFFF"/>
                    </a:solidFill>
                  </a:tcPr>
                </a:tc>
                <a:tc>
                  <a:txBody>
                    <a:bodyPr wrap="square" lIns="114300" tIns="47625" rIns="114300" bIns="47625">
                      <a:noAutofit/>
                    </a:bodyPr>
                    <a:lstStyle/>
                    <a:p>
                      <a:r>
                        <a:rPr sz="1725" b="0">
                          <a:solidFill>
                            <a:srgbClr val="172F3C"/>
                          </a:solidFill>
                          <a:latin typeface="DejaVu Sans"/>
                          <a:ea typeface="DejaVu Sans"/>
                          <a:cs typeface="DejaVu Sans"/>
                        </a:rPr>
                        <a:t>Disparar arriba, izquierda, abajo o derecha, respectivamente.</a:t>
                      </a:r>
                    </a:p>
                  </a:txBody>
                  <a:tcPr marL="91440" marR="91440" marT="45720" marB="45720" anchor="ctr">
                    <a:lnR w="7620">
                      <a:solidFill>
                        <a:srgbClr val="C8D5DA"/>
                      </a:solidFill>
                      <a:prstDash val="solid"/>
                    </a:lnR>
                    <a:lnB w="7620">
                      <a:solidFill>
                        <a:srgbClr val="C8D5DA"/>
                      </a:solidFill>
                      <a:prstDash val="solid"/>
                    </a:lnB>
                    <a:solidFill>
                      <a:srgbClr val="FFFFFF"/>
                    </a:solidFill>
                  </a:tcPr>
                </a:tc>
              </a:tr>
              <a:tr h="390525">
                <a:tc>
                  <a:txBody>
                    <a:bodyPr wrap="square" lIns="114300" tIns="47625" rIns="114300" bIns="47625">
                      <a:noAutofit/>
                    </a:bodyPr>
                    <a:lstStyle/>
                    <a:p>
                      <a:r>
                        <a:rPr sz="1725" b="0">
                          <a:solidFill>
                            <a:srgbClr val="172F3C"/>
                          </a:solidFill>
                          <a:latin typeface="DejaVu Sans"/>
                          <a:ea typeface="DejaVu Sans"/>
                          <a:cs typeface="DejaVu Sans"/>
                        </a:rPr>
                        <a:t>P o Escape</a:t>
                      </a:r>
                    </a:p>
                  </a:txBody>
                  <a:tcPr marL="91440" marR="91440" marT="45720" marB="45720" anchor="ctr">
                    <a:lnL w="7620">
                      <a:solidFill>
                        <a:srgbClr val="C8D5DA"/>
                      </a:solidFill>
                      <a:prstDash val="solid"/>
                    </a:lnL>
                    <a:lnR w="7620">
                      <a:solidFill>
                        <a:srgbClr val="C8D5DA"/>
                      </a:solidFill>
                      <a:prstDash val="solid"/>
                    </a:lnR>
                    <a:lnB w="7620">
                      <a:solidFill>
                        <a:srgbClr val="C8D5DA"/>
                      </a:solidFill>
                      <a:prstDash val="solid"/>
                    </a:lnB>
                    <a:solidFill>
                      <a:srgbClr val="FFFFFF"/>
                    </a:solidFill>
                  </a:tcPr>
                </a:tc>
                <a:tc>
                  <a:txBody>
                    <a:bodyPr wrap="square" lIns="114300" tIns="47625" rIns="114300" bIns="47625">
                      <a:noAutofit/>
                    </a:bodyPr>
                    <a:lstStyle/>
                    <a:p>
                      <a:r>
                        <a:rPr sz="1725" b="0">
                          <a:solidFill>
                            <a:srgbClr val="172F3C"/>
                          </a:solidFill>
                          <a:latin typeface="DejaVu Sans"/>
                          <a:ea typeface="DejaVu Sans"/>
                          <a:cs typeface="DejaVu Sans"/>
                        </a:rPr>
                        <a:t>Pausar o continuar la partida.</a:t>
                      </a:r>
                    </a:p>
                  </a:txBody>
                  <a:tcPr marL="91440" marR="91440" marT="45720" marB="45720" anchor="ctr">
                    <a:lnR w="7620">
                      <a:solidFill>
                        <a:srgbClr val="C8D5DA"/>
                      </a:solidFill>
                      <a:prstDash val="solid"/>
                    </a:lnR>
                    <a:lnB w="7620">
                      <a:solidFill>
                        <a:srgbClr val="C8D5DA"/>
                      </a:solidFill>
                      <a:prstDash val="solid"/>
                    </a:lnB>
                    <a:solidFill>
                      <a:srgbClr val="FFFFFF"/>
                    </a:solidFill>
                  </a:tcPr>
                </a:tc>
              </a:tr>
              <a:tr h="390525">
                <a:tc>
                  <a:txBody>
                    <a:bodyPr wrap="square" lIns="114300" tIns="47625" rIns="114300" bIns="47625">
                      <a:noAutofit/>
                    </a:bodyPr>
                    <a:lstStyle/>
                    <a:p>
                      <a:r>
                        <a:rPr sz="1725" b="0">
                          <a:solidFill>
                            <a:srgbClr val="172F3C"/>
                          </a:solidFill>
                          <a:latin typeface="DejaVu Sans"/>
                          <a:ea typeface="DejaVu Sans"/>
                          <a:cs typeface="DejaVu Sans"/>
                        </a:rPr>
                        <a:t>Enter</a:t>
                      </a:r>
                    </a:p>
                  </a:txBody>
                  <a:tcPr marL="91440" marR="91440" marT="45720" marB="45720" anchor="ctr">
                    <a:lnL w="7620">
                      <a:solidFill>
                        <a:srgbClr val="C8D5DA"/>
                      </a:solidFill>
                      <a:prstDash val="solid"/>
                    </a:lnL>
                    <a:lnR w="7620">
                      <a:solidFill>
                        <a:srgbClr val="C8D5DA"/>
                      </a:solidFill>
                      <a:prstDash val="solid"/>
                    </a:lnR>
                    <a:lnB w="7620">
                      <a:solidFill>
                        <a:srgbClr val="C8D5DA"/>
                      </a:solidFill>
                      <a:prstDash val="solid"/>
                    </a:lnB>
                    <a:solidFill>
                      <a:srgbClr val="FFFFFF"/>
                    </a:solidFill>
                  </a:tcPr>
                </a:tc>
                <a:tc>
                  <a:txBody>
                    <a:bodyPr wrap="square" lIns="114300" tIns="47625" rIns="114300" bIns="47625">
                      <a:noAutofit/>
                    </a:bodyPr>
                    <a:lstStyle/>
                    <a:p>
                      <a:r>
                        <a:rPr sz="1725" b="0">
                          <a:solidFill>
                            <a:srgbClr val="172F3C"/>
                          </a:solidFill>
                          <a:latin typeface="DejaVu Sans"/>
                          <a:ea typeface="DejaVu Sans"/>
                          <a:cs typeface="DejaVu Sans"/>
                        </a:rPr>
                        <a:t>Pasar al siguiente nivel después de completarlo.</a:t>
                      </a:r>
                    </a:p>
                  </a:txBody>
                  <a:tcPr marL="91440" marR="91440" marT="45720" marB="45720" anchor="ctr">
                    <a:lnR w="7620">
                      <a:solidFill>
                        <a:srgbClr val="C8D5DA"/>
                      </a:solidFill>
                      <a:prstDash val="solid"/>
                    </a:lnR>
                    <a:lnB w="7620">
                      <a:solidFill>
                        <a:srgbClr val="C8D5DA"/>
                      </a:solidFill>
                      <a:prstDash val="solid"/>
                    </a:lnB>
                    <a:solidFill>
                      <a:srgbClr val="FFFFFF"/>
                    </a:solidFill>
                  </a:tcPr>
                </a:tc>
              </a:tr>
              <a:tr h="390525">
                <a:tc>
                  <a:txBody>
                    <a:bodyPr wrap="square" lIns="114300" tIns="47625" rIns="114300" bIns="47625">
                      <a:noAutofit/>
                    </a:bodyPr>
                    <a:lstStyle/>
                    <a:p>
                      <a:r>
                        <a:rPr sz="1725" b="0">
                          <a:solidFill>
                            <a:srgbClr val="172F3C"/>
                          </a:solidFill>
                          <a:latin typeface="DejaVu Sans"/>
                          <a:ea typeface="DejaVu Sans"/>
                          <a:cs typeface="DejaVu Sans"/>
                        </a:rPr>
                        <a:t>R</a:t>
                      </a:r>
                    </a:p>
                  </a:txBody>
                  <a:tcPr marL="91440" marR="91440" marT="45720" marB="45720" anchor="ctr">
                    <a:lnL w="7620">
                      <a:solidFill>
                        <a:srgbClr val="C8D5DA"/>
                      </a:solidFill>
                      <a:prstDash val="solid"/>
                    </a:lnL>
                    <a:lnR w="7620">
                      <a:solidFill>
                        <a:srgbClr val="C8D5DA"/>
                      </a:solidFill>
                      <a:prstDash val="solid"/>
                    </a:lnR>
                    <a:lnB w="7620">
                      <a:solidFill>
                        <a:srgbClr val="C8D5DA"/>
                      </a:solidFill>
                      <a:prstDash val="solid"/>
                    </a:lnB>
                    <a:solidFill>
                      <a:srgbClr val="FFFFFF"/>
                    </a:solidFill>
                  </a:tcPr>
                </a:tc>
                <a:tc>
                  <a:txBody>
                    <a:bodyPr wrap="square" lIns="114300" tIns="47625" rIns="114300" bIns="47625">
                      <a:noAutofit/>
                    </a:bodyPr>
                    <a:lstStyle/>
                    <a:p>
                      <a:r>
                        <a:rPr sz="1725" b="0">
                          <a:solidFill>
                            <a:srgbClr val="172F3C"/>
                          </a:solidFill>
                          <a:latin typeface="DejaVu Sans"/>
                          <a:ea typeface="DejaVu Sans"/>
                          <a:cs typeface="DejaVu Sans"/>
                        </a:rPr>
                        <a:t>Reintentar al perder. Tras ganar, comenzar otra campaña.</a:t>
                      </a:r>
                    </a:p>
                  </a:txBody>
                  <a:tcPr marL="91440" marR="91440" marT="45720" marB="45720" anchor="ctr">
                    <a:lnR w="7620">
                      <a:solidFill>
                        <a:srgbClr val="C8D5DA"/>
                      </a:solidFill>
                      <a:prstDash val="solid"/>
                    </a:lnR>
                    <a:lnB w="7620">
                      <a:solidFill>
                        <a:srgbClr val="C8D5DA"/>
                      </a:solidFill>
                      <a:prstDash val="solid"/>
                    </a:lnB>
                    <a:solidFill>
                      <a:srgbClr val="FFFFFF"/>
                    </a:solidFill>
                  </a:tcPr>
                </a:tc>
              </a:tr>
              <a:tr h="390525">
                <a:tc>
                  <a:txBody>
                    <a:bodyPr wrap="square" lIns="114300" tIns="47625" rIns="114300" bIns="47625">
                      <a:noAutofit/>
                    </a:bodyPr>
                    <a:lstStyle/>
                    <a:p>
                      <a:r>
                        <a:rPr sz="1725" b="0">
                          <a:solidFill>
                            <a:srgbClr val="172F3C"/>
                          </a:solidFill>
                          <a:latin typeface="DejaVu Sans"/>
                          <a:ea typeface="DejaVu Sans"/>
                          <a:cs typeface="DejaVu Sans"/>
                        </a:rPr>
                        <a:t>N</a:t>
                      </a:r>
                    </a:p>
                  </a:txBody>
                  <a:tcPr marL="91440" marR="91440" marT="45720" marB="45720" anchor="ctr">
                    <a:lnL w="7620">
                      <a:solidFill>
                        <a:srgbClr val="C8D5DA"/>
                      </a:solidFill>
                      <a:prstDash val="solid"/>
                    </a:lnL>
                    <a:lnR w="7620">
                      <a:solidFill>
                        <a:srgbClr val="C8D5DA"/>
                      </a:solidFill>
                      <a:prstDash val="solid"/>
                    </a:lnR>
                    <a:lnB w="7620">
                      <a:solidFill>
                        <a:srgbClr val="C8D5DA"/>
                      </a:solidFill>
                      <a:prstDash val="solid"/>
                    </a:lnB>
                    <a:solidFill>
                      <a:srgbClr val="FFFFFF"/>
                    </a:solidFill>
                  </a:tcPr>
                </a:tc>
                <a:tc>
                  <a:txBody>
                    <a:bodyPr wrap="square" lIns="114300" tIns="47625" rIns="114300" bIns="47625">
                      <a:noAutofit/>
                    </a:bodyPr>
                    <a:lstStyle/>
                    <a:p>
                      <a:r>
                        <a:rPr sz="1725" b="0">
                          <a:solidFill>
                            <a:srgbClr val="172F3C"/>
                          </a:solidFill>
                          <a:latin typeface="DejaVu Sans"/>
                          <a:ea typeface="DejaVu Sans"/>
                          <a:cs typeface="DejaVu Sans"/>
                        </a:rPr>
                        <a:t>Empezar desde cero tras perder o entre niveles.</a:t>
                      </a:r>
                    </a:p>
                  </a:txBody>
                  <a:tcPr marL="91440" marR="91440" marT="45720" marB="45720" anchor="ctr">
                    <a:lnR w="7620">
                      <a:solidFill>
                        <a:srgbClr val="C8D5DA"/>
                      </a:solidFill>
                      <a:prstDash val="solid"/>
                    </a:lnR>
                    <a:lnB w="7620">
                      <a:solidFill>
                        <a:srgbClr val="C8D5DA"/>
                      </a:solidFill>
                      <a:prstDash val="solid"/>
                    </a:lnB>
                    <a:solidFill>
                      <a:srgbClr val="FFFFFF"/>
                    </a:solidFill>
                  </a:tcPr>
                </a:tc>
              </a:tr>
            </a:tbl>
          </a:graphicData>
        </a:graphic>
      </p:graphicFrame>
    </p:spTree>
    <p:extLst>
      <p:ext uri="{BB962C8B-B14F-4D97-AF65-F5344CB8AC3E}">
        <p14:creationId xmlns:p14="http://schemas.microsoft.com/office/powerpoint/2010/main" val="163248295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partado-rubrica">
            <a:extLst xmlns:a="http://schemas.openxmlformats.org/drawingml/2006/main">
              <a:ext uri="{FF2B5EF4-FFF2-40B4-BE49-F238E27FC236}">
                <a16:creationId xmlns:a16="http://schemas.microsoft.com/office/drawing/2014/main" id="{DA9BE330-7799-4431-8E20-F06A17D223E6}"/>
              </a:ext>
            </a:extLst>
          </p:cNvPr>
          <p:cNvSpPr>
            <a:spLocks xmlns:a="http://schemas.openxmlformats.org/drawingml/2006/main" noGrp="1"/>
          </p:cNvSpPr>
          <p:nvPr/>
        </p:nvSpPr>
        <p:spPr>
          <a:xfrm xmlns:a="http://schemas.openxmlformats.org/drawingml/2006/main">
            <a:off x="609600" y="285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6735D"/>
                </a:solidFill>
                <a:latin typeface="DejaVu Sans"/>
                <a:ea typeface="DejaVu Sans"/>
                <a:cs typeface="DejaVu Sans"/>
              </a:defRPr>
            </a:defPPr>
          </a:lstStyle>
          <a:p xmlns:a="http://schemas.openxmlformats.org/drawingml/2006/main">
            <a:pPr algn="l">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II. Introducción</a:t>
            </a:r>
          </a:p>
        </p:txBody>
      </p:sp>
      <p:sp>
        <p:nvSpPr>
          <p:cNvPr id="2" name="titulo">
            <a:extLst xmlns:a="http://schemas.openxmlformats.org/drawingml/2006/main">
              <a:ext uri="{FF2B5EF4-FFF2-40B4-BE49-F238E27FC236}">
                <a16:creationId xmlns:a16="http://schemas.microsoft.com/office/drawing/2014/main" id="{DDB512D1-B8D6-4CB2-8B0F-BE65B03E7F9B}"/>
              </a:ext>
            </a:extLst>
          </p:cNvPr>
          <p:cNvSpPr>
            <a:spLocks xmlns:a="http://schemas.openxmlformats.org/drawingml/2006/main" noGrp="1"/>
          </p:cNvSpPr>
          <p:nvPr/>
        </p:nvSpPr>
        <p:spPr>
          <a:xfrm xmlns:a="http://schemas.openxmlformats.org/drawingml/2006/main">
            <a:off x="609600" y="790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72F3C"/>
                </a:solidFill>
                <a:latin typeface="DejaVu Sans"/>
                <a:ea typeface="DejaVu Sans"/>
                <a:cs typeface="DejaVu Sans"/>
              </a:defRPr>
            </a:defPPr>
          </a:lstStyle>
          <a:p xmlns:a="http://schemas.openxmlformats.org/drawingml/2006/main">
            <a:pPr algn="l">
              <a:buNone/>
              <a:defRPr sz="3150" b="1">
                <a:solidFill>
                  <a:srgbClr val="172F3C"/>
                </a:solidFill>
                <a:latin typeface="DejaVu Sans"/>
                <a:ea typeface="DejaVu Sans"/>
                <a:cs typeface="DejaVu Sans"/>
              </a:defRPr>
            </a:pPr>
            <a:r>
              <a:rPr sz="3150" b="1">
                <a:solidFill>
                  <a:srgbClr val="172F3C"/>
                </a:solidFill>
                <a:latin typeface="DejaVu Sans"/>
                <a:ea typeface="DejaVu Sans"/>
                <a:cs typeface="DejaVu Sans"/>
              </a:rPr>
              <a:t>Tecnologías utilizadas</a:t>
            </a:r>
          </a:p>
        </p:txBody>
      </p:sp>
      <p:sp>
        <p:nvSpPr>
          <p:cNvPr id="3" name="numero">
            <a:extLst xmlns:a="http://schemas.openxmlformats.org/drawingml/2006/main">
              <a:ext uri="{FF2B5EF4-FFF2-40B4-BE49-F238E27FC236}">
                <a16:creationId xmlns:a16="http://schemas.microsoft.com/office/drawing/2014/main" id="{FA76EAA5-D037-4751-840F-4D3BF10D514E}"/>
              </a:ext>
            </a:extLst>
          </p:cNvPr>
          <p:cNvSpPr>
            <a:spLocks xmlns:a="http://schemas.openxmlformats.org/drawingml/2006/main" noGrp="1"/>
          </p:cNvSpPr>
          <p:nvPr/>
        </p:nvSpPr>
        <p:spPr>
          <a:xfrm xmlns:a="http://schemas.openxmlformats.org/drawingml/2006/main">
            <a:off x="11210925" y="64770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526773"/>
                </a:solidFill>
                <a:latin typeface="DejaVu Sans"/>
                <a:ea typeface="DejaVu Sans"/>
                <a:cs typeface="DejaVu Sans"/>
              </a:defRPr>
            </a:defPPr>
          </a:lstStyle>
          <a:p xmlns:a="http://schemas.openxmlformats.org/drawingml/2006/main">
            <a:pPr algn="l">
              <a:buNone/>
              <a:defRPr sz="1050" b="0">
                <a:solidFill>
                  <a:srgbClr val="526773"/>
                </a:solidFill>
                <a:latin typeface="DejaVu Sans"/>
                <a:ea typeface="DejaVu Sans"/>
                <a:cs typeface="DejaVu Sans"/>
              </a:defRPr>
            </a:pPr>
            <a:r>
              <a:rPr sz="1050" b="0">
                <a:solidFill>
                  <a:srgbClr val="526773"/>
                </a:solidFill>
                <a:latin typeface="DejaVu Sans"/>
                <a:ea typeface="DejaVu Sans"/>
                <a:cs typeface="DejaVu Sans"/>
              </a:rPr>
              <a:t>06</a:t>
            </a:r>
          </a:p>
        </p:txBody>
      </p:sp>
      <p:graphicFrame>
        <p:nvGraphicFramePr>
          <p:cNvPr id="11" name="">
            <a:extLst xmlns:a="http://schemas.openxmlformats.org/drawingml/2006/main">
              <a:ext uri="{FF2B5EF4-FFF2-40B4-BE49-F238E27FC236}">
                <a16:creationId xmlns:a16="http://schemas.microsoft.com/office/drawing/2014/main" id="{86AE461C-FCF3-459D-8D7A-3AC2DAD90D6F}"/>
              </a:ext>
            </a:extLst>
          </p:cNvPr>
          <p:cNvGraphicFramePr/>
          <p:nvPr/>
        </p:nvGraphicFramePr>
        <p:xfrm>
          <a:off xmlns:a="http://schemas.openxmlformats.org/drawingml/2006/main" x="609600" y="2047875"/>
          <a:ext xmlns:a="http://schemas.openxmlformats.org/drawingml/2006/main" cx="10953750" cy="3381375"/>
        </p:xfrm>
        <a:graphic xmlns:a="http://schemas.openxmlformats.org/drawingml/2006/main">
          <a:graphicData uri="http://schemas.openxmlformats.org/drawingml/2006/table">
            <a:tbl>
              <a:tblPr firstRow="1" bandRow="0"/>
              <a:tblGrid>
                <a:gridCol w="2476500"/>
                <a:gridCol w="8477250"/>
              </a:tblGrid>
              <a:tr h="563563">
                <a:tc>
                  <a:txBody>
                    <a:bodyPr wrap="square" lIns="114300" tIns="47625" rIns="114300" bIns="47625">
                      <a:noAutofit/>
                    </a:bodyPr>
                    <a:lstStyle/>
                    <a:p>
                      <a:r>
                        <a:rPr sz="1950" b="1">
                          <a:solidFill>
                            <a:srgbClr val="16735D"/>
                          </a:solidFill>
                          <a:latin typeface="DejaVu Sans"/>
                          <a:ea typeface="DejaVu Sans"/>
                          <a:cs typeface="DejaVu Sans"/>
                        </a:rPr>
                        <a:t>Tecnología</a:t>
                      </a:r>
                    </a:p>
                  </a:txBody>
                  <a:tcPr marL="91440" marR="91440" marT="45720" marB="45720" anchor="ctr">
                    <a:lnL w="7620">
                      <a:solidFill>
                        <a:srgbClr val="C8D5DA"/>
                      </a:solidFill>
                      <a:prstDash val="solid"/>
                    </a:lnL>
                    <a:lnR w="7620">
                      <a:solidFill>
                        <a:srgbClr val="C8D5DA"/>
                      </a:solidFill>
                      <a:prstDash val="solid"/>
                    </a:lnR>
                    <a:lnT w="7620">
                      <a:solidFill>
                        <a:srgbClr val="C8D5DA"/>
                      </a:solidFill>
                      <a:prstDash val="solid"/>
                    </a:lnT>
                    <a:lnB w="7620">
                      <a:solidFill>
                        <a:srgbClr val="C8D5DA"/>
                      </a:solidFill>
                      <a:prstDash val="solid"/>
                    </a:lnB>
                    <a:solidFill>
                      <a:srgbClr val="E9F1F3"/>
                    </a:solidFill>
                  </a:tcPr>
                </a:tc>
                <a:tc>
                  <a:txBody>
                    <a:bodyPr wrap="square" lIns="114300" tIns="47625" rIns="114300" bIns="47625">
                      <a:noAutofit/>
                    </a:bodyPr>
                    <a:lstStyle/>
                    <a:p>
                      <a:r>
                        <a:rPr sz="1950" b="1">
                          <a:solidFill>
                            <a:srgbClr val="16735D"/>
                          </a:solidFill>
                          <a:latin typeface="DejaVu Sans"/>
                          <a:ea typeface="DejaVu Sans"/>
                          <a:cs typeface="DejaVu Sans"/>
                        </a:rPr>
                        <a:t>Uso en el proyecto</a:t>
                      </a:r>
                    </a:p>
                  </a:txBody>
                  <a:tcPr marL="91440" marR="91440" marT="45720" marB="45720" anchor="ctr">
                    <a:lnR w="7620">
                      <a:solidFill>
                        <a:srgbClr val="C8D5DA"/>
                      </a:solidFill>
                      <a:prstDash val="solid"/>
                    </a:lnR>
                    <a:lnT w="7620">
                      <a:solidFill>
                        <a:srgbClr val="C8D5DA"/>
                      </a:solidFill>
                      <a:prstDash val="solid"/>
                    </a:lnT>
                    <a:lnB w="7620">
                      <a:solidFill>
                        <a:srgbClr val="C8D5DA"/>
                      </a:solidFill>
                      <a:prstDash val="solid"/>
                    </a:lnB>
                    <a:solidFill>
                      <a:srgbClr val="E9F1F3"/>
                    </a:solidFill>
                  </a:tcPr>
                </a:tc>
              </a:tr>
              <a:tr h="563563">
                <a:tc>
                  <a:txBody>
                    <a:bodyPr wrap="square" lIns="114300" tIns="47625" rIns="114300" bIns="47625">
                      <a:noAutofit/>
                    </a:bodyPr>
                    <a:lstStyle/>
                    <a:p>
                      <a:r>
                        <a:rPr sz="1950" b="0">
                          <a:solidFill>
                            <a:srgbClr val="172F3C"/>
                          </a:solidFill>
                          <a:latin typeface="DejaVu Sans"/>
                          <a:ea typeface="DejaVu Sans"/>
                          <a:cs typeface="DejaVu Sans"/>
                        </a:rPr>
                        <a:t>Python</a:t>
                      </a:r>
                    </a:p>
                  </a:txBody>
                  <a:tcPr marL="91440" marR="91440" marT="45720" marB="45720" anchor="ctr">
                    <a:lnL w="7620">
                      <a:solidFill>
                        <a:srgbClr val="C8D5DA"/>
                      </a:solidFill>
                      <a:prstDash val="solid"/>
                    </a:lnL>
                    <a:lnR w="7620">
                      <a:solidFill>
                        <a:srgbClr val="C8D5DA"/>
                      </a:solidFill>
                      <a:prstDash val="solid"/>
                    </a:lnR>
                    <a:lnB w="7620">
                      <a:solidFill>
                        <a:srgbClr val="C8D5DA"/>
                      </a:solidFill>
                      <a:prstDash val="solid"/>
                    </a:lnB>
                    <a:solidFill>
                      <a:srgbClr val="FFFFFF"/>
                    </a:solidFill>
                  </a:tcPr>
                </a:tc>
                <a:tc>
                  <a:txBody>
                    <a:bodyPr wrap="square" lIns="114300" tIns="47625" rIns="114300" bIns="47625">
                      <a:noAutofit/>
                    </a:bodyPr>
                    <a:lstStyle/>
                    <a:p>
                      <a:r>
                        <a:rPr sz="1950" b="0">
                          <a:solidFill>
                            <a:srgbClr val="172F3C"/>
                          </a:solidFill>
                          <a:latin typeface="DejaVu Sans"/>
                          <a:ea typeface="DejaVu Sans"/>
                          <a:cs typeface="DejaVu Sans"/>
                        </a:rPr>
                        <a:t>Lenguaje para clases, reglas y lógica del juego.</a:t>
                      </a:r>
                    </a:p>
                  </a:txBody>
                  <a:tcPr marL="91440" marR="91440" marT="45720" marB="45720" anchor="ctr">
                    <a:lnR w="7620">
                      <a:solidFill>
                        <a:srgbClr val="C8D5DA"/>
                      </a:solidFill>
                      <a:prstDash val="solid"/>
                    </a:lnR>
                    <a:lnB w="7620">
                      <a:solidFill>
                        <a:srgbClr val="C8D5DA"/>
                      </a:solidFill>
                      <a:prstDash val="solid"/>
                    </a:lnB>
                    <a:solidFill>
                      <a:srgbClr val="FFFFFF"/>
                    </a:solidFill>
                  </a:tcPr>
                </a:tc>
              </a:tr>
              <a:tr h="563563">
                <a:tc>
                  <a:txBody>
                    <a:bodyPr wrap="square" lIns="114300" tIns="47625" rIns="114300" bIns="47625">
                      <a:noAutofit/>
                    </a:bodyPr>
                    <a:lstStyle/>
                    <a:p>
                      <a:r>
                        <a:rPr sz="1950" b="0">
                          <a:solidFill>
                            <a:srgbClr val="172F3C"/>
                          </a:solidFill>
                          <a:latin typeface="DejaVu Sans"/>
                          <a:ea typeface="DejaVu Sans"/>
                          <a:cs typeface="DejaVu Sans"/>
                        </a:rPr>
                        <a:t>Pygame</a:t>
                      </a:r>
                    </a:p>
                  </a:txBody>
                  <a:tcPr marL="91440" marR="91440" marT="45720" marB="45720" anchor="ctr">
                    <a:lnL w="7620">
                      <a:solidFill>
                        <a:srgbClr val="C8D5DA"/>
                      </a:solidFill>
                      <a:prstDash val="solid"/>
                    </a:lnL>
                    <a:lnR w="7620">
                      <a:solidFill>
                        <a:srgbClr val="C8D5DA"/>
                      </a:solidFill>
                      <a:prstDash val="solid"/>
                    </a:lnR>
                    <a:lnB w="7620">
                      <a:solidFill>
                        <a:srgbClr val="C8D5DA"/>
                      </a:solidFill>
                      <a:prstDash val="solid"/>
                    </a:lnB>
                    <a:solidFill>
                      <a:srgbClr val="FFFFFF"/>
                    </a:solidFill>
                  </a:tcPr>
                </a:tc>
                <a:tc>
                  <a:txBody>
                    <a:bodyPr wrap="square" lIns="114300" tIns="47625" rIns="114300" bIns="47625">
                      <a:noAutofit/>
                    </a:bodyPr>
                    <a:lstStyle/>
                    <a:p>
                      <a:r>
                        <a:rPr sz="1950" b="0">
                          <a:solidFill>
                            <a:srgbClr val="172F3C"/>
                          </a:solidFill>
                          <a:latin typeface="DejaVu Sans"/>
                          <a:ea typeface="DejaVu Sans"/>
                          <a:cs typeface="DejaVu Sans"/>
                        </a:rPr>
                        <a:t>Ventana, teclado, dibujo y actualización de la pantalla.</a:t>
                      </a:r>
                    </a:p>
                  </a:txBody>
                  <a:tcPr marL="91440" marR="91440" marT="45720" marB="45720" anchor="ctr">
                    <a:lnR w="7620">
                      <a:solidFill>
                        <a:srgbClr val="C8D5DA"/>
                      </a:solidFill>
                      <a:prstDash val="solid"/>
                    </a:lnR>
                    <a:lnB w="7620">
                      <a:solidFill>
                        <a:srgbClr val="C8D5DA"/>
                      </a:solidFill>
                      <a:prstDash val="solid"/>
                    </a:lnB>
                    <a:solidFill>
                      <a:srgbClr val="FFFFFF"/>
                    </a:solidFill>
                  </a:tcPr>
                </a:tc>
              </a:tr>
              <a:tr h="563563">
                <a:tc>
                  <a:txBody>
                    <a:bodyPr wrap="square" lIns="114300" tIns="47625" rIns="114300" bIns="47625">
                      <a:noAutofit/>
                    </a:bodyPr>
                    <a:lstStyle/>
                    <a:p>
                      <a:r>
                        <a:rPr sz="1950" b="0">
                          <a:solidFill>
                            <a:srgbClr val="172F3C"/>
                          </a:solidFill>
                          <a:latin typeface="DejaVu Sans"/>
                          <a:ea typeface="DejaVu Sans"/>
                          <a:cs typeface="DejaVu Sans"/>
                        </a:rPr>
                        <a:t>Mermaid.js</a:t>
                      </a:r>
                    </a:p>
                  </a:txBody>
                  <a:tcPr marL="91440" marR="91440" marT="45720" marB="45720" anchor="ctr">
                    <a:lnL w="7620">
                      <a:solidFill>
                        <a:srgbClr val="C8D5DA"/>
                      </a:solidFill>
                      <a:prstDash val="solid"/>
                    </a:lnL>
                    <a:lnR w="7620">
                      <a:solidFill>
                        <a:srgbClr val="C8D5DA"/>
                      </a:solidFill>
                      <a:prstDash val="solid"/>
                    </a:lnR>
                    <a:lnB w="7620">
                      <a:solidFill>
                        <a:srgbClr val="C8D5DA"/>
                      </a:solidFill>
                      <a:prstDash val="solid"/>
                    </a:lnB>
                    <a:solidFill>
                      <a:srgbClr val="FFFFFF"/>
                    </a:solidFill>
                  </a:tcPr>
                </a:tc>
                <a:tc>
                  <a:txBody>
                    <a:bodyPr wrap="square" lIns="114300" tIns="47625" rIns="114300" bIns="47625">
                      <a:noAutofit/>
                    </a:bodyPr>
                    <a:lstStyle/>
                    <a:p>
                      <a:r>
                        <a:rPr sz="1950" b="0">
                          <a:solidFill>
                            <a:srgbClr val="172F3C"/>
                          </a:solidFill>
                          <a:latin typeface="DejaVu Sans"/>
                          <a:ea typeface="DejaVu Sans"/>
                          <a:cs typeface="DejaVu Sans"/>
                        </a:rPr>
                        <a:t>Modelo editable e imagen del diagrama UML.</a:t>
                      </a:r>
                    </a:p>
                  </a:txBody>
                  <a:tcPr marL="91440" marR="91440" marT="45720" marB="45720" anchor="ctr">
                    <a:lnR w="7620">
                      <a:solidFill>
                        <a:srgbClr val="C8D5DA"/>
                      </a:solidFill>
                      <a:prstDash val="solid"/>
                    </a:lnR>
                    <a:lnB w="7620">
                      <a:solidFill>
                        <a:srgbClr val="C8D5DA"/>
                      </a:solidFill>
                      <a:prstDash val="solid"/>
                    </a:lnB>
                    <a:solidFill>
                      <a:srgbClr val="FFFFFF"/>
                    </a:solidFill>
                  </a:tcPr>
                </a:tc>
              </a:tr>
              <a:tr h="563563">
                <a:tc>
                  <a:txBody>
                    <a:bodyPr wrap="square" lIns="114300" tIns="47625" rIns="114300" bIns="47625">
                      <a:noAutofit/>
                    </a:bodyPr>
                    <a:lstStyle/>
                    <a:p>
                      <a:r>
                        <a:rPr sz="1950" b="0">
                          <a:solidFill>
                            <a:srgbClr val="172F3C"/>
                          </a:solidFill>
                          <a:latin typeface="DejaVu Sans"/>
                          <a:ea typeface="DejaVu Sans"/>
                          <a:cs typeface="DejaVu Sans"/>
                        </a:rPr>
                        <a:t>Git y GitHub</a:t>
                      </a:r>
                    </a:p>
                  </a:txBody>
                  <a:tcPr marL="91440" marR="91440" marT="45720" marB="45720" anchor="ctr">
                    <a:lnL w="7620">
                      <a:solidFill>
                        <a:srgbClr val="C8D5DA"/>
                      </a:solidFill>
                      <a:prstDash val="solid"/>
                    </a:lnL>
                    <a:lnR w="7620">
                      <a:solidFill>
                        <a:srgbClr val="C8D5DA"/>
                      </a:solidFill>
                      <a:prstDash val="solid"/>
                    </a:lnR>
                    <a:lnB w="7620">
                      <a:solidFill>
                        <a:srgbClr val="C8D5DA"/>
                      </a:solidFill>
                      <a:prstDash val="solid"/>
                    </a:lnB>
                    <a:solidFill>
                      <a:srgbClr val="FFFFFF"/>
                    </a:solidFill>
                  </a:tcPr>
                </a:tc>
                <a:tc>
                  <a:txBody>
                    <a:bodyPr wrap="square" lIns="114300" tIns="47625" rIns="114300" bIns="47625">
                      <a:noAutofit/>
                    </a:bodyPr>
                    <a:lstStyle/>
                    <a:p>
                      <a:r>
                        <a:rPr sz="1950" b="0">
                          <a:solidFill>
                            <a:srgbClr val="172F3C"/>
                          </a:solidFill>
                          <a:latin typeface="DejaVu Sans"/>
                          <a:ea typeface="DejaVu Sans"/>
                          <a:cs typeface="DejaVu Sans"/>
                        </a:rPr>
                        <a:t>Historial de versiones y colaboración del equipo.</a:t>
                      </a:r>
                    </a:p>
                  </a:txBody>
                  <a:tcPr marL="91440" marR="91440" marT="45720" marB="45720" anchor="ctr">
                    <a:lnR w="7620">
                      <a:solidFill>
                        <a:srgbClr val="C8D5DA"/>
                      </a:solidFill>
                      <a:prstDash val="solid"/>
                    </a:lnR>
                    <a:lnB w="7620">
                      <a:solidFill>
                        <a:srgbClr val="C8D5DA"/>
                      </a:solidFill>
                      <a:prstDash val="solid"/>
                    </a:lnB>
                    <a:solidFill>
                      <a:srgbClr val="FFFFFF"/>
                    </a:solidFill>
                  </a:tcPr>
                </a:tc>
              </a:tr>
              <a:tr h="563563">
                <a:tc>
                  <a:txBody>
                    <a:bodyPr wrap="square" lIns="114300" tIns="47625" rIns="114300" bIns="47625">
                      <a:noAutofit/>
                    </a:bodyPr>
                    <a:lstStyle/>
                    <a:p>
                      <a:r>
                        <a:rPr sz="1950" b="0">
                          <a:solidFill>
                            <a:srgbClr val="172F3C"/>
                          </a:solidFill>
                          <a:latin typeface="DejaVu Sans"/>
                          <a:ea typeface="DejaVu Sans"/>
                          <a:cs typeface="DejaVu Sans"/>
                        </a:rPr>
                        <a:t>unittest</a:t>
                      </a:r>
                    </a:p>
                  </a:txBody>
                  <a:tcPr marL="91440" marR="91440" marT="45720" marB="45720" anchor="ctr">
                    <a:lnL w="7620">
                      <a:solidFill>
                        <a:srgbClr val="C8D5DA"/>
                      </a:solidFill>
                      <a:prstDash val="solid"/>
                    </a:lnL>
                    <a:lnR w="7620">
                      <a:solidFill>
                        <a:srgbClr val="C8D5DA"/>
                      </a:solidFill>
                      <a:prstDash val="solid"/>
                    </a:lnR>
                    <a:lnB w="7620">
                      <a:solidFill>
                        <a:srgbClr val="C8D5DA"/>
                      </a:solidFill>
                      <a:prstDash val="solid"/>
                    </a:lnB>
                    <a:solidFill>
                      <a:srgbClr val="FFFFFF"/>
                    </a:solidFill>
                  </a:tcPr>
                </a:tc>
                <a:tc>
                  <a:txBody>
                    <a:bodyPr wrap="square" lIns="114300" tIns="47625" rIns="114300" bIns="47625">
                      <a:noAutofit/>
                    </a:bodyPr>
                    <a:lstStyle/>
                    <a:p>
                      <a:r>
                        <a:rPr sz="1950" b="0">
                          <a:solidFill>
                            <a:srgbClr val="172F3C"/>
                          </a:solidFill>
                          <a:latin typeface="DejaVu Sans"/>
                          <a:ea typeface="DejaVu Sans"/>
                          <a:cs typeface="DejaVu Sans"/>
                        </a:rPr>
                        <a:t>Pruebas automáticas con resultados esperados y aserciones.</a:t>
                      </a:r>
                    </a:p>
                  </a:txBody>
                  <a:tcPr marL="91440" marR="91440" marT="45720" marB="45720" anchor="ctr">
                    <a:lnR w="7620">
                      <a:solidFill>
                        <a:srgbClr val="C8D5DA"/>
                      </a:solidFill>
                      <a:prstDash val="solid"/>
                    </a:lnR>
                    <a:lnB w="7620">
                      <a:solidFill>
                        <a:srgbClr val="C8D5DA"/>
                      </a:solidFill>
                      <a:prstDash val="solid"/>
                    </a:lnB>
                    <a:solidFill>
                      <a:srgbClr val="FFFFFF"/>
                    </a:solidFill>
                  </a:tcPr>
                </a:tc>
              </a:tr>
            </a:tbl>
          </a:graphicData>
        </a:graphic>
      </p:graphicFrame>
      <p:sp>
        <p:nvSpPr>
          <p:cNvPr id="12" name="">
            <a:extLst xmlns:a="http://schemas.openxmlformats.org/drawingml/2006/main">
              <a:ext uri="{FF2B5EF4-FFF2-40B4-BE49-F238E27FC236}">
                <a16:creationId xmlns:a16="http://schemas.microsoft.com/office/drawing/2014/main" id="{A329D51A-EB12-46F1-844D-450C75C7F5DD}"/>
              </a:ext>
            </a:extLst>
          </p:cNvPr>
          <p:cNvSpPr>
            <a:spLocks xmlns:a="http://schemas.openxmlformats.org/drawingml/2006/main" noGrp="1"/>
          </p:cNvSpPr>
          <p:nvPr/>
        </p:nvSpPr>
        <p:spPr>
          <a:xfrm xmlns:a="http://schemas.openxmlformats.org/drawingml/2006/main">
            <a:off x="609600" y="58388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3"/>
                </a:solidFill>
                <a:latin typeface="DejaVu Sans"/>
                <a:ea typeface="DejaVu Sans"/>
                <a:cs typeface="DejaVu Sans"/>
              </a:defRPr>
            </a:defPPr>
          </a:lstStyle>
          <a:p xmlns:a="http://schemas.openxmlformats.org/drawingml/2006/main">
            <a:pPr algn="l">
              <a:defRPr sz="1575" b="0">
                <a:solidFill>
                  <a:srgbClr val="526773"/>
                </a:solidFill>
                <a:latin typeface="DejaVu Sans"/>
                <a:ea typeface="DejaVu Sans"/>
                <a:cs typeface="DejaVu Sans"/>
              </a:defRPr>
            </a:pPr>
            <a:r>
              <a:rPr sz="1575" b="0">
                <a:solidFill>
                  <a:srgbClr val="526773"/>
                </a:solidFill>
                <a:latin typeface="DejaVu Sans"/>
                <a:ea typeface="DejaVu Sans"/>
                <a:cs typeface="DejaVu Sans"/>
              </a:rPr>
              <a:t>El informe registra Python 3.13.7 y Pygame 2.6.1 como entorno de comprobación.</a:t>
            </a:r>
          </a:p>
        </p:txBody>
      </p:sp>
    </p:spTree>
    <p:extLst>
      <p:ext uri="{BB962C8B-B14F-4D97-AF65-F5344CB8AC3E}">
        <p14:creationId xmlns:p14="http://schemas.microsoft.com/office/powerpoint/2010/main" val="1632482957"/>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partado-rubrica">
            <a:extLst xmlns:a="http://schemas.openxmlformats.org/drawingml/2006/main">
              <a:ext uri="{FF2B5EF4-FFF2-40B4-BE49-F238E27FC236}">
                <a16:creationId xmlns:a16="http://schemas.microsoft.com/office/drawing/2014/main" id="{DA9BE330-7799-4431-8E20-F06A17D223E6}"/>
              </a:ext>
            </a:extLst>
          </p:cNvPr>
          <p:cNvSpPr>
            <a:spLocks xmlns:a="http://schemas.openxmlformats.org/drawingml/2006/main" noGrp="1"/>
          </p:cNvSpPr>
          <p:nvPr/>
        </p:nvSpPr>
        <p:spPr>
          <a:xfrm xmlns:a="http://schemas.openxmlformats.org/drawingml/2006/main">
            <a:off x="609600" y="285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6735D"/>
                </a:solidFill>
                <a:latin typeface="DejaVu Sans"/>
                <a:ea typeface="DejaVu Sans"/>
                <a:cs typeface="DejaVu Sans"/>
              </a:defRPr>
            </a:defPPr>
          </a:lstStyle>
          <a:p xmlns:a="http://schemas.openxmlformats.org/drawingml/2006/main">
            <a:pPr algn="l">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IV. Fundamentos de POO</a:t>
            </a:r>
          </a:p>
        </p:txBody>
      </p:sp>
      <p:sp>
        <p:nvSpPr>
          <p:cNvPr id="2" name="titulo">
            <a:extLst xmlns:a="http://schemas.openxmlformats.org/drawingml/2006/main">
              <a:ext uri="{FF2B5EF4-FFF2-40B4-BE49-F238E27FC236}">
                <a16:creationId xmlns:a16="http://schemas.microsoft.com/office/drawing/2014/main" id="{DDB512D1-B8D6-4CB2-8B0F-BE65B03E7F9B}"/>
              </a:ext>
            </a:extLst>
          </p:cNvPr>
          <p:cNvSpPr>
            <a:spLocks xmlns:a="http://schemas.openxmlformats.org/drawingml/2006/main" noGrp="1"/>
          </p:cNvSpPr>
          <p:nvPr/>
        </p:nvSpPr>
        <p:spPr>
          <a:xfrm xmlns:a="http://schemas.openxmlformats.org/drawingml/2006/main">
            <a:off x="609600" y="790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72F3C"/>
                </a:solidFill>
                <a:latin typeface="DejaVu Sans"/>
                <a:ea typeface="DejaVu Sans"/>
                <a:cs typeface="DejaVu Sans"/>
              </a:defRPr>
            </a:defPPr>
          </a:lstStyle>
          <a:p xmlns:a="http://schemas.openxmlformats.org/drawingml/2006/main">
            <a:pPr algn="l">
              <a:buNone/>
              <a:defRPr sz="3150" b="1">
                <a:solidFill>
                  <a:srgbClr val="172F3C"/>
                </a:solidFill>
                <a:latin typeface="DejaVu Sans"/>
                <a:ea typeface="DejaVu Sans"/>
                <a:cs typeface="DejaVu Sans"/>
              </a:defRPr>
            </a:pPr>
            <a:r>
              <a:rPr sz="3150" b="1">
                <a:solidFill>
                  <a:srgbClr val="172F3C"/>
                </a:solidFill>
                <a:latin typeface="DejaVu Sans"/>
                <a:ea typeface="DejaVu Sans"/>
                <a:cs typeface="DejaVu Sans"/>
              </a:rPr>
              <a:t>Patrones State y Observer</a:t>
            </a:r>
          </a:p>
        </p:txBody>
      </p:sp>
      <p:sp>
        <p:nvSpPr>
          <p:cNvPr id="3" name="numero">
            <a:extLst xmlns:a="http://schemas.openxmlformats.org/drawingml/2006/main">
              <a:ext uri="{FF2B5EF4-FFF2-40B4-BE49-F238E27FC236}">
                <a16:creationId xmlns:a16="http://schemas.microsoft.com/office/drawing/2014/main" id="{FA76EAA5-D037-4751-840F-4D3BF10D514E}"/>
              </a:ext>
            </a:extLst>
          </p:cNvPr>
          <p:cNvSpPr>
            <a:spLocks xmlns:a="http://schemas.openxmlformats.org/drawingml/2006/main" noGrp="1"/>
          </p:cNvSpPr>
          <p:nvPr/>
        </p:nvSpPr>
        <p:spPr>
          <a:xfrm xmlns:a="http://schemas.openxmlformats.org/drawingml/2006/main">
            <a:off x="11210925" y="64770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526773"/>
                </a:solidFill>
                <a:latin typeface="DejaVu Sans"/>
                <a:ea typeface="DejaVu Sans"/>
                <a:cs typeface="DejaVu Sans"/>
              </a:defRPr>
            </a:defPPr>
          </a:lstStyle>
          <a:p xmlns:a="http://schemas.openxmlformats.org/drawingml/2006/main">
            <a:pPr algn="l">
              <a:buNone/>
              <a:defRPr sz="1050" b="0">
                <a:solidFill>
                  <a:srgbClr val="526773"/>
                </a:solidFill>
                <a:latin typeface="DejaVu Sans"/>
                <a:ea typeface="DejaVu Sans"/>
                <a:cs typeface="DejaVu Sans"/>
              </a:defRPr>
            </a:pPr>
            <a:r>
              <a:rPr sz="1050" b="0">
                <a:solidFill>
                  <a:srgbClr val="526773"/>
                </a:solidFill>
                <a:latin typeface="DejaVu Sans"/>
                <a:ea typeface="DejaVu Sans"/>
                <a:cs typeface="DejaVu Sans"/>
              </a:rPr>
              <a:t>10</a:t>
            </a:r>
          </a:p>
        </p:txBody>
      </p:sp>
      <p:sp>
        <p:nvSpPr>
          <p:cNvPr id="11" name="">
            <a:extLst xmlns:a="http://schemas.openxmlformats.org/drawingml/2006/main">
              <a:ext uri="{FF2B5EF4-FFF2-40B4-BE49-F238E27FC236}">
                <a16:creationId xmlns:a16="http://schemas.microsoft.com/office/drawing/2014/main" id="{40D79FFB-9F68-4000-9AF7-10F3B3A1A933}"/>
              </a:ext>
            </a:extLst>
          </p:cNvPr>
          <p:cNvSpPr>
            <a:spLocks xmlns:a="http://schemas.openxmlformats.org/drawingml/2006/main" noGrp="1"/>
          </p:cNvSpPr>
          <p:nvPr/>
        </p:nvSpPr>
        <p:spPr>
          <a:xfrm xmlns:a="http://schemas.openxmlformats.org/drawingml/2006/main">
            <a:off x="609600" y="204787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735D"/>
                </a:solidFill>
                <a:latin typeface="DejaVu Sans"/>
                <a:ea typeface="DejaVu Sans"/>
                <a:cs typeface="DejaVu Sans"/>
              </a:defRPr>
            </a:defPPr>
          </a:lstStyle>
          <a:p xmlns:a="http://schemas.openxmlformats.org/drawingml/2006/main">
            <a:pPr algn="l">
              <a:defRPr sz="2100" b="1">
                <a:solidFill>
                  <a:srgbClr val="16735D"/>
                </a:solidFill>
                <a:latin typeface="DejaVu Sans"/>
                <a:ea typeface="DejaVu Sans"/>
                <a:cs typeface="DejaVu Sans"/>
              </a:defRPr>
            </a:pPr>
            <a:r>
              <a:rPr sz="2100" b="1">
                <a:solidFill>
                  <a:srgbClr val="16735D"/>
                </a:solidFill>
                <a:latin typeface="DejaVu Sans"/>
                <a:ea typeface="DejaVu Sans"/>
                <a:cs typeface="DejaVu Sans"/>
              </a:rPr>
              <a:t>State</a:t>
            </a:r>
          </a:p>
        </p:txBody>
      </p:sp>
      <p:sp>
        <p:nvSpPr>
          <p:cNvPr id="12" name="">
            <a:extLst xmlns:a="http://schemas.openxmlformats.org/drawingml/2006/main">
              <a:ext uri="{FF2B5EF4-FFF2-40B4-BE49-F238E27FC236}">
                <a16:creationId xmlns:a16="http://schemas.microsoft.com/office/drawing/2014/main" id="{3196BEC2-F0AA-43DE-B141-6591189EBED9}"/>
              </a:ext>
            </a:extLst>
          </p:cNvPr>
          <p:cNvSpPr>
            <a:spLocks xmlns:a="http://schemas.openxmlformats.org/drawingml/2006/main" noGrp="1"/>
          </p:cNvSpPr>
          <p:nvPr/>
        </p:nvSpPr>
        <p:spPr>
          <a:xfrm xmlns:a="http://schemas.openxmlformats.org/drawingml/2006/main">
            <a:off x="609600" y="2647950"/>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F3C"/>
                </a:solidFill>
                <a:latin typeface="DejaVu Sans"/>
                <a:ea typeface="DejaVu Sans"/>
                <a:cs typeface="DejaVu Sans"/>
              </a:defRPr>
            </a:defPPr>
          </a:lstStyle>
          <a:p xmlns:a="http://schemas.openxmlformats.org/drawingml/2006/main">
            <a:pPr algn="l">
              <a:defRPr sz="1950" b="0">
                <a:solidFill>
                  <a:srgbClr val="172F3C"/>
                </a:solidFill>
                <a:latin typeface="DejaVu Sans"/>
                <a:ea typeface="DejaVu Sans"/>
                <a:cs typeface="DejaVu Sans"/>
              </a:defRPr>
            </a:pPr>
            <a:r>
              <a:rPr sz="1950" b="0">
                <a:solidFill>
                  <a:srgbClr val="172F3C"/>
                </a:solidFill>
                <a:latin typeface="DejaVu Sans"/>
                <a:ea typeface="DejaVu Sans"/>
                <a:cs typeface="DejaVu Sans"/>
              </a:rPr>
              <a:t>Cada estado decide cómo responder a la entrada y actualizar la partida.</a:t>
            </a:r>
          </a:p>
        </p:txBody>
      </p:sp>
      <p:sp>
        <p:nvSpPr>
          <p:cNvPr id="13" name="">
            <a:extLst xmlns:a="http://schemas.openxmlformats.org/drawingml/2006/main">
              <a:ext uri="{FF2B5EF4-FFF2-40B4-BE49-F238E27FC236}">
                <a16:creationId xmlns:a16="http://schemas.microsoft.com/office/drawing/2014/main" id="{2A1DBBA7-9F8A-433E-A55F-DEA2645A1648}"/>
              </a:ext>
            </a:extLst>
          </p:cNvPr>
          <p:cNvSpPr>
            <a:spLocks xmlns:a="http://schemas.openxmlformats.org/drawingml/2006/main" noGrp="1"/>
          </p:cNvSpPr>
          <p:nvPr/>
        </p:nvSpPr>
        <p:spPr>
          <a:xfrm xmlns:a="http://schemas.openxmlformats.org/drawingml/2006/main">
            <a:off x="609600" y="4095750"/>
            <a:ext cx="523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F3C"/>
                </a:solidFill>
                <a:latin typeface="DejaVu Sans Mono"/>
                <a:ea typeface="DejaVu Sans Mono"/>
                <a:cs typeface="DejaVu Sans Mono"/>
              </a:defRPr>
            </a:defPPr>
          </a:lstStyle>
          <a:p xmlns:a="http://schemas.openxmlformats.org/drawingml/2006/main">
            <a:pPr algn="l">
              <a:defRPr sz="1725" b="0">
                <a:solidFill>
                  <a:srgbClr val="172F3C"/>
                </a:solidFill>
                <a:latin typeface="DejaVu Sans Mono"/>
                <a:ea typeface="DejaVu Sans Mono"/>
                <a:cs typeface="DejaVu Sans Mono"/>
              </a:defRPr>
            </a:pPr>
            <a:r>
              <a:rPr sz="1725" b="0">
                <a:solidFill>
                  <a:srgbClr val="172F3C"/>
                </a:solidFill>
                <a:latin typeface="DejaVu Sans Mono"/>
                <a:ea typeface="DejaVu Sans Mono"/>
                <a:cs typeface="DejaVu Sans Mono"/>
              </a:rPr>
              <a:t>self.estado.actualizar(</a:t>
            </a:r>
          </a:p>
          <a:p xmlns:a="http://schemas.openxmlformats.org/drawingml/2006/main">
            <a:pPr algn="l">
              <a:defRPr sz="1725" b="0">
                <a:solidFill>
                  <a:srgbClr val="172F3C"/>
                </a:solidFill>
                <a:latin typeface="DejaVu Sans Mono"/>
                <a:ea typeface="DejaVu Sans Mono"/>
                <a:cs typeface="DejaVu Sans Mono"/>
              </a:defRPr>
            </a:pPr>
            <a:r>
              <a:rPr sz="1725" b="0">
                <a:solidFill>
                  <a:srgbClr val="172F3C"/>
                </a:solidFill>
                <a:latin typeface="DejaVu Sans Mono"/>
                <a:ea typeface="DejaVu Sans Mono"/>
                <a:cs typeface="DejaVu Sans Mono"/>
              </a:rPr>
              <a:t>    min(dt, 0.05), teclas)</a:t>
            </a:r>
          </a:p>
        </p:txBody>
      </p:sp>
      <p:sp>
        <p:nvSpPr>
          <p:cNvPr id="14" name="">
            <a:extLst xmlns:a="http://schemas.openxmlformats.org/drawingml/2006/main">
              <a:ext uri="{FF2B5EF4-FFF2-40B4-BE49-F238E27FC236}">
                <a16:creationId xmlns:a16="http://schemas.microsoft.com/office/drawing/2014/main" id="{86B12CEC-4345-411F-8AFA-049CA7E277E9}"/>
              </a:ext>
            </a:extLst>
          </p:cNvPr>
          <p:cNvSpPr>
            <a:spLocks xmlns:a="http://schemas.openxmlformats.org/drawingml/2006/main" noGrp="1"/>
          </p:cNvSpPr>
          <p:nvPr/>
        </p:nvSpPr>
        <p:spPr>
          <a:xfrm xmlns:a="http://schemas.openxmlformats.org/drawingml/2006/main">
            <a:off x="609600" y="539115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773"/>
                </a:solidFill>
                <a:latin typeface="DejaVu Sans"/>
                <a:ea typeface="DejaVu Sans"/>
                <a:cs typeface="DejaVu Sans"/>
              </a:defRPr>
            </a:defPPr>
          </a:lstStyle>
          <a:p xmlns:a="http://schemas.openxmlformats.org/drawingml/2006/main">
            <a:pPr algn="l">
              <a:defRPr sz="1800" b="0">
                <a:solidFill>
                  <a:srgbClr val="526773"/>
                </a:solidFill>
                <a:latin typeface="DejaVu Sans"/>
                <a:ea typeface="DejaVu Sans"/>
                <a:cs typeface="DejaVu Sans"/>
              </a:defRPr>
            </a:pPr>
            <a:r>
              <a:rPr sz="1800" b="0">
                <a:solidFill>
                  <a:srgbClr val="526773"/>
                </a:solidFill>
                <a:latin typeface="DejaVu Sans"/>
                <a:ea typeface="DejaVu Sans"/>
                <a:cs typeface="DejaVu Sans"/>
              </a:rPr>
              <a:t>Jugando, Pausa, Derrota, Victoria y NivelCompletado.</a:t>
            </a:r>
          </a:p>
        </p:txBody>
      </p:sp>
      <p:sp>
        <p:nvSpPr>
          <p:cNvPr id="15" name="">
            <a:extLst xmlns:a="http://schemas.openxmlformats.org/drawingml/2006/main">
              <a:ext uri="{FF2B5EF4-FFF2-40B4-BE49-F238E27FC236}">
                <a16:creationId xmlns:a16="http://schemas.microsoft.com/office/drawing/2014/main" id="{61093BE7-45A2-43D9-BA50-F7C1B5CB22E9}"/>
              </a:ext>
            </a:extLst>
          </p:cNvPr>
          <p:cNvSpPr>
            <a:spLocks xmlns:a="http://schemas.openxmlformats.org/drawingml/2006/main" noGrp="1"/>
          </p:cNvSpPr>
          <p:nvPr/>
        </p:nvSpPr>
        <p:spPr>
          <a:xfrm xmlns:a="http://schemas.openxmlformats.org/drawingml/2006/main">
            <a:off x="6324600" y="204787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735D"/>
                </a:solidFill>
                <a:latin typeface="DejaVu Sans"/>
                <a:ea typeface="DejaVu Sans"/>
                <a:cs typeface="DejaVu Sans"/>
              </a:defRPr>
            </a:defPPr>
          </a:lstStyle>
          <a:p xmlns:a="http://schemas.openxmlformats.org/drawingml/2006/main">
            <a:pPr algn="l">
              <a:defRPr sz="2100" b="1">
                <a:solidFill>
                  <a:srgbClr val="16735D"/>
                </a:solidFill>
                <a:latin typeface="DejaVu Sans"/>
                <a:ea typeface="DejaVu Sans"/>
                <a:cs typeface="DejaVu Sans"/>
              </a:defRPr>
            </a:pPr>
            <a:r>
              <a:rPr sz="2100" b="1">
                <a:solidFill>
                  <a:srgbClr val="16735D"/>
                </a:solidFill>
                <a:latin typeface="DejaVu Sans"/>
                <a:ea typeface="DejaVu Sans"/>
                <a:cs typeface="DejaVu Sans"/>
              </a:rPr>
              <a:t>Observer</a:t>
            </a:r>
          </a:p>
        </p:txBody>
      </p:sp>
      <p:sp>
        <p:nvSpPr>
          <p:cNvPr id="16" name="">
            <a:extLst xmlns:a="http://schemas.openxmlformats.org/drawingml/2006/main">
              <a:ext uri="{FF2B5EF4-FFF2-40B4-BE49-F238E27FC236}">
                <a16:creationId xmlns:a16="http://schemas.microsoft.com/office/drawing/2014/main" id="{62E2BC22-E1D5-4626-83CF-7FAB99DCE444}"/>
              </a:ext>
            </a:extLst>
          </p:cNvPr>
          <p:cNvSpPr>
            <a:spLocks xmlns:a="http://schemas.openxmlformats.org/drawingml/2006/main" noGrp="1"/>
          </p:cNvSpPr>
          <p:nvPr/>
        </p:nvSpPr>
        <p:spPr>
          <a:xfrm xmlns:a="http://schemas.openxmlformats.org/drawingml/2006/main">
            <a:off x="6324600" y="2647950"/>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F3C"/>
                </a:solidFill>
                <a:latin typeface="DejaVu Sans"/>
                <a:ea typeface="DejaVu Sans"/>
                <a:cs typeface="DejaVu Sans"/>
              </a:defRPr>
            </a:defPPr>
          </a:lstStyle>
          <a:p xmlns:a="http://schemas.openxmlformats.org/drawingml/2006/main">
            <a:pPr algn="l">
              <a:defRPr sz="1950" b="0">
                <a:solidFill>
                  <a:srgbClr val="172F3C"/>
                </a:solidFill>
                <a:latin typeface="DejaVu Sans"/>
                <a:ea typeface="DejaVu Sans"/>
                <a:cs typeface="DejaVu Sans"/>
              </a:defRPr>
            </a:pPr>
            <a:r>
              <a:rPr sz="1950" b="0">
                <a:solidFill>
                  <a:srgbClr val="172F3C"/>
                </a:solidFill>
                <a:latin typeface="DejaVu Sans"/>
                <a:ea typeface="DejaVu Sans"/>
                <a:cs typeface="DejaVu Sans"/>
              </a:rPr>
              <a:t>Puntaje notifica al panel cuando cambia su valor.</a:t>
            </a:r>
          </a:p>
        </p:txBody>
      </p:sp>
      <p:sp>
        <p:nvSpPr>
          <p:cNvPr id="17" name="">
            <a:extLst xmlns:a="http://schemas.openxmlformats.org/drawingml/2006/main">
              <a:ext uri="{FF2B5EF4-FFF2-40B4-BE49-F238E27FC236}">
                <a16:creationId xmlns:a16="http://schemas.microsoft.com/office/drawing/2014/main" id="{E452A33C-8FC4-4788-9EA3-16A085B8A7A9}"/>
              </a:ext>
            </a:extLst>
          </p:cNvPr>
          <p:cNvSpPr>
            <a:spLocks xmlns:a="http://schemas.openxmlformats.org/drawingml/2006/main" noGrp="1"/>
          </p:cNvSpPr>
          <p:nvPr/>
        </p:nvSpPr>
        <p:spPr>
          <a:xfrm xmlns:a="http://schemas.openxmlformats.org/drawingml/2006/main">
            <a:off x="6324600" y="4010025"/>
            <a:ext cx="5238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F3C"/>
                </a:solidFill>
                <a:latin typeface="DejaVu Sans Mono"/>
                <a:ea typeface="DejaVu Sans Mono"/>
                <a:cs typeface="DejaVu Sans Mono"/>
              </a:defRPr>
            </a:defPPr>
          </a:lstStyle>
          <a:p xmlns:a="http://schemas.openxmlformats.org/drawingml/2006/main">
            <a:pPr algn="l">
              <a:defRPr sz="1725" b="0">
                <a:solidFill>
                  <a:srgbClr val="172F3C"/>
                </a:solidFill>
                <a:latin typeface="DejaVu Sans Mono"/>
                <a:ea typeface="DejaVu Sans Mono"/>
                <a:cs typeface="DejaVu Sans Mono"/>
              </a:defRPr>
            </a:pPr>
            <a:r>
              <a:rPr sz="1725" b="0">
                <a:solidFill>
                  <a:srgbClr val="172F3C"/>
                </a:solidFill>
                <a:latin typeface="DejaVu Sans Mono"/>
                <a:ea typeface="DejaVu Sans Mono"/>
                <a:cs typeface="DejaVu Sans Mono"/>
              </a:rPr>
              <a:t>self.puntaje.suscribir(self.panel)</a:t>
            </a:r>
          </a:p>
          <a:p xmlns:a="http://schemas.openxmlformats.org/drawingml/2006/main">
            <a:r>
              <a:t/>
            </a:r>
          </a:p>
          <a:p xmlns:a="http://schemas.openxmlformats.org/drawingml/2006/main">
            <a:pPr algn="l">
              <a:defRPr sz="1725" b="0">
                <a:solidFill>
                  <a:srgbClr val="172F3C"/>
                </a:solidFill>
                <a:latin typeface="DejaVu Sans Mono"/>
                <a:ea typeface="DejaVu Sans Mono"/>
                <a:cs typeface="DejaVu Sans Mono"/>
              </a:defRPr>
            </a:pPr>
            <a:r>
              <a:rPr sz="1725" b="0">
                <a:solidFill>
                  <a:srgbClr val="172F3C"/>
                </a:solidFill>
                <a:latin typeface="DejaVu Sans Mono"/>
                <a:ea typeface="DejaVu Sans Mono"/>
                <a:cs typeface="DejaVu Sans Mono"/>
              </a:rPr>
              <a:t>observador.actualizar_puntaje(</a:t>
            </a:r>
          </a:p>
          <a:p xmlns:a="http://schemas.openxmlformats.org/drawingml/2006/main">
            <a:pPr algn="l">
              <a:defRPr sz="1725" b="0">
                <a:solidFill>
                  <a:srgbClr val="172F3C"/>
                </a:solidFill>
                <a:latin typeface="DejaVu Sans Mono"/>
                <a:ea typeface="DejaVu Sans Mono"/>
                <a:cs typeface="DejaVu Sans Mono"/>
              </a:defRPr>
            </a:pPr>
            <a:r>
              <a:rPr sz="1725" b="0">
                <a:solidFill>
                  <a:srgbClr val="172F3C"/>
                </a:solidFill>
                <a:latin typeface="DejaVu Sans Mono"/>
                <a:ea typeface="DejaVu Sans Mono"/>
                <a:cs typeface="DejaVu Sans Mono"/>
              </a:rPr>
              <a:t>    self._valor)</a:t>
            </a:r>
          </a:p>
        </p:txBody>
      </p:sp>
      <p:sp>
        <p:nvSpPr>
          <p:cNvPr id="18" name="">
            <a:extLst xmlns:a="http://schemas.openxmlformats.org/drawingml/2006/main">
              <a:ext uri="{FF2B5EF4-FFF2-40B4-BE49-F238E27FC236}">
                <a16:creationId xmlns:a16="http://schemas.microsoft.com/office/drawing/2014/main" id="{C427A2B9-D1C3-413C-9F65-E219AD526C5A}"/>
              </a:ext>
            </a:extLst>
          </p:cNvPr>
          <p:cNvSpPr>
            <a:spLocks xmlns:a="http://schemas.openxmlformats.org/drawingml/2006/main" noGrp="1"/>
          </p:cNvSpPr>
          <p:nvPr/>
        </p:nvSpPr>
        <p:spPr>
          <a:xfrm xmlns:a="http://schemas.openxmlformats.org/drawingml/2006/main">
            <a:off x="6324600" y="5543550"/>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773"/>
                </a:solidFill>
                <a:latin typeface="DejaVu Sans"/>
                <a:ea typeface="DejaVu Sans"/>
                <a:cs typeface="DejaVu Sans"/>
              </a:defRPr>
            </a:defPPr>
          </a:lstStyle>
          <a:p xmlns:a="http://schemas.openxmlformats.org/drawingml/2006/main">
            <a:pPr algn="l">
              <a:defRPr sz="1800" b="0">
                <a:solidFill>
                  <a:srgbClr val="526773"/>
                </a:solidFill>
                <a:latin typeface="DejaVu Sans"/>
                <a:ea typeface="DejaVu Sans"/>
                <a:cs typeface="DejaVu Sans"/>
              </a:defRPr>
            </a:pPr>
            <a:r>
              <a:rPr sz="1800" b="0">
                <a:solidFill>
                  <a:srgbClr val="526773"/>
                </a:solidFill>
                <a:latin typeface="DejaVu Sans"/>
                <a:ea typeface="DejaVu Sans"/>
                <a:cs typeface="DejaVu Sans"/>
              </a:rPr>
              <a:t>El panel conserva el valor que Vista muestra en pantalla.</a:t>
            </a:r>
          </a:p>
        </p:txBody>
      </p:sp>
    </p:spTree>
    <p:extLst>
      <p:ext uri="{BB962C8B-B14F-4D97-AF65-F5344CB8AC3E}">
        <p14:creationId xmlns:p14="http://schemas.microsoft.com/office/powerpoint/2010/main" val="1632482957"/>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partado-rubrica">
            <a:extLst xmlns:a="http://schemas.openxmlformats.org/drawingml/2006/main">
              <a:ext uri="{FF2B5EF4-FFF2-40B4-BE49-F238E27FC236}">
                <a16:creationId xmlns:a16="http://schemas.microsoft.com/office/drawing/2014/main" id="{DA9BE330-7799-4431-8E20-F06A17D223E6}"/>
              </a:ext>
            </a:extLst>
          </p:cNvPr>
          <p:cNvSpPr>
            <a:spLocks xmlns:a="http://schemas.openxmlformats.org/drawingml/2006/main" noGrp="1"/>
          </p:cNvSpPr>
          <p:nvPr/>
        </p:nvSpPr>
        <p:spPr>
          <a:xfrm xmlns:a="http://schemas.openxmlformats.org/drawingml/2006/main">
            <a:off x="609600" y="285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6735D"/>
                </a:solidFill>
                <a:latin typeface="DejaVu Sans"/>
                <a:ea typeface="DejaVu Sans"/>
                <a:cs typeface="DejaVu Sans"/>
              </a:defRPr>
            </a:defPPr>
          </a:lstStyle>
          <a:p xmlns:a="http://schemas.openxmlformats.org/drawingml/2006/main">
            <a:pPr algn="l">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Cierre. Verificación del proyecto</a:t>
            </a:r>
          </a:p>
        </p:txBody>
      </p:sp>
      <p:sp>
        <p:nvSpPr>
          <p:cNvPr id="2" name="titulo">
            <a:extLst xmlns:a="http://schemas.openxmlformats.org/drawingml/2006/main">
              <a:ext uri="{FF2B5EF4-FFF2-40B4-BE49-F238E27FC236}">
                <a16:creationId xmlns:a16="http://schemas.microsoft.com/office/drawing/2014/main" id="{DDB512D1-B8D6-4CB2-8B0F-BE65B03E7F9B}"/>
              </a:ext>
            </a:extLst>
          </p:cNvPr>
          <p:cNvSpPr>
            <a:spLocks xmlns:a="http://schemas.openxmlformats.org/drawingml/2006/main" noGrp="1"/>
          </p:cNvSpPr>
          <p:nvPr/>
        </p:nvSpPr>
        <p:spPr>
          <a:xfrm xmlns:a="http://schemas.openxmlformats.org/drawingml/2006/main">
            <a:off x="609600" y="790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72F3C"/>
                </a:solidFill>
                <a:latin typeface="DejaVu Sans"/>
                <a:ea typeface="DejaVu Sans"/>
                <a:cs typeface="DejaVu Sans"/>
              </a:defRPr>
            </a:defPPr>
          </a:lstStyle>
          <a:p xmlns:a="http://schemas.openxmlformats.org/drawingml/2006/main">
            <a:pPr algn="l">
              <a:buNone/>
              <a:defRPr sz="3150" b="1">
                <a:solidFill>
                  <a:srgbClr val="172F3C"/>
                </a:solidFill>
                <a:latin typeface="DejaVu Sans"/>
                <a:ea typeface="DejaVu Sans"/>
                <a:cs typeface="DejaVu Sans"/>
              </a:defRPr>
            </a:pPr>
            <a:r>
              <a:rPr sz="3150" b="1">
                <a:solidFill>
                  <a:srgbClr val="172F3C"/>
                </a:solidFill>
                <a:latin typeface="DejaVu Sans"/>
                <a:ea typeface="DejaVu Sans"/>
                <a:cs typeface="DejaVu Sans"/>
              </a:rPr>
              <a:t>Pruebas para detectar errores</a:t>
            </a:r>
          </a:p>
        </p:txBody>
      </p:sp>
      <p:sp>
        <p:nvSpPr>
          <p:cNvPr id="3" name="numero">
            <a:extLst xmlns:a="http://schemas.openxmlformats.org/drawingml/2006/main">
              <a:ext uri="{FF2B5EF4-FFF2-40B4-BE49-F238E27FC236}">
                <a16:creationId xmlns:a16="http://schemas.microsoft.com/office/drawing/2014/main" id="{FA76EAA5-D037-4751-840F-4D3BF10D514E}"/>
              </a:ext>
            </a:extLst>
          </p:cNvPr>
          <p:cNvSpPr>
            <a:spLocks xmlns:a="http://schemas.openxmlformats.org/drawingml/2006/main" noGrp="1"/>
          </p:cNvSpPr>
          <p:nvPr/>
        </p:nvSpPr>
        <p:spPr>
          <a:xfrm xmlns:a="http://schemas.openxmlformats.org/drawingml/2006/main">
            <a:off x="11210925" y="64770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526773"/>
                </a:solidFill>
                <a:latin typeface="DejaVu Sans"/>
                <a:ea typeface="DejaVu Sans"/>
                <a:cs typeface="DejaVu Sans"/>
              </a:defRPr>
            </a:defPPr>
          </a:lstStyle>
          <a:p xmlns:a="http://schemas.openxmlformats.org/drawingml/2006/main">
            <a:pPr algn="l">
              <a:buNone/>
              <a:defRPr sz="1050" b="0">
                <a:solidFill>
                  <a:srgbClr val="526773"/>
                </a:solidFill>
                <a:latin typeface="DejaVu Sans"/>
                <a:ea typeface="DejaVu Sans"/>
                <a:cs typeface="DejaVu Sans"/>
              </a:defRPr>
            </a:pPr>
            <a:r>
              <a:rPr sz="1050" b="0">
                <a:solidFill>
                  <a:srgbClr val="526773"/>
                </a:solidFill>
                <a:latin typeface="DejaVu Sans"/>
                <a:ea typeface="DejaVu Sans"/>
                <a:cs typeface="DejaVu Sans"/>
              </a:rPr>
              <a:t>38</a:t>
            </a:r>
          </a:p>
        </p:txBody>
      </p:sp>
      <p:sp>
        <p:nvSpPr>
          <p:cNvPr id="11" name="">
            <a:extLst xmlns:a="http://schemas.openxmlformats.org/drawingml/2006/main">
              <a:ext uri="{FF2B5EF4-FFF2-40B4-BE49-F238E27FC236}">
                <a16:creationId xmlns:a16="http://schemas.microsoft.com/office/drawing/2014/main" id="{7C38D710-013D-42F0-8231-23157C2353C0}"/>
              </a:ext>
            </a:extLst>
          </p:cNvPr>
          <p:cNvSpPr>
            <a:spLocks xmlns:a="http://schemas.openxmlformats.org/drawingml/2006/main" noGrp="1"/>
          </p:cNvSpPr>
          <p:nvPr/>
        </p:nvSpPr>
        <p:spPr>
          <a:xfrm xmlns:a="http://schemas.openxmlformats.org/drawingml/2006/main">
            <a:off x="609600" y="180022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F3C"/>
                </a:solidFill>
                <a:latin typeface="DejaVu Sans"/>
                <a:ea typeface="DejaVu Sans"/>
                <a:cs typeface="DejaVu Sans"/>
              </a:defRPr>
            </a:defPPr>
          </a:lstStyle>
          <a:p xmlns:a="http://schemas.openxmlformats.org/drawingml/2006/main">
            <a:pPr algn="l">
              <a:defRPr sz="1950" b="0">
                <a:solidFill>
                  <a:srgbClr val="172F3C"/>
                </a:solidFill>
                <a:latin typeface="DejaVu Sans"/>
                <a:ea typeface="DejaVu Sans"/>
                <a:cs typeface="DejaVu Sans"/>
              </a:defRPr>
            </a:pPr>
            <a:r>
              <a:rPr sz="1950" b="0">
                <a:solidFill>
                  <a:srgbClr val="172F3C"/>
                </a:solidFill>
                <a:latin typeface="DejaVu Sans"/>
                <a:ea typeface="DejaVu Sans"/>
                <a:cs typeface="DejaVu Sans"/>
              </a:rPr>
              <a:t>unittest prepara un escenario y compara el resultado con lo esperado.</a:t>
            </a:r>
          </a:p>
        </p:txBody>
      </p:sp>
      <p:graphicFrame>
        <p:nvGraphicFramePr>
          <p:cNvPr id="12" name="">
            <a:extLst xmlns:a="http://schemas.openxmlformats.org/drawingml/2006/main">
              <a:ext uri="{FF2B5EF4-FFF2-40B4-BE49-F238E27FC236}">
                <a16:creationId xmlns:a16="http://schemas.microsoft.com/office/drawing/2014/main" id="{81D1735B-3361-4C48-B167-D0CE25B66DD2}"/>
              </a:ext>
            </a:extLst>
          </p:cNvPr>
          <p:cNvGraphicFramePr/>
          <p:nvPr/>
        </p:nvGraphicFramePr>
        <p:xfrm>
          <a:off xmlns:a="http://schemas.openxmlformats.org/drawingml/2006/main" x="609600" y="2495550"/>
          <a:ext xmlns:a="http://schemas.openxmlformats.org/drawingml/2006/main" cx="10953750" cy="3095625"/>
        </p:xfrm>
        <a:graphic xmlns:a="http://schemas.openxmlformats.org/drawingml/2006/main">
          <a:graphicData uri="http://schemas.openxmlformats.org/drawingml/2006/table">
            <a:tbl>
              <a:tblPr firstRow="1" bandRow="0"/>
              <a:tblGrid>
                <a:gridCol w="3286125"/>
                <a:gridCol w="7667625"/>
              </a:tblGrid>
              <a:tr h="515938">
                <a:tc>
                  <a:txBody>
                    <a:bodyPr wrap="square" lIns="114300" tIns="47625" rIns="114300" bIns="47625">
                      <a:noAutofit/>
                    </a:bodyPr>
                    <a:lstStyle/>
                    <a:p>
                      <a:r>
                        <a:rPr sz="1800" b="1">
                          <a:solidFill>
                            <a:srgbClr val="16735D"/>
                          </a:solidFill>
                          <a:latin typeface="DejaVu Sans"/>
                          <a:ea typeface="DejaVu Sans"/>
                          <a:cs typeface="DejaVu Sans"/>
                        </a:rPr>
                        <a:t>Archivo de pruebas</a:t>
                      </a:r>
                    </a:p>
                  </a:txBody>
                  <a:tcPr marL="91440" marR="91440" marT="45720" marB="45720" anchor="ctr">
                    <a:lnL w="7620">
                      <a:solidFill>
                        <a:srgbClr val="C8D5DA"/>
                      </a:solidFill>
                      <a:prstDash val="solid"/>
                    </a:lnL>
                    <a:lnR w="7620">
                      <a:solidFill>
                        <a:srgbClr val="C8D5DA"/>
                      </a:solidFill>
                      <a:prstDash val="solid"/>
                    </a:lnR>
                    <a:lnT w="7620">
                      <a:solidFill>
                        <a:srgbClr val="C8D5DA"/>
                      </a:solidFill>
                      <a:prstDash val="solid"/>
                    </a:lnT>
                    <a:lnB w="7620">
                      <a:solidFill>
                        <a:srgbClr val="C8D5DA"/>
                      </a:solidFill>
                      <a:prstDash val="solid"/>
                    </a:lnB>
                    <a:solidFill>
                      <a:srgbClr val="E9F1F3"/>
                    </a:solidFill>
                  </a:tcPr>
                </a:tc>
                <a:tc>
                  <a:txBody>
                    <a:bodyPr wrap="square" lIns="114300" tIns="47625" rIns="114300" bIns="47625">
                      <a:noAutofit/>
                    </a:bodyPr>
                    <a:lstStyle/>
                    <a:p>
                      <a:r>
                        <a:rPr sz="1800" b="1">
                          <a:solidFill>
                            <a:srgbClr val="16735D"/>
                          </a:solidFill>
                          <a:latin typeface="DejaVu Sans"/>
                          <a:ea typeface="DejaVu Sans"/>
                          <a:cs typeface="DejaVu Sans"/>
                        </a:rPr>
                        <a:t>Qué comprueba</a:t>
                      </a:r>
                    </a:p>
                  </a:txBody>
                  <a:tcPr marL="91440" marR="91440" marT="45720" marB="45720" anchor="ctr">
                    <a:lnR w="7620">
                      <a:solidFill>
                        <a:srgbClr val="C8D5DA"/>
                      </a:solidFill>
                      <a:prstDash val="solid"/>
                    </a:lnR>
                    <a:lnT w="7620">
                      <a:solidFill>
                        <a:srgbClr val="C8D5DA"/>
                      </a:solidFill>
                      <a:prstDash val="solid"/>
                    </a:lnT>
                    <a:lnB w="7620">
                      <a:solidFill>
                        <a:srgbClr val="C8D5DA"/>
                      </a:solidFill>
                      <a:prstDash val="solid"/>
                    </a:lnB>
                    <a:solidFill>
                      <a:srgbClr val="E9F1F3"/>
                    </a:solidFill>
                  </a:tcPr>
                </a:tc>
              </a:tr>
              <a:tr h="515938">
                <a:tc>
                  <a:txBody>
                    <a:bodyPr wrap="square" lIns="114300" tIns="47625" rIns="114300" bIns="47625">
                      <a:noAutofit/>
                    </a:bodyPr>
                    <a:lstStyle/>
                    <a:p>
                      <a:r>
                        <a:rPr sz="1800" b="0">
                          <a:solidFill>
                            <a:srgbClr val="172F3C"/>
                          </a:solidFill>
                          <a:latin typeface="DejaVu Sans"/>
                          <a:ea typeface="DejaVu Sans"/>
                          <a:cs typeface="DejaVu Sans"/>
                        </a:rPr>
                        <a:t>test_juego.py</a:t>
                      </a:r>
                    </a:p>
                  </a:txBody>
                  <a:tcPr marL="91440" marR="91440" marT="45720" marB="45720" anchor="ctr">
                    <a:lnL w="7620">
                      <a:solidFill>
                        <a:srgbClr val="C8D5DA"/>
                      </a:solidFill>
                      <a:prstDash val="solid"/>
                    </a:lnL>
                    <a:lnR w="7620">
                      <a:solidFill>
                        <a:srgbClr val="C8D5DA"/>
                      </a:solidFill>
                      <a:prstDash val="solid"/>
                    </a:lnR>
                    <a:lnB w="7620">
                      <a:solidFill>
                        <a:srgbClr val="C8D5DA"/>
                      </a:solidFill>
                      <a:prstDash val="solid"/>
                    </a:lnB>
                    <a:solidFill>
                      <a:srgbClr val="FFFFFF"/>
                    </a:solidFill>
                  </a:tcPr>
                </a:tc>
                <a:tc>
                  <a:txBody>
                    <a:bodyPr wrap="square" lIns="114300" tIns="47625" rIns="114300" bIns="47625">
                      <a:noAutofit/>
                    </a:bodyPr>
                    <a:lstStyle/>
                    <a:p>
                      <a:r>
                        <a:rPr sz="1800" b="0">
                          <a:solidFill>
                            <a:srgbClr val="172F3C"/>
                          </a:solidFill>
                          <a:latin typeface="DejaVu Sans"/>
                          <a:ea typeface="DejaVu Sans"/>
                          <a:cs typeface="DejaVu Sans"/>
                        </a:rPr>
                        <a:t>Movimiento, puntaje, pausa y reinicio.</a:t>
                      </a:r>
                    </a:p>
                  </a:txBody>
                  <a:tcPr marL="91440" marR="91440" marT="45720" marB="45720" anchor="ctr">
                    <a:lnR w="7620">
                      <a:solidFill>
                        <a:srgbClr val="C8D5DA"/>
                      </a:solidFill>
                      <a:prstDash val="solid"/>
                    </a:lnR>
                    <a:lnB w="7620">
                      <a:solidFill>
                        <a:srgbClr val="C8D5DA"/>
                      </a:solidFill>
                      <a:prstDash val="solid"/>
                    </a:lnB>
                    <a:solidFill>
                      <a:srgbClr val="FFFFFF"/>
                    </a:solidFill>
                  </a:tcPr>
                </a:tc>
              </a:tr>
              <a:tr h="515938">
                <a:tc>
                  <a:txBody>
                    <a:bodyPr wrap="square" lIns="114300" tIns="47625" rIns="114300" bIns="47625">
                      <a:noAutofit/>
                    </a:bodyPr>
                    <a:lstStyle/>
                    <a:p>
                      <a:r>
                        <a:rPr sz="1800" b="0">
                          <a:solidFill>
                            <a:srgbClr val="172F3C"/>
                          </a:solidFill>
                          <a:latin typeface="DejaVu Sans"/>
                          <a:ea typeface="DejaVu Sans"/>
                          <a:cs typeface="DejaVu Sans"/>
                        </a:rPr>
                        <a:t>test_mapa.py</a:t>
                      </a:r>
                    </a:p>
                  </a:txBody>
                  <a:tcPr marL="91440" marR="91440" marT="45720" marB="45720" anchor="ctr">
                    <a:lnL w="7620">
                      <a:solidFill>
                        <a:srgbClr val="C8D5DA"/>
                      </a:solidFill>
                      <a:prstDash val="solid"/>
                    </a:lnL>
                    <a:lnR w="7620">
                      <a:solidFill>
                        <a:srgbClr val="C8D5DA"/>
                      </a:solidFill>
                      <a:prstDash val="solid"/>
                    </a:lnR>
                    <a:lnB w="7620">
                      <a:solidFill>
                        <a:srgbClr val="C8D5DA"/>
                      </a:solidFill>
                      <a:prstDash val="solid"/>
                    </a:lnB>
                    <a:solidFill>
                      <a:srgbClr val="FFFFFF"/>
                    </a:solidFill>
                  </a:tcPr>
                </a:tc>
                <a:tc>
                  <a:txBody>
                    <a:bodyPr wrap="square" lIns="114300" tIns="47625" rIns="114300" bIns="47625">
                      <a:noAutofit/>
                    </a:bodyPr>
                    <a:lstStyle/>
                    <a:p>
                      <a:r>
                        <a:rPr sz="1800" b="0">
                          <a:solidFill>
                            <a:srgbClr val="172F3C"/>
                          </a:solidFill>
                          <a:latin typeface="DejaVu Sans"/>
                          <a:ea typeface="DejaVu Sans"/>
                          <a:cs typeface="DejaVu Sans"/>
                        </a:rPr>
                        <a:t>Paredes, celda, accesos y conectividad.</a:t>
                      </a:r>
                    </a:p>
                  </a:txBody>
                  <a:tcPr marL="91440" marR="91440" marT="45720" marB="45720" anchor="ctr">
                    <a:lnR w="7620">
                      <a:solidFill>
                        <a:srgbClr val="C8D5DA"/>
                      </a:solidFill>
                      <a:prstDash val="solid"/>
                    </a:lnR>
                    <a:lnB w="7620">
                      <a:solidFill>
                        <a:srgbClr val="C8D5DA"/>
                      </a:solidFill>
                      <a:prstDash val="solid"/>
                    </a:lnB>
                    <a:solidFill>
                      <a:srgbClr val="FFFFFF"/>
                    </a:solidFill>
                  </a:tcPr>
                </a:tc>
              </a:tr>
              <a:tr h="515938">
                <a:tc>
                  <a:txBody>
                    <a:bodyPr wrap="square" lIns="114300" tIns="47625" rIns="114300" bIns="47625">
                      <a:noAutofit/>
                    </a:bodyPr>
                    <a:lstStyle/>
                    <a:p>
                      <a:r>
                        <a:rPr sz="1800" b="0">
                          <a:solidFill>
                            <a:srgbClr val="172F3C"/>
                          </a:solidFill>
                          <a:latin typeface="DejaVu Sans"/>
                          <a:ea typeface="DejaVu Sans"/>
                          <a:cs typeface="DejaVu Sans"/>
                        </a:rPr>
                        <a:t>test_vigilancia.py</a:t>
                      </a:r>
                    </a:p>
                  </a:txBody>
                  <a:tcPr marL="91440" marR="91440" marT="45720" marB="45720" anchor="ctr">
                    <a:lnL w="7620">
                      <a:solidFill>
                        <a:srgbClr val="C8D5DA"/>
                      </a:solidFill>
                      <a:prstDash val="solid"/>
                    </a:lnL>
                    <a:lnR w="7620">
                      <a:solidFill>
                        <a:srgbClr val="C8D5DA"/>
                      </a:solidFill>
                      <a:prstDash val="solid"/>
                    </a:lnR>
                    <a:lnB w="7620">
                      <a:solidFill>
                        <a:srgbClr val="C8D5DA"/>
                      </a:solidFill>
                      <a:prstDash val="solid"/>
                    </a:lnB>
                    <a:solidFill>
                      <a:srgbClr val="FFFFFF"/>
                    </a:solidFill>
                  </a:tcPr>
                </a:tc>
                <a:tc>
                  <a:txBody>
                    <a:bodyPr wrap="square" lIns="114300" tIns="47625" rIns="114300" bIns="47625">
                      <a:noAutofit/>
                    </a:bodyPr>
                    <a:lstStyle/>
                    <a:p>
                      <a:r>
                        <a:rPr sz="1800" b="0">
                          <a:solidFill>
                            <a:srgbClr val="172F3C"/>
                          </a:solidFill>
                          <a:latin typeface="DejaVu Sans"/>
                          <a:ea typeface="DejaVu Sans"/>
                          <a:cs typeface="DejaVu Sans"/>
                        </a:rPr>
                        <a:t>Ruido, cámaras, persecución y captura.</a:t>
                      </a:r>
                    </a:p>
                  </a:txBody>
                  <a:tcPr marL="91440" marR="91440" marT="45720" marB="45720" anchor="ctr">
                    <a:lnR w="7620">
                      <a:solidFill>
                        <a:srgbClr val="C8D5DA"/>
                      </a:solidFill>
                      <a:prstDash val="solid"/>
                    </a:lnR>
                    <a:lnB w="7620">
                      <a:solidFill>
                        <a:srgbClr val="C8D5DA"/>
                      </a:solidFill>
                      <a:prstDash val="solid"/>
                    </a:lnB>
                    <a:solidFill>
                      <a:srgbClr val="FFFFFF"/>
                    </a:solidFill>
                  </a:tcPr>
                </a:tc>
              </a:tr>
              <a:tr h="515938">
                <a:tc>
                  <a:txBody>
                    <a:bodyPr wrap="square" lIns="114300" tIns="47625" rIns="114300" bIns="47625">
                      <a:noAutofit/>
                    </a:bodyPr>
                    <a:lstStyle/>
                    <a:p>
                      <a:r>
                        <a:rPr sz="1800" b="0">
                          <a:solidFill>
                            <a:srgbClr val="172F3C"/>
                          </a:solidFill>
                          <a:latin typeface="DejaVu Sans"/>
                          <a:ea typeface="DejaVu Sans"/>
                          <a:cs typeface="DejaVu Sans"/>
                        </a:rPr>
                        <a:t>test_campana.py</a:t>
                      </a:r>
                    </a:p>
                  </a:txBody>
                  <a:tcPr marL="91440" marR="91440" marT="45720" marB="45720" anchor="ctr">
                    <a:lnL w="7620">
                      <a:solidFill>
                        <a:srgbClr val="C8D5DA"/>
                      </a:solidFill>
                      <a:prstDash val="solid"/>
                    </a:lnL>
                    <a:lnR w="7620">
                      <a:solidFill>
                        <a:srgbClr val="C8D5DA"/>
                      </a:solidFill>
                      <a:prstDash val="solid"/>
                    </a:lnR>
                    <a:lnB w="7620">
                      <a:solidFill>
                        <a:srgbClr val="C8D5DA"/>
                      </a:solidFill>
                      <a:prstDash val="solid"/>
                    </a:lnB>
                    <a:solidFill>
                      <a:srgbClr val="FFFFFF"/>
                    </a:solidFill>
                  </a:tcPr>
                </a:tc>
                <a:tc>
                  <a:txBody>
                    <a:bodyPr wrap="square" lIns="114300" tIns="47625" rIns="114300" bIns="47625">
                      <a:noAutofit/>
                    </a:bodyPr>
                    <a:lstStyle/>
                    <a:p>
                      <a:r>
                        <a:rPr sz="1800" b="0">
                          <a:solidFill>
                            <a:srgbClr val="172F3C"/>
                          </a:solidFill>
                          <a:latin typeface="DejaVu Sans"/>
                          <a:ea typeface="DejaVu Sans"/>
                          <a:cs typeface="DejaVu Sans"/>
                        </a:rPr>
                        <a:t>Niveles, proyectiles, capas del jefe y victoria.</a:t>
                      </a:r>
                    </a:p>
                  </a:txBody>
                  <a:tcPr marL="91440" marR="91440" marT="45720" marB="45720" anchor="ctr">
                    <a:lnR w="7620">
                      <a:solidFill>
                        <a:srgbClr val="C8D5DA"/>
                      </a:solidFill>
                      <a:prstDash val="solid"/>
                    </a:lnR>
                    <a:lnB w="7620">
                      <a:solidFill>
                        <a:srgbClr val="C8D5DA"/>
                      </a:solidFill>
                      <a:prstDash val="solid"/>
                    </a:lnB>
                    <a:solidFill>
                      <a:srgbClr val="FFFFFF"/>
                    </a:solidFill>
                  </a:tcPr>
                </a:tc>
              </a:tr>
              <a:tr h="515938">
                <a:tc>
                  <a:txBody>
                    <a:bodyPr wrap="square" lIns="114300" tIns="47625" rIns="114300" bIns="47625">
                      <a:noAutofit/>
                    </a:bodyPr>
                    <a:lstStyle/>
                    <a:p>
                      <a:r>
                        <a:rPr sz="1800" b="0">
                          <a:solidFill>
                            <a:srgbClr val="172F3C"/>
                          </a:solidFill>
                          <a:latin typeface="DejaVu Sans"/>
                          <a:ea typeface="DejaVu Sans"/>
                          <a:cs typeface="DejaVu Sans"/>
                        </a:rPr>
                        <a:t>test_documentacion.py</a:t>
                      </a:r>
                    </a:p>
                  </a:txBody>
                  <a:tcPr marL="91440" marR="91440" marT="45720" marB="45720" anchor="ctr">
                    <a:lnL w="7620">
                      <a:solidFill>
                        <a:srgbClr val="C8D5DA"/>
                      </a:solidFill>
                      <a:prstDash val="solid"/>
                    </a:lnL>
                    <a:lnR w="7620">
                      <a:solidFill>
                        <a:srgbClr val="C8D5DA"/>
                      </a:solidFill>
                      <a:prstDash val="solid"/>
                    </a:lnR>
                    <a:lnB w="7620">
                      <a:solidFill>
                        <a:srgbClr val="C8D5DA"/>
                      </a:solidFill>
                      <a:prstDash val="solid"/>
                    </a:lnB>
                    <a:solidFill>
                      <a:srgbClr val="FFFFFF"/>
                    </a:solidFill>
                  </a:tcPr>
                </a:tc>
                <a:tc>
                  <a:txBody>
                    <a:bodyPr wrap="square" lIns="114300" tIns="47625" rIns="114300" bIns="47625">
                      <a:noAutofit/>
                    </a:bodyPr>
                    <a:lstStyle/>
                    <a:p>
                      <a:r>
                        <a:rPr sz="1800" b="0">
                          <a:solidFill>
                            <a:srgbClr val="172F3C"/>
                          </a:solidFill>
                          <a:latin typeface="DejaVu Sans"/>
                          <a:ea typeface="DejaVu Sans"/>
                          <a:cs typeface="DejaVu Sans"/>
                        </a:rPr>
                        <a:t>Correspondencia del código con el UML y la guía.</a:t>
                      </a:r>
                    </a:p>
                  </a:txBody>
                  <a:tcPr marL="91440" marR="91440" marT="45720" marB="45720" anchor="ctr">
                    <a:lnR w="7620">
                      <a:solidFill>
                        <a:srgbClr val="C8D5DA"/>
                      </a:solidFill>
                      <a:prstDash val="solid"/>
                    </a:lnR>
                    <a:lnB w="7620">
                      <a:solidFill>
                        <a:srgbClr val="C8D5DA"/>
                      </a:solidFill>
                      <a:prstDash val="solid"/>
                    </a:lnB>
                    <a:solidFill>
                      <a:srgbClr val="FFFFFF"/>
                    </a:solidFill>
                  </a:tcPr>
                </a:tc>
              </a:tr>
            </a:tbl>
          </a:graphicData>
        </a:graphic>
      </p:graphicFrame>
      <p:sp>
        <p:nvSpPr>
          <p:cNvPr id="13" name="">
            <a:extLst xmlns:a="http://schemas.openxmlformats.org/drawingml/2006/main">
              <a:ext uri="{FF2B5EF4-FFF2-40B4-BE49-F238E27FC236}">
                <a16:creationId xmlns:a16="http://schemas.microsoft.com/office/drawing/2014/main" id="{296FD76E-78BA-4C5D-BD0F-D3BA6816153E}"/>
              </a:ext>
            </a:extLst>
          </p:cNvPr>
          <p:cNvSpPr>
            <a:spLocks xmlns:a="http://schemas.openxmlformats.org/drawingml/2006/main" noGrp="1"/>
          </p:cNvSpPr>
          <p:nvPr/>
        </p:nvSpPr>
        <p:spPr>
          <a:xfrm xmlns:a="http://schemas.openxmlformats.org/drawingml/2006/main">
            <a:off x="609600" y="585787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6735D"/>
                </a:solidFill>
                <a:latin typeface="DejaVu Sans"/>
                <a:ea typeface="DejaVu Sans"/>
                <a:cs typeface="DejaVu Sans"/>
              </a:defRPr>
            </a:defPPr>
          </a:lstStyle>
          <a:p xmlns:a="http://schemas.openxmlformats.org/drawingml/2006/main">
            <a:pPr algn="l">
              <a:defRPr sz="1875" b="1">
                <a:solidFill>
                  <a:srgbClr val="16735D"/>
                </a:solidFill>
                <a:latin typeface="DejaVu Sans"/>
                <a:ea typeface="DejaVu Sans"/>
                <a:cs typeface="DejaVu Sans"/>
              </a:defRPr>
            </a:pPr>
            <a:r>
              <a:rPr sz="1875" b="1">
                <a:solidFill>
                  <a:srgbClr val="16735D"/>
                </a:solidFill>
                <a:latin typeface="DejaVu Sans"/>
                <a:ea typeface="DejaVu Sans"/>
                <a:cs typeface="DejaVu Sans"/>
              </a:rPr>
              <a:t>Resultado de la revisión: 54 pruebas aprobadas.</a:t>
            </a:r>
          </a:p>
        </p:txBody>
      </p:sp>
    </p:spTree>
    <p:extLst>
      <p:ext uri="{BB962C8B-B14F-4D97-AF65-F5344CB8AC3E}">
        <p14:creationId xmlns:p14="http://schemas.microsoft.com/office/powerpoint/2010/main" val="1632482957"/>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partado-rubrica">
            <a:extLst xmlns:a="http://schemas.openxmlformats.org/drawingml/2006/main">
              <a:ext uri="{FF2B5EF4-FFF2-40B4-BE49-F238E27FC236}">
                <a16:creationId xmlns:a16="http://schemas.microsoft.com/office/drawing/2014/main" id="{DA9BE330-7799-4431-8E20-F06A17D223E6}"/>
              </a:ext>
            </a:extLst>
          </p:cNvPr>
          <p:cNvSpPr>
            <a:spLocks xmlns:a="http://schemas.openxmlformats.org/drawingml/2006/main" noGrp="1"/>
          </p:cNvSpPr>
          <p:nvPr/>
        </p:nvSpPr>
        <p:spPr>
          <a:xfrm xmlns:a="http://schemas.openxmlformats.org/drawingml/2006/main">
            <a:off x="609600" y="285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6735D"/>
                </a:solidFill>
                <a:latin typeface="DejaVu Sans"/>
                <a:ea typeface="DejaVu Sans"/>
                <a:cs typeface="DejaVu Sans"/>
              </a:defRPr>
            </a:defPPr>
          </a:lstStyle>
          <a:p xmlns:a="http://schemas.openxmlformats.org/drawingml/2006/main">
            <a:pPr algn="l">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Cierre. Ejemplos del código de pruebas</a:t>
            </a:r>
          </a:p>
        </p:txBody>
      </p:sp>
      <p:sp>
        <p:nvSpPr>
          <p:cNvPr id="2" name="titulo">
            <a:extLst xmlns:a="http://schemas.openxmlformats.org/drawingml/2006/main">
              <a:ext uri="{FF2B5EF4-FFF2-40B4-BE49-F238E27FC236}">
                <a16:creationId xmlns:a16="http://schemas.microsoft.com/office/drawing/2014/main" id="{DDB512D1-B8D6-4CB2-8B0F-BE65B03E7F9B}"/>
              </a:ext>
            </a:extLst>
          </p:cNvPr>
          <p:cNvSpPr>
            <a:spLocks xmlns:a="http://schemas.openxmlformats.org/drawingml/2006/main" noGrp="1"/>
          </p:cNvSpPr>
          <p:nvPr/>
        </p:nvSpPr>
        <p:spPr>
          <a:xfrm xmlns:a="http://schemas.openxmlformats.org/drawingml/2006/main">
            <a:off x="609600" y="790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72F3C"/>
                </a:solidFill>
                <a:latin typeface="DejaVu Sans"/>
                <a:ea typeface="DejaVu Sans"/>
                <a:cs typeface="DejaVu Sans"/>
              </a:defRPr>
            </a:defPPr>
          </a:lstStyle>
          <a:p xmlns:a="http://schemas.openxmlformats.org/drawingml/2006/main">
            <a:pPr algn="l">
              <a:buNone/>
              <a:defRPr sz="3150" b="1">
                <a:solidFill>
                  <a:srgbClr val="172F3C"/>
                </a:solidFill>
                <a:latin typeface="DejaVu Sans"/>
                <a:ea typeface="DejaVu Sans"/>
                <a:cs typeface="DejaVu Sans"/>
              </a:defRPr>
            </a:pPr>
            <a:r>
              <a:rPr sz="3150" b="1">
                <a:solidFill>
                  <a:srgbClr val="172F3C"/>
                </a:solidFill>
                <a:latin typeface="DejaVu Sans"/>
                <a:ea typeface="DejaVu Sans"/>
                <a:cs typeface="DejaVu Sans"/>
              </a:rPr>
              <a:t>Pruebas de paredes y puntaje</a:t>
            </a:r>
          </a:p>
        </p:txBody>
      </p:sp>
      <p:sp>
        <p:nvSpPr>
          <p:cNvPr id="3" name="numero">
            <a:extLst xmlns:a="http://schemas.openxmlformats.org/drawingml/2006/main">
              <a:ext uri="{FF2B5EF4-FFF2-40B4-BE49-F238E27FC236}">
                <a16:creationId xmlns:a16="http://schemas.microsoft.com/office/drawing/2014/main" id="{FA76EAA5-D037-4751-840F-4D3BF10D514E}"/>
              </a:ext>
            </a:extLst>
          </p:cNvPr>
          <p:cNvSpPr>
            <a:spLocks xmlns:a="http://schemas.openxmlformats.org/drawingml/2006/main" noGrp="1"/>
          </p:cNvSpPr>
          <p:nvPr/>
        </p:nvSpPr>
        <p:spPr>
          <a:xfrm xmlns:a="http://schemas.openxmlformats.org/drawingml/2006/main">
            <a:off x="11210925" y="64770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526773"/>
                </a:solidFill>
                <a:latin typeface="DejaVu Sans"/>
                <a:ea typeface="DejaVu Sans"/>
                <a:cs typeface="DejaVu Sans"/>
              </a:defRPr>
            </a:defPPr>
          </a:lstStyle>
          <a:p xmlns:a="http://schemas.openxmlformats.org/drawingml/2006/main">
            <a:pPr algn="l">
              <a:buNone/>
              <a:defRPr sz="1050" b="0">
                <a:solidFill>
                  <a:srgbClr val="526773"/>
                </a:solidFill>
                <a:latin typeface="DejaVu Sans"/>
                <a:ea typeface="DejaVu Sans"/>
                <a:cs typeface="DejaVu Sans"/>
              </a:defRPr>
            </a:pPr>
            <a:r>
              <a:rPr sz="1050" b="0">
                <a:solidFill>
                  <a:srgbClr val="526773"/>
                </a:solidFill>
                <a:latin typeface="DejaVu Sans"/>
                <a:ea typeface="DejaVu Sans"/>
                <a:cs typeface="DejaVu Sans"/>
              </a:rPr>
              <a:t>39</a:t>
            </a:r>
          </a:p>
        </p:txBody>
      </p:sp>
      <p:sp>
        <p:nvSpPr>
          <p:cNvPr id="11" name="">
            <a:extLst xmlns:a="http://schemas.openxmlformats.org/drawingml/2006/main">
              <a:ext uri="{FF2B5EF4-FFF2-40B4-BE49-F238E27FC236}">
                <a16:creationId xmlns:a16="http://schemas.microsoft.com/office/drawing/2014/main" id="{9E579744-FDDA-40AC-8CD3-67831B5227F8}"/>
              </a:ext>
            </a:extLst>
          </p:cNvPr>
          <p:cNvSpPr>
            <a:spLocks xmlns:a="http://schemas.openxmlformats.org/drawingml/2006/main" noGrp="1"/>
          </p:cNvSpPr>
          <p:nvPr/>
        </p:nvSpPr>
        <p:spPr>
          <a:xfrm xmlns:a="http://schemas.openxmlformats.org/drawingml/2006/main">
            <a:off x="609600" y="205740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6735D"/>
                </a:solidFill>
                <a:latin typeface="DejaVu Sans"/>
                <a:ea typeface="DejaVu Sans"/>
                <a:cs typeface="DejaVu Sans"/>
              </a:defRPr>
            </a:defPPr>
          </a:lstStyle>
          <a:p xmlns:a="http://schemas.openxmlformats.org/drawingml/2006/main">
            <a:pPr algn="l">
              <a:defRPr sz="2025" b="1">
                <a:solidFill>
                  <a:srgbClr val="16735D"/>
                </a:solidFill>
                <a:latin typeface="DejaVu Sans"/>
                <a:ea typeface="DejaVu Sans"/>
                <a:cs typeface="DejaVu Sans"/>
              </a:defRPr>
            </a:pPr>
            <a:r>
              <a:rPr sz="2025" b="1">
                <a:solidFill>
                  <a:srgbClr val="16735D"/>
                </a:solidFill>
                <a:latin typeface="DejaVu Sans"/>
                <a:ea typeface="DejaVu Sans"/>
                <a:cs typeface="DejaVu Sans"/>
              </a:rPr>
              <a:t>Colisión con una pared</a:t>
            </a:r>
          </a:p>
        </p:txBody>
      </p:sp>
      <p:sp>
        <p:nvSpPr>
          <p:cNvPr id="12" name="">
            <a:extLst xmlns:a="http://schemas.openxmlformats.org/drawingml/2006/main">
              <a:ext uri="{FF2B5EF4-FFF2-40B4-BE49-F238E27FC236}">
                <a16:creationId xmlns:a16="http://schemas.microsoft.com/office/drawing/2014/main" id="{9950093B-3FE2-4FCA-8625-DE434C4A4D13}"/>
              </a:ext>
            </a:extLst>
          </p:cNvPr>
          <p:cNvSpPr>
            <a:spLocks xmlns:a="http://schemas.openxmlformats.org/drawingml/2006/main" noGrp="1"/>
          </p:cNvSpPr>
          <p:nvPr/>
        </p:nvSpPr>
        <p:spPr>
          <a:xfrm xmlns:a="http://schemas.openxmlformats.org/drawingml/2006/main">
            <a:off x="609600" y="26479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F3C"/>
                </a:solidFill>
                <a:latin typeface="DejaVu Sans"/>
                <a:ea typeface="DejaVu Sans"/>
                <a:cs typeface="DejaVu Sans"/>
              </a:defRPr>
            </a:defPPr>
          </a:lstStyle>
          <a:p xmlns:a="http://schemas.openxmlformats.org/drawingml/2006/main">
            <a:pPr algn="l">
              <a:defRPr sz="1875" b="0">
                <a:solidFill>
                  <a:srgbClr val="172F3C"/>
                </a:solidFill>
                <a:latin typeface="DejaVu Sans"/>
                <a:ea typeface="DejaVu Sans"/>
                <a:cs typeface="DejaVu Sans"/>
              </a:defRPr>
            </a:pPr>
            <a:r>
              <a:rPr sz="1875" b="0">
                <a:solidFill>
                  <a:srgbClr val="172F3C"/>
                </a:solidFill>
                <a:latin typeface="DejaVu Sans"/>
                <a:ea typeface="DejaVu Sans"/>
                <a:cs typeface="DejaVu Sans"/>
              </a:rPr>
              <a:t>El escenario intenta mover al jugador 1000 píxeles hacia una pared.</a:t>
            </a:r>
          </a:p>
        </p:txBody>
      </p:sp>
      <p:sp>
        <p:nvSpPr>
          <p:cNvPr id="13" name="">
            <a:extLst xmlns:a="http://schemas.openxmlformats.org/drawingml/2006/main">
              <a:ext uri="{FF2B5EF4-FFF2-40B4-BE49-F238E27FC236}">
                <a16:creationId xmlns:a16="http://schemas.microsoft.com/office/drawing/2014/main" id="{741F7BD1-0CD2-40A0-AEBC-B8624E9B4D0D}"/>
              </a:ext>
            </a:extLst>
          </p:cNvPr>
          <p:cNvSpPr>
            <a:spLocks xmlns:a="http://schemas.openxmlformats.org/drawingml/2006/main" noGrp="1"/>
          </p:cNvSpPr>
          <p:nvPr/>
        </p:nvSpPr>
        <p:spPr>
          <a:xfrm xmlns:a="http://schemas.openxmlformats.org/drawingml/2006/main">
            <a:off x="609600" y="3800475"/>
            <a:ext cx="5238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72F3C"/>
                </a:solidFill>
                <a:latin typeface="DejaVu Sans Mono"/>
                <a:ea typeface="DejaVu Sans Mono"/>
                <a:cs typeface="DejaVu Sans Mono"/>
              </a:defRPr>
            </a:defPPr>
          </a:lstStyle>
          <a:p xmlns:a="http://schemas.openxmlformats.org/drawingml/2006/main">
            <a:pPr algn="l">
              <a:defRPr sz="1650" b="0">
                <a:solidFill>
                  <a:srgbClr val="172F3C"/>
                </a:solidFill>
                <a:latin typeface="DejaVu Sans Mono"/>
                <a:ea typeface="DejaVu Sans Mono"/>
                <a:cs typeface="DejaVu Sans Mono"/>
              </a:defRPr>
            </a:pPr>
            <a:r>
              <a:rPr sz="1650" b="0">
                <a:solidFill>
                  <a:srgbClr val="172F3C"/>
                </a:solidFill>
                <a:latin typeface="DejaVu Sans Mono"/>
                <a:ea typeface="DejaVu Sans Mono"/>
                <a:cs typeface="DejaVu Sans Mono"/>
              </a:rPr>
              <a:t>jugador = self.juego.nivel.prisionero</a:t>
            </a:r>
          </a:p>
          <a:p xmlns:a="http://schemas.openxmlformats.org/drawingml/2006/main">
            <a:pPr algn="l">
              <a:defRPr sz="1650" b="0">
                <a:solidFill>
                  <a:srgbClr val="172F3C"/>
                </a:solidFill>
                <a:latin typeface="DejaVu Sans Mono"/>
                <a:ea typeface="DejaVu Sans Mono"/>
                <a:cs typeface="DejaVu Sans Mono"/>
              </a:defRPr>
            </a:pPr>
            <a:r>
              <a:rPr sz="1650" b="0">
                <a:solidFill>
                  <a:srgbClr val="172F3C"/>
                </a:solidFill>
                <a:latin typeface="DejaVu Sans Mono"/>
                <a:ea typeface="DejaVu Sans Mono"/>
                <a:cs typeface="DejaVu Sans Mono"/>
              </a:rPr>
              <a:t>jugador.mover(1000, 0)</a:t>
            </a:r>
          </a:p>
          <a:p xmlns:a="http://schemas.openxmlformats.org/drawingml/2006/main">
            <a:pPr algn="l">
              <a:defRPr sz="1650" b="0">
                <a:solidFill>
                  <a:srgbClr val="172F3C"/>
                </a:solidFill>
                <a:latin typeface="DejaVu Sans Mono"/>
                <a:ea typeface="DejaVu Sans Mono"/>
                <a:cs typeface="DejaVu Sans Mono"/>
              </a:defRPr>
            </a:pPr>
            <a:r>
              <a:rPr sz="1650" b="0">
                <a:solidFill>
                  <a:srgbClr val="172F3C"/>
                </a:solidFill>
                <a:latin typeface="DejaVu Sans Mono"/>
                <a:ea typeface="DejaVu Sans Mono"/>
                <a:cs typeface="DejaVu Sans Mono"/>
              </a:rPr>
              <a:t>self.assertEqual(</a:t>
            </a:r>
          </a:p>
          <a:p xmlns:a="http://schemas.openxmlformats.org/drawingml/2006/main">
            <a:pPr algn="l">
              <a:defRPr sz="1650" b="0">
                <a:solidFill>
                  <a:srgbClr val="172F3C"/>
                </a:solidFill>
                <a:latin typeface="DejaVu Sans Mono"/>
                <a:ea typeface="DejaVu Sans Mono"/>
                <a:cs typeface="DejaVu Sans Mono"/>
              </a:defRPr>
            </a:pPr>
            <a:r>
              <a:rPr sz="1650" b="0">
                <a:solidFill>
                  <a:srgbClr val="172F3C"/>
                </a:solidFill>
                <a:latin typeface="DejaVu Sans Mono"/>
                <a:ea typeface="DejaVu Sans Mono"/>
                <a:cs typeface="DejaVu Sans Mono"/>
              </a:rPr>
              <a:t>    jugador.get_posicion()[0],</a:t>
            </a:r>
          </a:p>
          <a:p xmlns:a="http://schemas.openxmlformats.org/drawingml/2006/main">
            <a:pPr algn="l">
              <a:defRPr sz="1650" b="0">
                <a:solidFill>
                  <a:srgbClr val="172F3C"/>
                </a:solidFill>
                <a:latin typeface="DejaVu Sans Mono"/>
                <a:ea typeface="DejaVu Sans Mono"/>
                <a:cs typeface="DejaVu Sans Mono"/>
              </a:defRPr>
            </a:pPr>
            <a:r>
              <a:rPr sz="1650" b="0">
                <a:solidFill>
                  <a:srgbClr val="172F3C"/>
                </a:solidFill>
                <a:latin typeface="DejaVu Sans Mono"/>
                <a:ea typeface="DejaVu Sans Mono"/>
                <a:cs typeface="DejaVu Sans Mono"/>
              </a:rPr>
              <a:t>    4 * TAMANO - jugador.radio)</a:t>
            </a:r>
          </a:p>
        </p:txBody>
      </p:sp>
      <p:sp>
        <p:nvSpPr>
          <p:cNvPr id="14" name="">
            <a:extLst xmlns:a="http://schemas.openxmlformats.org/drawingml/2006/main">
              <a:ext uri="{FF2B5EF4-FFF2-40B4-BE49-F238E27FC236}">
                <a16:creationId xmlns:a16="http://schemas.microsoft.com/office/drawing/2014/main" id="{7395AAC8-CF41-497E-9074-6C9F891D210B}"/>
              </a:ext>
            </a:extLst>
          </p:cNvPr>
          <p:cNvSpPr>
            <a:spLocks xmlns:a="http://schemas.openxmlformats.org/drawingml/2006/main" noGrp="1"/>
          </p:cNvSpPr>
          <p:nvPr/>
        </p:nvSpPr>
        <p:spPr>
          <a:xfrm xmlns:a="http://schemas.openxmlformats.org/drawingml/2006/main">
            <a:off x="609600" y="5667375"/>
            <a:ext cx="523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3"/>
                </a:solidFill>
                <a:latin typeface="DejaVu Sans"/>
                <a:ea typeface="DejaVu Sans"/>
                <a:cs typeface="DejaVu Sans"/>
              </a:defRPr>
            </a:defPPr>
          </a:lstStyle>
          <a:p xmlns:a="http://schemas.openxmlformats.org/drawingml/2006/main">
            <a:pPr algn="l">
              <a:defRPr sz="1725" b="0">
                <a:solidFill>
                  <a:srgbClr val="526773"/>
                </a:solidFill>
                <a:latin typeface="DejaVu Sans"/>
                <a:ea typeface="DejaVu Sans"/>
                <a:cs typeface="DejaVu Sans"/>
              </a:defRPr>
            </a:pPr>
            <a:r>
              <a:rPr sz="1725" b="0">
                <a:solidFill>
                  <a:srgbClr val="526773"/>
                </a:solidFill>
                <a:latin typeface="DejaVu Sans"/>
                <a:ea typeface="DejaVu Sans"/>
                <a:cs typeface="DejaVu Sans"/>
              </a:rPr>
              <a:t>La posición debe detenerse antes de atravesar la puerta cerrada.</a:t>
            </a:r>
          </a:p>
        </p:txBody>
      </p:sp>
      <p:sp>
        <p:nvSpPr>
          <p:cNvPr id="15" name="">
            <a:extLst xmlns:a="http://schemas.openxmlformats.org/drawingml/2006/main">
              <a:ext uri="{FF2B5EF4-FFF2-40B4-BE49-F238E27FC236}">
                <a16:creationId xmlns:a16="http://schemas.microsoft.com/office/drawing/2014/main" id="{8F6F49E8-E568-4384-ABB3-97745A9354DC}"/>
              </a:ext>
            </a:extLst>
          </p:cNvPr>
          <p:cNvSpPr>
            <a:spLocks xmlns:a="http://schemas.openxmlformats.org/drawingml/2006/main" noGrp="1"/>
          </p:cNvSpPr>
          <p:nvPr/>
        </p:nvSpPr>
        <p:spPr>
          <a:xfrm xmlns:a="http://schemas.openxmlformats.org/drawingml/2006/main">
            <a:off x="6324600" y="205740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6735D"/>
                </a:solidFill>
                <a:latin typeface="DejaVu Sans"/>
                <a:ea typeface="DejaVu Sans"/>
                <a:cs typeface="DejaVu Sans"/>
              </a:defRPr>
            </a:defPPr>
          </a:lstStyle>
          <a:p xmlns:a="http://schemas.openxmlformats.org/drawingml/2006/main">
            <a:pPr algn="l">
              <a:defRPr sz="2025" b="1">
                <a:solidFill>
                  <a:srgbClr val="16735D"/>
                </a:solidFill>
                <a:latin typeface="DejaVu Sans"/>
                <a:ea typeface="DejaVu Sans"/>
                <a:cs typeface="DejaVu Sans"/>
              </a:defRPr>
            </a:pPr>
            <a:r>
              <a:rPr sz="2025" b="1">
                <a:solidFill>
                  <a:srgbClr val="16735D"/>
                </a:solidFill>
                <a:latin typeface="DejaVu Sans"/>
                <a:ea typeface="DejaVu Sans"/>
                <a:cs typeface="DejaVu Sans"/>
              </a:rPr>
              <a:t>Puntaje inválido</a:t>
            </a:r>
          </a:p>
        </p:txBody>
      </p:sp>
      <p:sp>
        <p:nvSpPr>
          <p:cNvPr id="16" name="">
            <a:extLst xmlns:a="http://schemas.openxmlformats.org/drawingml/2006/main">
              <a:ext uri="{FF2B5EF4-FFF2-40B4-BE49-F238E27FC236}">
                <a16:creationId xmlns:a16="http://schemas.microsoft.com/office/drawing/2014/main" id="{2E7F5C34-19F3-4114-B569-AE104C362822}"/>
              </a:ext>
            </a:extLst>
          </p:cNvPr>
          <p:cNvSpPr>
            <a:spLocks xmlns:a="http://schemas.openxmlformats.org/drawingml/2006/main" noGrp="1"/>
          </p:cNvSpPr>
          <p:nvPr/>
        </p:nvSpPr>
        <p:spPr>
          <a:xfrm xmlns:a="http://schemas.openxmlformats.org/drawingml/2006/main">
            <a:off x="6324600" y="26479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F3C"/>
                </a:solidFill>
                <a:latin typeface="DejaVu Sans"/>
                <a:ea typeface="DejaVu Sans"/>
                <a:cs typeface="DejaVu Sans"/>
              </a:defRPr>
            </a:defPPr>
          </a:lstStyle>
          <a:p xmlns:a="http://schemas.openxmlformats.org/drawingml/2006/main">
            <a:pPr algn="l">
              <a:defRPr sz="1875" b="0">
                <a:solidFill>
                  <a:srgbClr val="172F3C"/>
                </a:solidFill>
                <a:latin typeface="DejaVu Sans"/>
                <a:ea typeface="DejaVu Sans"/>
                <a:cs typeface="DejaVu Sans"/>
              </a:defRPr>
            </a:pPr>
            <a:r>
              <a:rPr sz="1875" b="0">
                <a:solidFill>
                  <a:srgbClr val="172F3C"/>
                </a:solidFill>
                <a:latin typeface="DejaVu Sans"/>
                <a:ea typeface="DejaVu Sans"/>
                <a:cs typeface="DejaVu Sans"/>
              </a:rPr>
              <a:t>La prueba entrega valores que el puntaje debe rechazar.</a:t>
            </a:r>
          </a:p>
        </p:txBody>
      </p:sp>
      <p:sp>
        <p:nvSpPr>
          <p:cNvPr id="17" name="">
            <a:extLst xmlns:a="http://schemas.openxmlformats.org/drawingml/2006/main">
              <a:ext uri="{FF2B5EF4-FFF2-40B4-BE49-F238E27FC236}">
                <a16:creationId xmlns:a16="http://schemas.microsoft.com/office/drawing/2014/main" id="{54D957E5-91B8-4A61-93D2-DC69AD8FCDA3}"/>
              </a:ext>
            </a:extLst>
          </p:cNvPr>
          <p:cNvSpPr>
            <a:spLocks xmlns:a="http://schemas.openxmlformats.org/drawingml/2006/main" noGrp="1"/>
          </p:cNvSpPr>
          <p:nvPr/>
        </p:nvSpPr>
        <p:spPr>
          <a:xfrm xmlns:a="http://schemas.openxmlformats.org/drawingml/2006/main">
            <a:off x="6324600" y="3800475"/>
            <a:ext cx="5238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72F3C"/>
                </a:solidFill>
                <a:latin typeface="DejaVu Sans Mono"/>
                <a:ea typeface="DejaVu Sans Mono"/>
                <a:cs typeface="DejaVu Sans Mono"/>
              </a:defRPr>
            </a:defPPr>
          </a:lstStyle>
          <a:p xmlns:a="http://schemas.openxmlformats.org/drawingml/2006/main">
            <a:pPr algn="l">
              <a:defRPr sz="1650" b="0">
                <a:solidFill>
                  <a:srgbClr val="172F3C"/>
                </a:solidFill>
                <a:latin typeface="DejaVu Sans Mono"/>
                <a:ea typeface="DejaVu Sans Mono"/>
                <a:cs typeface="DejaVu Sans Mono"/>
              </a:defRPr>
            </a:pPr>
            <a:r>
              <a:rPr sz="1650" b="0">
                <a:solidFill>
                  <a:srgbClr val="172F3C"/>
                </a:solidFill>
                <a:latin typeface="DejaVu Sans Mono"/>
                <a:ea typeface="DejaVu Sans Mono"/>
                <a:cs typeface="DejaVu Sans Mono"/>
              </a:rPr>
              <a:t>for valor in [-1, 1.5, True, "100"]:</a:t>
            </a:r>
          </a:p>
          <a:p xmlns:a="http://schemas.openxmlformats.org/drawingml/2006/main">
            <a:pPr algn="l">
              <a:defRPr sz="1650" b="0">
                <a:solidFill>
                  <a:srgbClr val="172F3C"/>
                </a:solidFill>
                <a:latin typeface="DejaVu Sans Mono"/>
                <a:ea typeface="DejaVu Sans Mono"/>
                <a:cs typeface="DejaVu Sans Mono"/>
              </a:defRPr>
            </a:pPr>
            <a:r>
              <a:rPr sz="1650" b="0">
                <a:solidFill>
                  <a:srgbClr val="172F3C"/>
                </a:solidFill>
                <a:latin typeface="DejaVu Sans Mono"/>
                <a:ea typeface="DejaVu Sans Mono"/>
                <a:cs typeface="DejaVu Sans Mono"/>
              </a:rPr>
              <a:t>    with self.assertRaises(ValueError):</a:t>
            </a:r>
          </a:p>
          <a:p xmlns:a="http://schemas.openxmlformats.org/drawingml/2006/main">
            <a:pPr algn="l">
              <a:defRPr sz="1650" b="0">
                <a:solidFill>
                  <a:srgbClr val="172F3C"/>
                </a:solidFill>
                <a:latin typeface="DejaVu Sans Mono"/>
                <a:ea typeface="DejaVu Sans Mono"/>
                <a:cs typeface="DejaVu Sans Mono"/>
              </a:defRPr>
            </a:pPr>
            <a:r>
              <a:rPr sz="1650" b="0">
                <a:solidFill>
                  <a:srgbClr val="172F3C"/>
                </a:solidFill>
                <a:latin typeface="DejaVu Sans Mono"/>
                <a:ea typeface="DejaVu Sans Mono"/>
                <a:cs typeface="DejaVu Sans Mono"/>
              </a:rPr>
              <a:t>        self.juego.puntaje.set_valor(</a:t>
            </a:r>
          </a:p>
          <a:p xmlns:a="http://schemas.openxmlformats.org/drawingml/2006/main">
            <a:pPr algn="l">
              <a:defRPr sz="1650" b="0">
                <a:solidFill>
                  <a:srgbClr val="172F3C"/>
                </a:solidFill>
                <a:latin typeface="DejaVu Sans Mono"/>
                <a:ea typeface="DejaVu Sans Mono"/>
                <a:cs typeface="DejaVu Sans Mono"/>
              </a:defRPr>
            </a:pPr>
            <a:r>
              <a:rPr sz="1650" b="0">
                <a:solidFill>
                  <a:srgbClr val="172F3C"/>
                </a:solidFill>
                <a:latin typeface="DejaVu Sans Mono"/>
                <a:ea typeface="DejaVu Sans Mono"/>
                <a:cs typeface="DejaVu Sans Mono"/>
              </a:rPr>
              <a:t>            valor)</a:t>
            </a:r>
          </a:p>
        </p:txBody>
      </p:sp>
      <p:sp>
        <p:nvSpPr>
          <p:cNvPr id="18" name="">
            <a:extLst xmlns:a="http://schemas.openxmlformats.org/drawingml/2006/main">
              <a:ext uri="{FF2B5EF4-FFF2-40B4-BE49-F238E27FC236}">
                <a16:creationId xmlns:a16="http://schemas.microsoft.com/office/drawing/2014/main" id="{4CD040FF-0762-4BB2-B307-5FF5FFFF6D18}"/>
              </a:ext>
            </a:extLst>
          </p:cNvPr>
          <p:cNvSpPr>
            <a:spLocks xmlns:a="http://schemas.openxmlformats.org/drawingml/2006/main" noGrp="1"/>
          </p:cNvSpPr>
          <p:nvPr/>
        </p:nvSpPr>
        <p:spPr>
          <a:xfrm xmlns:a="http://schemas.openxmlformats.org/drawingml/2006/main">
            <a:off x="6324600" y="5667375"/>
            <a:ext cx="523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3"/>
                </a:solidFill>
                <a:latin typeface="DejaVu Sans"/>
                <a:ea typeface="DejaVu Sans"/>
                <a:cs typeface="DejaVu Sans"/>
              </a:defRPr>
            </a:defPPr>
          </a:lstStyle>
          <a:p xmlns:a="http://schemas.openxmlformats.org/drawingml/2006/main">
            <a:pPr algn="l">
              <a:defRPr sz="1725" b="0">
                <a:solidFill>
                  <a:srgbClr val="526773"/>
                </a:solidFill>
                <a:latin typeface="DejaVu Sans"/>
                <a:ea typeface="DejaVu Sans"/>
                <a:cs typeface="DejaVu Sans"/>
              </a:defRPr>
            </a:pPr>
            <a:r>
              <a:rPr sz="1725" b="0">
                <a:solidFill>
                  <a:srgbClr val="526773"/>
                </a:solidFill>
                <a:latin typeface="DejaVu Sans"/>
                <a:ea typeface="DejaVu Sans"/>
                <a:cs typeface="DejaVu Sans"/>
              </a:rPr>
              <a:t>Cada entrada debe producir ValueError. El puntaje conserva un entero válido.</a:t>
            </a:r>
          </a:p>
        </p:txBody>
      </p:sp>
    </p:spTree>
    <p:extLst>
      <p:ext uri="{BB962C8B-B14F-4D97-AF65-F5344CB8AC3E}">
        <p14:creationId xmlns:p14="http://schemas.microsoft.com/office/powerpoint/2010/main" val="1632482957"/>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partado-rubrica">
            <a:extLst xmlns:a="http://schemas.openxmlformats.org/drawingml/2006/main">
              <a:ext uri="{FF2B5EF4-FFF2-40B4-BE49-F238E27FC236}">
                <a16:creationId xmlns:a16="http://schemas.microsoft.com/office/drawing/2014/main" id="{DA9BE330-7799-4431-8E20-F06A17D223E6}"/>
              </a:ext>
            </a:extLst>
          </p:cNvPr>
          <p:cNvSpPr>
            <a:spLocks xmlns:a="http://schemas.openxmlformats.org/drawingml/2006/main" noGrp="1"/>
          </p:cNvSpPr>
          <p:nvPr/>
        </p:nvSpPr>
        <p:spPr>
          <a:xfrm xmlns:a="http://schemas.openxmlformats.org/drawingml/2006/main">
            <a:off x="609600" y="285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6735D"/>
                </a:solidFill>
                <a:latin typeface="DejaVu Sans"/>
                <a:ea typeface="DejaVu Sans"/>
                <a:cs typeface="DejaVu Sans"/>
              </a:defRPr>
            </a:defPPr>
          </a:lstStyle>
          <a:p xmlns:a="http://schemas.openxmlformats.org/drawingml/2006/main">
            <a:pPr algn="l">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Cierre. Ejemplos del código de pruebas</a:t>
            </a:r>
          </a:p>
        </p:txBody>
      </p:sp>
      <p:sp>
        <p:nvSpPr>
          <p:cNvPr id="2" name="titulo">
            <a:extLst xmlns:a="http://schemas.openxmlformats.org/drawingml/2006/main">
              <a:ext uri="{FF2B5EF4-FFF2-40B4-BE49-F238E27FC236}">
                <a16:creationId xmlns:a16="http://schemas.microsoft.com/office/drawing/2014/main" id="{DDB512D1-B8D6-4CB2-8B0F-BE65B03E7F9B}"/>
              </a:ext>
            </a:extLst>
          </p:cNvPr>
          <p:cNvSpPr>
            <a:spLocks xmlns:a="http://schemas.openxmlformats.org/drawingml/2006/main" noGrp="1"/>
          </p:cNvSpPr>
          <p:nvPr/>
        </p:nvSpPr>
        <p:spPr>
          <a:xfrm xmlns:a="http://schemas.openxmlformats.org/drawingml/2006/main">
            <a:off x="609600" y="790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72F3C"/>
                </a:solidFill>
                <a:latin typeface="DejaVu Sans"/>
                <a:ea typeface="DejaVu Sans"/>
                <a:cs typeface="DejaVu Sans"/>
              </a:defRPr>
            </a:defPPr>
          </a:lstStyle>
          <a:p xmlns:a="http://schemas.openxmlformats.org/drawingml/2006/main">
            <a:pPr algn="l">
              <a:buNone/>
              <a:defRPr sz="3150" b="1">
                <a:solidFill>
                  <a:srgbClr val="172F3C"/>
                </a:solidFill>
                <a:latin typeface="DejaVu Sans"/>
                <a:ea typeface="DejaVu Sans"/>
                <a:cs typeface="DejaVu Sans"/>
              </a:defRPr>
            </a:pPr>
            <a:r>
              <a:rPr sz="3150" b="1">
                <a:solidFill>
                  <a:srgbClr val="172F3C"/>
                </a:solidFill>
                <a:latin typeface="DejaVu Sans"/>
                <a:ea typeface="DejaVu Sans"/>
                <a:cs typeface="DejaVu Sans"/>
              </a:rPr>
              <a:t>Pruebas de alarmas y capas del jefe</a:t>
            </a:r>
          </a:p>
        </p:txBody>
      </p:sp>
      <p:sp>
        <p:nvSpPr>
          <p:cNvPr id="3" name="numero">
            <a:extLst xmlns:a="http://schemas.openxmlformats.org/drawingml/2006/main">
              <a:ext uri="{FF2B5EF4-FFF2-40B4-BE49-F238E27FC236}">
                <a16:creationId xmlns:a16="http://schemas.microsoft.com/office/drawing/2014/main" id="{FA76EAA5-D037-4751-840F-4D3BF10D514E}"/>
              </a:ext>
            </a:extLst>
          </p:cNvPr>
          <p:cNvSpPr>
            <a:spLocks xmlns:a="http://schemas.openxmlformats.org/drawingml/2006/main" noGrp="1"/>
          </p:cNvSpPr>
          <p:nvPr/>
        </p:nvSpPr>
        <p:spPr>
          <a:xfrm xmlns:a="http://schemas.openxmlformats.org/drawingml/2006/main">
            <a:off x="11210925" y="64770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526773"/>
                </a:solidFill>
                <a:latin typeface="DejaVu Sans"/>
                <a:ea typeface="DejaVu Sans"/>
                <a:cs typeface="DejaVu Sans"/>
              </a:defRPr>
            </a:defPPr>
          </a:lstStyle>
          <a:p xmlns:a="http://schemas.openxmlformats.org/drawingml/2006/main">
            <a:pPr algn="l">
              <a:buNone/>
              <a:defRPr sz="1050" b="0">
                <a:solidFill>
                  <a:srgbClr val="526773"/>
                </a:solidFill>
                <a:latin typeface="DejaVu Sans"/>
                <a:ea typeface="DejaVu Sans"/>
                <a:cs typeface="DejaVu Sans"/>
              </a:defRPr>
            </a:pPr>
            <a:r>
              <a:rPr sz="1050" b="0">
                <a:solidFill>
                  <a:srgbClr val="526773"/>
                </a:solidFill>
                <a:latin typeface="DejaVu Sans"/>
                <a:ea typeface="DejaVu Sans"/>
                <a:cs typeface="DejaVu Sans"/>
              </a:rPr>
              <a:t>40</a:t>
            </a:r>
          </a:p>
        </p:txBody>
      </p:sp>
      <p:sp>
        <p:nvSpPr>
          <p:cNvPr id="11" name="">
            <a:extLst xmlns:a="http://schemas.openxmlformats.org/drawingml/2006/main">
              <a:ext uri="{FF2B5EF4-FFF2-40B4-BE49-F238E27FC236}">
                <a16:creationId xmlns:a16="http://schemas.microsoft.com/office/drawing/2014/main" id="{57EE8362-B665-41BA-AFA7-26875EF2E1E6}"/>
              </a:ext>
            </a:extLst>
          </p:cNvPr>
          <p:cNvSpPr>
            <a:spLocks xmlns:a="http://schemas.openxmlformats.org/drawingml/2006/main" noGrp="1"/>
          </p:cNvSpPr>
          <p:nvPr/>
        </p:nvSpPr>
        <p:spPr>
          <a:xfrm xmlns:a="http://schemas.openxmlformats.org/drawingml/2006/main">
            <a:off x="609600" y="205740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6735D"/>
                </a:solidFill>
                <a:latin typeface="DejaVu Sans"/>
                <a:ea typeface="DejaVu Sans"/>
                <a:cs typeface="DejaVu Sans"/>
              </a:defRPr>
            </a:defPPr>
          </a:lstStyle>
          <a:p xmlns:a="http://schemas.openxmlformats.org/drawingml/2006/main">
            <a:pPr algn="l">
              <a:defRPr sz="2025" b="1">
                <a:solidFill>
                  <a:srgbClr val="16735D"/>
                </a:solidFill>
                <a:latin typeface="DejaVu Sans"/>
                <a:ea typeface="DejaVu Sans"/>
                <a:cs typeface="DejaVu Sans"/>
              </a:defRPr>
            </a:pPr>
            <a:r>
              <a:rPr sz="2025" b="1">
                <a:solidFill>
                  <a:srgbClr val="16735D"/>
                </a:solidFill>
                <a:latin typeface="DejaVu Sans"/>
                <a:ea typeface="DejaVu Sans"/>
                <a:cs typeface="DejaVu Sans"/>
              </a:rPr>
              <a:t>La alarma alerta a los guardias</a:t>
            </a:r>
          </a:p>
        </p:txBody>
      </p:sp>
      <p:sp>
        <p:nvSpPr>
          <p:cNvPr id="12" name="">
            <a:extLst xmlns:a="http://schemas.openxmlformats.org/drawingml/2006/main">
              <a:ext uri="{FF2B5EF4-FFF2-40B4-BE49-F238E27FC236}">
                <a16:creationId xmlns:a16="http://schemas.microsoft.com/office/drawing/2014/main" id="{2FE8BCBC-5A36-479F-BBFA-89EE20CC44B9}"/>
              </a:ext>
            </a:extLst>
          </p:cNvPr>
          <p:cNvSpPr>
            <a:spLocks xmlns:a="http://schemas.openxmlformats.org/drawingml/2006/main" noGrp="1"/>
          </p:cNvSpPr>
          <p:nvPr/>
        </p:nvSpPr>
        <p:spPr>
          <a:xfrm xmlns:a="http://schemas.openxmlformats.org/drawingml/2006/main">
            <a:off x="609600" y="26479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F3C"/>
                </a:solidFill>
                <a:latin typeface="DejaVu Sans"/>
                <a:ea typeface="DejaVu Sans"/>
                <a:cs typeface="DejaVu Sans"/>
              </a:defRPr>
            </a:defPPr>
          </a:lstStyle>
          <a:p xmlns:a="http://schemas.openxmlformats.org/drawingml/2006/main">
            <a:pPr algn="l">
              <a:defRPr sz="1875" b="0">
                <a:solidFill>
                  <a:srgbClr val="172F3C"/>
                </a:solidFill>
                <a:latin typeface="DejaVu Sans"/>
                <a:ea typeface="DejaVu Sans"/>
                <a:cs typeface="DejaVu Sans"/>
              </a:defRPr>
            </a:pPr>
            <a:r>
              <a:rPr sz="1875" b="0">
                <a:solidFill>
                  <a:srgbClr val="172F3C"/>
                </a:solidFill>
                <a:latin typeface="DejaVu Sans"/>
                <a:ea typeface="DejaVu Sans"/>
                <a:cs typeface="DejaVu Sans"/>
              </a:rPr>
              <a:t>El test sitúa al prisionero frente a una cámara de cada mapa.</a:t>
            </a:r>
          </a:p>
        </p:txBody>
      </p:sp>
      <p:sp>
        <p:nvSpPr>
          <p:cNvPr id="13" name="">
            <a:extLst xmlns:a="http://schemas.openxmlformats.org/drawingml/2006/main">
              <a:ext uri="{FF2B5EF4-FFF2-40B4-BE49-F238E27FC236}">
                <a16:creationId xmlns:a16="http://schemas.microsoft.com/office/drawing/2014/main" id="{0C1E3410-A78B-487A-AF8B-5E7F7A23DE4E}"/>
              </a:ext>
            </a:extLst>
          </p:cNvPr>
          <p:cNvSpPr>
            <a:spLocks xmlns:a="http://schemas.openxmlformats.org/drawingml/2006/main" noGrp="1"/>
          </p:cNvSpPr>
          <p:nvPr/>
        </p:nvSpPr>
        <p:spPr>
          <a:xfrm xmlns:a="http://schemas.openxmlformats.org/drawingml/2006/main">
            <a:off x="609600" y="3705225"/>
            <a:ext cx="5238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72F3C"/>
                </a:solidFill>
                <a:latin typeface="DejaVu Sans Mono"/>
                <a:ea typeface="DejaVu Sans Mono"/>
                <a:cs typeface="DejaVu Sans Mono"/>
              </a:defRPr>
            </a:defPPr>
          </a:lstStyle>
          <a:p xmlns:a="http://schemas.openxmlformats.org/drawingml/2006/main">
            <a:pPr algn="l">
              <a:defRPr sz="1650" b="0">
                <a:solidFill>
                  <a:srgbClr val="172F3C"/>
                </a:solidFill>
                <a:latin typeface="DejaVu Sans Mono"/>
                <a:ea typeface="DejaVu Sans Mono"/>
                <a:cs typeface="DejaVu Sans Mono"/>
              </a:defRPr>
            </a:pPr>
            <a:r>
              <a:rPr sz="1650" b="0">
                <a:solidFill>
                  <a:srgbClr val="172F3C"/>
                </a:solidFill>
                <a:latin typeface="DejaVu Sans Mono"/>
                <a:ea typeface="DejaVu Sans Mono"/>
                <a:cs typeface="DejaVu Sans Mono"/>
              </a:rPr>
              <a:t>self.assertTrue(camara.activa)</a:t>
            </a:r>
          </a:p>
          <a:p xmlns:a="http://schemas.openxmlformats.org/drawingml/2006/main">
            <a:pPr algn="l">
              <a:defRPr sz="1650" b="0">
                <a:solidFill>
                  <a:srgbClr val="172F3C"/>
                </a:solidFill>
                <a:latin typeface="DejaVu Sans Mono"/>
                <a:ea typeface="DejaVu Sans Mono"/>
                <a:cs typeface="DejaVu Sans Mono"/>
              </a:defRPr>
            </a:pPr>
            <a:r>
              <a:rPr sz="1650" b="0">
                <a:solidFill>
                  <a:srgbClr val="172F3C"/>
                </a:solidFill>
                <a:latin typeface="DejaVu Sans Mono"/>
                <a:ea typeface="DejaVu Sans Mono"/>
                <a:cs typeface="DejaVu Sans Mono"/>
              </a:rPr>
              <a:t>self.assertTrue(all(</a:t>
            </a:r>
          </a:p>
          <a:p xmlns:a="http://schemas.openxmlformats.org/drawingml/2006/main">
            <a:pPr algn="l">
              <a:defRPr sz="1650" b="0">
                <a:solidFill>
                  <a:srgbClr val="172F3C"/>
                </a:solidFill>
                <a:latin typeface="DejaVu Sans Mono"/>
                <a:ea typeface="DejaVu Sans Mono"/>
                <a:cs typeface="DejaVu Sans Mono"/>
              </a:defRPr>
            </a:pPr>
            <a:r>
              <a:rPr sz="1650" b="0">
                <a:solidFill>
                  <a:srgbClr val="172F3C"/>
                </a:solidFill>
                <a:latin typeface="DejaVu Sans Mono"/>
                <a:ea typeface="DejaVu Sans Mono"/>
                <a:cs typeface="DejaVu Sans Mono"/>
              </a:rPr>
              <a:t>    g.modo == "PERSIGUE"</a:t>
            </a:r>
          </a:p>
          <a:p xmlns:a="http://schemas.openxmlformats.org/drawingml/2006/main">
            <a:pPr algn="l">
              <a:defRPr sz="1650" b="0">
                <a:solidFill>
                  <a:srgbClr val="172F3C"/>
                </a:solidFill>
                <a:latin typeface="DejaVu Sans Mono"/>
                <a:ea typeface="DejaVu Sans Mono"/>
                <a:cs typeface="DejaVu Sans Mono"/>
              </a:defRPr>
            </a:pPr>
            <a:r>
              <a:rPr sz="1650" b="0">
                <a:solidFill>
                  <a:srgbClr val="172F3C"/>
                </a:solidFill>
                <a:latin typeface="DejaVu Sans Mono"/>
                <a:ea typeface="DejaVu Sans Mono"/>
                <a:cs typeface="DejaVu Sans Mono"/>
              </a:rPr>
              <a:t>    for g in nivel.guardias))</a:t>
            </a:r>
          </a:p>
          <a:p xmlns:a="http://schemas.openxmlformats.org/drawingml/2006/main">
            <a:pPr algn="l">
              <a:defRPr sz="1650" b="0">
                <a:solidFill>
                  <a:srgbClr val="172F3C"/>
                </a:solidFill>
                <a:latin typeface="DejaVu Sans Mono"/>
                <a:ea typeface="DejaVu Sans Mono"/>
                <a:cs typeface="DejaVu Sans Mono"/>
              </a:defRPr>
            </a:pPr>
            <a:r>
              <a:rPr sz="1650" b="0">
                <a:solidFill>
                  <a:srgbClr val="172F3C"/>
                </a:solidFill>
                <a:latin typeface="DejaVu Sans Mono"/>
                <a:ea typeface="DejaVu Sans Mono"/>
                <a:cs typeface="DejaVu Sans Mono"/>
              </a:rPr>
              <a:t>self.assertIsInstance(</a:t>
            </a:r>
          </a:p>
          <a:p xmlns:a="http://schemas.openxmlformats.org/drawingml/2006/main">
            <a:pPr algn="l">
              <a:defRPr sz="1650" b="0">
                <a:solidFill>
                  <a:srgbClr val="172F3C"/>
                </a:solidFill>
                <a:latin typeface="DejaVu Sans Mono"/>
                <a:ea typeface="DejaVu Sans Mono"/>
                <a:cs typeface="DejaVu Sans Mono"/>
              </a:defRPr>
            </a:pPr>
            <a:r>
              <a:rPr sz="1650" b="0">
                <a:solidFill>
                  <a:srgbClr val="172F3C"/>
                </a:solidFill>
                <a:latin typeface="DejaVu Sans Mono"/>
                <a:ea typeface="DejaVu Sans Mono"/>
                <a:cs typeface="DejaVu Sans Mono"/>
              </a:rPr>
              <a:t>    juego.estado, Jugando)</a:t>
            </a:r>
          </a:p>
        </p:txBody>
      </p:sp>
      <p:sp>
        <p:nvSpPr>
          <p:cNvPr id="14" name="">
            <a:extLst xmlns:a="http://schemas.openxmlformats.org/drawingml/2006/main">
              <a:ext uri="{FF2B5EF4-FFF2-40B4-BE49-F238E27FC236}">
                <a16:creationId xmlns:a16="http://schemas.microsoft.com/office/drawing/2014/main" id="{E92F6763-6E18-469F-B521-2A201AF8C814}"/>
              </a:ext>
            </a:extLst>
          </p:cNvPr>
          <p:cNvSpPr>
            <a:spLocks xmlns:a="http://schemas.openxmlformats.org/drawingml/2006/main" noGrp="1"/>
          </p:cNvSpPr>
          <p:nvPr/>
        </p:nvSpPr>
        <p:spPr>
          <a:xfrm xmlns:a="http://schemas.openxmlformats.org/drawingml/2006/main">
            <a:off x="609600" y="5667375"/>
            <a:ext cx="523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3"/>
                </a:solidFill>
                <a:latin typeface="DejaVu Sans"/>
                <a:ea typeface="DejaVu Sans"/>
                <a:cs typeface="DejaVu Sans"/>
              </a:defRPr>
            </a:defPPr>
          </a:lstStyle>
          <a:p xmlns:a="http://schemas.openxmlformats.org/drawingml/2006/main">
            <a:pPr algn="l">
              <a:defRPr sz="1725" b="0">
                <a:solidFill>
                  <a:srgbClr val="526773"/>
                </a:solidFill>
                <a:latin typeface="DejaVu Sans"/>
                <a:ea typeface="DejaVu Sans"/>
                <a:cs typeface="DejaVu Sans"/>
              </a:defRPr>
            </a:pPr>
            <a:r>
              <a:rPr sz="1725" b="0">
                <a:solidFill>
                  <a:srgbClr val="526773"/>
                </a:solidFill>
                <a:latin typeface="DejaVu Sans"/>
                <a:ea typeface="DejaVu Sans"/>
                <a:cs typeface="DejaVu Sans"/>
              </a:rPr>
              <a:t>La cámara avisa a todos y el juego sigue activo hasta una captura.</a:t>
            </a:r>
          </a:p>
        </p:txBody>
      </p:sp>
      <p:sp>
        <p:nvSpPr>
          <p:cNvPr id="15" name="">
            <a:extLst xmlns:a="http://schemas.openxmlformats.org/drawingml/2006/main">
              <a:ext uri="{FF2B5EF4-FFF2-40B4-BE49-F238E27FC236}">
                <a16:creationId xmlns:a16="http://schemas.microsoft.com/office/drawing/2014/main" id="{083A411F-6342-42CF-8FB1-4800DB0D1923}"/>
              </a:ext>
            </a:extLst>
          </p:cNvPr>
          <p:cNvSpPr>
            <a:spLocks xmlns:a="http://schemas.openxmlformats.org/drawingml/2006/main" noGrp="1"/>
          </p:cNvSpPr>
          <p:nvPr/>
        </p:nvSpPr>
        <p:spPr>
          <a:xfrm xmlns:a="http://schemas.openxmlformats.org/drawingml/2006/main">
            <a:off x="6324600" y="205740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6735D"/>
                </a:solidFill>
                <a:latin typeface="DejaVu Sans"/>
                <a:ea typeface="DejaVu Sans"/>
                <a:cs typeface="DejaVu Sans"/>
              </a:defRPr>
            </a:defPPr>
          </a:lstStyle>
          <a:p xmlns:a="http://schemas.openxmlformats.org/drawingml/2006/main">
            <a:pPr algn="l">
              <a:defRPr sz="2025" b="1">
                <a:solidFill>
                  <a:srgbClr val="16735D"/>
                </a:solidFill>
                <a:latin typeface="DejaVu Sans"/>
                <a:ea typeface="DejaVu Sans"/>
                <a:cs typeface="DejaVu Sans"/>
              </a:defRPr>
            </a:pPr>
            <a:r>
              <a:rPr sz="2025" b="1">
                <a:solidFill>
                  <a:srgbClr val="16735D"/>
                </a:solidFill>
                <a:latin typeface="DejaVu Sans"/>
                <a:ea typeface="DejaVu Sans"/>
                <a:cs typeface="DejaVu Sans"/>
              </a:rPr>
              <a:t>La llave exige agotar tres capas</a:t>
            </a:r>
          </a:p>
        </p:txBody>
      </p:sp>
      <p:sp>
        <p:nvSpPr>
          <p:cNvPr id="16" name="">
            <a:extLst xmlns:a="http://schemas.openxmlformats.org/drawingml/2006/main">
              <a:ext uri="{FF2B5EF4-FFF2-40B4-BE49-F238E27FC236}">
                <a16:creationId xmlns:a16="http://schemas.microsoft.com/office/drawing/2014/main" id="{3EDF401D-9967-4B17-BEC0-80169CE019C0}"/>
              </a:ext>
            </a:extLst>
          </p:cNvPr>
          <p:cNvSpPr>
            <a:spLocks xmlns:a="http://schemas.openxmlformats.org/drawingml/2006/main" noGrp="1"/>
          </p:cNvSpPr>
          <p:nvPr/>
        </p:nvSpPr>
        <p:spPr>
          <a:xfrm xmlns:a="http://schemas.openxmlformats.org/drawingml/2006/main">
            <a:off x="6324600" y="26479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F3C"/>
                </a:solidFill>
                <a:latin typeface="DejaVu Sans"/>
                <a:ea typeface="DejaVu Sans"/>
                <a:cs typeface="DejaVu Sans"/>
              </a:defRPr>
            </a:defPPr>
          </a:lstStyle>
          <a:p xmlns:a="http://schemas.openxmlformats.org/drawingml/2006/main">
            <a:pPr algn="l">
              <a:defRPr sz="1875" b="0">
                <a:solidFill>
                  <a:srgbClr val="172F3C"/>
                </a:solidFill>
                <a:latin typeface="DejaVu Sans"/>
                <a:ea typeface="DejaVu Sans"/>
                <a:cs typeface="DejaVu Sans"/>
              </a:defRPr>
            </a:pPr>
            <a:r>
              <a:rPr sz="1875" b="0">
                <a:solidFill>
                  <a:srgbClr val="172F3C"/>
                </a:solidFill>
                <a:latin typeface="DejaVu Sans"/>
                <a:ea typeface="DejaVu Sans"/>
                <a:cs typeface="DejaVu Sans"/>
              </a:rPr>
              <a:t>Se comprueban los cambios a 144, 72 y 0 puntos de vida del jefe.</a:t>
            </a:r>
          </a:p>
        </p:txBody>
      </p:sp>
      <p:sp>
        <p:nvSpPr>
          <p:cNvPr id="17" name="">
            <a:extLst xmlns:a="http://schemas.openxmlformats.org/drawingml/2006/main">
              <a:ext uri="{FF2B5EF4-FFF2-40B4-BE49-F238E27FC236}">
                <a16:creationId xmlns:a16="http://schemas.microsoft.com/office/drawing/2014/main" id="{F3284923-B953-433F-AAF7-C5F4FABC4BD7}"/>
              </a:ext>
            </a:extLst>
          </p:cNvPr>
          <p:cNvSpPr>
            <a:spLocks xmlns:a="http://schemas.openxmlformats.org/drawingml/2006/main" noGrp="1"/>
          </p:cNvSpPr>
          <p:nvPr/>
        </p:nvSpPr>
        <p:spPr>
          <a:xfrm xmlns:a="http://schemas.openxmlformats.org/drawingml/2006/main">
            <a:off x="6324600" y="3705225"/>
            <a:ext cx="5238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72F3C"/>
                </a:solidFill>
                <a:latin typeface="DejaVu Sans Mono"/>
                <a:ea typeface="DejaVu Sans Mono"/>
                <a:cs typeface="DejaVu Sans Mono"/>
              </a:defRPr>
            </a:defPPr>
          </a:lstStyle>
          <a:p xmlns:a="http://schemas.openxmlformats.org/drawingml/2006/main">
            <a:pPr algn="l">
              <a:defRPr sz="1650" b="0">
                <a:solidFill>
                  <a:srgbClr val="172F3C"/>
                </a:solidFill>
                <a:latin typeface="DejaVu Sans Mono"/>
                <a:ea typeface="DejaVu Sans Mono"/>
                <a:cs typeface="DejaVu Sans Mono"/>
              </a:defRPr>
            </a:pPr>
            <a:r>
              <a:rPr sz="1650" b="0">
                <a:solidFill>
                  <a:srgbClr val="172F3C"/>
                </a:solidFill>
                <a:latin typeface="DejaVu Sans Mono"/>
                <a:ea typeface="DejaVu Sans Mono"/>
                <a:cs typeface="DejaVu Sans Mono"/>
              </a:rPr>
              <a:t>self.assertEqual(</a:t>
            </a:r>
          </a:p>
          <a:p xmlns:a="http://schemas.openxmlformats.org/drawingml/2006/main">
            <a:pPr algn="l">
              <a:defRPr sz="1650" b="0">
                <a:solidFill>
                  <a:srgbClr val="172F3C"/>
                </a:solidFill>
                <a:latin typeface="DejaVu Sans Mono"/>
                <a:ea typeface="DejaVu Sans Mono"/>
                <a:cs typeface="DejaVu Sans Mono"/>
              </a:defRPr>
            </a:pPr>
            <a:r>
              <a:rPr sz="1650" b="0">
                <a:solidFill>
                  <a:srgbClr val="172F3C"/>
                </a:solidFill>
                <a:latin typeface="DejaVu Sans Mono"/>
                <a:ea typeface="DejaVu Sans Mono"/>
                <a:cs typeface="DejaVu Sans Mono"/>
              </a:rPr>
              <a:t>    jefe.vida, restante)</a:t>
            </a:r>
          </a:p>
          <a:p xmlns:a="http://schemas.openxmlformats.org/drawingml/2006/main">
            <a:pPr algn="l">
              <a:defRPr sz="1650" b="0">
                <a:solidFill>
                  <a:srgbClr val="172F3C"/>
                </a:solidFill>
                <a:latin typeface="DejaVu Sans Mono"/>
                <a:ea typeface="DejaVu Sans Mono"/>
                <a:cs typeface="DejaVu Sans Mono"/>
              </a:defRPr>
            </a:pPr>
            <a:r>
              <a:rPr sz="1650" b="0">
                <a:solidFill>
                  <a:srgbClr val="172F3C"/>
                </a:solidFill>
                <a:latin typeface="DejaVu Sans Mono"/>
                <a:ea typeface="DejaVu Sans Mono"/>
                <a:cs typeface="DejaVu Sans Mono"/>
              </a:rPr>
              <a:t>self.assertEqual(</a:t>
            </a:r>
          </a:p>
          <a:p xmlns:a="http://schemas.openxmlformats.org/drawingml/2006/main">
            <a:pPr algn="l">
              <a:defRPr sz="1650" b="0">
                <a:solidFill>
                  <a:srgbClr val="172F3C"/>
                </a:solidFill>
                <a:latin typeface="DejaVu Sans Mono"/>
                <a:ea typeface="DejaVu Sans Mono"/>
                <a:cs typeface="DejaVu Sans Mono"/>
              </a:defRPr>
            </a:pPr>
            <a:r>
              <a:rPr sz="1650" b="0">
                <a:solidFill>
                  <a:srgbClr val="172F3C"/>
                </a:solidFill>
                <a:latin typeface="DejaVu Sans Mono"/>
                <a:ea typeface="DejaVu Sans Mono"/>
                <a:cs typeface="DejaVu Sans Mono"/>
              </a:rPr>
              <a:t>    juego.nivel.llave.disponible,</a:t>
            </a:r>
          </a:p>
          <a:p xmlns:a="http://schemas.openxmlformats.org/drawingml/2006/main">
            <a:pPr algn="l">
              <a:defRPr sz="1650" b="0">
                <a:solidFill>
                  <a:srgbClr val="172F3C"/>
                </a:solidFill>
                <a:latin typeface="DejaVu Sans Mono"/>
                <a:ea typeface="DejaVu Sans Mono"/>
                <a:cs typeface="DejaVu Sans Mono"/>
              </a:defRPr>
            </a:pPr>
            <a:r>
              <a:rPr sz="1650" b="0">
                <a:solidFill>
                  <a:srgbClr val="172F3C"/>
                </a:solidFill>
                <a:latin typeface="DejaVu Sans Mono"/>
                <a:ea typeface="DejaVu Sans Mono"/>
                <a:cs typeface="DejaVu Sans Mono"/>
              </a:rPr>
              <a:t>    restante == 0)</a:t>
            </a:r>
          </a:p>
        </p:txBody>
      </p:sp>
      <p:sp>
        <p:nvSpPr>
          <p:cNvPr id="18" name="">
            <a:extLst xmlns:a="http://schemas.openxmlformats.org/drawingml/2006/main">
              <a:ext uri="{FF2B5EF4-FFF2-40B4-BE49-F238E27FC236}">
                <a16:creationId xmlns:a16="http://schemas.microsoft.com/office/drawing/2014/main" id="{F8405B01-41D6-4C74-BA52-D18FA32E17D8}"/>
              </a:ext>
            </a:extLst>
          </p:cNvPr>
          <p:cNvSpPr>
            <a:spLocks xmlns:a="http://schemas.openxmlformats.org/drawingml/2006/main" noGrp="1"/>
          </p:cNvSpPr>
          <p:nvPr/>
        </p:nvSpPr>
        <p:spPr>
          <a:xfrm xmlns:a="http://schemas.openxmlformats.org/drawingml/2006/main">
            <a:off x="6324600" y="5667375"/>
            <a:ext cx="523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3"/>
                </a:solidFill>
                <a:latin typeface="DejaVu Sans"/>
                <a:ea typeface="DejaVu Sans"/>
                <a:cs typeface="DejaVu Sans"/>
              </a:defRPr>
            </a:defPPr>
          </a:lstStyle>
          <a:p xmlns:a="http://schemas.openxmlformats.org/drawingml/2006/main">
            <a:pPr algn="l">
              <a:defRPr sz="1725" b="0">
                <a:solidFill>
                  <a:srgbClr val="526773"/>
                </a:solidFill>
                <a:latin typeface="DejaVu Sans"/>
                <a:ea typeface="DejaVu Sans"/>
                <a:cs typeface="DejaVu Sans"/>
              </a:defRPr>
            </a:pPr>
            <a:r>
              <a:rPr sz="1725" b="0">
                <a:solidFill>
                  <a:srgbClr val="526773"/>
                </a:solidFill>
                <a:latin typeface="DejaVu Sans"/>
                <a:ea typeface="DejaVu Sans"/>
                <a:cs typeface="DejaVu Sans"/>
              </a:rPr>
              <a:t>La llave aparece cuando restante vale 0. Las capas anteriores mantienen el combate.</a:t>
            </a:r>
          </a:p>
        </p:txBody>
      </p:sp>
    </p:spTree>
    <p:extLst>
      <p:ext uri="{BB962C8B-B14F-4D97-AF65-F5344CB8AC3E}">
        <p14:creationId xmlns:p14="http://schemas.microsoft.com/office/powerpoint/2010/main" val="1632482957"/>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partado-rubrica">
            <a:extLst xmlns:a="http://schemas.openxmlformats.org/drawingml/2006/main">
              <a:ext uri="{FF2B5EF4-FFF2-40B4-BE49-F238E27FC236}">
                <a16:creationId xmlns:a16="http://schemas.microsoft.com/office/drawing/2014/main" id="{DA9BE330-7799-4431-8E20-F06A17D223E6}"/>
              </a:ext>
            </a:extLst>
          </p:cNvPr>
          <p:cNvSpPr>
            <a:spLocks xmlns:a="http://schemas.openxmlformats.org/drawingml/2006/main" noGrp="1"/>
          </p:cNvSpPr>
          <p:nvPr/>
        </p:nvSpPr>
        <p:spPr>
          <a:xfrm xmlns:a="http://schemas.openxmlformats.org/drawingml/2006/main">
            <a:off x="609600" y="285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6735D"/>
                </a:solidFill>
                <a:latin typeface="DejaVu Sans"/>
                <a:ea typeface="DejaVu Sans"/>
                <a:cs typeface="DejaVu Sans"/>
              </a:defRPr>
            </a:defPPr>
          </a:lstStyle>
          <a:p xmlns:a="http://schemas.openxmlformats.org/drawingml/2006/main">
            <a:pPr algn="l">
              <a:buNone/>
              <a:defRPr sz="1500" b="1">
                <a:solidFill>
                  <a:srgbClr val="16735D"/>
                </a:solidFill>
                <a:latin typeface="DejaVu Sans"/>
                <a:ea typeface="DejaVu Sans"/>
                <a:cs typeface="DejaVu Sans"/>
              </a:defRPr>
            </a:pPr>
            <a:r>
              <a:rPr sz="1500" b="1">
                <a:solidFill>
                  <a:srgbClr val="16735D"/>
                </a:solidFill>
                <a:latin typeface="DejaVu Sans"/>
                <a:ea typeface="DejaVu Sans"/>
                <a:cs typeface="DejaVu Sans"/>
              </a:rPr>
              <a:t>Cierre. Código y documentación</a:t>
            </a:r>
          </a:p>
        </p:txBody>
      </p:sp>
      <p:sp>
        <p:nvSpPr>
          <p:cNvPr id="2" name="titulo">
            <a:extLst xmlns:a="http://schemas.openxmlformats.org/drawingml/2006/main">
              <a:ext uri="{FF2B5EF4-FFF2-40B4-BE49-F238E27FC236}">
                <a16:creationId xmlns:a16="http://schemas.microsoft.com/office/drawing/2014/main" id="{DDB512D1-B8D6-4CB2-8B0F-BE65B03E7F9B}"/>
              </a:ext>
            </a:extLst>
          </p:cNvPr>
          <p:cNvSpPr>
            <a:spLocks xmlns:a="http://schemas.openxmlformats.org/drawingml/2006/main" noGrp="1"/>
          </p:cNvSpPr>
          <p:nvPr/>
        </p:nvSpPr>
        <p:spPr>
          <a:xfrm xmlns:a="http://schemas.openxmlformats.org/drawingml/2006/main">
            <a:off x="609600" y="790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72F3C"/>
                </a:solidFill>
                <a:latin typeface="DejaVu Sans"/>
                <a:ea typeface="DejaVu Sans"/>
                <a:cs typeface="DejaVu Sans"/>
              </a:defRPr>
            </a:defPPr>
          </a:lstStyle>
          <a:p xmlns:a="http://schemas.openxmlformats.org/drawingml/2006/main">
            <a:pPr algn="l">
              <a:buNone/>
              <a:defRPr sz="3150" b="1">
                <a:solidFill>
                  <a:srgbClr val="172F3C"/>
                </a:solidFill>
                <a:latin typeface="DejaVu Sans"/>
                <a:ea typeface="DejaVu Sans"/>
                <a:cs typeface="DejaVu Sans"/>
              </a:defRPr>
            </a:pPr>
            <a:r>
              <a:rPr sz="3150" b="1">
                <a:solidFill>
                  <a:srgbClr val="172F3C"/>
                </a:solidFill>
                <a:latin typeface="DejaVu Sans"/>
                <a:ea typeface="DejaVu Sans"/>
                <a:cs typeface="DejaVu Sans"/>
              </a:rPr>
              <a:t>Pruebas del UML y de la guía</a:t>
            </a:r>
          </a:p>
        </p:txBody>
      </p:sp>
      <p:sp>
        <p:nvSpPr>
          <p:cNvPr id="3" name="numero">
            <a:extLst xmlns:a="http://schemas.openxmlformats.org/drawingml/2006/main">
              <a:ext uri="{FF2B5EF4-FFF2-40B4-BE49-F238E27FC236}">
                <a16:creationId xmlns:a16="http://schemas.microsoft.com/office/drawing/2014/main" id="{FA76EAA5-D037-4751-840F-4D3BF10D514E}"/>
              </a:ext>
            </a:extLst>
          </p:cNvPr>
          <p:cNvSpPr>
            <a:spLocks xmlns:a="http://schemas.openxmlformats.org/drawingml/2006/main" noGrp="1"/>
          </p:cNvSpPr>
          <p:nvPr/>
        </p:nvSpPr>
        <p:spPr>
          <a:xfrm xmlns:a="http://schemas.openxmlformats.org/drawingml/2006/main">
            <a:off x="11210925" y="64770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526773"/>
                </a:solidFill>
                <a:latin typeface="DejaVu Sans"/>
                <a:ea typeface="DejaVu Sans"/>
                <a:cs typeface="DejaVu Sans"/>
              </a:defRPr>
            </a:defPPr>
          </a:lstStyle>
          <a:p xmlns:a="http://schemas.openxmlformats.org/drawingml/2006/main">
            <a:pPr algn="l">
              <a:buNone/>
              <a:defRPr sz="1050" b="0">
                <a:solidFill>
                  <a:srgbClr val="526773"/>
                </a:solidFill>
                <a:latin typeface="DejaVu Sans"/>
                <a:ea typeface="DejaVu Sans"/>
                <a:cs typeface="DejaVu Sans"/>
              </a:defRPr>
            </a:pPr>
            <a:r>
              <a:rPr sz="1050" b="0">
                <a:solidFill>
                  <a:srgbClr val="526773"/>
                </a:solidFill>
                <a:latin typeface="DejaVu Sans"/>
                <a:ea typeface="DejaVu Sans"/>
                <a:cs typeface="DejaVu Sans"/>
              </a:rPr>
              <a:t>41</a:t>
            </a:r>
          </a:p>
        </p:txBody>
      </p:sp>
      <p:sp>
        <p:nvSpPr>
          <p:cNvPr id="11" name="">
            <a:extLst xmlns:a="http://schemas.openxmlformats.org/drawingml/2006/main">
              <a:ext uri="{FF2B5EF4-FFF2-40B4-BE49-F238E27FC236}">
                <a16:creationId xmlns:a16="http://schemas.microsoft.com/office/drawing/2014/main" id="{433D29FA-22EF-4848-B7EC-E710AE5E01BD}"/>
              </a:ext>
            </a:extLst>
          </p:cNvPr>
          <p:cNvSpPr>
            <a:spLocks xmlns:a="http://schemas.openxmlformats.org/drawingml/2006/main" noGrp="1"/>
          </p:cNvSpPr>
          <p:nvPr/>
        </p:nvSpPr>
        <p:spPr>
          <a:xfrm xmlns:a="http://schemas.openxmlformats.org/drawingml/2006/main">
            <a:off x="609600" y="205740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6735D"/>
                </a:solidFill>
                <a:latin typeface="DejaVu Sans"/>
                <a:ea typeface="DejaVu Sans"/>
                <a:cs typeface="DejaVu Sans"/>
              </a:defRPr>
            </a:defPPr>
          </a:lstStyle>
          <a:p xmlns:a="http://schemas.openxmlformats.org/drawingml/2006/main">
            <a:pPr algn="l">
              <a:defRPr sz="2025" b="1">
                <a:solidFill>
                  <a:srgbClr val="16735D"/>
                </a:solidFill>
                <a:latin typeface="DejaVu Sans"/>
                <a:ea typeface="DejaVu Sans"/>
                <a:cs typeface="DejaVu Sans"/>
              </a:defRPr>
            </a:pPr>
            <a:r>
              <a:rPr sz="2025" b="1">
                <a:solidFill>
                  <a:srgbClr val="16735D"/>
                </a:solidFill>
                <a:latin typeface="DejaVu Sans"/>
                <a:ea typeface="DejaVu Sans"/>
                <a:cs typeface="DejaVu Sans"/>
              </a:rPr>
              <a:t>Diagrama UML</a:t>
            </a:r>
          </a:p>
        </p:txBody>
      </p:sp>
      <p:sp>
        <p:nvSpPr>
          <p:cNvPr id="12" name="">
            <a:extLst xmlns:a="http://schemas.openxmlformats.org/drawingml/2006/main">
              <a:ext uri="{FF2B5EF4-FFF2-40B4-BE49-F238E27FC236}">
                <a16:creationId xmlns:a16="http://schemas.microsoft.com/office/drawing/2014/main" id="{7F764E7D-E89E-4237-8A1B-5049184AA1BF}"/>
              </a:ext>
            </a:extLst>
          </p:cNvPr>
          <p:cNvSpPr>
            <a:spLocks xmlns:a="http://schemas.openxmlformats.org/drawingml/2006/main" noGrp="1"/>
          </p:cNvSpPr>
          <p:nvPr/>
        </p:nvSpPr>
        <p:spPr>
          <a:xfrm xmlns:a="http://schemas.openxmlformats.org/drawingml/2006/main">
            <a:off x="609600" y="26479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F3C"/>
                </a:solidFill>
                <a:latin typeface="DejaVu Sans"/>
                <a:ea typeface="DejaVu Sans"/>
                <a:cs typeface="DejaVu Sans"/>
              </a:defRPr>
            </a:defPPr>
          </a:lstStyle>
          <a:p xmlns:a="http://schemas.openxmlformats.org/drawingml/2006/main">
            <a:pPr algn="l">
              <a:defRPr sz="1875" b="0">
                <a:solidFill>
                  <a:srgbClr val="172F3C"/>
                </a:solidFill>
                <a:latin typeface="DejaVu Sans"/>
                <a:ea typeface="DejaVu Sans"/>
                <a:cs typeface="DejaVu Sans"/>
              </a:defRPr>
            </a:pPr>
            <a:r>
              <a:rPr sz="1875" b="0">
                <a:solidFill>
                  <a:srgbClr val="172F3C"/>
                </a:solidFill>
                <a:latin typeface="DejaVu Sans"/>
                <a:ea typeface="DejaVu Sans"/>
                <a:cs typeface="DejaVu Sans"/>
              </a:rPr>
              <a:t>Se comparan las clases y sus miembros con el modelo Mermaid.</a:t>
            </a:r>
          </a:p>
        </p:txBody>
      </p:sp>
      <p:sp>
        <p:nvSpPr>
          <p:cNvPr id="13" name="">
            <a:extLst xmlns:a="http://schemas.openxmlformats.org/drawingml/2006/main">
              <a:ext uri="{FF2B5EF4-FFF2-40B4-BE49-F238E27FC236}">
                <a16:creationId xmlns:a16="http://schemas.microsoft.com/office/drawing/2014/main" id="{13764C7B-3F7D-4837-8682-2AF56878C483}"/>
              </a:ext>
            </a:extLst>
          </p:cNvPr>
          <p:cNvSpPr>
            <a:spLocks xmlns:a="http://schemas.openxmlformats.org/drawingml/2006/main" noGrp="1"/>
          </p:cNvSpPr>
          <p:nvPr/>
        </p:nvSpPr>
        <p:spPr>
          <a:xfrm xmlns:a="http://schemas.openxmlformats.org/drawingml/2006/main">
            <a:off x="609600" y="3705225"/>
            <a:ext cx="5238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72F3C"/>
                </a:solidFill>
                <a:latin typeface="DejaVu Sans Mono"/>
                <a:ea typeface="DejaVu Sans Mono"/>
                <a:cs typeface="DejaVu Sans Mono"/>
              </a:defRPr>
            </a:defPPr>
          </a:lstStyle>
          <a:p xmlns:a="http://schemas.openxmlformats.org/drawingml/2006/main">
            <a:pPr algn="l">
              <a:defRPr sz="1650" b="0">
                <a:solidFill>
                  <a:srgbClr val="172F3C"/>
                </a:solidFill>
                <a:latin typeface="DejaVu Sans Mono"/>
                <a:ea typeface="DejaVu Sans Mono"/>
                <a:cs typeface="DejaVu Sans Mono"/>
              </a:defRPr>
            </a:pPr>
            <a:r>
              <a:rPr sz="1650" b="0">
                <a:solidFill>
                  <a:srgbClr val="172F3C"/>
                </a:solidFill>
                <a:latin typeface="DejaVu Sans Mono"/>
                <a:ea typeface="DejaVu Sans Mono"/>
                <a:cs typeface="DejaVu Sans Mono"/>
              </a:rPr>
              <a:t>self.assertEqual(</a:t>
            </a:r>
          </a:p>
          <a:p xmlns:a="http://schemas.openxmlformats.org/drawingml/2006/main">
            <a:pPr algn="l">
              <a:defRPr sz="1650" b="0">
                <a:solidFill>
                  <a:srgbClr val="172F3C"/>
                </a:solidFill>
                <a:latin typeface="DejaVu Sans Mono"/>
                <a:ea typeface="DejaVu Sans Mono"/>
                <a:cs typeface="DejaVu Sans Mono"/>
              </a:defRPr>
            </a:pPr>
            <a:r>
              <a:rPr sz="1650" b="0">
                <a:solidFill>
                  <a:srgbClr val="172F3C"/>
                </a:solidFill>
                <a:latin typeface="DejaVu Sans Mono"/>
                <a:ea typeface="DejaVu Sans Mono"/>
                <a:cs typeface="DejaVu Sans Mono"/>
              </a:rPr>
              <a:t>    set(cajas), set(clases))</a:t>
            </a:r>
          </a:p>
          <a:p xmlns:a="http://schemas.openxmlformats.org/drawingml/2006/main">
            <a:r>
              <a:t/>
            </a:r>
          </a:p>
          <a:p xmlns:a="http://schemas.openxmlformats.org/drawingml/2006/main">
            <a:pPr algn="l">
              <a:defRPr sz="1650" b="0">
                <a:solidFill>
                  <a:srgbClr val="172F3C"/>
                </a:solidFill>
                <a:latin typeface="DejaVu Sans Mono"/>
                <a:ea typeface="DejaVu Sans Mono"/>
                <a:cs typeface="DejaVu Sans Mono"/>
              </a:defRPr>
            </a:pPr>
            <a:r>
              <a:rPr sz="1650" b="0">
                <a:solidFill>
                  <a:srgbClr val="172F3C"/>
                </a:solidFill>
                <a:latin typeface="DejaVu Sans Mono"/>
                <a:ea typeface="DejaVu Sans Mono"/>
                <a:cs typeface="DejaVu Sans Mono"/>
              </a:rPr>
              <a:t>self.assertEqual(</a:t>
            </a:r>
          </a:p>
          <a:p xmlns:a="http://schemas.openxmlformats.org/drawingml/2006/main">
            <a:pPr algn="l">
              <a:defRPr sz="1650" b="0">
                <a:solidFill>
                  <a:srgbClr val="172F3C"/>
                </a:solidFill>
                <a:latin typeface="DejaVu Sans Mono"/>
                <a:ea typeface="DejaVu Sans Mono"/>
                <a:cs typeface="DejaVu Sans Mono"/>
              </a:defRPr>
            </a:pPr>
            <a:r>
              <a:rPr sz="1650" b="0">
                <a:solidFill>
                  <a:srgbClr val="172F3C"/>
                </a:solidFill>
                <a:latin typeface="DejaVu Sans Mono"/>
                <a:ea typeface="DejaVu Sans Mono"/>
                <a:cs typeface="DejaVu Sans Mono"/>
              </a:rPr>
              <a:t>    atributos_uml, atributos, nombre)</a:t>
            </a:r>
          </a:p>
        </p:txBody>
      </p:sp>
      <p:sp>
        <p:nvSpPr>
          <p:cNvPr id="14" name="">
            <a:extLst xmlns:a="http://schemas.openxmlformats.org/drawingml/2006/main">
              <a:ext uri="{FF2B5EF4-FFF2-40B4-BE49-F238E27FC236}">
                <a16:creationId xmlns:a16="http://schemas.microsoft.com/office/drawing/2014/main" id="{5B2E0FBE-1E0A-4813-9B93-85162462ABEE}"/>
              </a:ext>
            </a:extLst>
          </p:cNvPr>
          <p:cNvSpPr>
            <a:spLocks xmlns:a="http://schemas.openxmlformats.org/drawingml/2006/main" noGrp="1"/>
          </p:cNvSpPr>
          <p:nvPr/>
        </p:nvSpPr>
        <p:spPr>
          <a:xfrm xmlns:a="http://schemas.openxmlformats.org/drawingml/2006/main">
            <a:off x="609600" y="5667375"/>
            <a:ext cx="523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3"/>
                </a:solidFill>
                <a:latin typeface="DejaVu Sans"/>
                <a:ea typeface="DejaVu Sans"/>
                <a:cs typeface="DejaVu Sans"/>
              </a:defRPr>
            </a:defPPr>
          </a:lstStyle>
          <a:p xmlns:a="http://schemas.openxmlformats.org/drawingml/2006/main">
            <a:pPr algn="l">
              <a:defRPr sz="1725" b="0">
                <a:solidFill>
                  <a:srgbClr val="526773"/>
                </a:solidFill>
                <a:latin typeface="DejaVu Sans"/>
                <a:ea typeface="DejaVu Sans"/>
                <a:cs typeface="DejaVu Sans"/>
              </a:defRPr>
            </a:pPr>
            <a:r>
              <a:rPr sz="1725" b="0">
                <a:solidFill>
                  <a:srgbClr val="526773"/>
                </a:solidFill>
                <a:latin typeface="DejaVu Sans"/>
                <a:ea typeface="DejaVu Sans"/>
                <a:cs typeface="DejaVu Sans"/>
              </a:rPr>
              <a:t>La prueba detecta clases y atributos omitidos. También revisa métodos y herencia.</a:t>
            </a:r>
          </a:p>
        </p:txBody>
      </p:sp>
      <p:sp>
        <p:nvSpPr>
          <p:cNvPr id="15" name="">
            <a:extLst xmlns:a="http://schemas.openxmlformats.org/drawingml/2006/main">
              <a:ext uri="{FF2B5EF4-FFF2-40B4-BE49-F238E27FC236}">
                <a16:creationId xmlns:a16="http://schemas.microsoft.com/office/drawing/2014/main" id="{D28BC38C-A8AE-4E24-BD95-345707CD6C17}"/>
              </a:ext>
            </a:extLst>
          </p:cNvPr>
          <p:cNvSpPr>
            <a:spLocks xmlns:a="http://schemas.openxmlformats.org/drawingml/2006/main" noGrp="1"/>
          </p:cNvSpPr>
          <p:nvPr/>
        </p:nvSpPr>
        <p:spPr>
          <a:xfrm xmlns:a="http://schemas.openxmlformats.org/drawingml/2006/main">
            <a:off x="6324600" y="205740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6735D"/>
                </a:solidFill>
                <a:latin typeface="DejaVu Sans"/>
                <a:ea typeface="DejaVu Sans"/>
                <a:cs typeface="DejaVu Sans"/>
              </a:defRPr>
            </a:defPPr>
          </a:lstStyle>
          <a:p xmlns:a="http://schemas.openxmlformats.org/drawingml/2006/main">
            <a:pPr algn="l">
              <a:defRPr sz="2025" b="1">
                <a:solidFill>
                  <a:srgbClr val="16735D"/>
                </a:solidFill>
                <a:latin typeface="DejaVu Sans"/>
                <a:ea typeface="DejaVu Sans"/>
                <a:cs typeface="DejaVu Sans"/>
              </a:defRPr>
            </a:pPr>
            <a:r>
              <a:rPr sz="2025" b="1">
                <a:solidFill>
                  <a:srgbClr val="16735D"/>
                </a:solidFill>
                <a:latin typeface="DejaVu Sans"/>
                <a:ea typeface="DejaVu Sans"/>
                <a:cs typeface="DejaVu Sans"/>
              </a:rPr>
              <a:t>Código de la guía</a:t>
            </a:r>
          </a:p>
        </p:txBody>
      </p:sp>
      <p:sp>
        <p:nvSpPr>
          <p:cNvPr id="16" name="">
            <a:extLst xmlns:a="http://schemas.openxmlformats.org/drawingml/2006/main">
              <a:ext uri="{FF2B5EF4-FFF2-40B4-BE49-F238E27FC236}">
                <a16:creationId xmlns:a16="http://schemas.microsoft.com/office/drawing/2014/main" id="{2266FE58-95C2-4C2E-BBAB-117661A6748F}"/>
              </a:ext>
            </a:extLst>
          </p:cNvPr>
          <p:cNvSpPr>
            <a:spLocks xmlns:a="http://schemas.openxmlformats.org/drawingml/2006/main" noGrp="1"/>
          </p:cNvSpPr>
          <p:nvPr/>
        </p:nvSpPr>
        <p:spPr>
          <a:xfrm xmlns:a="http://schemas.openxmlformats.org/drawingml/2006/main">
            <a:off x="6324600" y="26479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F3C"/>
                </a:solidFill>
                <a:latin typeface="DejaVu Sans"/>
                <a:ea typeface="DejaVu Sans"/>
                <a:cs typeface="DejaVu Sans"/>
              </a:defRPr>
            </a:defPPr>
          </a:lstStyle>
          <a:p xmlns:a="http://schemas.openxmlformats.org/drawingml/2006/main">
            <a:pPr algn="l">
              <a:defRPr sz="1875" b="0">
                <a:solidFill>
                  <a:srgbClr val="172F3C"/>
                </a:solidFill>
                <a:latin typeface="DejaVu Sans"/>
                <a:ea typeface="DejaVu Sans"/>
                <a:cs typeface="DejaVu Sans"/>
              </a:defRPr>
            </a:pPr>
            <a:r>
              <a:rPr sz="1875" b="0">
                <a:solidFill>
                  <a:srgbClr val="172F3C"/>
                </a:solidFill>
                <a:latin typeface="DejaVu Sans"/>
                <a:ea typeface="DejaVu Sans"/>
                <a:cs typeface="DejaVu Sans"/>
              </a:rPr>
              <a:t>ast lee la estructura del código para comprobar los bloques documentados.</a:t>
            </a:r>
          </a:p>
        </p:txBody>
      </p:sp>
      <p:sp>
        <p:nvSpPr>
          <p:cNvPr id="17" name="">
            <a:extLst xmlns:a="http://schemas.openxmlformats.org/drawingml/2006/main">
              <a:ext uri="{FF2B5EF4-FFF2-40B4-BE49-F238E27FC236}">
                <a16:creationId xmlns:a16="http://schemas.microsoft.com/office/drawing/2014/main" id="{34389610-2636-4D19-B44F-F4926CFCD030}"/>
              </a:ext>
            </a:extLst>
          </p:cNvPr>
          <p:cNvSpPr>
            <a:spLocks xmlns:a="http://schemas.openxmlformats.org/drawingml/2006/main" noGrp="1"/>
          </p:cNvSpPr>
          <p:nvPr/>
        </p:nvSpPr>
        <p:spPr>
          <a:xfrm xmlns:a="http://schemas.openxmlformats.org/drawingml/2006/main">
            <a:off x="6324600" y="3705225"/>
            <a:ext cx="5238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72F3C"/>
                </a:solidFill>
                <a:latin typeface="DejaVu Sans Mono"/>
                <a:ea typeface="DejaVu Sans Mono"/>
                <a:cs typeface="DejaVu Sans Mono"/>
              </a:defRPr>
            </a:defPPr>
          </a:lstStyle>
          <a:p xmlns:a="http://schemas.openxmlformats.org/drawingml/2006/main">
            <a:pPr algn="l">
              <a:defRPr sz="1650" b="0">
                <a:solidFill>
                  <a:srgbClr val="172F3C"/>
                </a:solidFill>
                <a:latin typeface="DejaVu Sans Mono"/>
                <a:ea typeface="DejaVu Sans Mono"/>
                <a:cs typeface="DejaVu Sans Mono"/>
              </a:defRPr>
            </a:pPr>
            <a:r>
              <a:rPr sz="1650" b="0">
                <a:solidFill>
                  <a:srgbClr val="172F3C"/>
                </a:solidFill>
                <a:latin typeface="DejaVu Sans Mono"/>
                <a:ea typeface="DejaVu Sans Mono"/>
                <a:cs typeface="DejaVu Sans Mono"/>
              </a:rPr>
              <a:t>self.assertEqual(</a:t>
            </a:r>
          </a:p>
          <a:p xmlns:a="http://schemas.openxmlformats.org/drawingml/2006/main">
            <a:pPr algn="l">
              <a:defRPr sz="1650" b="0">
                <a:solidFill>
                  <a:srgbClr val="172F3C"/>
                </a:solidFill>
                <a:latin typeface="DejaVu Sans Mono"/>
                <a:ea typeface="DejaVu Sans Mono"/>
                <a:cs typeface="DejaVu Sans Mono"/>
              </a:defRPr>
            </a:pPr>
            <a:r>
              <a:rPr sz="1650" b="0">
                <a:solidFill>
                  <a:srgbClr val="172F3C"/>
                </a:solidFill>
                <a:latin typeface="DejaVu Sans Mono"/>
                <a:ea typeface="DejaVu Sans Mono"/>
                <a:cs typeface="DejaVu Sans Mono"/>
              </a:rPr>
              <a:t>    ast.dump(clases[nombre]),</a:t>
            </a:r>
          </a:p>
          <a:p xmlns:a="http://schemas.openxmlformats.org/drawingml/2006/main">
            <a:pPr algn="l">
              <a:defRPr sz="1650" b="0">
                <a:solidFill>
                  <a:srgbClr val="172F3C"/>
                </a:solidFill>
                <a:latin typeface="DejaVu Sans Mono"/>
                <a:ea typeface="DejaVu Sans Mono"/>
                <a:cs typeface="DejaVu Sans Mono"/>
              </a:defRPr>
            </a:pPr>
            <a:r>
              <a:rPr sz="1650" b="0">
                <a:solidFill>
                  <a:srgbClr val="172F3C"/>
                </a:solidFill>
                <a:latin typeface="DejaVu Sans Mono"/>
                <a:ea typeface="DejaVu Sans Mono"/>
                <a:cs typeface="DejaVu Sans Mono"/>
              </a:rPr>
              <a:t>    ast.dump(documentadas[nombre]),</a:t>
            </a:r>
          </a:p>
          <a:p xmlns:a="http://schemas.openxmlformats.org/drawingml/2006/main">
            <a:pPr algn="l">
              <a:defRPr sz="1650" b="0">
                <a:solidFill>
                  <a:srgbClr val="172F3C"/>
                </a:solidFill>
                <a:latin typeface="DejaVu Sans Mono"/>
                <a:ea typeface="DejaVu Sans Mono"/>
                <a:cs typeface="DejaVu Sans Mono"/>
              </a:defRPr>
            </a:pPr>
            <a:r>
              <a:rPr sz="1650" b="0">
                <a:solidFill>
                  <a:srgbClr val="172F3C"/>
                </a:solidFill>
                <a:latin typeface="DejaVu Sans Mono"/>
                <a:ea typeface="DejaVu Sans Mono"/>
                <a:cs typeface="DejaVu Sans Mono"/>
              </a:rPr>
              <a:t>    nombre)</a:t>
            </a:r>
          </a:p>
        </p:txBody>
      </p:sp>
      <p:sp>
        <p:nvSpPr>
          <p:cNvPr id="18" name="">
            <a:extLst xmlns:a="http://schemas.openxmlformats.org/drawingml/2006/main">
              <a:ext uri="{FF2B5EF4-FFF2-40B4-BE49-F238E27FC236}">
                <a16:creationId xmlns:a16="http://schemas.microsoft.com/office/drawing/2014/main" id="{856C13E4-B08E-417B-8BC4-DAB93EF09691}"/>
              </a:ext>
            </a:extLst>
          </p:cNvPr>
          <p:cNvSpPr>
            <a:spLocks xmlns:a="http://schemas.openxmlformats.org/drawingml/2006/main" noGrp="1"/>
          </p:cNvSpPr>
          <p:nvPr/>
        </p:nvSpPr>
        <p:spPr>
          <a:xfrm xmlns:a="http://schemas.openxmlformats.org/drawingml/2006/main">
            <a:off x="6324600" y="5667375"/>
            <a:ext cx="523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3"/>
                </a:solidFill>
                <a:latin typeface="DejaVu Sans"/>
                <a:ea typeface="DejaVu Sans"/>
                <a:cs typeface="DejaVu Sans"/>
              </a:defRPr>
            </a:defPPr>
          </a:lstStyle>
          <a:p xmlns:a="http://schemas.openxmlformats.org/drawingml/2006/main">
            <a:pPr algn="l">
              <a:defRPr sz="1725" b="0">
                <a:solidFill>
                  <a:srgbClr val="526773"/>
                </a:solidFill>
                <a:latin typeface="DejaVu Sans"/>
                <a:ea typeface="DejaVu Sans"/>
                <a:cs typeface="DejaVu Sans"/>
              </a:defRPr>
            </a:pPr>
            <a:r>
              <a:rPr sz="1725" b="0">
                <a:solidFill>
                  <a:srgbClr val="526773"/>
                </a:solidFill>
                <a:latin typeface="DejaVu Sans"/>
                <a:ea typeface="DejaVu Sans"/>
                <a:cs typeface="DejaVu Sans"/>
              </a:rPr>
              <a:t>La guía debe conservar la estructura actual de cada clase y sus métodos.</a:t>
            </a:r>
          </a:p>
        </p:txBody>
      </p:sp>
    </p:spTree>
    <p:extLst>
      <p:ext uri="{BB962C8B-B14F-4D97-AF65-F5344CB8AC3E}">
        <p14:creationId xmlns:p14="http://schemas.microsoft.com/office/powerpoint/2010/main" val="16324829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42</ap:Slides>
  <ap:Notes>42</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2026-10-16T13:28:37.1340000Z</dcterms:created>
  <dcterms:modified xsi:type="dcterms:W3CDTF">2026-10-16T13:28:37.1340000Z</dcterms:modified>
</coreProperties>
</file>