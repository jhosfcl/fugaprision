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2d2d33445554b53" /><Relationship Type="http://schemas.openxmlformats.org/officeDocument/2006/relationships/extended-properties" Target="/docProps/app.xml" Id="Ra1b43bd04fda405a" /><Relationship Type="http://schemas.openxmlformats.org/officeDocument/2006/relationships/officeDocument" Target="/ppt/presentation.xml" Id="Rf69bdc5f67944e82" /></Relationships>
</file>

<file path=ppt/presentation.xml><?xml version="1.0" encoding="utf-8"?>
<p:presentation xmlns:p="http://schemas.openxmlformats.org/presentationml/2006/main">
  <p:sldMasterIdLst>
    <p:sldMasterId xmlns:r="http://schemas.openxmlformats.org/officeDocument/2006/relationships" id="2147483648" r:id="R27a076be608a4c69"/>
  </p:sldMasterIdLst>
  <p:notesMasterIdLst>
    <p:notesMasterId xmlns:r="http://schemas.openxmlformats.org/officeDocument/2006/relationships" r:id="Ra8e3c226ed574268"/>
  </p:notesMasterIdLst>
  <p:sldIdLst>
    <p:sldId xmlns:r="http://schemas.openxmlformats.org/officeDocument/2006/relationships" id="256" r:id="Rc7ca878ce4064165"/>
    <p:sldId xmlns:r="http://schemas.openxmlformats.org/officeDocument/2006/relationships" id="257" r:id="R263e299309fa44c0"/>
    <p:sldId xmlns:r="http://schemas.openxmlformats.org/officeDocument/2006/relationships" id="258" r:id="R1ec8bedb362645f5"/>
    <p:sldId xmlns:r="http://schemas.openxmlformats.org/officeDocument/2006/relationships" id="259" r:id="R8c2c657b10d944f9"/>
    <p:sldId xmlns:r="http://schemas.openxmlformats.org/officeDocument/2006/relationships" id="260" r:id="R1360743a35534614"/>
    <p:sldId xmlns:r="http://schemas.openxmlformats.org/officeDocument/2006/relationships" id="261" r:id="R6c23391a62bd4b2c"/>
    <p:sldId xmlns:r="http://schemas.openxmlformats.org/officeDocument/2006/relationships" id="262" r:id="R8a88b9a4c2b64c37"/>
    <p:sldId xmlns:r="http://schemas.openxmlformats.org/officeDocument/2006/relationships" id="263" r:id="Recbf56a573c4495f"/>
    <p:sldId xmlns:r="http://schemas.openxmlformats.org/officeDocument/2006/relationships" id="264" r:id="R58f18dae9f55491f"/>
    <p:sldId xmlns:r="http://schemas.openxmlformats.org/officeDocument/2006/relationships" id="265" r:id="R3cb31180b86b42b3"/>
    <p:sldId xmlns:r="http://schemas.openxmlformats.org/officeDocument/2006/relationships" id="266" r:id="R67005834b3084ce8"/>
    <p:sldId xmlns:r="http://schemas.openxmlformats.org/officeDocument/2006/relationships" id="267" r:id="Rcf1d1bf8f0aa44f7"/>
    <p:sldId xmlns:r="http://schemas.openxmlformats.org/officeDocument/2006/relationships" id="268" r:id="R389cb17fbd48497f"/>
    <p:sldId xmlns:r="http://schemas.openxmlformats.org/officeDocument/2006/relationships" id="269" r:id="R4c2148d9842a406c"/>
    <p:sldId xmlns:r="http://schemas.openxmlformats.org/officeDocument/2006/relationships" id="270" r:id="Rd636bb4949da4f8a"/>
    <p:sldId xmlns:r="http://schemas.openxmlformats.org/officeDocument/2006/relationships" id="271" r:id="Rabbb94a4d6304e27"/>
    <p:sldId xmlns:r="http://schemas.openxmlformats.org/officeDocument/2006/relationships" id="272" r:id="R680b100084a042ec"/>
    <p:sldId xmlns:r="http://schemas.openxmlformats.org/officeDocument/2006/relationships" id="273" r:id="R657365b50a6c48dd"/>
    <p:sldId xmlns:r="http://schemas.openxmlformats.org/officeDocument/2006/relationships" id="274" r:id="R71aa1552ee61497d"/>
    <p:sldId xmlns:r="http://schemas.openxmlformats.org/officeDocument/2006/relationships" id="275" r:id="Reb8ba19857f142be"/>
    <p:sldId xmlns:r="http://schemas.openxmlformats.org/officeDocument/2006/relationships" id="276" r:id="R988a1d5bc56f4cef"/>
    <p:sldId xmlns:r="http://schemas.openxmlformats.org/officeDocument/2006/relationships" id="277" r:id="R487f794ef6ab4604"/>
    <p:sldId xmlns:r="http://schemas.openxmlformats.org/officeDocument/2006/relationships" id="278" r:id="R0483bc0e1bf4465e"/>
    <p:sldId xmlns:r="http://schemas.openxmlformats.org/officeDocument/2006/relationships" id="279" r:id="Rd9785e78d06d472a"/>
    <p:sldId xmlns:r="http://schemas.openxmlformats.org/officeDocument/2006/relationships" id="280" r:id="Rf405cd303f124d8a"/>
    <p:sldId xmlns:r="http://schemas.openxmlformats.org/officeDocument/2006/relationships" id="281" r:id="R5f305e23314f4e68"/>
    <p:sldId xmlns:r="http://schemas.openxmlformats.org/officeDocument/2006/relationships" id="282" r:id="R073945e43e014f77"/>
    <p:sldId xmlns:r="http://schemas.openxmlformats.org/officeDocument/2006/relationships" id="283" r:id="Rc9da54c1a6bf4810"/>
    <p:sldId xmlns:r="http://schemas.openxmlformats.org/officeDocument/2006/relationships" id="284" r:id="R5e5d953cd9934ea1"/>
    <p:sldId xmlns:r="http://schemas.openxmlformats.org/officeDocument/2006/relationships" id="285" r:id="R518c7489c6b142ff"/>
    <p:sldId xmlns:r="http://schemas.openxmlformats.org/officeDocument/2006/relationships" id="286" r:id="R8025c5819d8848dc"/>
    <p:sldId xmlns:r="http://schemas.openxmlformats.org/officeDocument/2006/relationships" id="287" r:id="R74e5f61cb0d24dd0"/>
    <p:sldId xmlns:r="http://schemas.openxmlformats.org/officeDocument/2006/relationships" id="288" r:id="Ra1e19fd260a04ab7"/>
    <p:sldId xmlns:r="http://schemas.openxmlformats.org/officeDocument/2006/relationships" id="289" r:id="R143049fe58d34f9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e5e4ef67e12453f" /><Relationship Type="http://schemas.openxmlformats.org/officeDocument/2006/relationships/slideMaster" Target="/ppt/slideMasters/slideMaster1.xml" Id="R27a076be608a4c69" /><Relationship Type="http://schemas.openxmlformats.org/officeDocument/2006/relationships/notesMaster" Target="/ppt/notesMasters/notesMaster1.xml" Id="Ra8e3c226ed574268" /><Relationship Type="http://schemas.openxmlformats.org/officeDocument/2006/relationships/presProps" Target="/ppt/presProps.xml" Id="Rc48d27e283fd4349" /><Relationship Type="http://schemas.openxmlformats.org/officeDocument/2006/relationships/tableStyles" Target="/ppt/tableStyles.xml" Id="R25cc393e78d34ff7" /><Relationship Type="http://schemas.openxmlformats.org/officeDocument/2006/relationships/slide" Target="/ppt/slides/slide1.xml" Id="Rc7ca878ce4064165" /><Relationship Type="http://schemas.openxmlformats.org/officeDocument/2006/relationships/slide" Target="/ppt/slides/slide2.xml" Id="R263e299309fa44c0" /><Relationship Type="http://schemas.openxmlformats.org/officeDocument/2006/relationships/slide" Target="/ppt/slides/slide3.xml" Id="R1ec8bedb362645f5" /><Relationship Type="http://schemas.openxmlformats.org/officeDocument/2006/relationships/slide" Target="/ppt/slides/slide4.xml" Id="R8c2c657b10d944f9" /><Relationship Type="http://schemas.openxmlformats.org/officeDocument/2006/relationships/slide" Target="/ppt/slides/slide5.xml" Id="R1360743a35534614" /><Relationship Type="http://schemas.openxmlformats.org/officeDocument/2006/relationships/slide" Target="/ppt/slides/slide6.xml" Id="R6c23391a62bd4b2c" /><Relationship Type="http://schemas.openxmlformats.org/officeDocument/2006/relationships/slide" Target="/ppt/slides/slide7.xml" Id="R8a88b9a4c2b64c37" /><Relationship Type="http://schemas.openxmlformats.org/officeDocument/2006/relationships/slide" Target="/ppt/slides/slide8.xml" Id="Recbf56a573c4495f" /><Relationship Type="http://schemas.openxmlformats.org/officeDocument/2006/relationships/slide" Target="/ppt/slides/slide9.xml" Id="R58f18dae9f55491f" /><Relationship Type="http://schemas.openxmlformats.org/officeDocument/2006/relationships/slide" Target="/ppt/slides/slide10.xml" Id="R3cb31180b86b42b3" /><Relationship Type="http://schemas.openxmlformats.org/officeDocument/2006/relationships/slide" Target="/ppt/slides/slide11.xml" Id="R67005834b3084ce8" /><Relationship Type="http://schemas.openxmlformats.org/officeDocument/2006/relationships/slide" Target="/ppt/slides/slide12.xml" Id="Rcf1d1bf8f0aa44f7" /><Relationship Type="http://schemas.openxmlformats.org/officeDocument/2006/relationships/slide" Target="/ppt/slides/slide13.xml" Id="R389cb17fbd48497f" /><Relationship Type="http://schemas.openxmlformats.org/officeDocument/2006/relationships/slide" Target="/ppt/slides/slide14.xml" Id="R4c2148d9842a406c" /><Relationship Type="http://schemas.openxmlformats.org/officeDocument/2006/relationships/slide" Target="/ppt/slides/slide15.xml" Id="Rd636bb4949da4f8a" /><Relationship Type="http://schemas.openxmlformats.org/officeDocument/2006/relationships/slide" Target="/ppt/slides/slide16.xml" Id="Rabbb94a4d6304e27" /><Relationship Type="http://schemas.openxmlformats.org/officeDocument/2006/relationships/slide" Target="/ppt/slides/slide17.xml" Id="R680b100084a042ec" /><Relationship Type="http://schemas.openxmlformats.org/officeDocument/2006/relationships/slide" Target="/ppt/slides/slide18.xml" Id="R657365b50a6c48dd" /><Relationship Type="http://schemas.openxmlformats.org/officeDocument/2006/relationships/slide" Target="/ppt/slides/slide19.xml" Id="R71aa1552ee61497d" /><Relationship Type="http://schemas.openxmlformats.org/officeDocument/2006/relationships/slide" Target="/ppt/slides/slide20.xml" Id="Reb8ba19857f142be" /><Relationship Type="http://schemas.openxmlformats.org/officeDocument/2006/relationships/slide" Target="/ppt/slides/slide21.xml" Id="R988a1d5bc56f4cef" /><Relationship Type="http://schemas.openxmlformats.org/officeDocument/2006/relationships/slide" Target="/ppt/slides/slide22.xml" Id="R487f794ef6ab4604" /><Relationship Type="http://schemas.openxmlformats.org/officeDocument/2006/relationships/slide" Target="/ppt/slides/slide23.xml" Id="R0483bc0e1bf4465e" /><Relationship Type="http://schemas.openxmlformats.org/officeDocument/2006/relationships/slide" Target="/ppt/slides/slide24.xml" Id="Rd9785e78d06d472a" /><Relationship Type="http://schemas.openxmlformats.org/officeDocument/2006/relationships/slide" Target="/ppt/slides/slide25.xml" Id="Rf405cd303f124d8a" /><Relationship Type="http://schemas.openxmlformats.org/officeDocument/2006/relationships/slide" Target="/ppt/slides/slide26.xml" Id="R5f305e23314f4e68" /><Relationship Type="http://schemas.openxmlformats.org/officeDocument/2006/relationships/slide" Target="/ppt/slides/slide27.xml" Id="R073945e43e014f77" /><Relationship Type="http://schemas.openxmlformats.org/officeDocument/2006/relationships/slide" Target="/ppt/slides/slide28.xml" Id="Rc9da54c1a6bf4810" /><Relationship Type="http://schemas.openxmlformats.org/officeDocument/2006/relationships/slide" Target="/ppt/slides/slide29.xml" Id="R5e5d953cd9934ea1" /><Relationship Type="http://schemas.openxmlformats.org/officeDocument/2006/relationships/slide" Target="/ppt/slides/slide30.xml" Id="R518c7489c6b142ff" /><Relationship Type="http://schemas.openxmlformats.org/officeDocument/2006/relationships/slide" Target="/ppt/slides/slide31.xml" Id="R8025c5819d8848dc" /><Relationship Type="http://schemas.openxmlformats.org/officeDocument/2006/relationships/slide" Target="/ppt/slides/slide32.xml" Id="R74e5f61cb0d24dd0" /><Relationship Type="http://schemas.openxmlformats.org/officeDocument/2006/relationships/slide" Target="/ppt/slides/slide33.xml" Id="Ra1e19fd260a04ab7" /><Relationship Type="http://schemas.openxmlformats.org/officeDocument/2006/relationships/slide" Target="/ppt/slides/slide34.xml" Id="R143049fe58d34f9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fd17aa3bbac4cf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61e5a5218e4964" /><Relationship Type="http://schemas.openxmlformats.org/officeDocument/2006/relationships/notesMaster" Target="/ppt/notesMasters/notesMaster1.xml" Id="Rb20f304ea6624310" /></Relationships>
</file>

<file path=ppt/notesSlides/_rels/notesSlide2.xml.rels>&#65279;<?xml version="1.0" encoding="utf-8"?><Relationships xmlns="http://schemas.openxmlformats.org/package/2006/relationships"><Relationship Type="http://schemas.openxmlformats.org/officeDocument/2006/relationships/slide" Target="/ppt/slides/slide2.xml" Id="R180aa0d38a2f4eaa" /><Relationship Type="http://schemas.openxmlformats.org/officeDocument/2006/relationships/notesMaster" Target="/ppt/notesMasters/notesMaster1.xml" Id="R397e8e9585334f0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93373a8856c4835" /><Relationship Type="http://schemas.openxmlformats.org/officeDocument/2006/relationships/notesMaster" Target="/ppt/notesMasters/notesMaster1.xml" Id="R45b715b027284d17" /></Relationships>
</file>

<file path=ppt/notesSlides/_rels/notesSlide4.xml.rels>&#65279;<?xml version="1.0" encoding="utf-8"?><Relationships xmlns="http://schemas.openxmlformats.org/package/2006/relationships"><Relationship Type="http://schemas.openxmlformats.org/officeDocument/2006/relationships/slide" Target="/ppt/slides/slide4.xml" Id="R880b6b3cbd8d4dab" /><Relationship Type="http://schemas.openxmlformats.org/officeDocument/2006/relationships/notesMaster" Target="/ppt/notesMasters/notesMaster1.xml" Id="R210487c3042643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87fc6aca5e84e9c" /><Relationship Type="http://schemas.openxmlformats.org/officeDocument/2006/relationships/notesMaster" Target="/ppt/notesMasters/notesMaster1.xml" Id="R887105640d2a42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870f9caec8074151" /><Relationship Type="http://schemas.openxmlformats.org/officeDocument/2006/relationships/notesMaster" Target="/ppt/notesMasters/notesMaster1.xml" Id="R560fec260f0a4db6" /></Relationships>
</file>

<file path=ppt/notesSlides/_rels/notesSlide7.xml.rels>&#65279;<?xml version="1.0" encoding="utf-8"?><Relationships xmlns="http://schemas.openxmlformats.org/package/2006/relationships"><Relationship Type="http://schemas.openxmlformats.org/officeDocument/2006/relationships/slide" Target="/ppt/slides/slide7.xml" Id="R521c289fa78741f2" /><Relationship Type="http://schemas.openxmlformats.org/officeDocument/2006/relationships/notesMaster" Target="/ppt/notesMasters/notesMaster1.xml" Id="Rec9d0474fe2a4c89" /></Relationships>
</file>

<file path=ppt/notesSlides/_rels/notesSlide8.xml.rels>&#65279;<?xml version="1.0" encoding="utf-8"?><Relationships xmlns="http://schemas.openxmlformats.org/package/2006/relationships"><Relationship Type="http://schemas.openxmlformats.org/officeDocument/2006/relationships/slide" Target="/ppt/slides/slide8.xml" Id="R9b07699e97904a49" /><Relationship Type="http://schemas.openxmlformats.org/officeDocument/2006/relationships/notesMaster" Target="/ppt/notesMasters/notesMaster1.xml" Id="R37bd9795b7cf4fc0"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a5273222a64e68" /><Relationship Type="http://schemas.openxmlformats.org/officeDocument/2006/relationships/notesMaster" Target="/ppt/notesMasters/notesMaster1.xml" Id="Rc7529eec8444460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de2ec2a0a76430f" /><Relationship Type="http://schemas.openxmlformats.org/officeDocument/2006/relationships/notesMaster" Target="/ppt/notesMasters/notesMaster1.xml" Id="Rc089ad99aed1415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a4c6da830e54ef6" /><Relationship Type="http://schemas.openxmlformats.org/officeDocument/2006/relationships/notesMaster" Target="/ppt/notesMasters/notesMaster1.xml" Id="R97c5cdfde49c4e5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afb66c28112414e" /><Relationship Type="http://schemas.openxmlformats.org/officeDocument/2006/relationships/notesMaster" Target="/ppt/notesMasters/notesMaster1.xml" Id="R54be77c7ba94401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5660cfacb264c52" /><Relationship Type="http://schemas.openxmlformats.org/officeDocument/2006/relationships/notesMaster" Target="/ppt/notesMasters/notesMaster1.xml" Id="Rf39ef08b4165471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a7f9c82d695430b" /><Relationship Type="http://schemas.openxmlformats.org/officeDocument/2006/relationships/notesMaster" Target="/ppt/notesMasters/notesMaster1.xml" Id="R7511b7376ad2413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f41ffd722994fe7" /><Relationship Type="http://schemas.openxmlformats.org/officeDocument/2006/relationships/notesMaster" Target="/ppt/notesMasters/notesMaster1.xml" Id="R2fe911a0b277403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2a2cf02966844d3" /><Relationship Type="http://schemas.openxmlformats.org/officeDocument/2006/relationships/notesMaster" Target="/ppt/notesMasters/notesMaster1.xml" Id="R1669de311b8d49b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cb292bebd4a47de" /><Relationship Type="http://schemas.openxmlformats.org/officeDocument/2006/relationships/notesMaster" Target="/ppt/notesMasters/notesMaster1.xml" Id="Ra07a61c77a424a9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8cb621300424fb5" /><Relationship Type="http://schemas.openxmlformats.org/officeDocument/2006/relationships/notesMaster" Target="/ppt/notesMasters/notesMaster1.xml" Id="R6cf4489e45274f5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5f36176f0934c1c" /><Relationship Type="http://schemas.openxmlformats.org/officeDocument/2006/relationships/notesMaster" Target="/ppt/notesMasters/notesMaster1.xml" Id="Rcbc35b9f359240a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0560cb33c554e62" /><Relationship Type="http://schemas.openxmlformats.org/officeDocument/2006/relationships/notesMaster" Target="/ppt/notesMasters/notesMaster1.xml" Id="R289ffad8d6bf4bb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5e83a3762f84571" /><Relationship Type="http://schemas.openxmlformats.org/officeDocument/2006/relationships/notesMaster" Target="/ppt/notesMasters/notesMaster1.xml" Id="R9c9ebab48dae4f8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ed735dfe5a84b31" /><Relationship Type="http://schemas.openxmlformats.org/officeDocument/2006/relationships/notesMaster" Target="/ppt/notesMasters/notesMaster1.xml" Id="Re076dadd7c17495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b0e032d32ec4eec" /><Relationship Type="http://schemas.openxmlformats.org/officeDocument/2006/relationships/notesMaster" Target="/ppt/notesMasters/notesMaster1.xml" Id="Rd0b96e04411141c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05a698123844e9f" /><Relationship Type="http://schemas.openxmlformats.org/officeDocument/2006/relationships/notesMaster" Target="/ppt/notesMasters/notesMaster1.xml" Id="R1511af0db3e142c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6158b9d716946f2" /><Relationship Type="http://schemas.openxmlformats.org/officeDocument/2006/relationships/notesMaster" Target="/ppt/notesMasters/notesMaster1.xml" Id="R1971990f443b414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ef35f63421a45b5" /><Relationship Type="http://schemas.openxmlformats.org/officeDocument/2006/relationships/notesMaster" Target="/ppt/notesMasters/notesMaster1.xml" Id="Rfc49d8110e99421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917605bd55143a8" /><Relationship Type="http://schemas.openxmlformats.org/officeDocument/2006/relationships/notesMaster" Target="/ppt/notesMasters/notesMaster1.xml" Id="Rffa24af1d43749f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c32a0ca1ba74f0c" /><Relationship Type="http://schemas.openxmlformats.org/officeDocument/2006/relationships/notesMaster" Target="/ppt/notesMasters/notesMaster1.xml" Id="Rd60fa2633f4d42f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60d84e9a2334bc7" /><Relationship Type="http://schemas.openxmlformats.org/officeDocument/2006/relationships/notesMaster" Target="/ppt/notesMasters/notesMaster1.xml" Id="Rac951f008b564b3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4ac962526c34176" /><Relationship Type="http://schemas.openxmlformats.org/officeDocument/2006/relationships/notesMaster" Target="/ppt/notesMasters/notesMaster1.xml" Id="R411c61be769547b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0164959affa4a0d" /><Relationship Type="http://schemas.openxmlformats.org/officeDocument/2006/relationships/notesMaster" Target="/ppt/notesMasters/notesMaster1.xml" Id="R44cab736f4844a3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9b8a950b5ae413e" /><Relationship Type="http://schemas.openxmlformats.org/officeDocument/2006/relationships/notesMaster" Target="/ppt/notesMasters/notesMaster1.xml" Id="R010c7b84cd1c4a5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2d6d8124dea4fcf" /><Relationship Type="http://schemas.openxmlformats.org/officeDocument/2006/relationships/notesMaster" Target="/ppt/notesMasters/notesMaster1.xml" Id="R3865b0bba0ad405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d3d261f2dd64046" /><Relationship Type="http://schemas.openxmlformats.org/officeDocument/2006/relationships/notesMaster" Target="/ppt/notesMasters/notesMaster1.xml" Id="R26240356403f482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Portada</a:t>
            </a:r>
          </a:p>
          <a:p xmlns:a="http://schemas.openxmlformats.org/drawingml/2006/main">
            <a:r>
              <a:t/>
            </a:r>
          </a:p>
          <a:p xmlns:a="http://schemas.openxmlformats.org/drawingml/2006/main">
            <a:r>
              <a:t>Presentar al equipo y anunciar que la exposición seguirá los siete apartados de la estructura entregada. El criterio IV de la rúbrica evalúa la claridad y el dominio durante toda la exposición.</a:t>
            </a:r>
          </a:p>
          <a:p xmlns:a="http://schemas.openxmlformats.org/drawingml/2006/main">
            <a:r>
              <a:t/>
            </a:r>
          </a:p>
          <a:p xmlns:a="http://schemas.openxmlformats.org/drawingml/2006/main">
            <a:r>
              <a:t>Fuentes: Informe parcial, portada; rúbrica, criterio IV.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Resumen ejecutivo</a:t>
            </a:r>
          </a:p>
          <a:p xmlns:a="http://schemas.openxmlformats.org/drawingml/2006/main">
            <a:r>
              <a:t/>
            </a:r>
          </a:p>
          <a:p xmlns:a="http://schemas.openxmlformats.org/drawingml/2006/main">
            <a:r>
              <a:t>Resumir el objetivo y la organización del proyecto sin explicar aún cada clase. State organiza los estados de la partida y Observer comunica los cambios del puntaje.</a:t>
            </a:r>
          </a:p>
          <a:p xmlns:a="http://schemas.openxmlformats.org/drawingml/2006/main">
            <a:r>
              <a:t/>
            </a:r>
          </a:p>
          <a:p xmlns:a="http://schemas.openxmlformats.org/drawingml/2006/main">
            <a:r>
              <a:t>Fuentes: README.md; src/estados.py; src/puntuacion.py; estructura del informe, apartado 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II. Introducción</a:t>
            </a:r>
          </a:p>
          <a:p xmlns:a="http://schemas.openxmlformats.org/drawingml/2006/main">
            <a:r>
              <a:t/>
            </a:r>
          </a:p>
          <a:p xmlns:a="http://schemas.openxmlformats.org/drawingml/2006/main">
            <a:r>
              <a:t>Explicar el contexto del curso y el objetivo académico. Señalar brevemente al jugador, la llave y la salida en la captura. Las tecnologías se presentan por su función, sin entrar en detalles de instalación.</a:t>
            </a:r>
          </a:p>
          <a:p xmlns:a="http://schemas.openxmlformats.org/drawingml/2006/main">
            <a:r>
              <a:t/>
            </a:r>
          </a:p>
          <a:p xmlns:a="http://schemas.openxmlformats.org/drawingml/2006/main">
            <a:r>
              <a:t>Fuentes: README.md; requirements.txt; captura 01_inicio.png; estructura del informe, apartado II.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III. Diseño de arquitectura</a:t>
            </a:r>
          </a:p>
          <a:p xmlns:a="http://schemas.openxmlformats.org/drawingml/2006/main">
            <a:r>
              <a:t/>
            </a:r>
          </a:p>
          <a:p xmlns:a="http://schemas.openxmlformats.org/drawingml/2006/main">
            <a:r>
              <a:t>El diagrama resume ocho de las 25 clases del juego. Juego coordina la campaña. Nivel reúne las reglas de una etapa. Vista dibuja. Mapa resuelve paredes y recorridos. Puntaje conserva los puntos. Personaje es la base abstracta de Prisionero y Guardia. El rombo negro indica composición, el blanco agregación, el triángulo herencia y la flecha discontinua dependencia. El UML completo con atributos está en el punto 7.</a:t>
            </a:r>
          </a:p>
          <a:p xmlns:a="http://schemas.openxmlformats.org/drawingml/2006/main">
            <a:r>
              <a:t/>
            </a:r>
          </a:p>
          <a:p xmlns:a="http://schemas.openxmlformats.org/drawingml/2006/main">
            <a:r>
              <a:t>Fuentes: src/; docs/diagramas/modelo_parcial.mmd; estructura III y criterio I de la rúbrica.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IV. Asociación, agregación y composición</a:t>
            </a:r>
          </a:p>
          <a:p xmlns:a="http://schemas.openxmlformats.org/drawingml/2006/main">
            <a:r>
              <a:t/>
            </a:r>
          </a:p>
          <a:p xmlns:a="http://schemas.openxmlformats.org/drawingml/2006/main">
            <a:r>
              <a:t>Asociación: Personaje conserva una referencia a Nivel para consultar el mapa. Agregación: Juego crea Puntaje y se lo entrega a cada Nivel, conservando el mismo objeto durante la campaña. Composición: Nivel construye su Mapa al cargar la etapa. La diferencia se explica por cómo se obtiene el objeto y la responsabilidad de crearlo.</a:t>
            </a:r>
          </a:p>
          <a:p xmlns:a="http://schemas.openxmlformats.org/drawingml/2006/main">
            <a:r>
              <a:t/>
            </a:r>
          </a:p>
          <a:p xmlns:a="http://schemas.openxmlformats.org/drawingml/2006/main">
            <a:r>
              <a:t>Fuentes: src/personajes.py: Personaje.__init__; src/nivel.py: Nivel.__init__; src/juego.py; estructura IV.a.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IV. Herencia, polimorfismo y encapsulamiento</a:t>
            </a:r>
          </a:p>
          <a:p xmlns:a="http://schemas.openxmlformats.org/drawingml/2006/main">
            <a:r>
              <a:t/>
            </a:r>
          </a:p>
          <a:p xmlns:a="http://schemas.openxmlformats.org/drawingml/2006/main">
            <a:r>
              <a:t>Personaje define una base abstracta. Prisionero responde al teclado y Guardia decide su movimiento. Nivel.actualizar llama a update sin distinguir su tipo. Puntaje protege la regla de los enteros no negativos mediante sus métodos. El guion bajo de _valor señala uso interno por convención de Python, no una barrera de acceso. El fragmento completo del setter está en anexos.</a:t>
            </a:r>
          </a:p>
          <a:p xmlns:a="http://schemas.openxmlformats.org/drawingml/2006/main">
            <a:r>
              <a:t/>
            </a:r>
          </a:p>
          <a:p xmlns:a="http://schemas.openxmlformats.org/drawingml/2006/main">
            <a:r>
              <a:t>Fuentes: src/personajes.py; src/nivel.py: Nivel.actualizar; src/puntuacion.py; estructura IV.b y IV.c.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 Resultados parciales y Git</a:t>
            </a:r>
          </a:p>
          <a:p xmlns:a="http://schemas.openxmlformats.org/drawingml/2006/main">
            <a:r>
              <a:t/>
            </a:r>
          </a:p>
          <a:p xmlns:a="http://schemas.openxmlformats.org/drawingml/2006/main">
            <a:r>
              <a:t>Demostrar en el juego una función breve, por ejemplo abrir la celda y pausar. La verificación automática completó los cuatro niveles y pasó 54 pruebas. La rúbrica pide evidenciar al menos el avance señalado, pero no define una fórmula: mostrar funciones ejecutables sin inventar un porcentaje. Abrir el historial de Git: cfaba6e registra el plan, 8917f20 el prototipo y f3cd9fe la documentación. Cada integrante debe explicar un aporte real, sin deducirlo de los nombres configurados de los autores.</a:t>
            </a:r>
          </a:p>
          <a:p xmlns:a="http://schemas.openxmlformats.org/drawingml/2006/main">
            <a:r>
              <a:t/>
            </a:r>
          </a:p>
          <a:p xmlns:a="http://schemas.openxmlformats.org/drawingml/2006/main">
            <a:r>
              <a:t>Fuentes: docs/evidencias/13_celda_abierta.png; tools/verificar.py; git log; estructura VI y criterio III.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VII. Conclusiones</a:t>
            </a:r>
          </a:p>
          <a:p xmlns:a="http://schemas.openxmlformats.org/drawingml/2006/main">
            <a:r>
              <a:t/>
            </a:r>
          </a:p>
          <a:p xmlns:a="http://schemas.openxmlformats.org/drawingml/2006/main">
            <a:r>
              <a:t>Relacionar cada conclusión con un ejemplo presentado. Los fundamentos se observan en objetos reales del juego. La separación de Mapa, SistemaRuido y Nivel permitió comprobar reglas de movimiento y vigilancia. Cerrar destacando lo aprendido, sin afirmar una calificación o un porcentaje de avance no medido.</a:t>
            </a:r>
          </a:p>
          <a:p xmlns:a="http://schemas.openxmlformats.org/drawingml/2006/main">
            <a:r>
              <a:t/>
            </a:r>
          </a:p>
          <a:p xmlns:a="http://schemas.openxmlformats.org/drawingml/2006/main">
            <a:r>
              <a:t>Fuentes: Informe parcial, conclusiones; código y pruebas; estructura VII.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VIII. Anexos</a:t>
            </a:r>
          </a:p>
          <a:p xmlns:a="http://schemas.openxmlformats.org/drawingml/2006/main">
            <a:r>
              <a:t/>
            </a:r>
          </a:p>
          <a:p xmlns:a="http://schemas.openxmlformats.org/drawingml/2006/main">
            <a:r>
              <a:t>Material de apoyo para las preguntas. El UML íntegro reúne las 25 clases del juego y puede ampliarse desde el enlace. El setter rechaza valores inválidos, cambia _valor y notifica a los observadores. La estructura entregada omite el apartado V, por eso los siete puntos son I, II, III, IV, VI, VII y VIII.</a:t>
            </a:r>
          </a:p>
          <a:p xmlns:a="http://schemas.openxmlformats.org/drawingml/2006/main">
            <a:r>
              <a:t/>
            </a:r>
          </a:p>
          <a:p xmlns:a="http://schemas.openxmlformats.org/drawingml/2006/main">
            <a:r>
              <a:t>Fuentes: docs/diagramas/modelo_parcial.png; src/puntuacion.py: Puntaje.set_valor; estructura VIII.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Juego</a:t>
            </a:r>
          </a:p>
          <a:p xmlns:a="http://schemas.openxmlformats.org/drawingml/2006/main">
            <a:r>
              <a:t/>
            </a:r>
          </a:p>
          <a:p xmlns:a="http://schemas.openxmlformats.org/drawingml/2006/main">
            <a:r>
              <a:t>Función: Coordina la campaña, los niveles, los puntos y el estado de la partida.</a:t>
            </a:r>
          </a:p>
          <a:p xmlns:a="http://schemas.openxmlformats.org/drawingml/2006/main">
            <a:r>
              <a:t/>
            </a:r>
          </a:p>
          <a:p xmlns:a="http://schemas.openxmlformats.org/drawingml/2006/main">
            <a:r>
              <a:t>Composición: crea Puntaje, PanelPuntaje y Nivel.</a:t>
            </a:r>
          </a:p>
          <a:p xmlns:a="http://schemas.openxmlformats.org/drawingml/2006/main">
            <a:r>
              <a:t>Polimorfismo: delega en el EstadoJuego activo.</a:t>
            </a:r>
          </a:p>
          <a:p xmlns:a="http://schemas.openxmlformats.org/drawingml/2006/main">
            <a:r>
              <a:t/>
            </a:r>
          </a:p>
          <a:p xmlns:a="http://schemas.openxmlformats.org/drawingml/2006/main">
            <a:r>
              <a:t>Juego coordina objetos con responsabilidades distintas. La creación de las partes muestra composición. Al llamar al estado activo usa una interfaz común: el comportamiento depende de si ese objeto es Jugando, Pausa u otro estado. La suscripción del panel conecta además el patrón Observer.</a:t>
            </a:r>
          </a:p>
          <a:p xmlns:a="http://schemas.openxmlformats.org/drawingml/2006/main">
            <a:r>
              <a:t/>
            </a:r>
          </a:p>
          <a:p xmlns:a="http://schemas.openxmlformats.org/drawingml/2006/main">
            <a:r>
              <a:t>Fuentes: src/juego.py, clase desde línea 7; caja original en docs/diagramas/modelo_parcial.png, rectángulo [3377, 1345, 3944, 2167].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EstadoJuego</a:t>
            </a:r>
          </a:p>
          <a:p xmlns:a="http://schemas.openxmlformats.org/drawingml/2006/main">
            <a:r>
              <a:t/>
            </a:r>
          </a:p>
          <a:p xmlns:a="http://schemas.openxmlformats.org/drawingml/2006/main">
            <a:r>
              <a:t>Función: Define las operaciones comunes de los estados de la partida.</a:t>
            </a:r>
          </a:p>
          <a:p xmlns:a="http://schemas.openxmlformats.org/drawingml/2006/main">
            <a:r>
              <a:t/>
            </a:r>
          </a:p>
          <a:p xmlns:a="http://schemas.openxmlformats.org/drawingml/2006/main">
            <a:r>
              <a:t>Abstracción: exige implementar entrada y actualización.</a:t>
            </a:r>
          </a:p>
          <a:p xmlns:a="http://schemas.openxmlformats.org/drawingml/2006/main">
            <a:r>
              <a:t>Asociación: conserva el Juego que recibe.</a:t>
            </a:r>
          </a:p>
          <a:p xmlns:a="http://schemas.openxmlformats.org/drawingml/2006/main">
            <a:r>
              <a:t/>
            </a:r>
          </a:p>
          <a:p xmlns:a="http://schemas.openxmlformats.org/drawingml/2006/main">
            <a:r>
              <a:t>Hereda de ABC y define el contrato de los estados. Los decoradores abstractmethod impiden instanciar una implementación incompleta. Guarda una referencia a Juego sin construirlo. Es la base del patrón State, no un estado concreto que el usuario vea en pantalla.</a:t>
            </a:r>
          </a:p>
          <a:p xmlns:a="http://schemas.openxmlformats.org/drawingml/2006/main">
            <a:r>
              <a:t/>
            </a:r>
          </a:p>
          <a:p xmlns:a="http://schemas.openxmlformats.org/drawingml/2006/main">
            <a:r>
              <a:t>Fuentes: src/estados.py, clase desde línea 4; caja original en docs/diagramas/modelo_parcial.png, rectángulo [1388, 2789, 1994, 3227].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Jugando</a:t>
            </a:r>
          </a:p>
          <a:p xmlns:a="http://schemas.openxmlformats.org/drawingml/2006/main">
            <a:r>
              <a:t/>
            </a:r>
          </a:p>
          <a:p xmlns:a="http://schemas.openxmlformats.org/drawingml/2006/main">
            <a:r>
              <a:t>Función: Mantiene activa la simulación del nivel.</a:t>
            </a:r>
          </a:p>
          <a:p xmlns:a="http://schemas.openxmlformats.org/drawingml/2006/main">
            <a:r>
              <a:t/>
            </a:r>
          </a:p>
          <a:p xmlns:a="http://schemas.openxmlformats.org/drawingml/2006/main">
            <a:r>
              <a:t>Herencia: deriva de EstadoJuego.</a:t>
            </a:r>
          </a:p>
          <a:p xmlns:a="http://schemas.openxmlformats.org/drawingml/2006/main">
            <a:r>
              <a:t>Polimorfismo: actualizar ejecuta la simulación.</a:t>
            </a:r>
          </a:p>
          <a:p xmlns:a="http://schemas.openxmlformats.org/drawingml/2006/main">
            <a:r>
              <a:t/>
            </a:r>
          </a:p>
          <a:p xmlns:a="http://schemas.openxmlformats.org/drawingml/2006/main">
            <a:r>
              <a:t>Implementa las operaciones heredadas para una partida activa. Juego puede llamarla por la misma interfaz que usa con Pausa. El resultado del nivel decide la transición a derrota, victoria o nivel completado. Es uno de los estados concretos de State.</a:t>
            </a:r>
          </a:p>
          <a:p xmlns:a="http://schemas.openxmlformats.org/drawingml/2006/main">
            <a:r>
              <a:t/>
            </a:r>
          </a:p>
          <a:p xmlns:a="http://schemas.openxmlformats.org/drawingml/2006/main">
            <a:r>
              <a:t>Fuentes: src/estados.py, clase desde línea 19; caja original en docs/diagramas/modelo_parcial.png, rectángulo [94, 4041, 667, 4383].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Pausa</a:t>
            </a:r>
          </a:p>
          <a:p xmlns:a="http://schemas.openxmlformats.org/drawingml/2006/main">
            <a:r>
              <a:t/>
            </a:r>
          </a:p>
          <a:p xmlns:a="http://schemas.openxmlformats.org/drawingml/2006/main">
            <a:r>
              <a:t>Función: Detiene la simulación hasta que el jugador continúa.</a:t>
            </a:r>
          </a:p>
          <a:p xmlns:a="http://schemas.openxmlformats.org/drawingml/2006/main">
            <a:r>
              <a:t/>
            </a:r>
          </a:p>
          <a:p xmlns:a="http://schemas.openxmlformats.org/drawingml/2006/main">
            <a:r>
              <a:t>Herencia: deriva de EstadoJuego.</a:t>
            </a:r>
          </a:p>
          <a:p xmlns:a="http://schemas.openxmlformats.org/drawingml/2006/main">
            <a:r>
              <a:t>Polimorfismo: actualizar deja el nivel detenido.</a:t>
            </a:r>
          </a:p>
          <a:p xmlns:a="http://schemas.openxmlformats.org/drawingml/2006/main">
            <a:r>
              <a:t/>
            </a:r>
          </a:p>
          <a:p xmlns:a="http://schemas.openxmlformats.org/drawingml/2006/main">
            <a:r>
              <a:t>Comparte la interfaz de Jugando, pero su actualización no realiza ninguna operación. Esa diferencia de comportamiento con la misma llamada demuestra polimorfismo. Su método de entrada vuelve a Jugando cuando recibe la acción de pausa.</a:t>
            </a:r>
          </a:p>
          <a:p xmlns:a="http://schemas.openxmlformats.org/drawingml/2006/main">
            <a:r>
              <a:t/>
            </a:r>
          </a:p>
          <a:p xmlns:a="http://schemas.openxmlformats.org/drawingml/2006/main">
            <a:r>
              <a:t>Fuentes: src/estados.py, clase desde línea 38; caja original en docs/diagramas/modelo_parcial.png, rectángulo [762, 4041, 1315, 4383].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Derrota</a:t>
            </a:r>
          </a:p>
          <a:p xmlns:a="http://schemas.openxmlformats.org/drawingml/2006/main">
            <a:r>
              <a:t/>
            </a:r>
          </a:p>
          <a:p xmlns:a="http://schemas.openxmlformats.org/drawingml/2006/main">
            <a:r>
              <a:t>Función: Espera la decisión del jugador después de perder.</a:t>
            </a:r>
          </a:p>
          <a:p xmlns:a="http://schemas.openxmlformats.org/drawingml/2006/main">
            <a:r>
              <a:t/>
            </a:r>
          </a:p>
          <a:p xmlns:a="http://schemas.openxmlformats.org/drawingml/2006/main">
            <a:r>
              <a:t>Herencia: deriva de EstadoJuego.</a:t>
            </a:r>
          </a:p>
          <a:p xmlns:a="http://schemas.openxmlformats.org/drawingml/2006/main">
            <a:r>
              <a:t>Polimorfismo: la entrada permite reintentar o reiniciar.</a:t>
            </a:r>
          </a:p>
          <a:p xmlns:a="http://schemas.openxmlformats.org/drawingml/2006/main">
            <a:r>
              <a:t/>
            </a:r>
          </a:p>
          <a:p xmlns:a="http://schemas.openxmlformats.org/drawingml/2006/main">
            <a:r>
              <a:t>El mismo mensaje manejar_entrada tiene aquí el comportamiento propio de perder. Reintentar restaura el nivel actual, mientras nueva_partida inicia la campaña desde cero. actualizar no hace avanzar la simulación. Participa en State.</a:t>
            </a:r>
          </a:p>
          <a:p xmlns:a="http://schemas.openxmlformats.org/drawingml/2006/main">
            <a:r>
              <a:t/>
            </a:r>
          </a:p>
          <a:p xmlns:a="http://schemas.openxmlformats.org/drawingml/2006/main">
            <a:r>
              <a:t>Fuentes: src/estados.py, clase desde línea 49; caja original en docs/diagramas/modelo_parcial.png, rectángulo [1410, 4041, 1972, 4383].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Victoria</a:t>
            </a:r>
          </a:p>
          <a:p xmlns:a="http://schemas.openxmlformats.org/drawingml/2006/main">
            <a:r>
              <a:t/>
            </a:r>
          </a:p>
          <a:p xmlns:a="http://schemas.openxmlformats.org/drawingml/2006/main">
            <a:r>
              <a:t>Función: Representa el final de la campaña completada.</a:t>
            </a:r>
          </a:p>
          <a:p xmlns:a="http://schemas.openxmlformats.org/drawingml/2006/main">
            <a:r>
              <a:t/>
            </a:r>
          </a:p>
          <a:p xmlns:a="http://schemas.openxmlformats.org/drawingml/2006/main">
            <a:r>
              <a:t>Herencia: deriva de EstadoJuego.</a:t>
            </a:r>
          </a:p>
          <a:p xmlns:a="http://schemas.openxmlformats.org/drawingml/2006/main">
            <a:r>
              <a:t>Polimorfismo: reiniciar inicia una campaña nueva.</a:t>
            </a:r>
          </a:p>
          <a:p xmlns:a="http://schemas.openxmlformats.org/drawingml/2006/main">
            <a:r>
              <a:t/>
            </a:r>
          </a:p>
          <a:p xmlns:a="http://schemas.openxmlformats.org/drawingml/2006/main">
            <a:r>
              <a:t>Representa una campaña terminada. Su implementación de entrada interpreta reiniciar como comenzar otra campaña. Su actualización vacía mantiene detenido el nivel final. Las otras clases concretas responden a la misma interfaz con decisiones distintas.</a:t>
            </a:r>
          </a:p>
          <a:p xmlns:a="http://schemas.openxmlformats.org/drawingml/2006/main">
            <a:r>
              <a:t/>
            </a:r>
          </a:p>
          <a:p xmlns:a="http://schemas.openxmlformats.org/drawingml/2006/main">
            <a:r>
              <a:t>Fuentes: src/estados.py, clase desde línea 62; caja original en docs/diagramas/modelo_parcial.png, rectángulo [2067, 4041, 2632, 4383].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NivelCompletado</a:t>
            </a:r>
          </a:p>
          <a:p xmlns:a="http://schemas.openxmlformats.org/drawingml/2006/main">
            <a:r>
              <a:t/>
            </a:r>
          </a:p>
          <a:p xmlns:a="http://schemas.openxmlformats.org/drawingml/2006/main">
            <a:r>
              <a:t>Función: Separa el final de un nivel del final de toda la campaña.</a:t>
            </a:r>
          </a:p>
          <a:p xmlns:a="http://schemas.openxmlformats.org/drawingml/2006/main">
            <a:r>
              <a:t/>
            </a:r>
          </a:p>
          <a:p xmlns:a="http://schemas.openxmlformats.org/drawingml/2006/main">
            <a:r>
              <a:t>Herencia: deriva de EstadoJuego.</a:t>
            </a:r>
          </a:p>
          <a:p xmlns:a="http://schemas.openxmlformats.org/drawingml/2006/main">
            <a:r>
              <a:t>Polimorfismo: continuar carga el siguiente nivel.</a:t>
            </a:r>
          </a:p>
          <a:p xmlns:a="http://schemas.openxmlformats.org/drawingml/2006/main">
            <a:r>
              <a:t/>
            </a:r>
          </a:p>
          <a:p xmlns:a="http://schemas.openxmlformats.org/drawingml/2006/main">
            <a:r>
              <a:t>Separa la salida de un nivel de la victoria de toda la campaña. La implementación de manejar_entrada decide cuándo avanzar y cuándo empezar desde cero. No actualiza el nivel mientras espera esa decisión. Es el quinto estado concreto de State.</a:t>
            </a:r>
          </a:p>
          <a:p xmlns:a="http://schemas.openxmlformats.org/drawingml/2006/main">
            <a:r>
              <a:t/>
            </a:r>
          </a:p>
          <a:p xmlns:a="http://schemas.openxmlformats.org/drawingml/2006/main">
            <a:r>
              <a:t>Fuentes: src/estados.py, clase desde línea 73; caja original en docs/diagramas/modelo_parcial.png, rectángulo [2726, 4041, 3363, 4383].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Nivel</a:t>
            </a:r>
          </a:p>
          <a:p xmlns:a="http://schemas.openxmlformats.org/drawingml/2006/main">
            <a:r>
              <a:t/>
            </a:r>
          </a:p>
          <a:p xmlns:a="http://schemas.openxmlformats.org/drawingml/2006/main">
            <a:r>
              <a:t>Función: Coordina uno de los cuatro niveles y resuelve sus interacciones.</a:t>
            </a:r>
          </a:p>
          <a:p xmlns:a="http://schemas.openxmlformats.org/drawingml/2006/main">
            <a:r>
              <a:t/>
            </a:r>
          </a:p>
          <a:p xmlns:a="http://schemas.openxmlformats.org/drawingml/2006/main">
            <a:r>
              <a:t>Composición: construye Mapa y personajes.</a:t>
            </a:r>
          </a:p>
          <a:p xmlns:a="http://schemas.openxmlformats.org/drawingml/2006/main">
            <a:r>
              <a:t>Agregación: recibe el Puntaje compartido.</a:t>
            </a:r>
          </a:p>
          <a:p xmlns:a="http://schemas.openxmlformats.org/drawingml/2006/main">
            <a:r>
              <a:t>Polimorfismo: llama update sin distinguir personajes.</a:t>
            </a:r>
          </a:p>
          <a:p xmlns:a="http://schemas.openxmlformats.org/drawingml/2006/main">
            <a:r>
              <a:t/>
            </a:r>
          </a:p>
          <a:p xmlns:a="http://schemas.openxmlformats.org/drawingml/2006/main">
            <a:r>
              <a:t>Recibe el Puntaje que Juego conserva entre niveles, pero construye las partes propias de la etapa. En self.personajes conviven Prisionero y Guardia. El recorrido del fragmento no pregunta su tipo: cada instancia ejecuta su versión de update. La composición es una relación del diseño, no una orden de destrucción automática de Python.</a:t>
            </a:r>
          </a:p>
          <a:p xmlns:a="http://schemas.openxmlformats.org/drawingml/2006/main">
            <a:r>
              <a:t/>
            </a:r>
          </a:p>
          <a:p xmlns:a="http://schemas.openxmlformats.org/drawingml/2006/main">
            <a:r>
              <a:t>Fuentes: src/nivel.py, clase desde línea 85; caja original en docs/diagramas/modelo_parcial.png, rectángulo [5532, 2309, 6203, 3707].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PuertaCelda</a:t>
            </a:r>
          </a:p>
          <a:p xmlns:a="http://schemas.openxmlformats.org/drawingml/2006/main">
            <a:r>
              <a:t/>
            </a:r>
          </a:p>
          <a:p xmlns:a="http://schemas.openxmlformats.org/drawingml/2006/main">
            <a:r>
              <a:t>Función: Mantiene cerrada la celda inicial y controla cómo se fuerza su puerta.</a:t>
            </a:r>
          </a:p>
          <a:p xmlns:a="http://schemas.openxmlformats.org/drawingml/2006/main">
            <a:r>
              <a:t/>
            </a:r>
          </a:p>
          <a:p xmlns:a="http://schemas.openxmlformats.org/drawingml/2006/main">
            <a:r>
              <a:t>Composición: Nivel crea su puerta inicial.</a:t>
            </a:r>
          </a:p>
          <a:p xmlns:a="http://schemas.openxmlformats.org/drawingml/2006/main">
            <a:r>
              <a:t>Dependencia: actualizar recibe al Prisionero.</a:t>
            </a:r>
          </a:p>
          <a:p xmlns:a="http://schemas.openxmlformats.org/drawingml/2006/main">
            <a:r>
              <a:t/>
            </a:r>
          </a:p>
          <a:p xmlns:a="http://schemas.openxmlformats.org/drawingml/2006/main">
            <a:r>
              <a:t>Es una parte de Nivel que controla el progreso de apertura. actualizar consulta la cercanía del Prisionero y la acción de interactuar. Cuando alcanza dos segundos cambia abierta y Nivel retira los barrotes de su mapa. Sus atributos son públicos: no es un ejemplo de acceso restringido mediante getters y setters.</a:t>
            </a:r>
          </a:p>
          <a:p xmlns:a="http://schemas.openxmlformats.org/drawingml/2006/main">
            <a:r>
              <a:t/>
            </a:r>
          </a:p>
          <a:p xmlns:a="http://schemas.openxmlformats.org/drawingml/2006/main">
            <a:r>
              <a:t>Fuentes: src/nivel.py, clase desde línea 32; caja original en docs/diagramas/modelo_parcial.png, rectángulo [8280, 4017, 9044, 4407].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Mapa</a:t>
            </a:r>
          </a:p>
          <a:p xmlns:a="http://schemas.openxmlformats.org/drawingml/2006/main">
            <a:r>
              <a:t/>
            </a:r>
          </a:p>
          <a:p xmlns:a="http://schemas.openxmlformats.org/drawingml/2006/main">
            <a:r>
              <a:t>Función: Conserva el plano y reúne las reglas de paredes y caminos.</a:t>
            </a:r>
          </a:p>
          <a:p xmlns:a="http://schemas.openxmlformats.org/drawingml/2006/main">
            <a:r>
              <a:t/>
            </a:r>
          </a:p>
          <a:p xmlns:a="http://schemas.openxmlformats.org/drawingml/2006/main">
            <a:r>
              <a:t>Composición: Nivel crea su propio Mapa.</a:t>
            </a:r>
          </a:p>
          <a:p xmlns:a="http://schemas.openxmlformats.org/drawingml/2006/main">
            <a:r>
              <a:t>Abstracción: ofrece colisiones y rutas mediante métodos.</a:t>
            </a:r>
          </a:p>
          <a:p xmlns:a="http://schemas.openxmlformats.org/drawingml/2006/main">
            <a:r>
              <a:t/>
            </a:r>
          </a:p>
          <a:p xmlns:a="http://schemas.openxmlformats.org/drawingml/2006/main">
            <a:r>
              <a:t>Los consumidores piden una ruta o una posición válida sin implementar la búsqueda de caminos. Aquí abstracción significa ocultar el detalle del algoritmo tras una operación útil; Mapa no es una clase abstracta ABC. Nivel, personajes y ruido consultan la misma instancia para usar paredes coherentes.</a:t>
            </a:r>
          </a:p>
          <a:p xmlns:a="http://schemas.openxmlformats.org/drawingml/2006/main">
            <a:r>
              <a:t/>
            </a:r>
          </a:p>
          <a:p xmlns:a="http://schemas.openxmlformats.org/drawingml/2006/main">
            <a:r>
              <a:t>Fuentes: src/mapa.py, clase desde línea 82; caja original en docs/diagramas/modelo_parcial.png, rectángulo [3043, 7125, 3818, 7659].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Personaje</a:t>
            </a:r>
          </a:p>
          <a:p xmlns:a="http://schemas.openxmlformats.org/drawingml/2006/main">
            <a:r>
              <a:t/>
            </a:r>
          </a:p>
          <a:p xmlns:a="http://schemas.openxmlformats.org/drawingml/2006/main">
            <a:r>
              <a:t>Función: Reúne posición, tamaño y movimiento de los personajes.</a:t>
            </a:r>
          </a:p>
          <a:p xmlns:a="http://schemas.openxmlformats.org/drawingml/2006/main">
            <a:r>
              <a:t/>
            </a:r>
          </a:p>
          <a:p xmlns:a="http://schemas.openxmlformats.org/drawingml/2006/main">
            <a:r>
              <a:t>Abstracción y herencia: base de Prisionero y Guardia.</a:t>
            </a:r>
          </a:p>
          <a:p xmlns:a="http://schemas.openxmlformats.org/drawingml/2006/main">
            <a:r>
              <a:t>Encapsulamiento: _x, _y y _velocidad son internos.</a:t>
            </a:r>
          </a:p>
          <a:p xmlns:a="http://schemas.openxmlformats.org/drawingml/2006/main">
            <a:r>
              <a:t>Asociación: guarda el Nivel que recibe.</a:t>
            </a:r>
          </a:p>
          <a:p xmlns:a="http://schemas.openxmlformats.org/drawingml/2006/main">
            <a:r>
              <a:t/>
            </a:r>
          </a:p>
          <a:p xmlns:a="http://schemas.openxmlformats.org/drawingml/2006/main">
            <a:r>
              <a:t>La clase abstracta reúne posición y movimiento común. get_posicion devuelve las coordenadas, mientras mover aplica las colisiones del mapa. update queda como contrato obligatorio para las clases hijas. El guion bajo señala uso interno por convención, no una prohibición de acceso del lenguaje.</a:t>
            </a:r>
          </a:p>
          <a:p xmlns:a="http://schemas.openxmlformats.org/drawingml/2006/main">
            <a:r>
              <a:t/>
            </a:r>
          </a:p>
          <a:p xmlns:a="http://schemas.openxmlformats.org/drawingml/2006/main">
            <a:r>
              <a:t>Fuentes: src/personajes.py, clase desde línea 39; caja original en docs/diagramas/modelo_parcial.png, rectángulo [6049, 1441, 6496, 2071].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Prisionero</a:t>
            </a:r>
          </a:p>
          <a:p xmlns:a="http://schemas.openxmlformats.org/drawingml/2006/main">
            <a:r>
              <a:t/>
            </a:r>
          </a:p>
          <a:p xmlns:a="http://schemas.openxmlformats.org/drawingml/2006/main">
            <a:r>
              <a:t>Función: Es el personaje controlado por el jugador y el origen del ruido de pasos.</a:t>
            </a:r>
          </a:p>
          <a:p xmlns:a="http://schemas.openxmlformats.org/drawingml/2006/main">
            <a:r>
              <a:t/>
            </a:r>
          </a:p>
          <a:p xmlns:a="http://schemas.openxmlformats.org/drawingml/2006/main">
            <a:r>
              <a:t>Herencia y polimorfismo: implementa update de Personaje.</a:t>
            </a:r>
          </a:p>
          <a:p xmlns:a="http://schemas.openxmlformats.org/drawingml/2006/main">
            <a:r>
              <a:t>Composición: crea su HabilidadCarrera.</a:t>
            </a:r>
          </a:p>
          <a:p xmlns:a="http://schemas.openxmlformats.org/drawingml/2006/main">
            <a:r>
              <a:t>Encapsulamiento: controla _tiene_llave con métodos.</a:t>
            </a:r>
          </a:p>
          <a:p xmlns:a="http://schemas.openxmlformats.org/drawingml/2006/main">
            <a:r>
              <a:t/>
            </a:r>
          </a:p>
          <a:p xmlns:a="http://schemas.openxmlformats.org/drawingml/2006/main">
            <a:r>
              <a:t>Reutiliza el movimiento de Personaje y define cómo responde al teclado. Su habilidad de carrera es una parte creada por él. Los métodos tiene_llave y recoger_llave concentran la consulta y el cambio del estado de la llave. Su update participa en la misma llamada polimórfica que el de Guardia.</a:t>
            </a:r>
          </a:p>
          <a:p xmlns:a="http://schemas.openxmlformats.org/drawingml/2006/main">
            <a:r>
              <a:t/>
            </a:r>
          </a:p>
          <a:p xmlns:a="http://schemas.openxmlformats.org/drawingml/2006/main">
            <a:r>
              <a:t>Fuentes: src/personajes.py, clase desde línea 58; caja original en docs/diagramas/modelo_parcial.png, rectángulo [6700, 5101, 7212, 5683].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Guardia</a:t>
            </a:r>
          </a:p>
          <a:p xmlns:a="http://schemas.openxmlformats.org/drawingml/2006/main">
            <a:r>
              <a:t/>
            </a:r>
          </a:p>
          <a:p xmlns:a="http://schemas.openxmlformats.org/drawingml/2006/main">
            <a:r>
              <a:t>Función: Patrulla, escucha ruidos, persigue al jugador y lo captura por contacto.</a:t>
            </a:r>
          </a:p>
          <a:p xmlns:a="http://schemas.openxmlformats.org/drawingml/2006/main">
            <a:r>
              <a:t/>
            </a:r>
          </a:p>
          <a:p xmlns:a="http://schemas.openxmlformats.org/drawingml/2006/main">
            <a:r>
              <a:t>Herencia y polimorfismo: implementa update de Personaje.</a:t>
            </a:r>
          </a:p>
          <a:p xmlns:a="http://schemas.openxmlformats.org/drawingml/2006/main">
            <a:r>
              <a:t>Encapsulamiento: gestiona _objetivo y _camino.</a:t>
            </a:r>
          </a:p>
          <a:p xmlns:a="http://schemas.openxmlformats.org/drawingml/2006/main">
            <a:r>
              <a:t>Dependencia: consulta al Prisionero para detectarlo.</a:t>
            </a:r>
          </a:p>
          <a:p xmlns:a="http://schemas.openxmlformats.org/drawingml/2006/main">
            <a:r>
              <a:t/>
            </a:r>
          </a:p>
          <a:p xmlns:a="http://schemas.openxmlformats.org/drawingml/2006/main">
            <a:r>
              <a:t>Comparte la base Personaje, pero decide una ruta y una conducta de vigilancia. Los atributos con guion bajo y métodos internos organizan su objetivo y camino. escuchar recibe las notificaciones del ruido. Sus modos son cadenas dentro de la clase; no forman la jerarquía de State usada por Juego.</a:t>
            </a:r>
          </a:p>
          <a:p xmlns:a="http://schemas.openxmlformats.org/drawingml/2006/main">
            <a:r>
              <a:t/>
            </a:r>
          </a:p>
          <a:p xmlns:a="http://schemas.openxmlformats.org/drawingml/2006/main">
            <a:r>
              <a:t>Fuentes: src/personajes.py, clase desde línea 97; caja original en docs/diagramas/modelo_parcial.png, rectángulo [9242, 6837, 9847, 7947].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HabilidadCarrera</a:t>
            </a:r>
          </a:p>
          <a:p xmlns:a="http://schemas.openxmlformats.org/drawingml/2006/main">
            <a:r>
              <a:t/>
            </a:r>
          </a:p>
          <a:p xmlns:a="http://schemas.openxmlformats.org/drawingml/2006/main">
            <a:r>
              <a:t>Función: Controla el aumento temporal de velocidad del prisionero.</a:t>
            </a:r>
          </a:p>
          <a:p xmlns:a="http://schemas.openxmlformats.org/drawingml/2006/main">
            <a:r>
              <a:t/>
            </a:r>
          </a:p>
          <a:p xmlns:a="http://schemas.openxmlformats.org/drawingml/2006/main">
            <a:r>
              <a:t>Encapsulamiento: gestiona _duracion y _recarga.</a:t>
            </a:r>
          </a:p>
          <a:p xmlns:a="http://schemas.openxmlformats.org/drawingml/2006/main">
            <a:r>
              <a:t>Composición: es creada por cada Prisionero.</a:t>
            </a:r>
          </a:p>
          <a:p xmlns:a="http://schemas.openxmlformats.org/drawingml/2006/main">
            <a:r>
              <a:t/>
            </a:r>
          </a:p>
          <a:p xmlns:a="http://schemas.openxmlformats.org/drawingml/2006/main">
            <a:r>
              <a:t>Concentra la duración, la recarga y las reglas de activación. Otros objetos piden activar o consultar el multiplicador sin repetir esas reglas. No hereda de Personaje: es una habilidad que el Prisionero contiene. Sus campos internos se identifican mediante el guion bajo.</a:t>
            </a:r>
          </a:p>
          <a:p xmlns:a="http://schemas.openxmlformats.org/drawingml/2006/main">
            <a:r>
              <a:t/>
            </a:r>
          </a:p>
          <a:p xmlns:a="http://schemas.openxmlformats.org/drawingml/2006/main">
            <a:r>
              <a:t>Fuentes: src/personajes.py, clase desde línea 6; caja original en docs/diagramas/modelo_parcial.png, rectángulo [2812, 6209, 3363, 6695].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SistemaRuido</a:t>
            </a:r>
          </a:p>
          <a:p xmlns:a="http://schemas.openxmlformats.org/drawingml/2006/main">
            <a:r>
              <a:t/>
            </a:r>
          </a:p>
          <a:p xmlns:a="http://schemas.openxmlformats.org/drawingml/2006/main">
            <a:r>
              <a:t>Función: Emite los ruidos de pasos y avisa a los guardias que pueden escucharlos.</a:t>
            </a:r>
          </a:p>
          <a:p xmlns:a="http://schemas.openxmlformats.org/drawingml/2006/main">
            <a:r>
              <a:t/>
            </a:r>
          </a:p>
          <a:p xmlns:a="http://schemas.openxmlformats.org/drawingml/2006/main">
            <a:r>
              <a:t>Asociación: conserva el Mapa recibido.</a:t>
            </a:r>
          </a:p>
          <a:p xmlns:a="http://schemas.openxmlformats.org/drawingml/2006/main">
            <a:r>
              <a:t>Agregación: registra guardias creados por Nivel.</a:t>
            </a:r>
          </a:p>
          <a:p xmlns:a="http://schemas.openxmlformats.org/drawingml/2006/main">
            <a:r>
              <a:t>Notificación: avisa a los oyentes que pueden escuchar.</a:t>
            </a:r>
          </a:p>
          <a:p xmlns:a="http://schemas.openxmlformats.org/drawingml/2006/main">
            <a:r>
              <a:t/>
            </a:r>
          </a:p>
          <a:p xmlns:a="http://schemas.openxmlformats.org/drawingml/2006/main">
            <a:r>
              <a:t>No construye el mapa ni los guardias: conserva referencias a objetos existentes. Usa la distancia de camino para decidir qué oyentes reciben un paso. Esta comunicación se parece a Observer, pero Guardia no hereda de ObservadorPuntaje. El ejemplo formal de ese patrón es Puntaje con PanelPuntaje.</a:t>
            </a:r>
          </a:p>
          <a:p xmlns:a="http://schemas.openxmlformats.org/drawingml/2006/main">
            <a:r>
              <a:t/>
            </a:r>
          </a:p>
          <a:p xmlns:a="http://schemas.openxmlformats.org/drawingml/2006/main">
            <a:r>
              <a:t>Fuentes: src/ruido.py, clase desde línea 4; caja original en docs/diagramas/modelo_parcial.png, rectángulo [8838, 6257, 9465, 6647].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Camara</a:t>
            </a:r>
          </a:p>
          <a:p xmlns:a="http://schemas.openxmlformats.org/drawingml/2006/main">
            <a:r>
              <a:t/>
            </a:r>
          </a:p>
          <a:p xmlns:a="http://schemas.openxmlformats.org/drawingml/2006/main">
            <a:r>
              <a:t>Función: Comprueba si el prisionero está dentro de su campo de visión.</a:t>
            </a:r>
          </a:p>
          <a:p xmlns:a="http://schemas.openxmlformats.org/drawingml/2006/main">
            <a:r>
              <a:t/>
            </a:r>
          </a:p>
          <a:p xmlns:a="http://schemas.openxmlformats.org/drawingml/2006/main">
            <a:r>
              <a:t>Composición: Nivel construye sus cámaras.</a:t>
            </a:r>
          </a:p>
          <a:p xmlns:a="http://schemas.openxmlformats.org/drawingml/2006/main">
            <a:r>
              <a:t>Dependencia: detectar recibe Prisionero y muros.</a:t>
            </a:r>
          </a:p>
          <a:p xmlns:a="http://schemas.openxmlformats.org/drawingml/2006/main">
            <a:r>
              <a:t/>
            </a:r>
          </a:p>
          <a:p xmlns:a="http://schemas.openxmlformats.org/drawingml/2006/main">
            <a:r>
              <a:t>La cámara conserva su posición y campo de visión. detectar usa objetos recibidos para devolver si ve al jugador, sin guardarlo como atributo. Es dependencia de uso y no herencia de Personaje. Nivel interpreta el resultado y alerta a los guardias.</a:t>
            </a:r>
          </a:p>
          <a:p xmlns:a="http://schemas.openxmlformats.org/drawingml/2006/main">
            <a:r>
              <a:t/>
            </a:r>
          </a:p>
          <a:p xmlns:a="http://schemas.openxmlformats.org/drawingml/2006/main">
            <a:r>
              <a:t>Fuentes: src/nivel.py, clase desde línea 51; caja original en docs/diagramas/modelo_parcial.png, rectángulo [6340, 3969, 6942, 4455].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Llave</a:t>
            </a:r>
          </a:p>
          <a:p xmlns:a="http://schemas.openxmlformats.org/drawingml/2006/main">
            <a:r>
              <a:t/>
            </a:r>
          </a:p>
          <a:p xmlns:a="http://schemas.openxmlformats.org/drawingml/2006/main">
            <a:r>
              <a:t>Función: Es el objeto que habilita la salida.</a:t>
            </a:r>
          </a:p>
          <a:p xmlns:a="http://schemas.openxmlformats.org/drawingml/2006/main">
            <a:r>
              <a:t/>
            </a:r>
          </a:p>
          <a:p xmlns:a="http://schemas.openxmlformats.org/drawingml/2006/main">
            <a:r>
              <a:t>Composición: cada Nivel crea su Llave.</a:t>
            </a:r>
          </a:p>
          <a:p xmlns:a="http://schemas.openxmlformats.org/drawingml/2006/main">
            <a:r>
              <a:t>Dependencia: recoger utiliza el Prisionero recibido.</a:t>
            </a:r>
          </a:p>
          <a:p xmlns:a="http://schemas.openxmlformats.org/drawingml/2006/main">
            <a:r>
              <a:t/>
            </a:r>
          </a:p>
          <a:p xmlns:a="http://schemas.openxmlformats.org/drawingml/2006/main">
            <a:r>
              <a:t>La llave reúne posición, disponibilidad y recogida. recoger consulta al prisionero y le comunica que obtuvo una llave, evitando concederla varias veces. El atributo disponible es público; el ejemplo de encapsulamiento controlado de la posesión está en Prisionero._tiene_llave.</a:t>
            </a:r>
          </a:p>
          <a:p xmlns:a="http://schemas.openxmlformats.org/drawingml/2006/main">
            <a:r>
              <a:t/>
            </a:r>
          </a:p>
          <a:p xmlns:a="http://schemas.openxmlformats.org/drawingml/2006/main">
            <a:r>
              <a:t>Fuentes: src/nivel.py, clase desde línea 64; caja original en docs/diagramas/modelo_parcial.png, rectángulo [7036, 4041, 7507, 4383].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PuertaSalida</a:t>
            </a:r>
          </a:p>
          <a:p xmlns:a="http://schemas.openxmlformats.org/drawingml/2006/main">
            <a:r>
              <a:t/>
            </a:r>
          </a:p>
          <a:p xmlns:a="http://schemas.openxmlformats.org/drawingml/2006/main">
            <a:r>
              <a:t>Función: Representa el lugar por el que se termina un nivel.</a:t>
            </a:r>
          </a:p>
          <a:p xmlns:a="http://schemas.openxmlformats.org/drawingml/2006/main">
            <a:r>
              <a:t/>
            </a:r>
          </a:p>
          <a:p xmlns:a="http://schemas.openxmlformats.org/drawingml/2006/main">
            <a:r>
              <a:t>Composición: Nivel crea su PuertaSalida.</a:t>
            </a:r>
          </a:p>
          <a:p xmlns:a="http://schemas.openxmlformats.org/drawingml/2006/main">
            <a:r>
              <a:t>Dependencia: puede_salir consulta al Prisionero.</a:t>
            </a:r>
          </a:p>
          <a:p xmlns:a="http://schemas.openxmlformats.org/drawingml/2006/main">
            <a:r>
              <a:t/>
            </a:r>
          </a:p>
          <a:p xmlns:a="http://schemas.openxmlformats.org/drawingml/2006/main">
            <a:r>
              <a:t>Agrupa la ubicación de la salida y la regla de acceso: estar cerca y tener la llave. El Prisionero se recibe como parámetro, no se crea ni se conserva en la puerta. Nivel decide después si el resultado completa una etapa o toda la campaña.</a:t>
            </a:r>
          </a:p>
          <a:p xmlns:a="http://schemas.openxmlformats.org/drawingml/2006/main">
            <a:r>
              <a:t/>
            </a:r>
          </a:p>
          <a:p xmlns:a="http://schemas.openxmlformats.org/drawingml/2006/main">
            <a:r>
              <a:t>Fuentes: src/nivel.py, clase desde línea 77; caja original en docs/diagramas/modelo_parcial.png, rectángulo [7601, 4065, 8185, 4359].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Puntaje</a:t>
            </a:r>
          </a:p>
          <a:p xmlns:a="http://schemas.openxmlformats.org/drawingml/2006/main">
            <a:r>
              <a:t/>
            </a:r>
          </a:p>
          <a:p xmlns:a="http://schemas.openxmlformats.org/drawingml/2006/main">
            <a:r>
              <a:t>Función: Conserva los puntos y avisa cuando cambian.</a:t>
            </a:r>
          </a:p>
          <a:p xmlns:a="http://schemas.openxmlformats.org/drawingml/2006/main">
            <a:r>
              <a:t/>
            </a:r>
          </a:p>
          <a:p xmlns:a="http://schemas.openxmlformats.org/drawingml/2006/main">
            <a:r>
              <a:t>Encapsulamiento: valida los cambios de _valor.</a:t>
            </a:r>
          </a:p>
          <a:p xmlns:a="http://schemas.openxmlformats.org/drawingml/2006/main">
            <a:r>
              <a:t>Agregación: conserva observadores creados fuera.</a:t>
            </a:r>
          </a:p>
          <a:p xmlns:a="http://schemas.openxmlformats.org/drawingml/2006/main">
            <a:r>
              <a:t>Observer: notifica mediante actualizar_puntaje.</a:t>
            </a:r>
          </a:p>
          <a:p xmlns:a="http://schemas.openxmlformats.org/drawingml/2006/main">
            <a:r>
              <a:t/>
            </a:r>
          </a:p>
          <a:p xmlns:a="http://schemas.openxmlformats.org/drawingml/2006/main">
            <a:r>
              <a:t>El getter permite consultar y el setter rechaza cualquier dato que no sea un entero no negativo. El cambio llama a _notificar, que usa la interfaz de los observadores. Puntaje no conoce cómo dibuja la interfaz. El mismo objeto también participa por agregación en Nivel.</a:t>
            </a:r>
          </a:p>
          <a:p xmlns:a="http://schemas.openxmlformats.org/drawingml/2006/main">
            <a:r>
              <a:t/>
            </a:r>
          </a:p>
          <a:p xmlns:a="http://schemas.openxmlformats.org/drawingml/2006/main">
            <a:r>
              <a:t>Fuentes: src/puntuacion.py, clase desde línea 18; caja original en docs/diagramas/modelo_parcial.png, rectángulo [4951, 3897, 5662, 4527].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ObservadorPuntaje</a:t>
            </a:r>
          </a:p>
          <a:p xmlns:a="http://schemas.openxmlformats.org/drawingml/2006/main">
            <a:r>
              <a:t/>
            </a:r>
          </a:p>
          <a:p xmlns:a="http://schemas.openxmlformats.org/drawingml/2006/main">
            <a:r>
              <a:t>Función: Define cómo debe recibir los cambios un observador del puntaje.</a:t>
            </a:r>
          </a:p>
          <a:p xmlns:a="http://schemas.openxmlformats.org/drawingml/2006/main">
            <a:r>
              <a:t/>
            </a:r>
          </a:p>
          <a:p xmlns:a="http://schemas.openxmlformats.org/drawingml/2006/main">
            <a:r>
              <a:t>Abstracción: exige implementar actualizar_puntaje.</a:t>
            </a:r>
          </a:p>
          <a:p xmlns:a="http://schemas.openxmlformats.org/drawingml/2006/main">
            <a:r>
              <a:t>Herencia: es la base de PanelPuntaje.</a:t>
            </a:r>
          </a:p>
          <a:p xmlns:a="http://schemas.openxmlformats.org/drawingml/2006/main">
            <a:r>
              <a:t/>
            </a:r>
          </a:p>
          <a:p xmlns:a="http://schemas.openxmlformats.org/drawingml/2006/main">
            <a:r>
              <a:t>Define el contrato para recibir un valor de puntaje. abstractmethod obliga a las clases concretas a implementar esa operación. Separa lo que el emisor puede pedir de la implementación del receptor. Es el observador abstracto del patrón Observer.</a:t>
            </a:r>
          </a:p>
          <a:p xmlns:a="http://schemas.openxmlformats.org/drawingml/2006/main">
            <a:r>
              <a:t/>
            </a:r>
          </a:p>
          <a:p xmlns:a="http://schemas.openxmlformats.org/drawingml/2006/main">
            <a:r>
              <a:t>Fuentes: src/puntuacion.py, clase desde línea 4; caja original en docs/diagramas/modelo_parcial.png, rectángulo [4970, 5239, 5643, 5545].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PanelPuntaje</a:t>
            </a:r>
          </a:p>
          <a:p xmlns:a="http://schemas.openxmlformats.org/drawingml/2006/main">
            <a:r>
              <a:t/>
            </a:r>
          </a:p>
          <a:p xmlns:a="http://schemas.openxmlformats.org/drawingml/2006/main">
            <a:r>
              <a:t>Función: Conserva el último puntaje notificado para mostrarlo en pantalla.</a:t>
            </a:r>
          </a:p>
          <a:p xmlns:a="http://schemas.openxmlformats.org/drawingml/2006/main">
            <a:r>
              <a:t/>
            </a:r>
          </a:p>
          <a:p xmlns:a="http://schemas.openxmlformats.org/drawingml/2006/main">
            <a:r>
              <a:t>Herencia: deriva de ObservadorPuntaje.</a:t>
            </a:r>
          </a:p>
          <a:p xmlns:a="http://schemas.openxmlformats.org/drawingml/2006/main">
            <a:r>
              <a:t>Polimorfismo: implementa actualizar_puntaje.</a:t>
            </a:r>
          </a:p>
          <a:p xmlns:a="http://schemas.openxmlformats.org/drawingml/2006/main">
            <a:r>
              <a:t>Observer: recibe el nuevo valor que luego dibuja Vista.</a:t>
            </a:r>
          </a:p>
          <a:p xmlns:a="http://schemas.openxmlformats.org/drawingml/2006/main">
            <a:r>
              <a:t/>
            </a:r>
          </a:p>
          <a:p xmlns:a="http://schemas.openxmlformats.org/drawingml/2006/main">
            <a:r>
              <a:t>Puntaje puede notificarlo mediante la interfaz común de observador. La implementación concreta guarda el valor recibido. Su atributo valor es público: aquí el ejemplo principal es herencia y polimorfismo, no un campo protegido con setter. Juego lo registra mediante suscribir.</a:t>
            </a:r>
          </a:p>
          <a:p xmlns:a="http://schemas.openxmlformats.org/drawingml/2006/main">
            <a:r>
              <a:t/>
            </a:r>
          </a:p>
          <a:p xmlns:a="http://schemas.openxmlformats.org/drawingml/2006/main">
            <a:r>
              <a:t>Fuentes: src/puntuacion.py, clase desde línea 10; caja original en docs/diagramas/modelo_parcial.png, rectángulo [4129, 6305, 4755, 6599].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Proyectil</a:t>
            </a:r>
          </a:p>
          <a:p xmlns:a="http://schemas.openxmlformats.org/drawingml/2006/main">
            <a:r>
              <a:t/>
            </a:r>
          </a:p>
          <a:p xmlns:a="http://schemas.openxmlformats.org/drawingml/2006/main">
            <a:r>
              <a:t>Función: Guarda la posición, velocidad, tamaño y duración de un disparo.</a:t>
            </a:r>
          </a:p>
          <a:p xmlns:a="http://schemas.openxmlformats.org/drawingml/2006/main">
            <a:r>
              <a:t/>
            </a:r>
          </a:p>
          <a:p xmlns:a="http://schemas.openxmlformats.org/drawingml/2006/main">
            <a:r>
              <a:t>Composición: Combate crea y conserva los disparos.</a:t>
            </a:r>
          </a:p>
          <a:p xmlns:a="http://schemas.openxmlformats.org/drawingml/2006/main">
            <a:r>
              <a:t>Dataclass: genera el constructor de sus datos.</a:t>
            </a:r>
          </a:p>
          <a:p xmlns:a="http://schemas.openxmlformats.org/drawingml/2006/main">
            <a:r>
              <a:t/>
            </a:r>
          </a:p>
          <a:p xmlns:a="http://schemas.openxmlformats.org/drawingml/2006/main">
            <a:r>
              <a:t>Agrupa posición, velocidad y duración con las operaciones del disparo. avanzar devuelve el segmento recorrido para comprobar impactos. Dataclass es una herramienta del lenguaje, no uno de los seis fundamentos de la rúbrica. Sus campos son públicos y no hereda de otra clase del juego.</a:t>
            </a:r>
          </a:p>
          <a:p xmlns:a="http://schemas.openxmlformats.org/drawingml/2006/main">
            <a:r>
              <a:t/>
            </a:r>
          </a:p>
          <a:p xmlns:a="http://schemas.openxmlformats.org/drawingml/2006/main">
            <a:r>
              <a:t>Fuentes: src/combate.py, clase desde línea 8; caja original en docs/diagramas/modelo_parcial.png, rectángulo [3728, 5053, 4143, 5731].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Alcaide</a:t>
            </a:r>
          </a:p>
          <a:p xmlns:a="http://schemas.openxmlformats.org/drawingml/2006/main">
            <a:r>
              <a:t/>
            </a:r>
          </a:p>
          <a:p xmlns:a="http://schemas.openxmlformats.org/drawingml/2006/main">
            <a:r>
              <a:t>Función: Controla al jefe del último nivel.</a:t>
            </a:r>
          </a:p>
          <a:p xmlns:a="http://schemas.openxmlformats.org/drawingml/2006/main">
            <a:r>
              <a:t/>
            </a:r>
          </a:p>
          <a:p xmlns:a="http://schemas.openxmlformats.org/drawingml/2006/main">
            <a:r>
              <a:t>Composición: Combate crea su Alcaide.</a:t>
            </a:r>
          </a:p>
          <a:p xmlns:a="http://schemas.openxmlformats.org/drawingml/2006/main">
            <a:r>
              <a:t>Dependencia: actualizar recibe el Combate.</a:t>
            </a:r>
          </a:p>
          <a:p xmlns:a="http://schemas.openxmlformats.org/drawingml/2006/main">
            <a:r>
              <a:t>Propiedades: consultan fase, posición y derrota.</a:t>
            </a:r>
          </a:p>
          <a:p xmlns:a="http://schemas.openxmlformats.org/drawingml/2006/main">
            <a:r>
              <a:t/>
            </a:r>
          </a:p>
          <a:p xmlns:a="http://schemas.openxmlformats.org/drawingml/2006/main">
            <a:r>
              <a:t>Concentra los ataques y las reglas del jefe. Se comunica con el Combate recibido para emitir disparos o consultar el mapa. Las propiedades calculan vistas del estado, por ejemplo si ya fue derrotado. Su vida es pública, por lo que no debe presentarse como un atributo privado protegido por un setter.</a:t>
            </a:r>
          </a:p>
          <a:p xmlns:a="http://schemas.openxmlformats.org/drawingml/2006/main">
            <a:r>
              <a:t/>
            </a:r>
          </a:p>
          <a:p xmlns:a="http://schemas.openxmlformats.org/drawingml/2006/main">
            <a:r>
              <a:t>Fuentes: src/combate.py, clase desde línea 47; caja original en docs/diagramas/modelo_parcial.png, rectángulo [4238, 4717, 4795, 6067].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Combate</a:t>
            </a:r>
          </a:p>
          <a:p xmlns:a="http://schemas.openxmlformats.org/drawingml/2006/main">
            <a:r>
              <a:t/>
            </a:r>
          </a:p>
          <a:p xmlns:a="http://schemas.openxmlformats.org/drawingml/2006/main">
            <a:r>
              <a:t>Función: Resuelve los ataques, los proyectiles y la vida en la arena.</a:t>
            </a:r>
          </a:p>
          <a:p xmlns:a="http://schemas.openxmlformats.org/drawingml/2006/main">
            <a:r>
              <a:t/>
            </a:r>
          </a:p>
          <a:p xmlns:a="http://schemas.openxmlformats.org/drawingml/2006/main">
            <a:r>
              <a:t>Composición: crea Alcaide y Proyectil.</a:t>
            </a:r>
          </a:p>
          <a:p xmlns:a="http://schemas.openxmlformats.org/drawingml/2006/main">
            <a:r>
              <a:t>Asociación: conserva el Nivel recibido.</a:t>
            </a:r>
          </a:p>
          <a:p xmlns:a="http://schemas.openxmlformats.org/drawingml/2006/main">
            <a:r>
              <a:t/>
            </a:r>
          </a:p>
          <a:p xmlns:a="http://schemas.openxmlformats.org/drawingml/2006/main">
            <a:r>
              <a:t>Es una parte que Nivel crea solo para la arena. A su vez construye el jefe y mantiene los proyectiles. Guarda una referencia a Nivel para acceder al jugador y al mapa compartido. Separa las reglas del combate del dibujo que realiza Vista.</a:t>
            </a:r>
          </a:p>
          <a:p xmlns:a="http://schemas.openxmlformats.org/drawingml/2006/main">
            <a:r>
              <a:t/>
            </a:r>
          </a:p>
          <a:p xmlns:a="http://schemas.openxmlformats.org/drawingml/2006/main">
            <a:r>
              <a:t>Fuentes: src/combate.py, clase desde línea 162; caja original en docs/diagramas/modelo_parcial.png, rectángulo [3850, 3849, 4690, 4575].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Vista</a:t>
            </a:r>
          </a:p>
          <a:p xmlns:a="http://schemas.openxmlformats.org/drawingml/2006/main">
            <a:r>
              <a:t/>
            </a:r>
          </a:p>
          <a:p xmlns:a="http://schemas.openxmlformats.org/drawingml/2006/main">
            <a:r>
              <a:t>Función: Dibuja la interfaz, los mapas y los personajes stickman con Pygame.</a:t>
            </a:r>
          </a:p>
          <a:p xmlns:a="http://schemas.openxmlformats.org/drawingml/2006/main">
            <a:r>
              <a:t/>
            </a:r>
          </a:p>
          <a:p xmlns:a="http://schemas.openxmlformats.org/drawingml/2006/main">
            <a:r>
              <a:t>Asociación: conserva la pantalla que recibe.</a:t>
            </a:r>
          </a:p>
          <a:p xmlns:a="http://schemas.openxmlformats.org/drawingml/2006/main">
            <a:r>
              <a:t>Dependencia: dibujar consulta Juego y Nivel.</a:t>
            </a:r>
          </a:p>
          <a:p xmlns:a="http://schemas.openxmlformats.org/drawingml/2006/main">
            <a:r>
              <a:t/>
            </a:r>
          </a:p>
          <a:p xmlns:a="http://schemas.openxmlformats.org/drawingml/2006/main">
            <a:r>
              <a:t>Recibe Juego para leer sus datos y dibujarlos con Pygame. No decide las colisiones, la captura ni el puntaje. Separar estas responsabilidades permite probar las reglas sin abrir una ventana. Su constructor recibe la pantalla; no hereda de Personaje ni de una clase propia de sprites.</a:t>
            </a:r>
          </a:p>
          <a:p xmlns:a="http://schemas.openxmlformats.org/drawingml/2006/main">
            <a:r>
              <a:t/>
            </a:r>
          </a:p>
          <a:p xmlns:a="http://schemas.openxmlformats.org/drawingml/2006/main">
            <a:r>
              <a:t>Fuentes: src/vista.py, clase desde línea 12; caja original en docs/diagramas/modelo_parcial.png, rectángulo [6570, 93, 7679, 1203]. El código mostrado es un extracto con saltos de línea ajustados para lectura, sin cambios de lógica. La guía completa del repositorio contiene la clase íntegra.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8ce9b5240e6426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65e11e32a73427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3c404a9d42e42b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360603df296400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47d9f8133394d9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2b1ddc2096643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535EDB-96CB-4BC0-BEBA-A6DC34828DB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6CFF035-5229-4A92-A470-C63E2DBB4BD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D27778B-9F60-4339-84C5-369B2D57DE6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4DFEF29-0C90-44CE-8A61-6571645B332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B9CBBC1-EA0E-4960-9FFB-FFDB4B0D0E5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66DDA3-C571-423A-8FCD-5302DD44FE8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B6C979D-C28F-4063-BC18-865CCF48112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D103F0F-C6AA-43E8-BB6C-202CE9055E2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7525D0-6932-422F-A312-1D85C48E14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D18E496-D079-4288-B322-E8031D00D45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71f552a51c44c8a" /><Relationship Type="http://schemas.openxmlformats.org/officeDocument/2006/relationships/slideLayout" Target="/ppt/slideLayouts/slideLayout1.xml" Id="R802636911f5e4307" /><Relationship Type="http://schemas.openxmlformats.org/officeDocument/2006/relationships/slideLayout" Target="/ppt/slideLayouts/slideLayout2.xml" Id="Rf29abfc58c6b4078" /><Relationship Type="http://schemas.openxmlformats.org/officeDocument/2006/relationships/slideLayout" Target="/ppt/slideLayouts/slideLayout3.xml" Id="Rf58ecc22516346cb" /><Relationship Type="http://schemas.openxmlformats.org/officeDocument/2006/relationships/slideLayout" Target="/ppt/slideLayouts/slideLayout4.xml" Id="R152b81c0ee9044fc" /><Relationship Type="http://schemas.openxmlformats.org/officeDocument/2006/relationships/slideLayout" Target="/ppt/slideLayouts/slideLayout5.xml" Id="R1dfd232bf2ce43f2" /><Relationship Type="http://schemas.openxmlformats.org/officeDocument/2006/relationships/slideLayout" Target="/ppt/slideLayouts/slideLayout6.xml" Id="R07acf81af539438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02636911f5e4307"/>
    <p:sldLayoutId xmlns:r="http://schemas.openxmlformats.org/officeDocument/2006/relationships" id="2147483650" r:id="Rf29abfc58c6b4078"/>
    <p:sldLayoutId xmlns:r="http://schemas.openxmlformats.org/officeDocument/2006/relationships" id="2147483651" r:id="Rf58ecc22516346cb"/>
    <p:sldLayoutId xmlns:r="http://schemas.openxmlformats.org/officeDocument/2006/relationships" id="2147483652" r:id="R152b81c0ee9044fc"/>
    <p:sldLayoutId xmlns:r="http://schemas.openxmlformats.org/officeDocument/2006/relationships" id="2147483653" r:id="R1dfd232bf2ce43f2"/>
    <p:sldLayoutId xmlns:r="http://schemas.openxmlformats.org/officeDocument/2006/relationships" id="2147483654" r:id="R07acf81af539438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c1f521dcb974320" /><Relationship Type="http://schemas.openxmlformats.org/officeDocument/2006/relationships/notesSlide" Target="/ppt/notesSlides/notesSlide1.xml" Id="R3d9c7ce5376240b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eea523e96164a60" /><Relationship Type="http://schemas.openxmlformats.org/officeDocument/2006/relationships/notesSlide" Target="/ppt/notesSlides/notesSlide2.xml" Id="Re21edd41e7d947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ce0e0f19f684409" /><Relationship Type="http://schemas.openxmlformats.org/officeDocument/2006/relationships/image" Target="/ppt/media/image.png" Id="R2343fd3c46c84a1f" /><Relationship Type="http://schemas.openxmlformats.org/officeDocument/2006/relationships/notesSlide" Target="/ppt/notesSlides/notesSlide3.xml" Id="R18ab4d6dd19e4a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69df45363e44888" /><Relationship Type="http://schemas.openxmlformats.org/officeDocument/2006/relationships/notesSlide" Target="/ppt/notesSlides/notesSlide4.xml" Id="Rbe610907d67d432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a9eb9c5f8a54056" /><Relationship Type="http://schemas.openxmlformats.org/officeDocument/2006/relationships/notesSlide" Target="/ppt/notesSlides/notesSlide5.xml" Id="R8bf212d5fcbd4af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c81a69956b54ac8" /><Relationship Type="http://schemas.openxmlformats.org/officeDocument/2006/relationships/notesSlide" Target="/ppt/notesSlides/notesSlide6.xml" Id="R87eb3bd7f21c450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03512efc1b74d40" /><Relationship Type="http://schemas.openxmlformats.org/officeDocument/2006/relationships/image" Target="/ppt/media/image2.png" Id="Ra42be96b5f8f44fb" /><Relationship Type="http://schemas.openxmlformats.org/officeDocument/2006/relationships/hyperlink" Target="https://github.com/JhosFcL/FugaPrision/commits/main/" TargetMode="External" Id="Re5b1fc01e59148ca" /><Relationship Type="http://schemas.openxmlformats.org/officeDocument/2006/relationships/notesSlide" Target="/ppt/notesSlides/notesSlide7.xml" Id="R9d7b86008b4d479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56248f4f6f74652" /><Relationship Type="http://schemas.openxmlformats.org/officeDocument/2006/relationships/notesSlide" Target="/ppt/notesSlides/notesSlide8.xml" Id="R292554176b13441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76973d1ca474a29" /><Relationship Type="http://schemas.openxmlformats.org/officeDocument/2006/relationships/image" Target="/ppt/media/image3.png" Id="R57b47a6ca2ac4c5b" /><Relationship Type="http://schemas.openxmlformats.org/officeDocument/2006/relationships/hyperlink" Target="https://github.com/JhosFcL/FugaPrision/blob/main/docs/diagramas/modelo_parcial.png" TargetMode="External" Id="Rd07dac14b2f64411" /><Relationship Type="http://schemas.openxmlformats.org/officeDocument/2006/relationships/hyperlink" Target="https://github.com/JhosFcL/FugaPrision/blob/main/src/puntuacion.py" TargetMode="External" Id="R91ca6a37a4be430d" /><Relationship Type="http://schemas.openxmlformats.org/officeDocument/2006/relationships/notesSlide" Target="/ppt/notesSlides/notesSlide9.xml" Id="Rdff4f37cfb8a4ef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e1370cda9684c01" /><Relationship Type="http://schemas.openxmlformats.org/officeDocument/2006/relationships/image" Target="/ppt/media/image4.png" Id="R98614d1dc86d4f22" /><Relationship Type="http://schemas.openxmlformats.org/officeDocument/2006/relationships/hyperlink" Target="https://github.com/JhosFcL/FugaPrision/blob/main/src/juego.py#L7" TargetMode="External" Id="R00a82243d73a4256" /><Relationship Type="http://schemas.openxmlformats.org/officeDocument/2006/relationships/hyperlink" Target="https://github.com/JhosFcL/FugaPrision/blob/main/docs/diagramas/clases/Juego.png" TargetMode="External" Id="Re89882245dce4169" /><Relationship Type="http://schemas.openxmlformats.org/officeDocument/2006/relationships/notesSlide" Target="/ppt/notesSlides/notesSlide10.xml" Id="Rda3f7aabdf8445e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c20343aad524b14" /><Relationship Type="http://schemas.openxmlformats.org/officeDocument/2006/relationships/image" Target="/ppt/media/image5.png" Id="Radc72da01bfc4257" /><Relationship Type="http://schemas.openxmlformats.org/officeDocument/2006/relationships/hyperlink" Target="https://github.com/JhosFcL/FugaPrision/blob/main/src/estados.py#L4" TargetMode="External" Id="Rc88757dc039f44f8" /><Relationship Type="http://schemas.openxmlformats.org/officeDocument/2006/relationships/hyperlink" Target="https://github.com/JhosFcL/FugaPrision/blob/main/docs/diagramas/clases/EstadoJuego.png" TargetMode="External" Id="Rce548c6953454b3f" /><Relationship Type="http://schemas.openxmlformats.org/officeDocument/2006/relationships/notesSlide" Target="/ppt/notesSlides/notesSlide11.xml" Id="Rce9ea7c999d84ac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405f017e2494531" /><Relationship Type="http://schemas.openxmlformats.org/officeDocument/2006/relationships/image" Target="/ppt/media/image6.png" Id="R7376dd1e30f24bf2" /><Relationship Type="http://schemas.openxmlformats.org/officeDocument/2006/relationships/hyperlink" Target="https://github.com/JhosFcL/FugaPrision/blob/main/src/estados.py#L19" TargetMode="External" Id="R653f4ae06ab3431a" /><Relationship Type="http://schemas.openxmlformats.org/officeDocument/2006/relationships/hyperlink" Target="https://github.com/JhosFcL/FugaPrision/blob/main/docs/diagramas/clases/Jugando.png" TargetMode="External" Id="R5e586c2f6fc8405f" /><Relationship Type="http://schemas.openxmlformats.org/officeDocument/2006/relationships/notesSlide" Target="/ppt/notesSlides/notesSlide12.xml" Id="Re443bb25b624487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1b865347de84b54" /><Relationship Type="http://schemas.openxmlformats.org/officeDocument/2006/relationships/image" Target="/ppt/media/image7.png" Id="R6532067226f94cbd" /><Relationship Type="http://schemas.openxmlformats.org/officeDocument/2006/relationships/hyperlink" Target="https://github.com/JhosFcL/FugaPrision/blob/main/src/estados.py#L38" TargetMode="External" Id="R955bbac40d7346f5" /><Relationship Type="http://schemas.openxmlformats.org/officeDocument/2006/relationships/hyperlink" Target="https://github.com/JhosFcL/FugaPrision/blob/main/docs/diagramas/clases/Pausa.png" TargetMode="External" Id="R4943522687e44feb" /><Relationship Type="http://schemas.openxmlformats.org/officeDocument/2006/relationships/notesSlide" Target="/ppt/notesSlides/notesSlide13.xml" Id="R8a3e18670e3441e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ed96b38708e48c0" /><Relationship Type="http://schemas.openxmlformats.org/officeDocument/2006/relationships/image" Target="/ppt/media/image8.png" Id="R31532eb19902474f" /><Relationship Type="http://schemas.openxmlformats.org/officeDocument/2006/relationships/hyperlink" Target="https://github.com/JhosFcL/FugaPrision/blob/main/src/estados.py#L49" TargetMode="External" Id="R4f643d6af7cb423c" /><Relationship Type="http://schemas.openxmlformats.org/officeDocument/2006/relationships/hyperlink" Target="https://github.com/JhosFcL/FugaPrision/blob/main/docs/diagramas/clases/Derrota.png" TargetMode="External" Id="R16a01c3a93694126" /><Relationship Type="http://schemas.openxmlformats.org/officeDocument/2006/relationships/notesSlide" Target="/ppt/notesSlides/notesSlide14.xml" Id="Rdcafc5a5ec96466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e3fe1d6928c48eb" /><Relationship Type="http://schemas.openxmlformats.org/officeDocument/2006/relationships/image" Target="/ppt/media/image9.png" Id="R9f0f11ac183f41ef" /><Relationship Type="http://schemas.openxmlformats.org/officeDocument/2006/relationships/hyperlink" Target="https://github.com/JhosFcL/FugaPrision/blob/main/src/estados.py#L62" TargetMode="External" Id="R081171a2e51f4c61" /><Relationship Type="http://schemas.openxmlformats.org/officeDocument/2006/relationships/hyperlink" Target="https://github.com/JhosFcL/FugaPrision/blob/main/docs/diagramas/clases/Victoria.png" TargetMode="External" Id="R318701ef48d04c3e" /><Relationship Type="http://schemas.openxmlformats.org/officeDocument/2006/relationships/notesSlide" Target="/ppt/notesSlides/notesSlide15.xml" Id="R885ffa392d14415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ac3b06db62f4317" /><Relationship Type="http://schemas.openxmlformats.org/officeDocument/2006/relationships/image" Target="/ppt/media/image10.png" Id="Rec7a816e786f489f" /><Relationship Type="http://schemas.openxmlformats.org/officeDocument/2006/relationships/hyperlink" Target="https://github.com/JhosFcL/FugaPrision/blob/main/src/estados.py#L73" TargetMode="External" Id="R7ba09b1e342942c3" /><Relationship Type="http://schemas.openxmlformats.org/officeDocument/2006/relationships/hyperlink" Target="https://github.com/JhosFcL/FugaPrision/blob/main/docs/diagramas/clases/NivelCompletado.png" TargetMode="External" Id="Ra3815701260c460b" /><Relationship Type="http://schemas.openxmlformats.org/officeDocument/2006/relationships/notesSlide" Target="/ppt/notesSlides/notesSlide16.xml" Id="R30c4a6cfc839486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ef000ce32234301" /><Relationship Type="http://schemas.openxmlformats.org/officeDocument/2006/relationships/image" Target="/ppt/media/image11.png" Id="R15f0a964a5bb4f6d" /><Relationship Type="http://schemas.openxmlformats.org/officeDocument/2006/relationships/hyperlink" Target="https://github.com/JhosFcL/FugaPrision/blob/main/src/nivel.py#L85" TargetMode="External" Id="R305b17ca366e4830" /><Relationship Type="http://schemas.openxmlformats.org/officeDocument/2006/relationships/hyperlink" Target="https://github.com/JhosFcL/FugaPrision/blob/main/docs/diagramas/clases/Nivel.png" TargetMode="External" Id="R86b84112a5d5437d" /><Relationship Type="http://schemas.openxmlformats.org/officeDocument/2006/relationships/notesSlide" Target="/ppt/notesSlides/notesSlide17.xml" Id="Rff9c2b4875684a7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507f61af852405a" /><Relationship Type="http://schemas.openxmlformats.org/officeDocument/2006/relationships/image" Target="/ppt/media/image12.png" Id="R15092f502d8f45c7" /><Relationship Type="http://schemas.openxmlformats.org/officeDocument/2006/relationships/hyperlink" Target="https://github.com/JhosFcL/FugaPrision/blob/main/src/nivel.py#L32" TargetMode="External" Id="Rb375b1f0dff04a91" /><Relationship Type="http://schemas.openxmlformats.org/officeDocument/2006/relationships/hyperlink" Target="https://github.com/JhosFcL/FugaPrision/blob/main/docs/diagramas/clases/PuertaCelda.png" TargetMode="External" Id="R32d3fc667fd545da" /><Relationship Type="http://schemas.openxmlformats.org/officeDocument/2006/relationships/notesSlide" Target="/ppt/notesSlides/notesSlide18.xml" Id="Rb8153b3394434bd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b17fe943b594e9a" /><Relationship Type="http://schemas.openxmlformats.org/officeDocument/2006/relationships/image" Target="/ppt/media/image13.png" Id="R4df544f751714a3b" /><Relationship Type="http://schemas.openxmlformats.org/officeDocument/2006/relationships/hyperlink" Target="https://github.com/JhosFcL/FugaPrision/blob/main/src/mapa.py#L82" TargetMode="External" Id="Rf117dcac3e3e4649" /><Relationship Type="http://schemas.openxmlformats.org/officeDocument/2006/relationships/hyperlink" Target="https://github.com/JhosFcL/FugaPrision/blob/main/docs/diagramas/clases/Mapa.png" TargetMode="External" Id="Rc8cbf4ee9aed4b1c" /><Relationship Type="http://schemas.openxmlformats.org/officeDocument/2006/relationships/notesSlide" Target="/ppt/notesSlides/notesSlide19.xml" Id="R080b4f2536c24c5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7314dd6bd154984" /><Relationship Type="http://schemas.openxmlformats.org/officeDocument/2006/relationships/image" Target="/ppt/media/image14.png" Id="Rb643497b6b7b418d" /><Relationship Type="http://schemas.openxmlformats.org/officeDocument/2006/relationships/hyperlink" Target="https://github.com/JhosFcL/FugaPrision/blob/main/src/personajes.py#L39" TargetMode="External" Id="Rd6de3c7f547843aa" /><Relationship Type="http://schemas.openxmlformats.org/officeDocument/2006/relationships/hyperlink" Target="https://github.com/JhosFcL/FugaPrision/blob/main/docs/diagramas/clases/Personaje.png" TargetMode="External" Id="R56b624b99f144bb3" /><Relationship Type="http://schemas.openxmlformats.org/officeDocument/2006/relationships/notesSlide" Target="/ppt/notesSlides/notesSlide20.xml" Id="R7a29d4ec6f61417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292ddcfa7cd4ca4" /><Relationship Type="http://schemas.openxmlformats.org/officeDocument/2006/relationships/image" Target="/ppt/media/image15.png" Id="Rf855a4b419234091" /><Relationship Type="http://schemas.openxmlformats.org/officeDocument/2006/relationships/hyperlink" Target="https://github.com/JhosFcL/FugaPrision/blob/main/src/personajes.py#L58" TargetMode="External" Id="R9978591a25e34fa1" /><Relationship Type="http://schemas.openxmlformats.org/officeDocument/2006/relationships/hyperlink" Target="https://github.com/JhosFcL/FugaPrision/blob/main/docs/diagramas/clases/Prisionero.png" TargetMode="External" Id="Reced866d83d7435c" /><Relationship Type="http://schemas.openxmlformats.org/officeDocument/2006/relationships/notesSlide" Target="/ppt/notesSlides/notesSlide21.xml" Id="Re397b84431cb48a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5387f878fa34e32" /><Relationship Type="http://schemas.openxmlformats.org/officeDocument/2006/relationships/image" Target="/ppt/media/image16.png" Id="R9d2ecb627d5d4974" /><Relationship Type="http://schemas.openxmlformats.org/officeDocument/2006/relationships/hyperlink" Target="https://github.com/JhosFcL/FugaPrision/blob/main/src/personajes.py#L97" TargetMode="External" Id="R33c99ca0f5154ddf" /><Relationship Type="http://schemas.openxmlformats.org/officeDocument/2006/relationships/hyperlink" Target="https://github.com/JhosFcL/FugaPrision/blob/main/docs/diagramas/clases/Guardia.png" TargetMode="External" Id="R091d1df4ab0f4816" /><Relationship Type="http://schemas.openxmlformats.org/officeDocument/2006/relationships/notesSlide" Target="/ppt/notesSlides/notesSlide22.xml" Id="Rc755135c5d144f6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8a840c36b964ca3" /><Relationship Type="http://schemas.openxmlformats.org/officeDocument/2006/relationships/image" Target="/ppt/media/image17.png" Id="Rceffe3d1c80842f1" /><Relationship Type="http://schemas.openxmlformats.org/officeDocument/2006/relationships/hyperlink" Target="https://github.com/JhosFcL/FugaPrision/blob/main/src/personajes.py#L6" TargetMode="External" Id="R23abd6fb0a144790" /><Relationship Type="http://schemas.openxmlformats.org/officeDocument/2006/relationships/hyperlink" Target="https://github.com/JhosFcL/FugaPrision/blob/main/docs/diagramas/clases/HabilidadCarrera.png" TargetMode="External" Id="R01af2836561a4232" /><Relationship Type="http://schemas.openxmlformats.org/officeDocument/2006/relationships/notesSlide" Target="/ppt/notesSlides/notesSlide23.xml" Id="Rae9a7bc02a4e484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53e4b5a1b264b20" /><Relationship Type="http://schemas.openxmlformats.org/officeDocument/2006/relationships/image" Target="/ppt/media/image18.png" Id="R43e8bef0531249a0" /><Relationship Type="http://schemas.openxmlformats.org/officeDocument/2006/relationships/hyperlink" Target="https://github.com/JhosFcL/FugaPrision/blob/main/src/ruido.py#L4" TargetMode="External" Id="Rc62491385f224c47" /><Relationship Type="http://schemas.openxmlformats.org/officeDocument/2006/relationships/hyperlink" Target="https://github.com/JhosFcL/FugaPrision/blob/main/docs/diagramas/clases/SistemaRuido.png" TargetMode="External" Id="R04d60af16ad44eab" /><Relationship Type="http://schemas.openxmlformats.org/officeDocument/2006/relationships/notesSlide" Target="/ppt/notesSlides/notesSlide24.xml" Id="R60a6defd384941d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9371925ff7c4b91" /><Relationship Type="http://schemas.openxmlformats.org/officeDocument/2006/relationships/image" Target="/ppt/media/image19.png" Id="Rd1c5b6324c314440" /><Relationship Type="http://schemas.openxmlformats.org/officeDocument/2006/relationships/hyperlink" Target="https://github.com/JhosFcL/FugaPrision/blob/main/src/nivel.py#L51" TargetMode="External" Id="R83711aa2e5364d3c" /><Relationship Type="http://schemas.openxmlformats.org/officeDocument/2006/relationships/hyperlink" Target="https://github.com/JhosFcL/FugaPrision/blob/main/docs/diagramas/clases/Camara.png" TargetMode="External" Id="R27e1637338c74bdc" /><Relationship Type="http://schemas.openxmlformats.org/officeDocument/2006/relationships/notesSlide" Target="/ppt/notesSlides/notesSlide25.xml" Id="Rb5c6c2251435459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8db7fbfa5834c69" /><Relationship Type="http://schemas.openxmlformats.org/officeDocument/2006/relationships/image" Target="/ppt/media/image20.png" Id="Rfa17b68b011b43b5" /><Relationship Type="http://schemas.openxmlformats.org/officeDocument/2006/relationships/hyperlink" Target="https://github.com/JhosFcL/FugaPrision/blob/main/src/nivel.py#L64" TargetMode="External" Id="R24e397765f2b4a07" /><Relationship Type="http://schemas.openxmlformats.org/officeDocument/2006/relationships/hyperlink" Target="https://github.com/JhosFcL/FugaPrision/blob/main/docs/diagramas/clases/Llave.png" TargetMode="External" Id="R1e25117f9d5c47ba" /><Relationship Type="http://schemas.openxmlformats.org/officeDocument/2006/relationships/notesSlide" Target="/ppt/notesSlides/notesSlide26.xml" Id="R02ede6c87d4948e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4d67120cea44d72" /><Relationship Type="http://schemas.openxmlformats.org/officeDocument/2006/relationships/image" Target="/ppt/media/image21.png" Id="R36cd2033403b4fe3" /><Relationship Type="http://schemas.openxmlformats.org/officeDocument/2006/relationships/hyperlink" Target="https://github.com/JhosFcL/FugaPrision/blob/main/src/nivel.py#L77" TargetMode="External" Id="Redacb0b22f434146" /><Relationship Type="http://schemas.openxmlformats.org/officeDocument/2006/relationships/hyperlink" Target="https://github.com/JhosFcL/FugaPrision/blob/main/docs/diagramas/clases/PuertaSalida.png" TargetMode="External" Id="R354d1c7020ee49e1" /><Relationship Type="http://schemas.openxmlformats.org/officeDocument/2006/relationships/notesSlide" Target="/ppt/notesSlides/notesSlide27.xml" Id="R67af864af6d443c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8f3e4c3caa214a45" /><Relationship Type="http://schemas.openxmlformats.org/officeDocument/2006/relationships/image" Target="/ppt/media/image22.png" Id="R428caa3355e0485f" /><Relationship Type="http://schemas.openxmlformats.org/officeDocument/2006/relationships/hyperlink" Target="https://github.com/JhosFcL/FugaPrision/blob/main/src/puntuacion.py#L18" TargetMode="External" Id="R95c0fed3f2a74af3" /><Relationship Type="http://schemas.openxmlformats.org/officeDocument/2006/relationships/hyperlink" Target="https://github.com/JhosFcL/FugaPrision/blob/main/docs/diagramas/clases/Puntaje.png" TargetMode="External" Id="R9f3d05a86b74479a" /><Relationship Type="http://schemas.openxmlformats.org/officeDocument/2006/relationships/notesSlide" Target="/ppt/notesSlides/notesSlide28.xml" Id="R42111e8ccc8241c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1c2f6218ebed4c26" /><Relationship Type="http://schemas.openxmlformats.org/officeDocument/2006/relationships/image" Target="/ppt/media/image23.png" Id="R6d287ba05b554f31" /><Relationship Type="http://schemas.openxmlformats.org/officeDocument/2006/relationships/hyperlink" Target="https://github.com/JhosFcL/FugaPrision/blob/main/src/puntuacion.py#L4" TargetMode="External" Id="Rd828e368d5f9415b" /><Relationship Type="http://schemas.openxmlformats.org/officeDocument/2006/relationships/hyperlink" Target="https://github.com/JhosFcL/FugaPrision/blob/main/docs/diagramas/clases/ObservadorPuntaje.png" TargetMode="External" Id="R8e6f702d0f1747fd" /><Relationship Type="http://schemas.openxmlformats.org/officeDocument/2006/relationships/notesSlide" Target="/ppt/notesSlides/notesSlide29.xml" Id="Rcb0b77613b2441b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03664bd8be04132" /><Relationship Type="http://schemas.openxmlformats.org/officeDocument/2006/relationships/image" Target="/ppt/media/image24.png" Id="Re44b0c49ee3242b5" /><Relationship Type="http://schemas.openxmlformats.org/officeDocument/2006/relationships/hyperlink" Target="https://github.com/JhosFcL/FugaPrision/blob/main/src/puntuacion.py#L10" TargetMode="External" Id="Rbac89a7ea67844bb" /><Relationship Type="http://schemas.openxmlformats.org/officeDocument/2006/relationships/hyperlink" Target="https://github.com/JhosFcL/FugaPrision/blob/main/docs/diagramas/clases/PanelPuntaje.png" TargetMode="External" Id="R82ee44c4003549a6" /><Relationship Type="http://schemas.openxmlformats.org/officeDocument/2006/relationships/notesSlide" Target="/ppt/notesSlides/notesSlide30.xml" Id="Rb198e20efd224e9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5c9832d8c384064" /><Relationship Type="http://schemas.openxmlformats.org/officeDocument/2006/relationships/image" Target="/ppt/media/image25.png" Id="R4656d6f6bc4642d6" /><Relationship Type="http://schemas.openxmlformats.org/officeDocument/2006/relationships/hyperlink" Target="https://github.com/JhosFcL/FugaPrision/blob/main/src/combate.py#L8" TargetMode="External" Id="R5d62bfeb7233404c" /><Relationship Type="http://schemas.openxmlformats.org/officeDocument/2006/relationships/hyperlink" Target="https://github.com/JhosFcL/FugaPrision/blob/main/docs/diagramas/clases/Proyectil.png" TargetMode="External" Id="R221f94586ee548b7" /><Relationship Type="http://schemas.openxmlformats.org/officeDocument/2006/relationships/notesSlide" Target="/ppt/notesSlides/notesSlide31.xml" Id="Rfd7c68a9b8944d4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89f5f5fef0345e3" /><Relationship Type="http://schemas.openxmlformats.org/officeDocument/2006/relationships/image" Target="/ppt/media/image26.png" Id="R4f27fd270745409e" /><Relationship Type="http://schemas.openxmlformats.org/officeDocument/2006/relationships/hyperlink" Target="https://github.com/JhosFcL/FugaPrision/blob/main/src/combate.py#L47" TargetMode="External" Id="R92d07d4e2c2749ca" /><Relationship Type="http://schemas.openxmlformats.org/officeDocument/2006/relationships/hyperlink" Target="https://github.com/JhosFcL/FugaPrision/blob/main/docs/diagramas/clases/Alcaide.png" TargetMode="External" Id="R48f222a92d4744b9" /><Relationship Type="http://schemas.openxmlformats.org/officeDocument/2006/relationships/notesSlide" Target="/ppt/notesSlides/notesSlide32.xml" Id="R9f256884705d467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13a34a994384d62" /><Relationship Type="http://schemas.openxmlformats.org/officeDocument/2006/relationships/image" Target="/ppt/media/image27.png" Id="R09569965b997414a" /><Relationship Type="http://schemas.openxmlformats.org/officeDocument/2006/relationships/hyperlink" Target="https://github.com/JhosFcL/FugaPrision/blob/main/src/combate.py#L162" TargetMode="External" Id="R9766b1ad1b684acf" /><Relationship Type="http://schemas.openxmlformats.org/officeDocument/2006/relationships/hyperlink" Target="https://github.com/JhosFcL/FugaPrision/blob/main/docs/diagramas/clases/Combate.png" TargetMode="External" Id="R4b506da0006640cd" /><Relationship Type="http://schemas.openxmlformats.org/officeDocument/2006/relationships/notesSlide" Target="/ppt/notesSlides/notesSlide33.xml" Id="Rd027bc269e5d451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40d70f8fcf944dd8" /><Relationship Type="http://schemas.openxmlformats.org/officeDocument/2006/relationships/image" Target="/ppt/media/image28.png" Id="Rb8f853d0c2894234" /><Relationship Type="http://schemas.openxmlformats.org/officeDocument/2006/relationships/hyperlink" Target="https://github.com/JhosFcL/FugaPrision/blob/main/src/vista.py#L12" TargetMode="External" Id="R4a256b8f5df3433a" /><Relationship Type="http://schemas.openxmlformats.org/officeDocument/2006/relationships/hyperlink" Target="https://github.com/JhosFcL/FugaPrision/blob/main/docs/diagramas/clases/Vista.png" TargetMode="External" Id="R8443bf5e35684ff4" /><Relationship Type="http://schemas.openxmlformats.org/officeDocument/2006/relationships/notesSlide" Target="/ppt/notesSlides/notesSlide34.xml" Id="R57f5d368ff3c4f7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apartado-rubrica">
            <a:extLst xmlns:a="http://schemas.openxmlformats.org/drawingml/2006/main">
              <a:ext uri="{FF2B5EF4-FFF2-40B4-BE49-F238E27FC236}">
                <a16:creationId xmlns:a16="http://schemas.microsoft.com/office/drawing/2014/main" id="{697E64ED-28E3-4247-A74F-6A57655421BB}"/>
              </a:ext>
            </a:extLst>
          </p:cNvPr>
          <p:cNvSpPr>
            <a:spLocks xmlns:a="http://schemas.openxmlformats.org/drawingml/2006/main" noGrp="1"/>
          </p:cNvSpPr>
          <p:nvPr/>
        </p:nvSpPr>
        <p:spPr>
          <a:xfrm xmlns:a="http://schemas.openxmlformats.org/drawingml/2006/main">
            <a:off x="609600" y="28575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Proyecto parcial de Programación Orientada a Objetos</a:t>
            </a:r>
          </a:p>
        </p:txBody>
      </p:sp>
      <p:sp>
        <p:nvSpPr>
          <p:cNvPr id="2" name="titulo">
            <a:extLst xmlns:a="http://schemas.openxmlformats.org/drawingml/2006/main">
              <a:ext uri="{FF2B5EF4-FFF2-40B4-BE49-F238E27FC236}">
                <a16:creationId xmlns:a16="http://schemas.microsoft.com/office/drawing/2014/main" id="{B91D86AA-2A03-4E5C-BFC5-333F57ABFE5B}"/>
              </a:ext>
            </a:extLst>
          </p:cNvPr>
          <p:cNvSpPr>
            <a:spLocks xmlns:a="http://schemas.openxmlformats.org/drawingml/2006/main" noGrp="1"/>
          </p:cNvSpPr>
          <p:nvPr/>
        </p:nvSpPr>
        <p:spPr>
          <a:xfrm xmlns:a="http://schemas.openxmlformats.org/drawingml/2006/main">
            <a:off x="609600" y="790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350" b="1">
                <a:solidFill>
                  <a:srgbClr val="172F3C"/>
                </a:solidFill>
                <a:latin typeface="DejaVu Sans"/>
                <a:ea typeface="DejaVu Sans"/>
                <a:cs typeface="DejaVu Sans"/>
              </a:defRPr>
            </a:defPPr>
          </a:lstStyle>
          <a:p xmlns:a="http://schemas.openxmlformats.org/drawingml/2006/main">
            <a:pPr>
              <a:defRPr sz="4350" b="1">
                <a:solidFill>
                  <a:srgbClr val="172F3C"/>
                </a:solidFill>
                <a:latin typeface="DejaVu Sans"/>
                <a:ea typeface="DejaVu Sans"/>
                <a:cs typeface="DejaVu Sans"/>
              </a:defRPr>
            </a:pPr>
            <a:r>
              <a:rPr sz="4350" b="1">
                <a:solidFill>
                  <a:srgbClr val="172F3C"/>
                </a:solidFill>
                <a:latin typeface="DejaVu Sans"/>
                <a:ea typeface="DejaVu Sans"/>
                <a:cs typeface="DejaVu Sans"/>
              </a:rPr>
              <a:t>Fuga de la Prisión</a:t>
            </a:r>
          </a:p>
        </p:txBody>
      </p:sp>
      <p:sp>
        <p:nvSpPr>
          <p:cNvPr id="3" name="numero">
            <a:extLst xmlns:a="http://schemas.openxmlformats.org/drawingml/2006/main">
              <a:ext uri="{FF2B5EF4-FFF2-40B4-BE49-F238E27FC236}">
                <a16:creationId xmlns:a16="http://schemas.microsoft.com/office/drawing/2014/main" id="{D02ECDFE-9523-464F-B312-3A8E5958F34F}"/>
              </a:ext>
            </a:extLst>
          </p:cNvPr>
          <p:cNvSpPr>
            <a:spLocks xmlns:a="http://schemas.openxmlformats.org/drawingml/2006/main" noGrp="1"/>
          </p:cNvSpPr>
          <p:nvPr/>
        </p:nvSpPr>
        <p:spPr>
          <a:xfrm xmlns:a="http://schemas.openxmlformats.org/drawingml/2006/main">
            <a:off x="11210925" y="64770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526773"/>
                </a:solidFill>
                <a:latin typeface="DejaVu Sans"/>
                <a:ea typeface="DejaVu Sans"/>
                <a:cs typeface="DejaVu Sans"/>
              </a:defRPr>
            </a:defPPr>
          </a:lstStyle>
          <a:p xmlns:a="http://schemas.openxmlformats.org/drawingml/2006/main">
            <a:pPr>
              <a:defRPr sz="1050" b="0">
                <a:solidFill>
                  <a:srgbClr val="526773"/>
                </a:solidFill>
                <a:latin typeface="DejaVu Sans"/>
                <a:ea typeface="DejaVu Sans"/>
                <a:cs typeface="DejaVu Sans"/>
              </a:defRPr>
            </a:pPr>
            <a:r>
              <a:rPr sz="1050" b="0">
                <a:solidFill>
                  <a:srgbClr val="526773"/>
                </a:solidFill>
                <a:latin typeface="DejaVu Sans"/>
                <a:ea typeface="DejaVu Sans"/>
                <a:cs typeface="DejaVu Sans"/>
              </a:rPr>
              <a:t>01</a:t>
            </a:r>
          </a:p>
        </p:txBody>
      </p:sp>
      <p:sp>
        <p:nvSpPr>
          <p:cNvPr id="4" name="texto">
            <a:extLst xmlns:a="http://schemas.openxmlformats.org/drawingml/2006/main">
              <a:ext uri="{FF2B5EF4-FFF2-40B4-BE49-F238E27FC236}">
                <a16:creationId xmlns:a16="http://schemas.microsoft.com/office/drawing/2014/main" id="{566B58B6-6D19-43BD-A2E9-5B485B8D0028}"/>
              </a:ext>
            </a:extLst>
          </p:cNvPr>
          <p:cNvSpPr>
            <a:spLocks xmlns:a="http://schemas.openxmlformats.org/drawingml/2006/main" noGrp="1"/>
          </p:cNvSpPr>
          <p:nvPr/>
        </p:nvSpPr>
        <p:spPr>
          <a:xfrm xmlns:a="http://schemas.openxmlformats.org/drawingml/2006/main">
            <a:off x="609600" y="2019300"/>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72F3C"/>
                </a:solidFill>
                <a:latin typeface="DejaVu Sans"/>
                <a:ea typeface="DejaVu Sans"/>
                <a:cs typeface="DejaVu Sans"/>
              </a:defRPr>
            </a:defPPr>
          </a:lstStyle>
          <a:p xmlns:a="http://schemas.openxmlformats.org/drawingml/2006/main">
            <a:pPr>
              <a:defRPr sz="2325" b="0">
                <a:solidFill>
                  <a:srgbClr val="172F3C"/>
                </a:solidFill>
                <a:latin typeface="DejaVu Sans"/>
                <a:ea typeface="DejaVu Sans"/>
                <a:cs typeface="DejaVu Sans"/>
              </a:defRPr>
            </a:pPr>
            <a:r>
              <a:rPr sz="2325" b="0">
                <a:solidFill>
                  <a:srgbClr val="172F3C"/>
                </a:solidFill>
                <a:latin typeface="DejaVu Sans"/>
                <a:ea typeface="DejaVu Sans"/>
                <a:cs typeface="DejaVu Sans"/>
              </a:rPr>
              <a:t>Diseño e implementación de un videojuego 2D</a:t>
            </a:r>
          </a:p>
        </p:txBody>
      </p:sp>
      <p:sp>
        <p:nvSpPr>
          <p:cNvPr id="5" name="texto">
            <a:extLst xmlns:a="http://schemas.openxmlformats.org/drawingml/2006/main">
              <a:ext uri="{FF2B5EF4-FFF2-40B4-BE49-F238E27FC236}">
                <a16:creationId xmlns:a16="http://schemas.microsoft.com/office/drawing/2014/main" id="{44E8322F-CF58-4DDB-B620-A25E6A9B2EFD}"/>
              </a:ext>
            </a:extLst>
          </p:cNvPr>
          <p:cNvSpPr>
            <a:spLocks xmlns:a="http://schemas.openxmlformats.org/drawingml/2006/main" noGrp="1"/>
          </p:cNvSpPr>
          <p:nvPr/>
        </p:nvSpPr>
        <p:spPr>
          <a:xfrm xmlns:a="http://schemas.openxmlformats.org/drawingml/2006/main">
            <a:off x="609600" y="31908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773"/>
                </a:solidFill>
                <a:latin typeface="DejaVu Sans"/>
                <a:ea typeface="DejaVu Sans"/>
                <a:cs typeface="DejaVu Sans"/>
              </a:defRPr>
            </a:defPPr>
          </a:lstStyle>
          <a:p xmlns:a="http://schemas.openxmlformats.org/drawingml/2006/main">
            <a:pPr>
              <a:defRPr sz="1800" b="0">
                <a:solidFill>
                  <a:srgbClr val="526773"/>
                </a:solidFill>
                <a:latin typeface="DejaVu Sans"/>
                <a:ea typeface="DejaVu Sans"/>
                <a:cs typeface="DejaVu Sans"/>
              </a:defRPr>
            </a:pPr>
            <a:r>
              <a:rPr sz="1800" b="0">
                <a:solidFill>
                  <a:srgbClr val="526773"/>
                </a:solidFill>
                <a:latin typeface="DejaVu Sans"/>
                <a:ea typeface="DejaVu Sans"/>
                <a:cs typeface="DejaVu Sans"/>
              </a:rPr>
              <a:t>Universidad Peruana Cayetano Heredia</a:t>
            </a:r>
          </a:p>
          <a:p xmlns:a="http://schemas.openxmlformats.org/drawingml/2006/main">
            <a:pPr>
              <a:defRPr sz="1800" b="0">
                <a:solidFill>
                  <a:srgbClr val="526773"/>
                </a:solidFill>
                <a:latin typeface="DejaVu Sans"/>
                <a:ea typeface="DejaVu Sans"/>
                <a:cs typeface="DejaVu Sans"/>
              </a:defRPr>
            </a:pPr>
            <a:r>
              <a:rPr sz="1800" b="0">
                <a:solidFill>
                  <a:srgbClr val="526773"/>
                </a:solidFill>
                <a:latin typeface="DejaVu Sans"/>
                <a:ea typeface="DejaVu Sans"/>
                <a:cs typeface="DejaVu Sans"/>
              </a:rPr>
              <a:t>Ingeniería Informática</a:t>
            </a:r>
          </a:p>
        </p:txBody>
      </p:sp>
      <p:sp>
        <p:nvSpPr>
          <p:cNvPr id="6" name="texto">
            <a:extLst xmlns:a="http://schemas.openxmlformats.org/drawingml/2006/main">
              <a:ext uri="{FF2B5EF4-FFF2-40B4-BE49-F238E27FC236}">
                <a16:creationId xmlns:a16="http://schemas.microsoft.com/office/drawing/2014/main" id="{0FA38C52-DD40-4E37-9124-B086544E9510}"/>
              </a:ext>
            </a:extLst>
          </p:cNvPr>
          <p:cNvSpPr>
            <a:spLocks xmlns:a="http://schemas.openxmlformats.org/drawingml/2006/main" noGrp="1"/>
          </p:cNvSpPr>
          <p:nvPr/>
        </p:nvSpPr>
        <p:spPr>
          <a:xfrm xmlns:a="http://schemas.openxmlformats.org/drawingml/2006/main">
            <a:off x="609600" y="457200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172F3C"/>
                </a:solidFill>
                <a:latin typeface="DejaVu Sans"/>
                <a:ea typeface="DejaVu Sans"/>
                <a:cs typeface="DejaVu Sans"/>
              </a:defRPr>
            </a:defPPr>
          </a:lstStyle>
          <a:p xmlns:a="http://schemas.openxmlformats.org/drawingml/2006/main">
            <a:pPr>
              <a:defRPr sz="1650" b="0">
                <a:solidFill>
                  <a:srgbClr val="172F3C"/>
                </a:solidFill>
                <a:latin typeface="DejaVu Sans"/>
                <a:ea typeface="DejaVu Sans"/>
                <a:cs typeface="DejaVu Sans"/>
              </a:defRPr>
            </a:pPr>
            <a:r>
              <a:rPr sz="1650" b="0">
                <a:solidFill>
                  <a:srgbClr val="172F3C"/>
                </a:solidFill>
                <a:latin typeface="DejaVu Sans"/>
                <a:ea typeface="DejaVu Sans"/>
                <a:cs typeface="DejaVu Sans"/>
              </a:rPr>
              <a:t>Jose Fernando Chavez Lozano</a:t>
            </a:r>
          </a:p>
          <a:p xmlns:a="http://schemas.openxmlformats.org/drawingml/2006/main">
            <a:pPr>
              <a:defRPr sz="1650" b="0">
                <a:solidFill>
                  <a:srgbClr val="172F3C"/>
                </a:solidFill>
                <a:latin typeface="DejaVu Sans"/>
                <a:ea typeface="DejaVu Sans"/>
                <a:cs typeface="DejaVu Sans"/>
              </a:defRPr>
            </a:pPr>
            <a:r>
              <a:rPr sz="1650" b="0">
                <a:solidFill>
                  <a:srgbClr val="172F3C"/>
                </a:solidFill>
                <a:latin typeface="DejaVu Sans"/>
                <a:ea typeface="DejaVu Sans"/>
                <a:cs typeface="DejaVu Sans"/>
              </a:rPr>
              <a:t>Mickele Carlos Torres Velazco</a:t>
            </a:r>
          </a:p>
          <a:p xmlns:a="http://schemas.openxmlformats.org/drawingml/2006/main">
            <a:pPr>
              <a:defRPr sz="1650" b="0">
                <a:solidFill>
                  <a:srgbClr val="172F3C"/>
                </a:solidFill>
                <a:latin typeface="DejaVu Sans"/>
                <a:ea typeface="DejaVu Sans"/>
                <a:cs typeface="DejaVu Sans"/>
              </a:defRPr>
            </a:pPr>
            <a:r>
              <a:rPr sz="1650" b="0">
                <a:solidFill>
                  <a:srgbClr val="172F3C"/>
                </a:solidFill>
                <a:latin typeface="DejaVu Sans"/>
                <a:ea typeface="DejaVu Sans"/>
                <a:cs typeface="DejaVu Sans"/>
              </a:rPr>
              <a:t>Piero Cemei Romero Meza</a:t>
            </a:r>
          </a:p>
          <a:p xmlns:a="http://schemas.openxmlformats.org/drawingml/2006/main">
            <a:pPr>
              <a:defRPr sz="1650" b="0">
                <a:solidFill>
                  <a:srgbClr val="172F3C"/>
                </a:solidFill>
                <a:latin typeface="DejaVu Sans"/>
                <a:ea typeface="DejaVu Sans"/>
                <a:cs typeface="DejaVu Sans"/>
              </a:defRPr>
            </a:pPr>
            <a:r>
              <a:rPr sz="1650" b="0">
                <a:solidFill>
                  <a:srgbClr val="172F3C"/>
                </a:solidFill>
                <a:latin typeface="DejaVu Sans"/>
                <a:ea typeface="DejaVu Sans"/>
                <a:cs typeface="DejaVu Sans"/>
              </a:rPr>
              <a:t>Richard Aaron Soriano Cordova</a:t>
            </a:r>
          </a:p>
        </p:txBody>
      </p:sp>
      <p:sp>
        <p:nvSpPr>
          <p:cNvPr id="7" name="texto">
            <a:extLst xmlns:a="http://schemas.openxmlformats.org/drawingml/2006/main">
              <a:ext uri="{FF2B5EF4-FFF2-40B4-BE49-F238E27FC236}">
                <a16:creationId xmlns:a16="http://schemas.microsoft.com/office/drawing/2014/main" id="{D1AD6C31-437E-48E8-AD55-529BBF52F484}"/>
              </a:ext>
            </a:extLst>
          </p:cNvPr>
          <p:cNvSpPr>
            <a:spLocks xmlns:a="http://schemas.openxmlformats.org/drawingml/2006/main" noGrp="1"/>
          </p:cNvSpPr>
          <p:nvPr/>
        </p:nvSpPr>
        <p:spPr>
          <a:xfrm xmlns:a="http://schemas.openxmlformats.org/drawingml/2006/main">
            <a:off x="609600" y="6124575"/>
            <a:ext cx="1076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526773"/>
                </a:solidFill>
                <a:latin typeface="DejaVu Sans"/>
                <a:ea typeface="DejaVu Sans"/>
                <a:cs typeface="DejaVu Sans"/>
              </a:defRPr>
            </a:defPPr>
          </a:lstStyle>
          <a:p xmlns:a="http://schemas.openxmlformats.org/drawingml/2006/main">
            <a:pPr>
              <a:defRPr sz="1425" b="0">
                <a:solidFill>
                  <a:srgbClr val="526773"/>
                </a:solidFill>
                <a:latin typeface="DejaVu Sans"/>
                <a:ea typeface="DejaVu Sans"/>
                <a:cs typeface="DejaVu Sans"/>
              </a:defRPr>
            </a:pPr>
            <a:r>
              <a:rPr sz="1425" b="0">
                <a:solidFill>
                  <a:srgbClr val="526773"/>
                </a:solidFill>
                <a:latin typeface="DejaVu Sans"/>
                <a:ea typeface="DejaVu Sans"/>
                <a:cs typeface="DejaVu Sans"/>
              </a:rPr>
              <a:t>Ciclo IV. Período académico 2026-II</a:t>
            </a:r>
          </a:p>
        </p:txBody>
      </p:sp>
    </p:spTree>
    <p:extLst>
      <p:ext uri="{BB962C8B-B14F-4D97-AF65-F5344CB8AC3E}">
        <p14:creationId xmlns:p14="http://schemas.microsoft.com/office/powerpoint/2010/main" val="15089444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partado-rubrica">
            <a:extLst xmlns:a="http://schemas.openxmlformats.org/drawingml/2006/main">
              <a:ext uri="{FF2B5EF4-FFF2-40B4-BE49-F238E27FC236}">
                <a16:creationId xmlns:a16="http://schemas.microsoft.com/office/drawing/2014/main" id="{DA9BE330-7799-4431-8E20-F06A17D223E6}"/>
              </a:ext>
            </a:extLst>
          </p:cNvPr>
          <p:cNvSpPr>
            <a:spLocks xmlns:a="http://schemas.openxmlformats.org/drawingml/2006/main" noGrp="1"/>
          </p:cNvSpPr>
          <p:nvPr/>
        </p:nvSpPr>
        <p:spPr>
          <a:xfrm xmlns:a="http://schemas.openxmlformats.org/drawingml/2006/main">
            <a:off x="609600" y="28575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1 de 7</a:t>
            </a:r>
          </a:p>
        </p:txBody>
      </p:sp>
      <p:sp>
        <p:nvSpPr>
          <p:cNvPr id="2" name="titulo">
            <a:extLst xmlns:a="http://schemas.openxmlformats.org/drawingml/2006/main">
              <a:ext uri="{FF2B5EF4-FFF2-40B4-BE49-F238E27FC236}">
                <a16:creationId xmlns:a16="http://schemas.microsoft.com/office/drawing/2014/main" id="{DDB512D1-B8D6-4CB2-8B0F-BE65B03E7F9B}"/>
              </a:ext>
            </a:extLst>
          </p:cNvPr>
          <p:cNvSpPr>
            <a:spLocks xmlns:a="http://schemas.openxmlformats.org/drawingml/2006/main" noGrp="1"/>
          </p:cNvSpPr>
          <p:nvPr/>
        </p:nvSpPr>
        <p:spPr>
          <a:xfrm xmlns:a="http://schemas.openxmlformats.org/drawingml/2006/main">
            <a:off x="609600" y="790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150" b="1">
                <a:solidFill>
                  <a:srgbClr val="172F3C"/>
                </a:solidFill>
                <a:latin typeface="DejaVu Sans"/>
                <a:ea typeface="DejaVu Sans"/>
                <a:cs typeface="DejaVu Sans"/>
              </a:defRPr>
            </a:defPPr>
          </a:lstStyle>
          <a:p xmlns:a="http://schemas.openxmlformats.org/drawingml/2006/main">
            <a:pPr>
              <a:defRPr sz="3150" b="1">
                <a:solidFill>
                  <a:srgbClr val="172F3C"/>
                </a:solidFill>
                <a:latin typeface="DejaVu Sans"/>
                <a:ea typeface="DejaVu Sans"/>
                <a:cs typeface="DejaVu Sans"/>
              </a:defRPr>
            </a:pPr>
            <a:r>
              <a:rPr sz="3150" b="1">
                <a:solidFill>
                  <a:srgbClr val="172F3C"/>
                </a:solidFill>
                <a:latin typeface="DejaVu Sans"/>
                <a:ea typeface="DejaVu Sans"/>
                <a:cs typeface="DejaVu Sans"/>
              </a:rPr>
              <a:t>I. Resumen ejecutivo</a:t>
            </a:r>
          </a:p>
        </p:txBody>
      </p:sp>
      <p:sp>
        <p:nvSpPr>
          <p:cNvPr id="3" name="numero">
            <a:extLst xmlns:a="http://schemas.openxmlformats.org/drawingml/2006/main">
              <a:ext uri="{FF2B5EF4-FFF2-40B4-BE49-F238E27FC236}">
                <a16:creationId xmlns:a16="http://schemas.microsoft.com/office/drawing/2014/main" id="{FA76EAA5-D037-4751-840F-4D3BF10D514E}"/>
              </a:ext>
            </a:extLst>
          </p:cNvPr>
          <p:cNvSpPr>
            <a:spLocks xmlns:a="http://schemas.openxmlformats.org/drawingml/2006/main" noGrp="1"/>
          </p:cNvSpPr>
          <p:nvPr/>
        </p:nvSpPr>
        <p:spPr>
          <a:xfrm xmlns:a="http://schemas.openxmlformats.org/drawingml/2006/main">
            <a:off x="11210925" y="64770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526773"/>
                </a:solidFill>
                <a:latin typeface="DejaVu Sans"/>
                <a:ea typeface="DejaVu Sans"/>
                <a:cs typeface="DejaVu Sans"/>
              </a:defRPr>
            </a:defPPr>
          </a:lstStyle>
          <a:p xmlns:a="http://schemas.openxmlformats.org/drawingml/2006/main">
            <a:pPr>
              <a:defRPr sz="1050" b="0">
                <a:solidFill>
                  <a:srgbClr val="526773"/>
                </a:solidFill>
                <a:latin typeface="DejaVu Sans"/>
                <a:ea typeface="DejaVu Sans"/>
                <a:cs typeface="DejaVu Sans"/>
              </a:defRPr>
            </a:pPr>
            <a:r>
              <a:rPr sz="1050" b="0">
                <a:solidFill>
                  <a:srgbClr val="526773"/>
                </a:solidFill>
                <a:latin typeface="DejaVu Sans"/>
                <a:ea typeface="DejaVu Sans"/>
                <a:cs typeface="DejaVu Sans"/>
              </a:rPr>
              <a:t>02</a:t>
            </a:r>
          </a:p>
        </p:txBody>
      </p:sp>
      <p:sp>
        <p:nvSpPr>
          <p:cNvPr id="4" name="texto">
            <a:extLst xmlns:a="http://schemas.openxmlformats.org/drawingml/2006/main">
              <a:ext uri="{FF2B5EF4-FFF2-40B4-BE49-F238E27FC236}">
                <a16:creationId xmlns:a16="http://schemas.microsoft.com/office/drawing/2014/main" id="{A5CE7EFC-F703-42BE-8D6F-F65F62C9C74B}"/>
              </a:ext>
            </a:extLst>
          </p:cNvPr>
          <p:cNvSpPr>
            <a:spLocks xmlns:a="http://schemas.openxmlformats.org/drawingml/2006/main" noGrp="1"/>
          </p:cNvSpPr>
          <p:nvPr/>
        </p:nvSpPr>
        <p:spPr>
          <a:xfrm xmlns:a="http://schemas.openxmlformats.org/drawingml/2006/main">
            <a:off x="609600" y="2076450"/>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72F3C"/>
                </a:solidFill>
                <a:latin typeface="DejaVu Sans"/>
                <a:ea typeface="DejaVu Sans"/>
                <a:cs typeface="DejaVu Sans"/>
              </a:defRPr>
            </a:defPPr>
          </a:lstStyle>
          <a:p xmlns:a="http://schemas.openxmlformats.org/drawingml/2006/main">
            <a:pPr>
              <a:defRPr sz="2025" b="0">
                <a:solidFill>
                  <a:srgbClr val="172F3C"/>
                </a:solidFill>
                <a:latin typeface="DejaVu Sans"/>
                <a:ea typeface="DejaVu Sans"/>
                <a:cs typeface="DejaVu Sans"/>
              </a:defRPr>
            </a:pPr>
            <a:r>
              <a:rPr sz="2025" b="0">
                <a:solidFill>
                  <a:srgbClr val="172F3C"/>
                </a:solidFill>
                <a:latin typeface="DejaVu Sans"/>
                <a:ea typeface="DejaVu Sans"/>
                <a:cs typeface="DejaVu Sans"/>
              </a:rPr>
              <a:t>Videojuego 2D de escape y sigilo con cuatro niveles.</a:t>
            </a:r>
          </a:p>
        </p:txBody>
      </p:sp>
      <p:sp>
        <p:nvSpPr>
          <p:cNvPr id="5" name="texto">
            <a:extLst xmlns:a="http://schemas.openxmlformats.org/drawingml/2006/main">
              <a:ext uri="{FF2B5EF4-FFF2-40B4-BE49-F238E27FC236}">
                <a16:creationId xmlns:a16="http://schemas.microsoft.com/office/drawing/2014/main" id="{64603F56-A23A-4834-A083-E9B0BF28273C}"/>
              </a:ext>
            </a:extLst>
          </p:cNvPr>
          <p:cNvSpPr>
            <a:spLocks xmlns:a="http://schemas.openxmlformats.org/drawingml/2006/main" noGrp="1"/>
          </p:cNvSpPr>
          <p:nvPr/>
        </p:nvSpPr>
        <p:spPr>
          <a:xfrm xmlns:a="http://schemas.openxmlformats.org/drawingml/2006/main">
            <a:off x="609600" y="26574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72F3C"/>
                </a:solidFill>
                <a:latin typeface="DejaVu Sans"/>
                <a:ea typeface="DejaVu Sans"/>
                <a:cs typeface="DejaVu Sans"/>
              </a:defRPr>
            </a:defPPr>
          </a:lstStyle>
          <a:p xmlns:a="http://schemas.openxmlformats.org/drawingml/2006/main">
            <a:pPr>
              <a:defRPr sz="2025" b="0">
                <a:solidFill>
                  <a:srgbClr val="172F3C"/>
                </a:solidFill>
                <a:latin typeface="DejaVu Sans"/>
                <a:ea typeface="DejaVu Sans"/>
                <a:cs typeface="DejaVu Sans"/>
              </a:defRPr>
            </a:pPr>
            <a:r>
              <a:rPr sz="2025" b="0">
                <a:solidFill>
                  <a:srgbClr val="172F3C"/>
                </a:solidFill>
                <a:latin typeface="DejaVu Sans"/>
                <a:ea typeface="DejaVu Sans"/>
                <a:cs typeface="DejaVu Sans"/>
              </a:rPr>
              <a:t>Su objetivo es demostrar POO mediante un juego funcional.</a:t>
            </a:r>
          </a:p>
        </p:txBody>
      </p:sp>
      <p:sp>
        <p:nvSpPr>
          <p:cNvPr id="6" name="texto">
            <a:extLst xmlns:a="http://schemas.openxmlformats.org/drawingml/2006/main">
              <a:ext uri="{FF2B5EF4-FFF2-40B4-BE49-F238E27FC236}">
                <a16:creationId xmlns:a16="http://schemas.microsoft.com/office/drawing/2014/main" id="{9956AE68-E48D-498A-9365-38CD4AE83983}"/>
              </a:ext>
            </a:extLst>
          </p:cNvPr>
          <p:cNvSpPr>
            <a:spLocks xmlns:a="http://schemas.openxmlformats.org/drawingml/2006/main" noGrp="1"/>
          </p:cNvSpPr>
          <p:nvPr/>
        </p:nvSpPr>
        <p:spPr>
          <a:xfrm xmlns:a="http://schemas.openxmlformats.org/drawingml/2006/main">
            <a:off x="609600" y="3238500"/>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72F3C"/>
                </a:solidFill>
                <a:latin typeface="DejaVu Sans"/>
                <a:ea typeface="DejaVu Sans"/>
                <a:cs typeface="DejaVu Sans"/>
              </a:defRPr>
            </a:defPPr>
          </a:lstStyle>
          <a:p xmlns:a="http://schemas.openxmlformats.org/drawingml/2006/main">
            <a:pPr>
              <a:defRPr sz="2025" b="0">
                <a:solidFill>
                  <a:srgbClr val="172F3C"/>
                </a:solidFill>
                <a:latin typeface="DejaVu Sans"/>
                <a:ea typeface="DejaVu Sans"/>
                <a:cs typeface="DejaVu Sans"/>
              </a:defRPr>
            </a:pPr>
            <a:r>
              <a:rPr sz="2025" b="0">
                <a:solidFill>
                  <a:srgbClr val="172F3C"/>
                </a:solidFill>
                <a:latin typeface="DejaVu Sans"/>
                <a:ea typeface="DejaVu Sans"/>
                <a:cs typeface="DejaVu Sans"/>
              </a:rPr>
              <a:t>La arquitectura separa reglas, personajes e interfaz.</a:t>
            </a:r>
          </a:p>
        </p:txBody>
      </p:sp>
      <p:sp>
        <p:nvSpPr>
          <p:cNvPr id="7" name="texto">
            <a:extLst xmlns:a="http://schemas.openxmlformats.org/drawingml/2006/main">
              <a:ext uri="{FF2B5EF4-FFF2-40B4-BE49-F238E27FC236}">
                <a16:creationId xmlns:a16="http://schemas.microsoft.com/office/drawing/2014/main" id="{C2C5D25F-357F-42E0-BCCC-916A286C022D}"/>
              </a:ext>
            </a:extLst>
          </p:cNvPr>
          <p:cNvSpPr>
            <a:spLocks xmlns:a="http://schemas.openxmlformats.org/drawingml/2006/main" noGrp="1"/>
          </p:cNvSpPr>
          <p:nvPr/>
        </p:nvSpPr>
        <p:spPr>
          <a:xfrm xmlns:a="http://schemas.openxmlformats.org/drawingml/2006/main">
            <a:off x="609600" y="381952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72F3C"/>
                </a:solidFill>
                <a:latin typeface="DejaVu Sans"/>
                <a:ea typeface="DejaVu Sans"/>
                <a:cs typeface="DejaVu Sans"/>
              </a:defRPr>
            </a:defPPr>
          </a:lstStyle>
          <a:p xmlns:a="http://schemas.openxmlformats.org/drawingml/2006/main">
            <a:pPr>
              <a:defRPr sz="2025" b="0">
                <a:solidFill>
                  <a:srgbClr val="172F3C"/>
                </a:solidFill>
                <a:latin typeface="DejaVu Sans"/>
                <a:ea typeface="DejaVu Sans"/>
                <a:cs typeface="DejaVu Sans"/>
              </a:defRPr>
            </a:pPr>
            <a:r>
              <a:rPr sz="2025" b="0">
                <a:solidFill>
                  <a:srgbClr val="172F3C"/>
                </a:solidFill>
                <a:latin typeface="DejaVu Sans"/>
                <a:ea typeface="DejaVu Sans"/>
                <a:cs typeface="DejaVu Sans"/>
              </a:rPr>
              <a:t>Aplica asociación, agregación y composición,</a:t>
            </a:r>
          </a:p>
        </p:txBody>
      </p:sp>
      <p:sp>
        <p:nvSpPr>
          <p:cNvPr id="8" name="texto">
            <a:extLst xmlns:a="http://schemas.openxmlformats.org/drawingml/2006/main">
              <a:ext uri="{FF2B5EF4-FFF2-40B4-BE49-F238E27FC236}">
                <a16:creationId xmlns:a16="http://schemas.microsoft.com/office/drawing/2014/main" id="{B469125F-FB76-4806-B7A3-DBB42D826140}"/>
              </a:ext>
            </a:extLst>
          </p:cNvPr>
          <p:cNvSpPr>
            <a:spLocks xmlns:a="http://schemas.openxmlformats.org/drawingml/2006/main" noGrp="1"/>
          </p:cNvSpPr>
          <p:nvPr/>
        </p:nvSpPr>
        <p:spPr>
          <a:xfrm xmlns:a="http://schemas.openxmlformats.org/drawingml/2006/main">
            <a:off x="609600" y="4400550"/>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72F3C"/>
                </a:solidFill>
                <a:latin typeface="DejaVu Sans"/>
                <a:ea typeface="DejaVu Sans"/>
                <a:cs typeface="DejaVu Sans"/>
              </a:defRPr>
            </a:defPPr>
          </a:lstStyle>
          <a:p xmlns:a="http://schemas.openxmlformats.org/drawingml/2006/main">
            <a:pPr>
              <a:defRPr sz="2025" b="0">
                <a:solidFill>
                  <a:srgbClr val="172F3C"/>
                </a:solidFill>
                <a:latin typeface="DejaVu Sans"/>
                <a:ea typeface="DejaVu Sans"/>
                <a:cs typeface="DejaVu Sans"/>
              </a:defRPr>
            </a:pPr>
            <a:r>
              <a:rPr sz="2025" b="0">
                <a:solidFill>
                  <a:srgbClr val="172F3C"/>
                </a:solidFill>
                <a:latin typeface="DejaVu Sans"/>
                <a:ea typeface="DejaVu Sans"/>
                <a:cs typeface="DejaVu Sans"/>
              </a:rPr>
              <a:t>además de encapsulamiento, herencia y polimorfismo.</a:t>
            </a:r>
          </a:p>
        </p:txBody>
      </p:sp>
      <p:sp>
        <p:nvSpPr>
          <p:cNvPr id="9" name="texto">
            <a:extLst xmlns:a="http://schemas.openxmlformats.org/drawingml/2006/main">
              <a:ext uri="{FF2B5EF4-FFF2-40B4-BE49-F238E27FC236}">
                <a16:creationId xmlns:a16="http://schemas.microsoft.com/office/drawing/2014/main" id="{EF0C6395-D6AC-4ED4-B26B-01BD15781D11}"/>
              </a:ext>
            </a:extLst>
          </p:cNvPr>
          <p:cNvSpPr>
            <a:spLocks xmlns:a="http://schemas.openxmlformats.org/drawingml/2006/main" noGrp="1"/>
          </p:cNvSpPr>
          <p:nvPr/>
        </p:nvSpPr>
        <p:spPr>
          <a:xfrm xmlns:a="http://schemas.openxmlformats.org/drawingml/2006/main">
            <a:off x="609600" y="49815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72F3C"/>
                </a:solidFill>
                <a:latin typeface="DejaVu Sans"/>
                <a:ea typeface="DejaVu Sans"/>
                <a:cs typeface="DejaVu Sans"/>
              </a:defRPr>
            </a:defPPr>
          </a:lstStyle>
          <a:p xmlns:a="http://schemas.openxmlformats.org/drawingml/2006/main">
            <a:pPr>
              <a:defRPr sz="2025" b="0">
                <a:solidFill>
                  <a:srgbClr val="172F3C"/>
                </a:solidFill>
                <a:latin typeface="DejaVu Sans"/>
                <a:ea typeface="DejaVu Sans"/>
                <a:cs typeface="DejaVu Sans"/>
              </a:defRPr>
            </a:pPr>
            <a:r>
              <a:rPr sz="2025" b="0">
                <a:solidFill>
                  <a:srgbClr val="172F3C"/>
                </a:solidFill>
                <a:latin typeface="DejaVu Sans"/>
                <a:ea typeface="DejaVu Sans"/>
                <a:cs typeface="DejaVu Sans"/>
              </a:rPr>
              <a:t>Implementa los patrones State y Observer.</a:t>
            </a:r>
          </a:p>
        </p:txBody>
      </p:sp>
    </p:spTree>
    <p:extLst>
      <p:ext uri="{BB962C8B-B14F-4D97-AF65-F5344CB8AC3E}">
        <p14:creationId xmlns:p14="http://schemas.microsoft.com/office/powerpoint/2010/main" val="163248295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partado-rubrica">
            <a:extLst xmlns:a="http://schemas.openxmlformats.org/drawingml/2006/main">
              <a:ext uri="{FF2B5EF4-FFF2-40B4-BE49-F238E27FC236}">
                <a16:creationId xmlns:a16="http://schemas.microsoft.com/office/drawing/2014/main" id="{C3C70213-6116-4558-87E6-F66F3FFB9CB0}"/>
              </a:ext>
            </a:extLst>
          </p:cNvPr>
          <p:cNvSpPr>
            <a:spLocks xmlns:a="http://schemas.openxmlformats.org/drawingml/2006/main" noGrp="1"/>
          </p:cNvSpPr>
          <p:nvPr/>
        </p:nvSpPr>
        <p:spPr>
          <a:xfrm xmlns:a="http://schemas.openxmlformats.org/drawingml/2006/main">
            <a:off x="609600" y="28575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2 de 7</a:t>
            </a:r>
          </a:p>
        </p:txBody>
      </p:sp>
      <p:sp>
        <p:nvSpPr>
          <p:cNvPr id="2" name="titulo">
            <a:extLst xmlns:a="http://schemas.openxmlformats.org/drawingml/2006/main">
              <a:ext uri="{FF2B5EF4-FFF2-40B4-BE49-F238E27FC236}">
                <a16:creationId xmlns:a16="http://schemas.microsoft.com/office/drawing/2014/main" id="{CCA4A4AA-476B-4496-B86E-A7EDE70D1BF8}"/>
              </a:ext>
            </a:extLst>
          </p:cNvPr>
          <p:cNvSpPr>
            <a:spLocks xmlns:a="http://schemas.openxmlformats.org/drawingml/2006/main" noGrp="1"/>
          </p:cNvSpPr>
          <p:nvPr/>
        </p:nvSpPr>
        <p:spPr>
          <a:xfrm xmlns:a="http://schemas.openxmlformats.org/drawingml/2006/main">
            <a:off x="609600" y="790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150" b="1">
                <a:solidFill>
                  <a:srgbClr val="172F3C"/>
                </a:solidFill>
                <a:latin typeface="DejaVu Sans"/>
                <a:ea typeface="DejaVu Sans"/>
                <a:cs typeface="DejaVu Sans"/>
              </a:defRPr>
            </a:defPPr>
          </a:lstStyle>
          <a:p xmlns:a="http://schemas.openxmlformats.org/drawingml/2006/main">
            <a:pPr>
              <a:defRPr sz="3150" b="1">
                <a:solidFill>
                  <a:srgbClr val="172F3C"/>
                </a:solidFill>
                <a:latin typeface="DejaVu Sans"/>
                <a:ea typeface="DejaVu Sans"/>
                <a:cs typeface="DejaVu Sans"/>
              </a:defRPr>
            </a:pPr>
            <a:r>
              <a:rPr sz="3150" b="1">
                <a:solidFill>
                  <a:srgbClr val="172F3C"/>
                </a:solidFill>
                <a:latin typeface="DejaVu Sans"/>
                <a:ea typeface="DejaVu Sans"/>
                <a:cs typeface="DejaVu Sans"/>
              </a:rPr>
              <a:t>II. Introducción</a:t>
            </a:r>
          </a:p>
        </p:txBody>
      </p:sp>
      <p:sp>
        <p:nvSpPr>
          <p:cNvPr id="3" name="numero">
            <a:extLst xmlns:a="http://schemas.openxmlformats.org/drawingml/2006/main">
              <a:ext uri="{FF2B5EF4-FFF2-40B4-BE49-F238E27FC236}">
                <a16:creationId xmlns:a16="http://schemas.microsoft.com/office/drawing/2014/main" id="{90DEC80C-61BE-4F2D-B1F7-3C7D5C478E85}"/>
              </a:ext>
            </a:extLst>
          </p:cNvPr>
          <p:cNvSpPr>
            <a:spLocks xmlns:a="http://schemas.openxmlformats.org/drawingml/2006/main" noGrp="1"/>
          </p:cNvSpPr>
          <p:nvPr/>
        </p:nvSpPr>
        <p:spPr>
          <a:xfrm xmlns:a="http://schemas.openxmlformats.org/drawingml/2006/main">
            <a:off x="11210925" y="64770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526773"/>
                </a:solidFill>
                <a:latin typeface="DejaVu Sans"/>
                <a:ea typeface="DejaVu Sans"/>
                <a:cs typeface="DejaVu Sans"/>
              </a:defRPr>
            </a:defPPr>
          </a:lstStyle>
          <a:p xmlns:a="http://schemas.openxmlformats.org/drawingml/2006/main">
            <a:pPr>
              <a:defRPr sz="1050" b="0">
                <a:solidFill>
                  <a:srgbClr val="526773"/>
                </a:solidFill>
                <a:latin typeface="DejaVu Sans"/>
                <a:ea typeface="DejaVu Sans"/>
                <a:cs typeface="DejaVu Sans"/>
              </a:defRPr>
            </a:pPr>
            <a:r>
              <a:rPr sz="1050" b="0">
                <a:solidFill>
                  <a:srgbClr val="526773"/>
                </a:solidFill>
                <a:latin typeface="DejaVu Sans"/>
                <a:ea typeface="DejaVu Sans"/>
                <a:cs typeface="DejaVu Sans"/>
              </a:rPr>
              <a:t>03</a:t>
            </a:r>
          </a:p>
        </p:txBody>
      </p:sp>
      <p:sp>
        <p:nvSpPr>
          <p:cNvPr id="4" name="texto">
            <a:extLst xmlns:a="http://schemas.openxmlformats.org/drawingml/2006/main">
              <a:ext uri="{FF2B5EF4-FFF2-40B4-BE49-F238E27FC236}">
                <a16:creationId xmlns:a16="http://schemas.microsoft.com/office/drawing/2014/main" id="{342E4C0B-AA8B-4383-9D23-9EC74DA48AA9}"/>
              </a:ext>
            </a:extLst>
          </p:cNvPr>
          <p:cNvSpPr>
            <a:spLocks xmlns:a="http://schemas.openxmlformats.org/drawingml/2006/main" noGrp="1"/>
          </p:cNvSpPr>
          <p:nvPr/>
        </p:nvSpPr>
        <p:spPr>
          <a:xfrm xmlns:a="http://schemas.openxmlformats.org/drawingml/2006/main">
            <a:off x="609600" y="2000250"/>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16735D"/>
                </a:solidFill>
                <a:latin typeface="DejaVu Sans"/>
                <a:ea typeface="DejaVu Sans"/>
                <a:cs typeface="DejaVu Sans"/>
              </a:defRPr>
            </a:defPPr>
          </a:lstStyle>
          <a:p xmlns:a="http://schemas.openxmlformats.org/drawingml/2006/main">
            <a:pPr>
              <a:defRPr sz="1950" b="1">
                <a:solidFill>
                  <a:srgbClr val="16735D"/>
                </a:solidFill>
                <a:latin typeface="DejaVu Sans"/>
                <a:ea typeface="DejaVu Sans"/>
                <a:cs typeface="DejaVu Sans"/>
              </a:defRPr>
            </a:pPr>
            <a:r>
              <a:rPr sz="1950" b="1">
                <a:solidFill>
                  <a:srgbClr val="16735D"/>
                </a:solidFill>
                <a:latin typeface="DejaVu Sans"/>
                <a:ea typeface="DejaVu Sans"/>
                <a:cs typeface="DejaVu Sans"/>
              </a:rPr>
              <a:t>Contexto y objetivo</a:t>
            </a:r>
          </a:p>
        </p:txBody>
      </p:sp>
      <p:sp>
        <p:nvSpPr>
          <p:cNvPr id="5" name="texto">
            <a:extLst xmlns:a="http://schemas.openxmlformats.org/drawingml/2006/main">
              <a:ext uri="{FF2B5EF4-FFF2-40B4-BE49-F238E27FC236}">
                <a16:creationId xmlns:a16="http://schemas.microsoft.com/office/drawing/2014/main" id="{4ACB3395-A6F6-48B9-91F0-95EFF1CAFD4A}"/>
              </a:ext>
            </a:extLst>
          </p:cNvPr>
          <p:cNvSpPr>
            <a:spLocks xmlns:a="http://schemas.openxmlformats.org/drawingml/2006/main" noGrp="1"/>
          </p:cNvSpPr>
          <p:nvPr/>
        </p:nvSpPr>
        <p:spPr>
          <a:xfrm xmlns:a="http://schemas.openxmlformats.org/drawingml/2006/main">
            <a:off x="609600" y="2590800"/>
            <a:ext cx="5095875"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172F3C"/>
                </a:solidFill>
                <a:latin typeface="DejaVu Sans"/>
                <a:ea typeface="DejaVu Sans"/>
                <a:cs typeface="DejaVu Sans"/>
              </a:defRPr>
            </a:defPPr>
          </a:lstStyle>
          <a:p xmlns:a="http://schemas.openxmlformats.org/drawingml/2006/main">
            <a:pPr>
              <a:defRPr sz="1875" b="0">
                <a:solidFill>
                  <a:srgbClr val="172F3C"/>
                </a:solidFill>
                <a:latin typeface="DejaVu Sans"/>
                <a:ea typeface="DejaVu Sans"/>
                <a:cs typeface="DejaVu Sans"/>
              </a:defRPr>
            </a:pPr>
            <a:r>
              <a:rPr sz="1875" b="0">
                <a:solidFill>
                  <a:srgbClr val="172F3C"/>
                </a:solidFill>
                <a:latin typeface="DejaVu Sans"/>
                <a:ea typeface="DejaVu Sans"/>
                <a:cs typeface="DejaVu Sans"/>
              </a:rPr>
              <a:t>Proyecto del curso de POO.</a:t>
            </a:r>
          </a:p>
          <a:p xmlns:a="http://schemas.openxmlformats.org/drawingml/2006/main">
            <a:pPr>
              <a:defRPr sz="1875" b="0">
                <a:solidFill>
                  <a:srgbClr val="172F3C"/>
                </a:solidFill>
                <a:latin typeface="DejaVu Sans"/>
                <a:ea typeface="DejaVu Sans"/>
                <a:cs typeface="DejaVu Sans"/>
              </a:defRPr>
            </a:pPr>
            <a:r>
              <a:rPr sz="1875" b="0">
                <a:solidFill>
                  <a:srgbClr val="172F3C"/>
                </a:solidFill>
                <a:latin typeface="DejaVu Sans"/>
                <a:ea typeface="DejaVu Sans"/>
                <a:cs typeface="DejaVu Sans"/>
              </a:rPr>
              <a:t>Demostrar sus fundamentos y</a:t>
            </a:r>
          </a:p>
          <a:p xmlns:a="http://schemas.openxmlformats.org/drawingml/2006/main">
            <a:pPr>
              <a:defRPr sz="1875" b="0">
                <a:solidFill>
                  <a:srgbClr val="172F3C"/>
                </a:solidFill>
                <a:latin typeface="DejaVu Sans"/>
                <a:ea typeface="DejaVu Sans"/>
                <a:cs typeface="DejaVu Sans"/>
              </a:defRPr>
            </a:pPr>
            <a:r>
              <a:rPr sz="1875" b="0">
                <a:solidFill>
                  <a:srgbClr val="172F3C"/>
                </a:solidFill>
                <a:latin typeface="DejaVu Sans"/>
                <a:ea typeface="DejaVu Sans"/>
                <a:cs typeface="DejaVu Sans"/>
              </a:rPr>
              <a:t>patrones en un juego de escape.</a:t>
            </a:r>
          </a:p>
        </p:txBody>
      </p:sp>
      <p:sp>
        <p:nvSpPr>
          <p:cNvPr id="6" name="texto">
            <a:extLst xmlns:a="http://schemas.openxmlformats.org/drawingml/2006/main">
              <a:ext uri="{FF2B5EF4-FFF2-40B4-BE49-F238E27FC236}">
                <a16:creationId xmlns:a16="http://schemas.microsoft.com/office/drawing/2014/main" id="{F34044A7-4073-4930-9180-E568469A3421}"/>
              </a:ext>
            </a:extLst>
          </p:cNvPr>
          <p:cNvSpPr>
            <a:spLocks xmlns:a="http://schemas.openxmlformats.org/drawingml/2006/main" noGrp="1"/>
          </p:cNvSpPr>
          <p:nvPr/>
        </p:nvSpPr>
        <p:spPr>
          <a:xfrm xmlns:a="http://schemas.openxmlformats.org/drawingml/2006/main">
            <a:off x="609600" y="4248150"/>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16735D"/>
                </a:solidFill>
                <a:latin typeface="DejaVu Sans"/>
                <a:ea typeface="DejaVu Sans"/>
                <a:cs typeface="DejaVu Sans"/>
              </a:defRPr>
            </a:defPPr>
          </a:lstStyle>
          <a:p xmlns:a="http://schemas.openxmlformats.org/drawingml/2006/main">
            <a:pPr>
              <a:defRPr sz="1950" b="1">
                <a:solidFill>
                  <a:srgbClr val="16735D"/>
                </a:solidFill>
                <a:latin typeface="DejaVu Sans"/>
                <a:ea typeface="DejaVu Sans"/>
                <a:cs typeface="DejaVu Sans"/>
              </a:defRPr>
            </a:pPr>
            <a:r>
              <a:rPr sz="1950" b="1">
                <a:solidFill>
                  <a:srgbClr val="16735D"/>
                </a:solidFill>
                <a:latin typeface="DejaVu Sans"/>
                <a:ea typeface="DejaVu Sans"/>
                <a:cs typeface="DejaVu Sans"/>
              </a:rPr>
              <a:t>Tecnologías utilizadas</a:t>
            </a:r>
          </a:p>
        </p:txBody>
      </p:sp>
      <p:sp>
        <p:nvSpPr>
          <p:cNvPr id="7" name="texto">
            <a:extLst xmlns:a="http://schemas.openxmlformats.org/drawingml/2006/main">
              <a:ext uri="{FF2B5EF4-FFF2-40B4-BE49-F238E27FC236}">
                <a16:creationId xmlns:a16="http://schemas.microsoft.com/office/drawing/2014/main" id="{690E5276-4A52-45AD-BAF4-6EBCA53584C5}"/>
              </a:ext>
            </a:extLst>
          </p:cNvPr>
          <p:cNvSpPr>
            <a:spLocks xmlns:a="http://schemas.openxmlformats.org/drawingml/2006/main" noGrp="1"/>
          </p:cNvSpPr>
          <p:nvPr/>
        </p:nvSpPr>
        <p:spPr>
          <a:xfrm xmlns:a="http://schemas.openxmlformats.org/drawingml/2006/main">
            <a:off x="609600" y="4819650"/>
            <a:ext cx="509587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172F3C"/>
                </a:solidFill>
                <a:latin typeface="DejaVu Sans"/>
                <a:ea typeface="DejaVu Sans"/>
                <a:cs typeface="DejaVu Sans"/>
              </a:defRPr>
            </a:defPPr>
          </a:lstStyle>
          <a:p xmlns:a="http://schemas.openxmlformats.org/drawingml/2006/main">
            <a:pPr>
              <a:defRPr sz="1725" b="0">
                <a:solidFill>
                  <a:srgbClr val="172F3C"/>
                </a:solidFill>
                <a:latin typeface="DejaVu Sans"/>
                <a:ea typeface="DejaVu Sans"/>
                <a:cs typeface="DejaVu Sans"/>
              </a:defRPr>
            </a:pPr>
            <a:r>
              <a:rPr sz="1725" b="0">
                <a:solidFill>
                  <a:srgbClr val="172F3C"/>
                </a:solidFill>
                <a:latin typeface="DejaVu Sans"/>
                <a:ea typeface="DejaVu Sans"/>
                <a:cs typeface="DejaVu Sans"/>
              </a:rPr>
              <a:t>Python y Pygame: juego e interfaz.</a:t>
            </a:r>
          </a:p>
          <a:p xmlns:a="http://schemas.openxmlformats.org/drawingml/2006/main">
            <a:pPr>
              <a:defRPr sz="1725" b="0">
                <a:solidFill>
                  <a:srgbClr val="172F3C"/>
                </a:solidFill>
                <a:latin typeface="DejaVu Sans"/>
                <a:ea typeface="DejaVu Sans"/>
                <a:cs typeface="DejaVu Sans"/>
              </a:defRPr>
            </a:pPr>
            <a:r>
              <a:rPr sz="1725" b="0">
                <a:solidFill>
                  <a:srgbClr val="172F3C"/>
                </a:solidFill>
                <a:latin typeface="DejaVu Sans"/>
                <a:ea typeface="DejaVu Sans"/>
                <a:cs typeface="DejaVu Sans"/>
              </a:rPr>
              <a:t>Mermaid: diagrama UML.</a:t>
            </a:r>
          </a:p>
          <a:p xmlns:a="http://schemas.openxmlformats.org/drawingml/2006/main">
            <a:pPr>
              <a:defRPr sz="1725" b="0">
                <a:solidFill>
                  <a:srgbClr val="172F3C"/>
                </a:solidFill>
                <a:latin typeface="DejaVu Sans"/>
                <a:ea typeface="DejaVu Sans"/>
                <a:cs typeface="DejaVu Sans"/>
              </a:defRPr>
            </a:pPr>
            <a:r>
              <a:rPr sz="1725" b="0">
                <a:solidFill>
                  <a:srgbClr val="172F3C"/>
                </a:solidFill>
                <a:latin typeface="DejaVu Sans"/>
                <a:ea typeface="DejaVu Sans"/>
                <a:cs typeface="DejaVu Sans"/>
              </a:rPr>
              <a:t>Git y GitHub: control de versiones.</a:t>
            </a:r>
          </a:p>
        </p:txBody>
      </p:sp>
      <p:pic>
        <p:nvPicPr>
          <p:cNvPr id="8" name="">
            <a:extLst xmlns:a="http://schemas.openxmlformats.org/drawingml/2006/main">
              <a:ext uri="{FF2B5EF4-FFF2-40B4-BE49-F238E27FC236}">
                <a16:creationId xmlns:a16="http://schemas.microsoft.com/office/drawing/2014/main" id="{F5252481-317B-4A47-AD92-305E097C741E}"/>
              </a:ext>
            </a:extLst>
          </p:cNvPr>
          <p:cNvPicPr>
            <a:picLocks xmlns:a="http://schemas.openxmlformats.org/drawingml/2006/main" noChangeAspect="1"/>
          </p:cNvPicPr>
          <p:nvPr/>
        </p:nvPicPr>
        <p:blipFill>
          <a:blip xmlns:r="http://schemas.openxmlformats.org/officeDocument/2006/relationships" xmlns:a="http://schemas.openxmlformats.org/drawingml/2006/main" r:embed="R2343fd3c46c84a1f"/>
          <a:srcRect xmlns:a="http://schemas.openxmlformats.org/drawingml/2006/main" l="0" t="0" r="0" b="0"/>
          <a:stretch xmlns:a="http://schemas.openxmlformats.org/drawingml/2006/main">
            <a:fillRect l="0" t="0" r="0" b="0"/>
          </a:stretch>
        </p:blipFill>
        <p:spPr>
          <a:xfrm xmlns:a="http://schemas.openxmlformats.org/drawingml/2006/main">
            <a:off x="6191250" y="2002155"/>
            <a:ext cx="5334000" cy="4053840"/>
          </a:xfrm>
          <a:prstGeom xmlns:a="http://schemas.openxmlformats.org/drawingml/2006/main" prst="rect">
            <a:avLst/>
          </a:prstGeom>
        </p:spPr>
      </p:pic>
    </p:spTree>
    <p:extLst>
      <p:ext uri="{BB962C8B-B14F-4D97-AF65-F5344CB8AC3E}">
        <p14:creationId xmlns:p14="http://schemas.microsoft.com/office/powerpoint/2010/main" val="89904053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5" name="apartado-rubrica">
            <a:extLst xmlns:a="http://schemas.openxmlformats.org/drawingml/2006/main">
              <a:ext uri="{FF2B5EF4-FFF2-40B4-BE49-F238E27FC236}">
                <a16:creationId xmlns:a16="http://schemas.microsoft.com/office/drawing/2014/main" id="{718CD666-9174-43CF-BB81-0B0AA081768E}"/>
              </a:ext>
            </a:extLst>
          </p:cNvPr>
          <p:cNvSpPr>
            <a:spLocks xmlns:a="http://schemas.openxmlformats.org/drawingml/2006/main" noGrp="1"/>
          </p:cNvSpPr>
          <p:nvPr/>
        </p:nvSpPr>
        <p:spPr>
          <a:xfrm xmlns:a="http://schemas.openxmlformats.org/drawingml/2006/main">
            <a:off x="609600" y="28575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3 de 7. Criterio I: arquitectura, 6 puntos</a:t>
            </a:r>
          </a:p>
        </p:txBody>
      </p:sp>
      <p:sp>
        <p:nvSpPr>
          <p:cNvPr id="2" name="titulo">
            <a:extLst xmlns:a="http://schemas.openxmlformats.org/drawingml/2006/main">
              <a:ext uri="{FF2B5EF4-FFF2-40B4-BE49-F238E27FC236}">
                <a16:creationId xmlns:a16="http://schemas.microsoft.com/office/drawing/2014/main" id="{08A6F1FE-FF38-4B3E-93D0-5014A6F62D71}"/>
              </a:ext>
            </a:extLst>
          </p:cNvPr>
          <p:cNvSpPr>
            <a:spLocks xmlns:a="http://schemas.openxmlformats.org/drawingml/2006/main" noGrp="1"/>
          </p:cNvSpPr>
          <p:nvPr/>
        </p:nvSpPr>
        <p:spPr>
          <a:xfrm xmlns:a="http://schemas.openxmlformats.org/drawingml/2006/main">
            <a:off x="609600" y="790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150" b="1">
                <a:solidFill>
                  <a:srgbClr val="172F3C"/>
                </a:solidFill>
                <a:latin typeface="DejaVu Sans"/>
                <a:ea typeface="DejaVu Sans"/>
                <a:cs typeface="DejaVu Sans"/>
              </a:defRPr>
            </a:defPPr>
          </a:lstStyle>
          <a:p xmlns:a="http://schemas.openxmlformats.org/drawingml/2006/main">
            <a:pPr>
              <a:defRPr sz="3150" b="1">
                <a:solidFill>
                  <a:srgbClr val="172F3C"/>
                </a:solidFill>
                <a:latin typeface="DejaVu Sans"/>
                <a:ea typeface="DejaVu Sans"/>
                <a:cs typeface="DejaVu Sans"/>
              </a:defRPr>
            </a:pPr>
            <a:r>
              <a:rPr sz="3150" b="1">
                <a:solidFill>
                  <a:srgbClr val="172F3C"/>
                </a:solidFill>
                <a:latin typeface="DejaVu Sans"/>
                <a:ea typeface="DejaVu Sans"/>
                <a:cs typeface="DejaVu Sans"/>
              </a:rPr>
              <a:t>III. Diseño de arquitectura</a:t>
            </a:r>
          </a:p>
        </p:txBody>
      </p:sp>
      <p:sp>
        <p:nvSpPr>
          <p:cNvPr id="3" name="numero">
            <a:extLst xmlns:a="http://schemas.openxmlformats.org/drawingml/2006/main">
              <a:ext uri="{FF2B5EF4-FFF2-40B4-BE49-F238E27FC236}">
                <a16:creationId xmlns:a16="http://schemas.microsoft.com/office/drawing/2014/main" id="{66D3937B-4498-4DB0-8AD4-312CAFC1580D}"/>
              </a:ext>
            </a:extLst>
          </p:cNvPr>
          <p:cNvSpPr>
            <a:spLocks xmlns:a="http://schemas.openxmlformats.org/drawingml/2006/main" noGrp="1"/>
          </p:cNvSpPr>
          <p:nvPr/>
        </p:nvSpPr>
        <p:spPr>
          <a:xfrm xmlns:a="http://schemas.openxmlformats.org/drawingml/2006/main">
            <a:off x="11210925" y="64770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526773"/>
                </a:solidFill>
                <a:latin typeface="DejaVu Sans"/>
                <a:ea typeface="DejaVu Sans"/>
                <a:cs typeface="DejaVu Sans"/>
              </a:defRPr>
            </a:defPPr>
          </a:lstStyle>
          <a:p xmlns:a="http://schemas.openxmlformats.org/drawingml/2006/main">
            <a:pPr>
              <a:defRPr sz="1050" b="0">
                <a:solidFill>
                  <a:srgbClr val="526773"/>
                </a:solidFill>
                <a:latin typeface="DejaVu Sans"/>
                <a:ea typeface="DejaVu Sans"/>
                <a:cs typeface="DejaVu Sans"/>
              </a:defRPr>
            </a:pPr>
            <a:r>
              <a:rPr sz="1050" b="0">
                <a:solidFill>
                  <a:srgbClr val="526773"/>
                </a:solidFill>
                <a:latin typeface="DejaVu Sans"/>
                <a:ea typeface="DejaVu Sans"/>
                <a:cs typeface="DejaVu Sans"/>
              </a:rPr>
              <a:t>04</a:t>
            </a:r>
          </a:p>
        </p:txBody>
      </p:sp>
      <p:sp>
        <p:nvSpPr>
          <p:cNvPr id="4" name="texto">
            <a:extLst xmlns:a="http://schemas.openxmlformats.org/drawingml/2006/main">
              <a:ext uri="{FF2B5EF4-FFF2-40B4-BE49-F238E27FC236}">
                <a16:creationId xmlns:a16="http://schemas.microsoft.com/office/drawing/2014/main" id="{D5E6C243-908D-445E-B83F-40B35C9F11EA}"/>
              </a:ext>
            </a:extLst>
          </p:cNvPr>
          <p:cNvSpPr>
            <a:spLocks xmlns:a="http://schemas.openxmlformats.org/drawingml/2006/main" noGrp="1"/>
          </p:cNvSpPr>
          <p:nvPr/>
        </p:nvSpPr>
        <p:spPr>
          <a:xfrm xmlns:a="http://schemas.openxmlformats.org/drawingml/2006/main">
            <a:off x="609600" y="14954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a:solidFill>
                  <a:srgbClr val="526773"/>
                </a:solidFill>
                <a:latin typeface="DejaVu Sans"/>
                <a:ea typeface="DejaVu Sans"/>
                <a:cs typeface="DejaVu Sans"/>
              </a:defRPr>
            </a:defPPr>
          </a:lstStyle>
          <a:p xmlns:a="http://schemas.openxmlformats.org/drawingml/2006/main">
            <a:pPr>
              <a:defRPr sz="1575" b="0">
                <a:solidFill>
                  <a:srgbClr val="526773"/>
                </a:solidFill>
                <a:latin typeface="DejaVu Sans"/>
                <a:ea typeface="DejaVu Sans"/>
                <a:cs typeface="DejaVu Sans"/>
              </a:defRPr>
            </a:pPr>
            <a:r>
              <a:rPr sz="1575" b="0">
                <a:solidFill>
                  <a:srgbClr val="526773"/>
                </a:solidFill>
                <a:latin typeface="DejaVu Sans"/>
                <a:ea typeface="DejaVu Sans"/>
                <a:cs typeface="DejaVu Sans"/>
              </a:rPr>
              <a:t>Clases principales y sus operaciones</a:t>
            </a:r>
          </a:p>
        </p:txBody>
      </p:sp>
      <p:sp>
        <p:nvSpPr>
          <p:cNvPr id="5" name="">
            <a:extLst xmlns:a="http://schemas.openxmlformats.org/drawingml/2006/main">
              <a:ext uri="{FF2B5EF4-FFF2-40B4-BE49-F238E27FC236}">
                <a16:creationId xmlns:a16="http://schemas.microsoft.com/office/drawing/2014/main" id="{9AFA3764-CA91-4269-9139-49AE699ACDA1}"/>
              </a:ext>
            </a:extLst>
          </p:cNvPr>
          <p:cNvSpPr>
            <a:spLocks xmlns:a="http://schemas.openxmlformats.org/drawingml/2006/main" noGrp="1"/>
          </p:cNvSpPr>
          <p:nvPr/>
        </p:nvSpPr>
        <p:spPr>
          <a:xfrm xmlns:a="http://schemas.openxmlformats.org/drawingml/2006/main" rot="0">
            <a:off x="666750" y="2305050"/>
            <a:ext cx="2286000" cy="914400"/>
          </a:xfrm>
          <a:prstGeom xmlns:a="http://schemas.openxmlformats.org/drawingml/2006/main" prst="rect">
            <a:avLst/>
          </a:prstGeom>
          <a:solidFill xmlns:a="http://schemas.openxmlformats.org/drawingml/2006/main">
            <a:srgbClr val="FFFFFF"/>
          </a:solidFill>
          <a:ln xmlns:a="http://schemas.openxmlformats.org/drawingml/2006/main" w="15240">
            <a:solidFill>
              <a:srgbClr val="B8C9CD"/>
            </a:solidFill>
          </a:ln>
        </p:spPr>
      </p:sp>
      <p:sp>
        <p:nvSpPr>
          <p:cNvPr id="6" name="clase-Juego">
            <a:extLst xmlns:a="http://schemas.openxmlformats.org/drawingml/2006/main">
              <a:ext uri="{FF2B5EF4-FFF2-40B4-BE49-F238E27FC236}">
                <a16:creationId xmlns:a16="http://schemas.microsoft.com/office/drawing/2014/main" id="{12C20EB7-9737-4904-AA6A-9A768B6530C4}"/>
              </a:ext>
            </a:extLst>
          </p:cNvPr>
          <p:cNvSpPr>
            <a:spLocks xmlns:a="http://schemas.openxmlformats.org/drawingml/2006/main" noGrp="1"/>
          </p:cNvSpPr>
          <p:nvPr/>
        </p:nvSpPr>
        <p:spPr>
          <a:xfrm xmlns:a="http://schemas.openxmlformats.org/drawingml/2006/main">
            <a:off x="781050" y="2400300"/>
            <a:ext cx="2057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1">
                <a:solidFill>
                  <a:srgbClr val="172F3C"/>
                </a:solidFill>
                <a:latin typeface="DejaVu Sans"/>
                <a:ea typeface="DejaVu Sans"/>
                <a:cs typeface="DejaVu Sans"/>
              </a:defRPr>
            </a:defPPr>
          </a:lstStyle>
          <a:p xmlns:a="http://schemas.openxmlformats.org/drawingml/2006/main">
            <a:pPr>
              <a:defRPr sz="1725" b="1">
                <a:solidFill>
                  <a:srgbClr val="172F3C"/>
                </a:solidFill>
                <a:latin typeface="DejaVu Sans"/>
                <a:ea typeface="DejaVu Sans"/>
                <a:cs typeface="DejaVu Sans"/>
              </a:defRPr>
            </a:pPr>
            <a:r>
              <a:rPr sz="1725" b="1">
                <a:solidFill>
                  <a:srgbClr val="172F3C"/>
                </a:solidFill>
                <a:latin typeface="DejaVu Sans"/>
                <a:ea typeface="DejaVu Sans"/>
                <a:cs typeface="DejaVu Sans"/>
              </a:rPr>
              <a:t>Juego</a:t>
            </a:r>
          </a:p>
        </p:txBody>
      </p:sp>
      <p:sp>
        <p:nvSpPr>
          <p:cNvPr id="7" name="">
            <a:extLst xmlns:a="http://schemas.openxmlformats.org/drawingml/2006/main">
              <a:ext uri="{FF2B5EF4-FFF2-40B4-BE49-F238E27FC236}">
                <a16:creationId xmlns:a16="http://schemas.microsoft.com/office/drawing/2014/main" id="{B59041AC-F6DB-41E9-B943-2463D656876A}"/>
              </a:ext>
            </a:extLst>
          </p:cNvPr>
          <p:cNvSpPr>
            <a:spLocks xmlns:a="http://schemas.openxmlformats.org/drawingml/2006/main" noGrp="1"/>
          </p:cNvSpPr>
          <p:nvPr/>
        </p:nvSpPr>
        <p:spPr>
          <a:xfrm xmlns:a="http://schemas.openxmlformats.org/drawingml/2006/main">
            <a:off x="666750" y="2762250"/>
            <a:ext cx="2286000" cy="0"/>
          </a:xfrm>
          <a:prstGeom xmlns:a="http://schemas.openxmlformats.org/drawingml/2006/main" prst="line">
            <a:avLst/>
          </a:prstGeom>
          <a:noFill xmlns:a="http://schemas.openxmlformats.org/drawingml/2006/main"/>
          <a:ln xmlns:a="http://schemas.openxmlformats.org/drawingml/2006/main" w="14288">
            <a:solidFill>
              <a:srgbClr val="B8C9CD"/>
            </a:solidFill>
            <a:prstDash val="solid"/>
          </a:ln>
        </p:spPr>
      </p:sp>
      <p:sp>
        <p:nvSpPr>
          <p:cNvPr id="8" name="metodo-Juego">
            <a:extLst xmlns:a="http://schemas.openxmlformats.org/drawingml/2006/main">
              <a:ext uri="{FF2B5EF4-FFF2-40B4-BE49-F238E27FC236}">
                <a16:creationId xmlns:a16="http://schemas.microsoft.com/office/drawing/2014/main" id="{BF16FF00-FE1B-406F-A190-5FB7F2196CFA}"/>
              </a:ext>
            </a:extLst>
          </p:cNvPr>
          <p:cNvSpPr>
            <a:spLocks xmlns:a="http://schemas.openxmlformats.org/drawingml/2006/main" noGrp="1"/>
          </p:cNvSpPr>
          <p:nvPr/>
        </p:nvSpPr>
        <p:spPr>
          <a:xfrm xmlns:a="http://schemas.openxmlformats.org/drawingml/2006/main">
            <a:off x="781050" y="2876550"/>
            <a:ext cx="2057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6735D"/>
                </a:solidFill>
                <a:latin typeface="DejaVu Sans Mono"/>
                <a:ea typeface="DejaVu Sans Mono"/>
                <a:cs typeface="DejaVu Sans Mono"/>
              </a:defRPr>
            </a:defPPr>
          </a:lstStyle>
          <a:p xmlns:a="http://schemas.openxmlformats.org/drawingml/2006/main">
            <a:pPr>
              <a:defRPr sz="1350" b="0">
                <a:solidFill>
                  <a:srgbClr val="16735D"/>
                </a:solidFill>
                <a:latin typeface="DejaVu Sans Mono"/>
                <a:ea typeface="DejaVu Sans Mono"/>
                <a:cs typeface="DejaVu Sans Mono"/>
              </a:defRPr>
            </a:pPr>
            <a:r>
              <a:rPr sz="1350" b="0">
                <a:solidFill>
                  <a:srgbClr val="16735D"/>
                </a:solidFill>
                <a:latin typeface="DejaVu Sans Mono"/>
                <a:ea typeface="DejaVu Sans Mono"/>
                <a:cs typeface="DejaVu Sans Mono"/>
              </a:rPr>
              <a:t>+actualizar()</a:t>
            </a:r>
          </a:p>
        </p:txBody>
      </p:sp>
      <p:sp>
        <p:nvSpPr>
          <p:cNvPr id="9" name="">
            <a:extLst xmlns:a="http://schemas.openxmlformats.org/drawingml/2006/main">
              <a:ext uri="{FF2B5EF4-FFF2-40B4-BE49-F238E27FC236}">
                <a16:creationId xmlns:a16="http://schemas.microsoft.com/office/drawing/2014/main" id="{743D8A52-2667-4671-AA67-9B2330C10C73}"/>
              </a:ext>
            </a:extLst>
          </p:cNvPr>
          <p:cNvSpPr>
            <a:spLocks xmlns:a="http://schemas.openxmlformats.org/drawingml/2006/main" noGrp="1"/>
          </p:cNvSpPr>
          <p:nvPr/>
        </p:nvSpPr>
        <p:spPr>
          <a:xfrm xmlns:a="http://schemas.openxmlformats.org/drawingml/2006/main" rot="0">
            <a:off x="4953000" y="2305050"/>
            <a:ext cx="2286000" cy="914400"/>
          </a:xfrm>
          <a:prstGeom xmlns:a="http://schemas.openxmlformats.org/drawingml/2006/main" prst="rect">
            <a:avLst/>
          </a:prstGeom>
          <a:solidFill xmlns:a="http://schemas.openxmlformats.org/drawingml/2006/main">
            <a:srgbClr val="FFFFFF"/>
          </a:solidFill>
          <a:ln xmlns:a="http://schemas.openxmlformats.org/drawingml/2006/main" w="15240">
            <a:solidFill>
              <a:srgbClr val="B8C9CD"/>
            </a:solidFill>
          </a:ln>
        </p:spPr>
      </p:sp>
      <p:sp>
        <p:nvSpPr>
          <p:cNvPr id="10" name="clase-Nivel">
            <a:extLst xmlns:a="http://schemas.openxmlformats.org/drawingml/2006/main">
              <a:ext uri="{FF2B5EF4-FFF2-40B4-BE49-F238E27FC236}">
                <a16:creationId xmlns:a16="http://schemas.microsoft.com/office/drawing/2014/main" id="{927F7135-4243-45E4-A791-167DF59D3F4B}"/>
              </a:ext>
            </a:extLst>
          </p:cNvPr>
          <p:cNvSpPr>
            <a:spLocks xmlns:a="http://schemas.openxmlformats.org/drawingml/2006/main" noGrp="1"/>
          </p:cNvSpPr>
          <p:nvPr/>
        </p:nvSpPr>
        <p:spPr>
          <a:xfrm xmlns:a="http://schemas.openxmlformats.org/drawingml/2006/main">
            <a:off x="5067300" y="2400300"/>
            <a:ext cx="2057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1">
                <a:solidFill>
                  <a:srgbClr val="172F3C"/>
                </a:solidFill>
                <a:latin typeface="DejaVu Sans"/>
                <a:ea typeface="DejaVu Sans"/>
                <a:cs typeface="DejaVu Sans"/>
              </a:defRPr>
            </a:defPPr>
          </a:lstStyle>
          <a:p xmlns:a="http://schemas.openxmlformats.org/drawingml/2006/main">
            <a:pPr>
              <a:defRPr sz="1725" b="1">
                <a:solidFill>
                  <a:srgbClr val="172F3C"/>
                </a:solidFill>
                <a:latin typeface="DejaVu Sans"/>
                <a:ea typeface="DejaVu Sans"/>
                <a:cs typeface="DejaVu Sans"/>
              </a:defRPr>
            </a:pPr>
            <a:r>
              <a:rPr sz="1725" b="1">
                <a:solidFill>
                  <a:srgbClr val="172F3C"/>
                </a:solidFill>
                <a:latin typeface="DejaVu Sans"/>
                <a:ea typeface="DejaVu Sans"/>
                <a:cs typeface="DejaVu Sans"/>
              </a:rPr>
              <a:t>Nivel</a:t>
            </a:r>
          </a:p>
        </p:txBody>
      </p:sp>
      <p:sp>
        <p:nvSpPr>
          <p:cNvPr id="11" name="">
            <a:extLst xmlns:a="http://schemas.openxmlformats.org/drawingml/2006/main">
              <a:ext uri="{FF2B5EF4-FFF2-40B4-BE49-F238E27FC236}">
                <a16:creationId xmlns:a16="http://schemas.microsoft.com/office/drawing/2014/main" id="{28C536CA-1527-4916-9D56-E7DDC4A5EDE1}"/>
              </a:ext>
            </a:extLst>
          </p:cNvPr>
          <p:cNvSpPr>
            <a:spLocks xmlns:a="http://schemas.openxmlformats.org/drawingml/2006/main" noGrp="1"/>
          </p:cNvSpPr>
          <p:nvPr/>
        </p:nvSpPr>
        <p:spPr>
          <a:xfrm xmlns:a="http://schemas.openxmlformats.org/drawingml/2006/main">
            <a:off x="4953000" y="2762250"/>
            <a:ext cx="2286000" cy="0"/>
          </a:xfrm>
          <a:prstGeom xmlns:a="http://schemas.openxmlformats.org/drawingml/2006/main" prst="line">
            <a:avLst/>
          </a:prstGeom>
          <a:noFill xmlns:a="http://schemas.openxmlformats.org/drawingml/2006/main"/>
          <a:ln xmlns:a="http://schemas.openxmlformats.org/drawingml/2006/main" w="14288">
            <a:solidFill>
              <a:srgbClr val="B8C9CD"/>
            </a:solidFill>
            <a:prstDash val="solid"/>
          </a:ln>
        </p:spPr>
      </p:sp>
      <p:sp>
        <p:nvSpPr>
          <p:cNvPr id="12" name="metodo-Nivel">
            <a:extLst xmlns:a="http://schemas.openxmlformats.org/drawingml/2006/main">
              <a:ext uri="{FF2B5EF4-FFF2-40B4-BE49-F238E27FC236}">
                <a16:creationId xmlns:a16="http://schemas.microsoft.com/office/drawing/2014/main" id="{E4EFFB8E-00F2-4467-9E00-B99AFB656C92}"/>
              </a:ext>
            </a:extLst>
          </p:cNvPr>
          <p:cNvSpPr>
            <a:spLocks xmlns:a="http://schemas.openxmlformats.org/drawingml/2006/main" noGrp="1"/>
          </p:cNvSpPr>
          <p:nvPr/>
        </p:nvSpPr>
        <p:spPr>
          <a:xfrm xmlns:a="http://schemas.openxmlformats.org/drawingml/2006/main">
            <a:off x="5067300" y="2876550"/>
            <a:ext cx="2057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6735D"/>
                </a:solidFill>
                <a:latin typeface="DejaVu Sans Mono"/>
                <a:ea typeface="DejaVu Sans Mono"/>
                <a:cs typeface="DejaVu Sans Mono"/>
              </a:defRPr>
            </a:defPPr>
          </a:lstStyle>
          <a:p xmlns:a="http://schemas.openxmlformats.org/drawingml/2006/main">
            <a:pPr>
              <a:defRPr sz="1350" b="0">
                <a:solidFill>
                  <a:srgbClr val="16735D"/>
                </a:solidFill>
                <a:latin typeface="DejaVu Sans Mono"/>
                <a:ea typeface="DejaVu Sans Mono"/>
                <a:cs typeface="DejaVu Sans Mono"/>
              </a:defRPr>
            </a:pPr>
            <a:r>
              <a:rPr sz="1350" b="0">
                <a:solidFill>
                  <a:srgbClr val="16735D"/>
                </a:solidFill>
                <a:latin typeface="DejaVu Sans Mono"/>
                <a:ea typeface="DejaVu Sans Mono"/>
                <a:cs typeface="DejaVu Sans Mono"/>
              </a:rPr>
              <a:t>+actualizar()</a:t>
            </a:r>
          </a:p>
        </p:txBody>
      </p:sp>
      <p:sp>
        <p:nvSpPr>
          <p:cNvPr id="13" name="">
            <a:extLst xmlns:a="http://schemas.openxmlformats.org/drawingml/2006/main">
              <a:ext uri="{FF2B5EF4-FFF2-40B4-BE49-F238E27FC236}">
                <a16:creationId xmlns:a16="http://schemas.microsoft.com/office/drawing/2014/main" id="{1BDEE7B6-A151-489B-83E9-3830912209A3}"/>
              </a:ext>
            </a:extLst>
          </p:cNvPr>
          <p:cNvSpPr>
            <a:spLocks xmlns:a="http://schemas.openxmlformats.org/drawingml/2006/main" noGrp="1"/>
          </p:cNvSpPr>
          <p:nvPr/>
        </p:nvSpPr>
        <p:spPr>
          <a:xfrm xmlns:a="http://schemas.openxmlformats.org/drawingml/2006/main" rot="0">
            <a:off x="9239250" y="2305050"/>
            <a:ext cx="2286000" cy="914400"/>
          </a:xfrm>
          <a:prstGeom xmlns:a="http://schemas.openxmlformats.org/drawingml/2006/main" prst="rect">
            <a:avLst/>
          </a:prstGeom>
          <a:solidFill xmlns:a="http://schemas.openxmlformats.org/drawingml/2006/main">
            <a:srgbClr val="FFFFFF"/>
          </a:solidFill>
          <a:ln xmlns:a="http://schemas.openxmlformats.org/drawingml/2006/main" w="15240">
            <a:solidFill>
              <a:srgbClr val="B8C9CD"/>
            </a:solidFill>
          </a:ln>
        </p:spPr>
      </p:sp>
      <p:sp>
        <p:nvSpPr>
          <p:cNvPr id="14" name="clase-Vista">
            <a:extLst xmlns:a="http://schemas.openxmlformats.org/drawingml/2006/main">
              <a:ext uri="{FF2B5EF4-FFF2-40B4-BE49-F238E27FC236}">
                <a16:creationId xmlns:a16="http://schemas.microsoft.com/office/drawing/2014/main" id="{9F28B2BB-0728-468F-AE32-56726BAD79D4}"/>
              </a:ext>
            </a:extLst>
          </p:cNvPr>
          <p:cNvSpPr>
            <a:spLocks xmlns:a="http://schemas.openxmlformats.org/drawingml/2006/main" noGrp="1"/>
          </p:cNvSpPr>
          <p:nvPr/>
        </p:nvSpPr>
        <p:spPr>
          <a:xfrm xmlns:a="http://schemas.openxmlformats.org/drawingml/2006/main">
            <a:off x="9353550" y="2400300"/>
            <a:ext cx="2057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1">
                <a:solidFill>
                  <a:srgbClr val="172F3C"/>
                </a:solidFill>
                <a:latin typeface="DejaVu Sans"/>
                <a:ea typeface="DejaVu Sans"/>
                <a:cs typeface="DejaVu Sans"/>
              </a:defRPr>
            </a:defPPr>
          </a:lstStyle>
          <a:p xmlns:a="http://schemas.openxmlformats.org/drawingml/2006/main">
            <a:pPr>
              <a:defRPr sz="1725" b="1">
                <a:solidFill>
                  <a:srgbClr val="172F3C"/>
                </a:solidFill>
                <a:latin typeface="DejaVu Sans"/>
                <a:ea typeface="DejaVu Sans"/>
                <a:cs typeface="DejaVu Sans"/>
              </a:defRPr>
            </a:pPr>
            <a:r>
              <a:rPr sz="1725" b="1">
                <a:solidFill>
                  <a:srgbClr val="172F3C"/>
                </a:solidFill>
                <a:latin typeface="DejaVu Sans"/>
                <a:ea typeface="DejaVu Sans"/>
                <a:cs typeface="DejaVu Sans"/>
              </a:rPr>
              <a:t>Vista</a:t>
            </a:r>
          </a:p>
        </p:txBody>
      </p:sp>
      <p:sp>
        <p:nvSpPr>
          <p:cNvPr id="15" name="">
            <a:extLst xmlns:a="http://schemas.openxmlformats.org/drawingml/2006/main">
              <a:ext uri="{FF2B5EF4-FFF2-40B4-BE49-F238E27FC236}">
                <a16:creationId xmlns:a16="http://schemas.microsoft.com/office/drawing/2014/main" id="{5E53316A-C157-425B-B332-7E5A9832C3E9}"/>
              </a:ext>
            </a:extLst>
          </p:cNvPr>
          <p:cNvSpPr>
            <a:spLocks xmlns:a="http://schemas.openxmlformats.org/drawingml/2006/main" noGrp="1"/>
          </p:cNvSpPr>
          <p:nvPr/>
        </p:nvSpPr>
        <p:spPr>
          <a:xfrm xmlns:a="http://schemas.openxmlformats.org/drawingml/2006/main">
            <a:off x="9239250" y="2762250"/>
            <a:ext cx="2286000" cy="0"/>
          </a:xfrm>
          <a:prstGeom xmlns:a="http://schemas.openxmlformats.org/drawingml/2006/main" prst="line">
            <a:avLst/>
          </a:prstGeom>
          <a:noFill xmlns:a="http://schemas.openxmlformats.org/drawingml/2006/main"/>
          <a:ln xmlns:a="http://schemas.openxmlformats.org/drawingml/2006/main" w="14288">
            <a:solidFill>
              <a:srgbClr val="B8C9CD"/>
            </a:solidFill>
            <a:prstDash val="solid"/>
          </a:ln>
        </p:spPr>
      </p:sp>
      <p:sp>
        <p:nvSpPr>
          <p:cNvPr id="16" name="metodo-Vista">
            <a:extLst xmlns:a="http://schemas.openxmlformats.org/drawingml/2006/main">
              <a:ext uri="{FF2B5EF4-FFF2-40B4-BE49-F238E27FC236}">
                <a16:creationId xmlns:a16="http://schemas.microsoft.com/office/drawing/2014/main" id="{E74C82E3-21CF-4861-A38C-BF9582048DE6}"/>
              </a:ext>
            </a:extLst>
          </p:cNvPr>
          <p:cNvSpPr>
            <a:spLocks xmlns:a="http://schemas.openxmlformats.org/drawingml/2006/main" noGrp="1"/>
          </p:cNvSpPr>
          <p:nvPr/>
        </p:nvSpPr>
        <p:spPr>
          <a:xfrm xmlns:a="http://schemas.openxmlformats.org/drawingml/2006/main">
            <a:off x="9353550" y="2876550"/>
            <a:ext cx="2057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6735D"/>
                </a:solidFill>
                <a:latin typeface="DejaVu Sans Mono"/>
                <a:ea typeface="DejaVu Sans Mono"/>
                <a:cs typeface="DejaVu Sans Mono"/>
              </a:defRPr>
            </a:defPPr>
          </a:lstStyle>
          <a:p xmlns:a="http://schemas.openxmlformats.org/drawingml/2006/main">
            <a:pPr>
              <a:defRPr sz="1350" b="0">
                <a:solidFill>
                  <a:srgbClr val="16735D"/>
                </a:solidFill>
                <a:latin typeface="DejaVu Sans Mono"/>
                <a:ea typeface="DejaVu Sans Mono"/>
                <a:cs typeface="DejaVu Sans Mono"/>
              </a:defRPr>
            </a:pPr>
            <a:r>
              <a:rPr sz="1350" b="0">
                <a:solidFill>
                  <a:srgbClr val="16735D"/>
                </a:solidFill>
                <a:latin typeface="DejaVu Sans Mono"/>
                <a:ea typeface="DejaVu Sans Mono"/>
                <a:cs typeface="DejaVu Sans Mono"/>
              </a:rPr>
              <a:t>+dibujar(juego)</a:t>
            </a:r>
          </a:p>
        </p:txBody>
      </p:sp>
      <p:sp>
        <p:nvSpPr>
          <p:cNvPr id="17" name="">
            <a:extLst xmlns:a="http://schemas.openxmlformats.org/drawingml/2006/main">
              <a:ext uri="{FF2B5EF4-FFF2-40B4-BE49-F238E27FC236}">
                <a16:creationId xmlns:a16="http://schemas.microsoft.com/office/drawing/2014/main" id="{584B3C2E-66BB-4AFF-B1CF-1650B3FAE84D}"/>
              </a:ext>
            </a:extLst>
          </p:cNvPr>
          <p:cNvSpPr>
            <a:spLocks xmlns:a="http://schemas.openxmlformats.org/drawingml/2006/main" noGrp="1"/>
          </p:cNvSpPr>
          <p:nvPr/>
        </p:nvSpPr>
        <p:spPr>
          <a:xfrm xmlns:a="http://schemas.openxmlformats.org/drawingml/2006/main" rot="0">
            <a:off x="666750" y="4048125"/>
            <a:ext cx="2286000" cy="914400"/>
          </a:xfrm>
          <a:prstGeom xmlns:a="http://schemas.openxmlformats.org/drawingml/2006/main" prst="rect">
            <a:avLst/>
          </a:prstGeom>
          <a:solidFill xmlns:a="http://schemas.openxmlformats.org/drawingml/2006/main">
            <a:srgbClr val="FFFFFF"/>
          </a:solidFill>
          <a:ln xmlns:a="http://schemas.openxmlformats.org/drawingml/2006/main" w="15240">
            <a:solidFill>
              <a:srgbClr val="B8C9CD"/>
            </a:solidFill>
          </a:ln>
        </p:spPr>
      </p:sp>
      <p:sp>
        <p:nvSpPr>
          <p:cNvPr id="18" name="clase-Puntaje">
            <a:extLst xmlns:a="http://schemas.openxmlformats.org/drawingml/2006/main">
              <a:ext uri="{FF2B5EF4-FFF2-40B4-BE49-F238E27FC236}">
                <a16:creationId xmlns:a16="http://schemas.microsoft.com/office/drawing/2014/main" id="{20AE914F-5C0D-4EB0-BE7F-95D2245F7E40}"/>
              </a:ext>
            </a:extLst>
          </p:cNvPr>
          <p:cNvSpPr>
            <a:spLocks xmlns:a="http://schemas.openxmlformats.org/drawingml/2006/main" noGrp="1"/>
          </p:cNvSpPr>
          <p:nvPr/>
        </p:nvSpPr>
        <p:spPr>
          <a:xfrm xmlns:a="http://schemas.openxmlformats.org/drawingml/2006/main">
            <a:off x="781050" y="4143375"/>
            <a:ext cx="2057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1">
                <a:solidFill>
                  <a:srgbClr val="172F3C"/>
                </a:solidFill>
                <a:latin typeface="DejaVu Sans"/>
                <a:ea typeface="DejaVu Sans"/>
                <a:cs typeface="DejaVu Sans"/>
              </a:defRPr>
            </a:defPPr>
          </a:lstStyle>
          <a:p xmlns:a="http://schemas.openxmlformats.org/drawingml/2006/main">
            <a:pPr>
              <a:defRPr sz="1725" b="1">
                <a:solidFill>
                  <a:srgbClr val="172F3C"/>
                </a:solidFill>
                <a:latin typeface="DejaVu Sans"/>
                <a:ea typeface="DejaVu Sans"/>
                <a:cs typeface="DejaVu Sans"/>
              </a:defRPr>
            </a:pPr>
            <a:r>
              <a:rPr sz="1725" b="1">
                <a:solidFill>
                  <a:srgbClr val="172F3C"/>
                </a:solidFill>
                <a:latin typeface="DejaVu Sans"/>
                <a:ea typeface="DejaVu Sans"/>
                <a:cs typeface="DejaVu Sans"/>
              </a:rPr>
              <a:t>Puntaje</a:t>
            </a:r>
          </a:p>
        </p:txBody>
      </p:sp>
      <p:sp>
        <p:nvSpPr>
          <p:cNvPr id="19" name="">
            <a:extLst xmlns:a="http://schemas.openxmlformats.org/drawingml/2006/main">
              <a:ext uri="{FF2B5EF4-FFF2-40B4-BE49-F238E27FC236}">
                <a16:creationId xmlns:a16="http://schemas.microsoft.com/office/drawing/2014/main" id="{EE472BCE-2954-423C-B716-604C07CC6221}"/>
              </a:ext>
            </a:extLst>
          </p:cNvPr>
          <p:cNvSpPr>
            <a:spLocks xmlns:a="http://schemas.openxmlformats.org/drawingml/2006/main" noGrp="1"/>
          </p:cNvSpPr>
          <p:nvPr/>
        </p:nvSpPr>
        <p:spPr>
          <a:xfrm xmlns:a="http://schemas.openxmlformats.org/drawingml/2006/main">
            <a:off x="666750" y="4505325"/>
            <a:ext cx="2286000" cy="0"/>
          </a:xfrm>
          <a:prstGeom xmlns:a="http://schemas.openxmlformats.org/drawingml/2006/main" prst="line">
            <a:avLst/>
          </a:prstGeom>
          <a:noFill xmlns:a="http://schemas.openxmlformats.org/drawingml/2006/main"/>
          <a:ln xmlns:a="http://schemas.openxmlformats.org/drawingml/2006/main" w="14288">
            <a:solidFill>
              <a:srgbClr val="B8C9CD"/>
            </a:solidFill>
            <a:prstDash val="solid"/>
          </a:ln>
        </p:spPr>
      </p:sp>
      <p:sp>
        <p:nvSpPr>
          <p:cNvPr id="20" name="metodo-Puntaje">
            <a:extLst xmlns:a="http://schemas.openxmlformats.org/drawingml/2006/main">
              <a:ext uri="{FF2B5EF4-FFF2-40B4-BE49-F238E27FC236}">
                <a16:creationId xmlns:a16="http://schemas.microsoft.com/office/drawing/2014/main" id="{F9D6C15C-E016-4120-AA3E-076E15402E43}"/>
              </a:ext>
            </a:extLst>
          </p:cNvPr>
          <p:cNvSpPr>
            <a:spLocks xmlns:a="http://schemas.openxmlformats.org/drawingml/2006/main" noGrp="1"/>
          </p:cNvSpPr>
          <p:nvPr/>
        </p:nvSpPr>
        <p:spPr>
          <a:xfrm xmlns:a="http://schemas.openxmlformats.org/drawingml/2006/main">
            <a:off x="781050" y="4619625"/>
            <a:ext cx="2057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6735D"/>
                </a:solidFill>
                <a:latin typeface="DejaVu Sans Mono"/>
                <a:ea typeface="DejaVu Sans Mono"/>
                <a:cs typeface="DejaVu Sans Mono"/>
              </a:defRPr>
            </a:defPPr>
          </a:lstStyle>
          <a:p xmlns:a="http://schemas.openxmlformats.org/drawingml/2006/main">
            <a:pPr>
              <a:defRPr sz="1350" b="0">
                <a:solidFill>
                  <a:srgbClr val="16735D"/>
                </a:solidFill>
                <a:latin typeface="DejaVu Sans Mono"/>
                <a:ea typeface="DejaVu Sans Mono"/>
                <a:cs typeface="DejaVu Sans Mono"/>
              </a:defRPr>
            </a:pPr>
            <a:r>
              <a:rPr sz="1350" b="0">
                <a:solidFill>
                  <a:srgbClr val="16735D"/>
                </a:solidFill>
                <a:latin typeface="DejaVu Sans Mono"/>
                <a:ea typeface="DejaVu Sans Mono"/>
                <a:cs typeface="DejaVu Sans Mono"/>
              </a:rPr>
              <a:t>+sumar(cantidad)</a:t>
            </a:r>
          </a:p>
        </p:txBody>
      </p:sp>
      <p:sp>
        <p:nvSpPr>
          <p:cNvPr id="21" name="">
            <a:extLst xmlns:a="http://schemas.openxmlformats.org/drawingml/2006/main">
              <a:ext uri="{FF2B5EF4-FFF2-40B4-BE49-F238E27FC236}">
                <a16:creationId xmlns:a16="http://schemas.microsoft.com/office/drawing/2014/main" id="{67BD51CD-C66E-464C-88AB-F0EDB982F138}"/>
              </a:ext>
            </a:extLst>
          </p:cNvPr>
          <p:cNvSpPr>
            <a:spLocks xmlns:a="http://schemas.openxmlformats.org/drawingml/2006/main" noGrp="1"/>
          </p:cNvSpPr>
          <p:nvPr/>
        </p:nvSpPr>
        <p:spPr>
          <a:xfrm xmlns:a="http://schemas.openxmlformats.org/drawingml/2006/main" rot="0">
            <a:off x="4953000" y="4048125"/>
            <a:ext cx="2286000" cy="914400"/>
          </a:xfrm>
          <a:prstGeom xmlns:a="http://schemas.openxmlformats.org/drawingml/2006/main" prst="rect">
            <a:avLst/>
          </a:prstGeom>
          <a:solidFill xmlns:a="http://schemas.openxmlformats.org/drawingml/2006/main">
            <a:srgbClr val="FFFFFF"/>
          </a:solidFill>
          <a:ln xmlns:a="http://schemas.openxmlformats.org/drawingml/2006/main" w="15240">
            <a:solidFill>
              <a:srgbClr val="B8C9CD"/>
            </a:solidFill>
          </a:ln>
        </p:spPr>
      </p:sp>
      <p:sp>
        <p:nvSpPr>
          <p:cNvPr id="22" name="clase-Personaje">
            <a:extLst xmlns:a="http://schemas.openxmlformats.org/drawingml/2006/main">
              <a:ext uri="{FF2B5EF4-FFF2-40B4-BE49-F238E27FC236}">
                <a16:creationId xmlns:a16="http://schemas.microsoft.com/office/drawing/2014/main" id="{924F255A-0484-4254-BF4D-C10CFB135B11}"/>
              </a:ext>
            </a:extLst>
          </p:cNvPr>
          <p:cNvSpPr>
            <a:spLocks xmlns:a="http://schemas.openxmlformats.org/drawingml/2006/main" noGrp="1"/>
          </p:cNvSpPr>
          <p:nvPr/>
        </p:nvSpPr>
        <p:spPr>
          <a:xfrm xmlns:a="http://schemas.openxmlformats.org/drawingml/2006/main">
            <a:off x="5067300" y="4143375"/>
            <a:ext cx="2057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1">
                <a:solidFill>
                  <a:srgbClr val="172F3C"/>
                </a:solidFill>
                <a:latin typeface="DejaVu Sans"/>
                <a:ea typeface="DejaVu Sans"/>
                <a:cs typeface="DejaVu Sans"/>
              </a:defRPr>
            </a:defPPr>
          </a:lstStyle>
          <a:p xmlns:a="http://schemas.openxmlformats.org/drawingml/2006/main">
            <a:pPr>
              <a:defRPr sz="1725" b="1">
                <a:solidFill>
                  <a:srgbClr val="172F3C"/>
                </a:solidFill>
                <a:latin typeface="DejaVu Sans"/>
                <a:ea typeface="DejaVu Sans"/>
                <a:cs typeface="DejaVu Sans"/>
              </a:defRPr>
            </a:pPr>
            <a:r>
              <a:rPr sz="1725" b="1">
                <a:solidFill>
                  <a:srgbClr val="172F3C"/>
                </a:solidFill>
                <a:latin typeface="DejaVu Sans"/>
                <a:ea typeface="DejaVu Sans"/>
                <a:cs typeface="DejaVu Sans"/>
              </a:rPr>
              <a:t>Personaje</a:t>
            </a:r>
          </a:p>
        </p:txBody>
      </p:sp>
      <p:sp>
        <p:nvSpPr>
          <p:cNvPr id="23" name="">
            <a:extLst xmlns:a="http://schemas.openxmlformats.org/drawingml/2006/main">
              <a:ext uri="{FF2B5EF4-FFF2-40B4-BE49-F238E27FC236}">
                <a16:creationId xmlns:a16="http://schemas.microsoft.com/office/drawing/2014/main" id="{60396683-39FC-4F5A-80F9-17216DBA1CDE}"/>
              </a:ext>
            </a:extLst>
          </p:cNvPr>
          <p:cNvSpPr>
            <a:spLocks xmlns:a="http://schemas.openxmlformats.org/drawingml/2006/main" noGrp="1"/>
          </p:cNvSpPr>
          <p:nvPr/>
        </p:nvSpPr>
        <p:spPr>
          <a:xfrm xmlns:a="http://schemas.openxmlformats.org/drawingml/2006/main">
            <a:off x="4953000" y="4505325"/>
            <a:ext cx="2286000" cy="0"/>
          </a:xfrm>
          <a:prstGeom xmlns:a="http://schemas.openxmlformats.org/drawingml/2006/main" prst="line">
            <a:avLst/>
          </a:prstGeom>
          <a:noFill xmlns:a="http://schemas.openxmlformats.org/drawingml/2006/main"/>
          <a:ln xmlns:a="http://schemas.openxmlformats.org/drawingml/2006/main" w="14288">
            <a:solidFill>
              <a:srgbClr val="B8C9CD"/>
            </a:solidFill>
            <a:prstDash val="solid"/>
          </a:ln>
        </p:spPr>
      </p:sp>
      <p:sp>
        <p:nvSpPr>
          <p:cNvPr id="24" name="metodo-Personaje">
            <a:extLst xmlns:a="http://schemas.openxmlformats.org/drawingml/2006/main">
              <a:ext uri="{FF2B5EF4-FFF2-40B4-BE49-F238E27FC236}">
                <a16:creationId xmlns:a16="http://schemas.microsoft.com/office/drawing/2014/main" id="{4EDD9F79-C467-453E-9786-BED79E0B436F}"/>
              </a:ext>
            </a:extLst>
          </p:cNvPr>
          <p:cNvSpPr>
            <a:spLocks xmlns:a="http://schemas.openxmlformats.org/drawingml/2006/main" noGrp="1"/>
          </p:cNvSpPr>
          <p:nvPr/>
        </p:nvSpPr>
        <p:spPr>
          <a:xfrm xmlns:a="http://schemas.openxmlformats.org/drawingml/2006/main">
            <a:off x="5067300" y="4619625"/>
            <a:ext cx="2057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6735D"/>
                </a:solidFill>
                <a:latin typeface="DejaVu Sans Mono"/>
                <a:ea typeface="DejaVu Sans Mono"/>
                <a:cs typeface="DejaVu Sans Mono"/>
              </a:defRPr>
            </a:defPPr>
          </a:lstStyle>
          <a:p xmlns:a="http://schemas.openxmlformats.org/drawingml/2006/main">
            <a:pPr>
              <a:defRPr sz="1350" b="0">
                <a:solidFill>
                  <a:srgbClr val="16735D"/>
                </a:solidFill>
                <a:latin typeface="DejaVu Sans Mono"/>
                <a:ea typeface="DejaVu Sans Mono"/>
                <a:cs typeface="DejaVu Sans Mono"/>
              </a:defRPr>
            </a:pPr>
            <a:r>
              <a:rPr sz="1350" b="0">
                <a:solidFill>
                  <a:srgbClr val="16735D"/>
                </a:solidFill>
                <a:latin typeface="DejaVu Sans Mono"/>
                <a:ea typeface="DejaVu Sans Mono"/>
                <a:cs typeface="DejaVu Sans Mono"/>
              </a:rPr>
              <a:t>+update()</a:t>
            </a:r>
          </a:p>
        </p:txBody>
      </p:sp>
      <p:sp>
        <p:nvSpPr>
          <p:cNvPr id="25" name="">
            <a:extLst xmlns:a="http://schemas.openxmlformats.org/drawingml/2006/main">
              <a:ext uri="{FF2B5EF4-FFF2-40B4-BE49-F238E27FC236}">
                <a16:creationId xmlns:a16="http://schemas.microsoft.com/office/drawing/2014/main" id="{665BAB08-9E78-4C0C-9229-4B760946F6E3}"/>
              </a:ext>
            </a:extLst>
          </p:cNvPr>
          <p:cNvSpPr>
            <a:spLocks xmlns:a="http://schemas.openxmlformats.org/drawingml/2006/main" noGrp="1"/>
          </p:cNvSpPr>
          <p:nvPr/>
        </p:nvSpPr>
        <p:spPr>
          <a:xfrm xmlns:a="http://schemas.openxmlformats.org/drawingml/2006/main" rot="0">
            <a:off x="9239250" y="4048125"/>
            <a:ext cx="2286000" cy="914400"/>
          </a:xfrm>
          <a:prstGeom xmlns:a="http://schemas.openxmlformats.org/drawingml/2006/main" prst="rect">
            <a:avLst/>
          </a:prstGeom>
          <a:solidFill xmlns:a="http://schemas.openxmlformats.org/drawingml/2006/main">
            <a:srgbClr val="FFFFFF"/>
          </a:solidFill>
          <a:ln xmlns:a="http://schemas.openxmlformats.org/drawingml/2006/main" w="15240">
            <a:solidFill>
              <a:srgbClr val="B8C9CD"/>
            </a:solidFill>
          </a:ln>
        </p:spPr>
      </p:sp>
      <p:sp>
        <p:nvSpPr>
          <p:cNvPr id="26" name="clase-Mapa">
            <a:extLst xmlns:a="http://schemas.openxmlformats.org/drawingml/2006/main">
              <a:ext uri="{FF2B5EF4-FFF2-40B4-BE49-F238E27FC236}">
                <a16:creationId xmlns:a16="http://schemas.microsoft.com/office/drawing/2014/main" id="{C8A00208-F8C8-4229-90DA-8F3B13066CE5}"/>
              </a:ext>
            </a:extLst>
          </p:cNvPr>
          <p:cNvSpPr>
            <a:spLocks xmlns:a="http://schemas.openxmlformats.org/drawingml/2006/main" noGrp="1"/>
          </p:cNvSpPr>
          <p:nvPr/>
        </p:nvSpPr>
        <p:spPr>
          <a:xfrm xmlns:a="http://schemas.openxmlformats.org/drawingml/2006/main">
            <a:off x="9353550" y="4143375"/>
            <a:ext cx="2057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1">
                <a:solidFill>
                  <a:srgbClr val="172F3C"/>
                </a:solidFill>
                <a:latin typeface="DejaVu Sans"/>
                <a:ea typeface="DejaVu Sans"/>
                <a:cs typeface="DejaVu Sans"/>
              </a:defRPr>
            </a:defPPr>
          </a:lstStyle>
          <a:p xmlns:a="http://schemas.openxmlformats.org/drawingml/2006/main">
            <a:pPr>
              <a:defRPr sz="1725" b="1">
                <a:solidFill>
                  <a:srgbClr val="172F3C"/>
                </a:solidFill>
                <a:latin typeface="DejaVu Sans"/>
                <a:ea typeface="DejaVu Sans"/>
                <a:cs typeface="DejaVu Sans"/>
              </a:defRPr>
            </a:pPr>
            <a:r>
              <a:rPr sz="1725" b="1">
                <a:solidFill>
                  <a:srgbClr val="172F3C"/>
                </a:solidFill>
                <a:latin typeface="DejaVu Sans"/>
                <a:ea typeface="DejaVu Sans"/>
                <a:cs typeface="DejaVu Sans"/>
              </a:rPr>
              <a:t>Mapa</a:t>
            </a:r>
          </a:p>
        </p:txBody>
      </p:sp>
      <p:sp>
        <p:nvSpPr>
          <p:cNvPr id="27" name="">
            <a:extLst xmlns:a="http://schemas.openxmlformats.org/drawingml/2006/main">
              <a:ext uri="{FF2B5EF4-FFF2-40B4-BE49-F238E27FC236}">
                <a16:creationId xmlns:a16="http://schemas.microsoft.com/office/drawing/2014/main" id="{01216AA2-036F-42BC-9585-CB69DEF26561}"/>
              </a:ext>
            </a:extLst>
          </p:cNvPr>
          <p:cNvSpPr>
            <a:spLocks xmlns:a="http://schemas.openxmlformats.org/drawingml/2006/main" noGrp="1"/>
          </p:cNvSpPr>
          <p:nvPr/>
        </p:nvSpPr>
        <p:spPr>
          <a:xfrm xmlns:a="http://schemas.openxmlformats.org/drawingml/2006/main">
            <a:off x="9239250" y="4505325"/>
            <a:ext cx="2286000" cy="0"/>
          </a:xfrm>
          <a:prstGeom xmlns:a="http://schemas.openxmlformats.org/drawingml/2006/main" prst="line">
            <a:avLst/>
          </a:prstGeom>
          <a:noFill xmlns:a="http://schemas.openxmlformats.org/drawingml/2006/main"/>
          <a:ln xmlns:a="http://schemas.openxmlformats.org/drawingml/2006/main" w="14288">
            <a:solidFill>
              <a:srgbClr val="B8C9CD"/>
            </a:solidFill>
            <a:prstDash val="solid"/>
          </a:ln>
        </p:spPr>
      </p:sp>
      <p:sp>
        <p:nvSpPr>
          <p:cNvPr id="28" name="metodo-Mapa">
            <a:extLst xmlns:a="http://schemas.openxmlformats.org/drawingml/2006/main">
              <a:ext uri="{FF2B5EF4-FFF2-40B4-BE49-F238E27FC236}">
                <a16:creationId xmlns:a16="http://schemas.microsoft.com/office/drawing/2014/main" id="{2372A267-7807-4074-9908-982403DEA02B}"/>
              </a:ext>
            </a:extLst>
          </p:cNvPr>
          <p:cNvSpPr>
            <a:spLocks xmlns:a="http://schemas.openxmlformats.org/drawingml/2006/main" noGrp="1"/>
          </p:cNvSpPr>
          <p:nvPr/>
        </p:nvSpPr>
        <p:spPr>
          <a:xfrm xmlns:a="http://schemas.openxmlformats.org/drawingml/2006/main">
            <a:off x="9353550" y="4619625"/>
            <a:ext cx="2057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6735D"/>
                </a:solidFill>
                <a:latin typeface="DejaVu Sans Mono"/>
                <a:ea typeface="DejaVu Sans Mono"/>
                <a:cs typeface="DejaVu Sans Mono"/>
              </a:defRPr>
            </a:defPPr>
          </a:lstStyle>
          <a:p xmlns:a="http://schemas.openxmlformats.org/drawingml/2006/main">
            <a:pPr>
              <a:defRPr sz="1350" b="0">
                <a:solidFill>
                  <a:srgbClr val="16735D"/>
                </a:solidFill>
                <a:latin typeface="DejaVu Sans Mono"/>
                <a:ea typeface="DejaVu Sans Mono"/>
                <a:cs typeface="DejaVu Sans Mono"/>
              </a:defRPr>
            </a:pPr>
            <a:r>
              <a:rPr sz="1350" b="0">
                <a:solidFill>
                  <a:srgbClr val="16735D"/>
                </a:solidFill>
                <a:latin typeface="DejaVu Sans Mono"/>
                <a:ea typeface="DejaVu Sans Mono"/>
                <a:cs typeface="DejaVu Sans Mono"/>
              </a:rPr>
              <a:t>+desplazar(...)</a:t>
            </a:r>
          </a:p>
        </p:txBody>
      </p:sp>
      <p:sp>
        <p:nvSpPr>
          <p:cNvPr id="29" name="">
            <a:extLst xmlns:a="http://schemas.openxmlformats.org/drawingml/2006/main">
              <a:ext uri="{FF2B5EF4-FFF2-40B4-BE49-F238E27FC236}">
                <a16:creationId xmlns:a16="http://schemas.microsoft.com/office/drawing/2014/main" id="{F7ABA7A8-F9F8-4704-A63B-DC7E0CDF1064}"/>
              </a:ext>
            </a:extLst>
          </p:cNvPr>
          <p:cNvSpPr>
            <a:spLocks xmlns:a="http://schemas.openxmlformats.org/drawingml/2006/main" noGrp="1"/>
          </p:cNvSpPr>
          <p:nvPr/>
        </p:nvSpPr>
        <p:spPr>
          <a:xfrm xmlns:a="http://schemas.openxmlformats.org/drawingml/2006/main" rot="0">
            <a:off x="3714750" y="5581650"/>
            <a:ext cx="2286000" cy="914400"/>
          </a:xfrm>
          <a:prstGeom xmlns:a="http://schemas.openxmlformats.org/drawingml/2006/main" prst="rect">
            <a:avLst/>
          </a:prstGeom>
          <a:solidFill xmlns:a="http://schemas.openxmlformats.org/drawingml/2006/main">
            <a:srgbClr val="FFFFFF"/>
          </a:solidFill>
          <a:ln xmlns:a="http://schemas.openxmlformats.org/drawingml/2006/main" w="15240">
            <a:solidFill>
              <a:srgbClr val="B8C9CD"/>
            </a:solidFill>
          </a:ln>
        </p:spPr>
      </p:sp>
      <p:sp>
        <p:nvSpPr>
          <p:cNvPr id="30" name="clase-Prisionero">
            <a:extLst xmlns:a="http://schemas.openxmlformats.org/drawingml/2006/main">
              <a:ext uri="{FF2B5EF4-FFF2-40B4-BE49-F238E27FC236}">
                <a16:creationId xmlns:a16="http://schemas.microsoft.com/office/drawing/2014/main" id="{368E3F6B-9BB9-4E05-AF09-6DA0B717D215}"/>
              </a:ext>
            </a:extLst>
          </p:cNvPr>
          <p:cNvSpPr>
            <a:spLocks xmlns:a="http://schemas.openxmlformats.org/drawingml/2006/main" noGrp="1"/>
          </p:cNvSpPr>
          <p:nvPr/>
        </p:nvSpPr>
        <p:spPr>
          <a:xfrm xmlns:a="http://schemas.openxmlformats.org/drawingml/2006/main">
            <a:off x="3829050" y="5676900"/>
            <a:ext cx="2057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1">
                <a:solidFill>
                  <a:srgbClr val="172F3C"/>
                </a:solidFill>
                <a:latin typeface="DejaVu Sans"/>
                <a:ea typeface="DejaVu Sans"/>
                <a:cs typeface="DejaVu Sans"/>
              </a:defRPr>
            </a:defPPr>
          </a:lstStyle>
          <a:p xmlns:a="http://schemas.openxmlformats.org/drawingml/2006/main">
            <a:pPr>
              <a:defRPr sz="1725" b="1">
                <a:solidFill>
                  <a:srgbClr val="172F3C"/>
                </a:solidFill>
                <a:latin typeface="DejaVu Sans"/>
                <a:ea typeface="DejaVu Sans"/>
                <a:cs typeface="DejaVu Sans"/>
              </a:defRPr>
            </a:pPr>
            <a:r>
              <a:rPr sz="1725" b="1">
                <a:solidFill>
                  <a:srgbClr val="172F3C"/>
                </a:solidFill>
                <a:latin typeface="DejaVu Sans"/>
                <a:ea typeface="DejaVu Sans"/>
                <a:cs typeface="DejaVu Sans"/>
              </a:rPr>
              <a:t>Prisionero</a:t>
            </a:r>
          </a:p>
        </p:txBody>
      </p:sp>
      <p:sp>
        <p:nvSpPr>
          <p:cNvPr id="31" name="">
            <a:extLst xmlns:a="http://schemas.openxmlformats.org/drawingml/2006/main">
              <a:ext uri="{FF2B5EF4-FFF2-40B4-BE49-F238E27FC236}">
                <a16:creationId xmlns:a16="http://schemas.microsoft.com/office/drawing/2014/main" id="{3F63B1E8-CC35-46C5-8425-7425B707E6C4}"/>
              </a:ext>
            </a:extLst>
          </p:cNvPr>
          <p:cNvSpPr>
            <a:spLocks xmlns:a="http://schemas.openxmlformats.org/drawingml/2006/main" noGrp="1"/>
          </p:cNvSpPr>
          <p:nvPr/>
        </p:nvSpPr>
        <p:spPr>
          <a:xfrm xmlns:a="http://schemas.openxmlformats.org/drawingml/2006/main">
            <a:off x="3714750" y="6038850"/>
            <a:ext cx="2286000" cy="0"/>
          </a:xfrm>
          <a:prstGeom xmlns:a="http://schemas.openxmlformats.org/drawingml/2006/main" prst="line">
            <a:avLst/>
          </a:prstGeom>
          <a:noFill xmlns:a="http://schemas.openxmlformats.org/drawingml/2006/main"/>
          <a:ln xmlns:a="http://schemas.openxmlformats.org/drawingml/2006/main" w="14288">
            <a:solidFill>
              <a:srgbClr val="B8C9CD"/>
            </a:solidFill>
            <a:prstDash val="solid"/>
          </a:ln>
        </p:spPr>
      </p:sp>
      <p:sp>
        <p:nvSpPr>
          <p:cNvPr id="32" name="metodo-Prisionero">
            <a:extLst xmlns:a="http://schemas.openxmlformats.org/drawingml/2006/main">
              <a:ext uri="{FF2B5EF4-FFF2-40B4-BE49-F238E27FC236}">
                <a16:creationId xmlns:a16="http://schemas.microsoft.com/office/drawing/2014/main" id="{7B5371BD-D225-483F-A3E3-A9F8D15EE5FB}"/>
              </a:ext>
            </a:extLst>
          </p:cNvPr>
          <p:cNvSpPr>
            <a:spLocks xmlns:a="http://schemas.openxmlformats.org/drawingml/2006/main" noGrp="1"/>
          </p:cNvSpPr>
          <p:nvPr/>
        </p:nvSpPr>
        <p:spPr>
          <a:xfrm xmlns:a="http://schemas.openxmlformats.org/drawingml/2006/main">
            <a:off x="3829050" y="6153150"/>
            <a:ext cx="2057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6735D"/>
                </a:solidFill>
                <a:latin typeface="DejaVu Sans Mono"/>
                <a:ea typeface="DejaVu Sans Mono"/>
                <a:cs typeface="DejaVu Sans Mono"/>
              </a:defRPr>
            </a:defPPr>
          </a:lstStyle>
          <a:p xmlns:a="http://schemas.openxmlformats.org/drawingml/2006/main">
            <a:pPr>
              <a:defRPr sz="1350" b="0">
                <a:solidFill>
                  <a:srgbClr val="16735D"/>
                </a:solidFill>
                <a:latin typeface="DejaVu Sans Mono"/>
                <a:ea typeface="DejaVu Sans Mono"/>
                <a:cs typeface="DejaVu Sans Mono"/>
              </a:defRPr>
            </a:pPr>
            <a:r>
              <a:rPr sz="1350" b="0">
                <a:solidFill>
                  <a:srgbClr val="16735D"/>
                </a:solidFill>
                <a:latin typeface="DejaVu Sans Mono"/>
                <a:ea typeface="DejaVu Sans Mono"/>
                <a:cs typeface="DejaVu Sans Mono"/>
              </a:rPr>
              <a:t>+update()</a:t>
            </a:r>
          </a:p>
        </p:txBody>
      </p:sp>
      <p:sp>
        <p:nvSpPr>
          <p:cNvPr id="33" name="">
            <a:extLst xmlns:a="http://schemas.openxmlformats.org/drawingml/2006/main">
              <a:ext uri="{FF2B5EF4-FFF2-40B4-BE49-F238E27FC236}">
                <a16:creationId xmlns:a16="http://schemas.microsoft.com/office/drawing/2014/main" id="{F8E87157-E978-4F82-A9A1-900CD3E6B428}"/>
              </a:ext>
            </a:extLst>
          </p:cNvPr>
          <p:cNvSpPr>
            <a:spLocks xmlns:a="http://schemas.openxmlformats.org/drawingml/2006/main" noGrp="1"/>
          </p:cNvSpPr>
          <p:nvPr/>
        </p:nvSpPr>
        <p:spPr>
          <a:xfrm xmlns:a="http://schemas.openxmlformats.org/drawingml/2006/main" rot="0">
            <a:off x="6762750" y="5581650"/>
            <a:ext cx="2286000" cy="914400"/>
          </a:xfrm>
          <a:prstGeom xmlns:a="http://schemas.openxmlformats.org/drawingml/2006/main" prst="rect">
            <a:avLst/>
          </a:prstGeom>
          <a:solidFill xmlns:a="http://schemas.openxmlformats.org/drawingml/2006/main">
            <a:srgbClr val="FFFFFF"/>
          </a:solidFill>
          <a:ln xmlns:a="http://schemas.openxmlformats.org/drawingml/2006/main" w="15240">
            <a:solidFill>
              <a:srgbClr val="B8C9CD"/>
            </a:solidFill>
          </a:ln>
        </p:spPr>
      </p:sp>
      <p:sp>
        <p:nvSpPr>
          <p:cNvPr id="34" name="clase-Guardia">
            <a:extLst xmlns:a="http://schemas.openxmlformats.org/drawingml/2006/main">
              <a:ext uri="{FF2B5EF4-FFF2-40B4-BE49-F238E27FC236}">
                <a16:creationId xmlns:a16="http://schemas.microsoft.com/office/drawing/2014/main" id="{C32D49ED-B2A7-470B-B06E-A175138D55AF}"/>
              </a:ext>
            </a:extLst>
          </p:cNvPr>
          <p:cNvSpPr>
            <a:spLocks xmlns:a="http://schemas.openxmlformats.org/drawingml/2006/main" noGrp="1"/>
          </p:cNvSpPr>
          <p:nvPr/>
        </p:nvSpPr>
        <p:spPr>
          <a:xfrm xmlns:a="http://schemas.openxmlformats.org/drawingml/2006/main">
            <a:off x="6877050" y="5676900"/>
            <a:ext cx="2057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1">
                <a:solidFill>
                  <a:srgbClr val="172F3C"/>
                </a:solidFill>
                <a:latin typeface="DejaVu Sans"/>
                <a:ea typeface="DejaVu Sans"/>
                <a:cs typeface="DejaVu Sans"/>
              </a:defRPr>
            </a:defPPr>
          </a:lstStyle>
          <a:p xmlns:a="http://schemas.openxmlformats.org/drawingml/2006/main">
            <a:pPr>
              <a:defRPr sz="1725" b="1">
                <a:solidFill>
                  <a:srgbClr val="172F3C"/>
                </a:solidFill>
                <a:latin typeface="DejaVu Sans"/>
                <a:ea typeface="DejaVu Sans"/>
                <a:cs typeface="DejaVu Sans"/>
              </a:defRPr>
            </a:pPr>
            <a:r>
              <a:rPr sz="1725" b="1">
                <a:solidFill>
                  <a:srgbClr val="172F3C"/>
                </a:solidFill>
                <a:latin typeface="DejaVu Sans"/>
                <a:ea typeface="DejaVu Sans"/>
                <a:cs typeface="DejaVu Sans"/>
              </a:rPr>
              <a:t>Guardia</a:t>
            </a:r>
          </a:p>
        </p:txBody>
      </p:sp>
      <p:sp>
        <p:nvSpPr>
          <p:cNvPr id="35" name="">
            <a:extLst xmlns:a="http://schemas.openxmlformats.org/drawingml/2006/main">
              <a:ext uri="{FF2B5EF4-FFF2-40B4-BE49-F238E27FC236}">
                <a16:creationId xmlns:a16="http://schemas.microsoft.com/office/drawing/2014/main" id="{62CD83C6-32CD-46B6-9DC0-2ED0233F5D63}"/>
              </a:ext>
            </a:extLst>
          </p:cNvPr>
          <p:cNvSpPr>
            <a:spLocks xmlns:a="http://schemas.openxmlformats.org/drawingml/2006/main" noGrp="1"/>
          </p:cNvSpPr>
          <p:nvPr/>
        </p:nvSpPr>
        <p:spPr>
          <a:xfrm xmlns:a="http://schemas.openxmlformats.org/drawingml/2006/main">
            <a:off x="6762750" y="6038850"/>
            <a:ext cx="2286000" cy="0"/>
          </a:xfrm>
          <a:prstGeom xmlns:a="http://schemas.openxmlformats.org/drawingml/2006/main" prst="line">
            <a:avLst/>
          </a:prstGeom>
          <a:noFill xmlns:a="http://schemas.openxmlformats.org/drawingml/2006/main"/>
          <a:ln xmlns:a="http://schemas.openxmlformats.org/drawingml/2006/main" w="14288">
            <a:solidFill>
              <a:srgbClr val="B8C9CD"/>
            </a:solidFill>
            <a:prstDash val="solid"/>
          </a:ln>
        </p:spPr>
      </p:sp>
      <p:sp>
        <p:nvSpPr>
          <p:cNvPr id="36" name="metodo-Guardia">
            <a:extLst xmlns:a="http://schemas.openxmlformats.org/drawingml/2006/main">
              <a:ext uri="{FF2B5EF4-FFF2-40B4-BE49-F238E27FC236}">
                <a16:creationId xmlns:a16="http://schemas.microsoft.com/office/drawing/2014/main" id="{72AFAE23-44AE-46D5-81AD-E63845A955F4}"/>
              </a:ext>
            </a:extLst>
          </p:cNvPr>
          <p:cNvSpPr>
            <a:spLocks xmlns:a="http://schemas.openxmlformats.org/drawingml/2006/main" noGrp="1"/>
          </p:cNvSpPr>
          <p:nvPr/>
        </p:nvSpPr>
        <p:spPr>
          <a:xfrm xmlns:a="http://schemas.openxmlformats.org/drawingml/2006/main">
            <a:off x="6877050" y="6153150"/>
            <a:ext cx="2057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6735D"/>
                </a:solidFill>
                <a:latin typeface="DejaVu Sans Mono"/>
                <a:ea typeface="DejaVu Sans Mono"/>
                <a:cs typeface="DejaVu Sans Mono"/>
              </a:defRPr>
            </a:defPPr>
          </a:lstStyle>
          <a:p xmlns:a="http://schemas.openxmlformats.org/drawingml/2006/main">
            <a:pPr>
              <a:defRPr sz="1350" b="0">
                <a:solidFill>
                  <a:srgbClr val="16735D"/>
                </a:solidFill>
                <a:latin typeface="DejaVu Sans Mono"/>
                <a:ea typeface="DejaVu Sans Mono"/>
                <a:cs typeface="DejaVu Sans Mono"/>
              </a:defRPr>
            </a:pPr>
            <a:r>
              <a:rPr sz="1350" b="0">
                <a:solidFill>
                  <a:srgbClr val="16735D"/>
                </a:solidFill>
                <a:latin typeface="DejaVu Sans Mono"/>
                <a:ea typeface="DejaVu Sans Mono"/>
                <a:cs typeface="DejaVu Sans Mono"/>
              </a:rPr>
              <a:t>+update()</a:t>
            </a:r>
          </a:p>
        </p:txBody>
      </p:sp>
      <p:sp>
        <p:nvSpPr>
          <p:cNvPr id="37" name="">
            <a:extLst xmlns:a="http://schemas.openxmlformats.org/drawingml/2006/main">
              <a:ext uri="{FF2B5EF4-FFF2-40B4-BE49-F238E27FC236}">
                <a16:creationId xmlns:a16="http://schemas.microsoft.com/office/drawing/2014/main" id="{F50FBAAE-12D1-4338-8C0D-9D0E5487DD42}"/>
              </a:ext>
            </a:extLst>
          </p:cNvPr>
          <p:cNvSpPr>
            <a:spLocks xmlns:a="http://schemas.openxmlformats.org/drawingml/2006/main" noGrp="1"/>
          </p:cNvSpPr>
          <p:nvPr/>
        </p:nvSpPr>
        <p:spPr>
          <a:xfrm xmlns:a="http://schemas.openxmlformats.org/drawingml/2006/main">
            <a:off x="2952750" y="2762250"/>
            <a:ext cx="2000250" cy="0"/>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38" name="">
            <a:extLst xmlns:a="http://schemas.openxmlformats.org/drawingml/2006/main">
              <a:ext uri="{FF2B5EF4-FFF2-40B4-BE49-F238E27FC236}">
                <a16:creationId xmlns:a16="http://schemas.microsoft.com/office/drawing/2014/main" id="{65766964-A1EB-489A-9A32-ED2742E131B8}"/>
              </a:ext>
            </a:extLst>
          </p:cNvPr>
          <p:cNvSpPr>
            <a:spLocks xmlns:a="http://schemas.openxmlformats.org/drawingml/2006/main" noGrp="1"/>
          </p:cNvSpPr>
          <p:nvPr/>
        </p:nvSpPr>
        <p:spPr>
          <a:xfrm xmlns:a="http://schemas.openxmlformats.org/drawingml/2006/main" rot="0">
            <a:off x="3009900" y="2695575"/>
            <a:ext cx="133350" cy="133350"/>
          </a:xfrm>
          <a:prstGeom xmlns:a="http://schemas.openxmlformats.org/drawingml/2006/main" prst="diamond">
            <a:avLst/>
          </a:prstGeom>
          <a:solidFill xmlns:a="http://schemas.openxmlformats.org/drawingml/2006/main">
            <a:srgbClr val="16735D"/>
          </a:solidFill>
          <a:ln xmlns:a="http://schemas.openxmlformats.org/drawingml/2006/main" w="15240">
            <a:solidFill>
              <a:srgbClr val="16735D"/>
            </a:solidFill>
          </a:ln>
        </p:spPr>
      </p:sp>
      <p:sp>
        <p:nvSpPr>
          <p:cNvPr id="39" name="texto">
            <a:extLst xmlns:a="http://schemas.openxmlformats.org/drawingml/2006/main">
              <a:ext uri="{FF2B5EF4-FFF2-40B4-BE49-F238E27FC236}">
                <a16:creationId xmlns:a16="http://schemas.microsoft.com/office/drawing/2014/main" id="{9B1BEED0-1371-4AEC-8AC5-CB918A519F62}"/>
              </a:ext>
            </a:extLst>
          </p:cNvPr>
          <p:cNvSpPr>
            <a:spLocks xmlns:a="http://schemas.openxmlformats.org/drawingml/2006/main" noGrp="1"/>
          </p:cNvSpPr>
          <p:nvPr/>
        </p:nvSpPr>
        <p:spPr>
          <a:xfrm xmlns:a="http://schemas.openxmlformats.org/drawingml/2006/main">
            <a:off x="3457575" y="2428875"/>
            <a:ext cx="13049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526773"/>
                </a:solidFill>
                <a:latin typeface="DejaVu Sans"/>
                <a:ea typeface="DejaVu Sans"/>
                <a:cs typeface="DejaVu Sans"/>
              </a:defRPr>
            </a:defPPr>
          </a:lstStyle>
          <a:p xmlns:a="http://schemas.openxmlformats.org/drawingml/2006/main">
            <a:pPr>
              <a:defRPr sz="1350" b="0">
                <a:solidFill>
                  <a:srgbClr val="526773"/>
                </a:solidFill>
                <a:latin typeface="DejaVu Sans"/>
                <a:ea typeface="DejaVu Sans"/>
                <a:cs typeface="DejaVu Sans"/>
              </a:defRPr>
            </a:pPr>
            <a:r>
              <a:rPr sz="1350" b="0">
                <a:solidFill>
                  <a:srgbClr val="526773"/>
                </a:solidFill>
                <a:latin typeface="DejaVu Sans"/>
                <a:ea typeface="DejaVu Sans"/>
                <a:cs typeface="DejaVu Sans"/>
              </a:rPr>
              <a:t>crea</a:t>
            </a:r>
          </a:p>
        </p:txBody>
      </p:sp>
      <p:sp>
        <p:nvSpPr>
          <p:cNvPr id="40" name="">
            <a:extLst xmlns:a="http://schemas.openxmlformats.org/drawingml/2006/main">
              <a:ext uri="{FF2B5EF4-FFF2-40B4-BE49-F238E27FC236}">
                <a16:creationId xmlns:a16="http://schemas.microsoft.com/office/drawing/2014/main" id="{49435CF0-65C6-4DE9-A695-70F7277B6488}"/>
              </a:ext>
            </a:extLst>
          </p:cNvPr>
          <p:cNvSpPr>
            <a:spLocks xmlns:a="http://schemas.openxmlformats.org/drawingml/2006/main" noGrp="1"/>
          </p:cNvSpPr>
          <p:nvPr/>
        </p:nvSpPr>
        <p:spPr>
          <a:xfrm xmlns:a="http://schemas.openxmlformats.org/drawingml/2006/main">
            <a:off x="6096000" y="3219450"/>
            <a:ext cx="0" cy="828675"/>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41" name="">
            <a:extLst xmlns:a="http://schemas.openxmlformats.org/drawingml/2006/main">
              <a:ext uri="{FF2B5EF4-FFF2-40B4-BE49-F238E27FC236}">
                <a16:creationId xmlns:a16="http://schemas.microsoft.com/office/drawing/2014/main" id="{F31BD0B5-637B-496F-BE40-D60135CADD4F}"/>
              </a:ext>
            </a:extLst>
          </p:cNvPr>
          <p:cNvSpPr>
            <a:spLocks xmlns:a="http://schemas.openxmlformats.org/drawingml/2006/main" noGrp="1"/>
          </p:cNvSpPr>
          <p:nvPr/>
        </p:nvSpPr>
        <p:spPr>
          <a:xfrm xmlns:a="http://schemas.openxmlformats.org/drawingml/2006/main" rot="0">
            <a:off x="6029325" y="3276600"/>
            <a:ext cx="133350" cy="133350"/>
          </a:xfrm>
          <a:prstGeom xmlns:a="http://schemas.openxmlformats.org/drawingml/2006/main" prst="diamond">
            <a:avLst/>
          </a:prstGeom>
          <a:solidFill xmlns:a="http://schemas.openxmlformats.org/drawingml/2006/main">
            <a:srgbClr val="16735D"/>
          </a:solidFill>
          <a:ln xmlns:a="http://schemas.openxmlformats.org/drawingml/2006/main" w="15240">
            <a:solidFill>
              <a:srgbClr val="16735D"/>
            </a:solidFill>
          </a:ln>
        </p:spPr>
      </p:sp>
      <p:sp>
        <p:nvSpPr>
          <p:cNvPr id="42" name="texto">
            <a:extLst xmlns:a="http://schemas.openxmlformats.org/drawingml/2006/main">
              <a:ext uri="{FF2B5EF4-FFF2-40B4-BE49-F238E27FC236}">
                <a16:creationId xmlns:a16="http://schemas.microsoft.com/office/drawing/2014/main" id="{4B968F32-9BF1-4B8D-9201-8CD85E2CE75D}"/>
              </a:ext>
            </a:extLst>
          </p:cNvPr>
          <p:cNvSpPr>
            <a:spLocks xmlns:a="http://schemas.openxmlformats.org/drawingml/2006/main" noGrp="1"/>
          </p:cNvSpPr>
          <p:nvPr/>
        </p:nvSpPr>
        <p:spPr>
          <a:xfrm xmlns:a="http://schemas.openxmlformats.org/drawingml/2006/main">
            <a:off x="6296025" y="3514725"/>
            <a:ext cx="190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773"/>
                </a:solidFill>
                <a:latin typeface="DejaVu Sans"/>
                <a:ea typeface="DejaVu Sans"/>
                <a:cs typeface="DejaVu Sans"/>
              </a:defRPr>
            </a:defPPr>
          </a:lstStyle>
          <a:p xmlns:a="http://schemas.openxmlformats.org/drawingml/2006/main">
            <a:pPr>
              <a:defRPr sz="1275" b="0">
                <a:solidFill>
                  <a:srgbClr val="526773"/>
                </a:solidFill>
                <a:latin typeface="DejaVu Sans"/>
                <a:ea typeface="DejaVu Sans"/>
                <a:cs typeface="DejaVu Sans"/>
              </a:defRPr>
            </a:pPr>
            <a:r>
              <a:rPr sz="1275" b="0">
                <a:solidFill>
                  <a:srgbClr val="526773"/>
                </a:solidFill>
                <a:latin typeface="DejaVu Sans"/>
                <a:ea typeface="DejaVu Sans"/>
                <a:cs typeface="DejaVu Sans"/>
              </a:rPr>
              <a:t>personajes</a:t>
            </a:r>
          </a:p>
        </p:txBody>
      </p:sp>
      <p:sp>
        <p:nvSpPr>
          <p:cNvPr id="43" name="">
            <a:extLst xmlns:a="http://schemas.openxmlformats.org/drawingml/2006/main">
              <a:ext uri="{FF2B5EF4-FFF2-40B4-BE49-F238E27FC236}">
                <a16:creationId xmlns:a16="http://schemas.microsoft.com/office/drawing/2014/main" id="{953A60CA-731D-45B0-8099-E445576A3807}"/>
              </a:ext>
            </a:extLst>
          </p:cNvPr>
          <p:cNvSpPr>
            <a:spLocks xmlns:a="http://schemas.openxmlformats.org/drawingml/2006/main" noGrp="1"/>
          </p:cNvSpPr>
          <p:nvPr/>
        </p:nvSpPr>
        <p:spPr>
          <a:xfrm xmlns:a="http://schemas.openxmlformats.org/drawingml/2006/main">
            <a:off x="5334000" y="3219450"/>
            <a:ext cx="0" cy="400050"/>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44" name="">
            <a:extLst xmlns:a="http://schemas.openxmlformats.org/drawingml/2006/main">
              <a:ext uri="{FF2B5EF4-FFF2-40B4-BE49-F238E27FC236}">
                <a16:creationId xmlns:a16="http://schemas.microsoft.com/office/drawing/2014/main" id="{8DAA865B-6C29-440F-907D-05DED9AEBF62}"/>
              </a:ext>
            </a:extLst>
          </p:cNvPr>
          <p:cNvSpPr>
            <a:spLocks xmlns:a="http://schemas.openxmlformats.org/drawingml/2006/main" noGrp="1"/>
          </p:cNvSpPr>
          <p:nvPr/>
        </p:nvSpPr>
        <p:spPr>
          <a:xfrm xmlns:a="http://schemas.openxmlformats.org/drawingml/2006/main">
            <a:off x="3895725" y="3619500"/>
            <a:ext cx="1438275" cy="0"/>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45" name="">
            <a:extLst xmlns:a="http://schemas.openxmlformats.org/drawingml/2006/main">
              <a:ext uri="{FF2B5EF4-FFF2-40B4-BE49-F238E27FC236}">
                <a16:creationId xmlns:a16="http://schemas.microsoft.com/office/drawing/2014/main" id="{8F8C1D71-C31F-4DAB-A450-26C9E147B137}"/>
              </a:ext>
            </a:extLst>
          </p:cNvPr>
          <p:cNvSpPr>
            <a:spLocks xmlns:a="http://schemas.openxmlformats.org/drawingml/2006/main" noGrp="1"/>
          </p:cNvSpPr>
          <p:nvPr/>
        </p:nvSpPr>
        <p:spPr>
          <a:xfrm xmlns:a="http://schemas.openxmlformats.org/drawingml/2006/main">
            <a:off x="3895725" y="3619500"/>
            <a:ext cx="0" cy="885825"/>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46" name="">
            <a:extLst xmlns:a="http://schemas.openxmlformats.org/drawingml/2006/main">
              <a:ext uri="{FF2B5EF4-FFF2-40B4-BE49-F238E27FC236}">
                <a16:creationId xmlns:a16="http://schemas.microsoft.com/office/drawing/2014/main" id="{577297EB-6D85-4C11-AB24-1EAF44A46D16}"/>
              </a:ext>
            </a:extLst>
          </p:cNvPr>
          <p:cNvSpPr>
            <a:spLocks xmlns:a="http://schemas.openxmlformats.org/drawingml/2006/main" noGrp="1"/>
          </p:cNvSpPr>
          <p:nvPr/>
        </p:nvSpPr>
        <p:spPr>
          <a:xfrm xmlns:a="http://schemas.openxmlformats.org/drawingml/2006/main">
            <a:off x="2952750" y="4505325"/>
            <a:ext cx="942975" cy="0"/>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47" name="">
            <a:extLst xmlns:a="http://schemas.openxmlformats.org/drawingml/2006/main">
              <a:ext uri="{FF2B5EF4-FFF2-40B4-BE49-F238E27FC236}">
                <a16:creationId xmlns:a16="http://schemas.microsoft.com/office/drawing/2014/main" id="{96735CC6-5E48-486C-A2B0-713A3079B33C}"/>
              </a:ext>
            </a:extLst>
          </p:cNvPr>
          <p:cNvSpPr>
            <a:spLocks xmlns:a="http://schemas.openxmlformats.org/drawingml/2006/main" noGrp="1"/>
          </p:cNvSpPr>
          <p:nvPr/>
        </p:nvSpPr>
        <p:spPr>
          <a:xfrm xmlns:a="http://schemas.openxmlformats.org/drawingml/2006/main" rot="0">
            <a:off x="5267325" y="3276600"/>
            <a:ext cx="133350" cy="133350"/>
          </a:xfrm>
          <a:prstGeom xmlns:a="http://schemas.openxmlformats.org/drawingml/2006/main" prst="diamond">
            <a:avLst/>
          </a:prstGeom>
          <a:solidFill xmlns:a="http://schemas.openxmlformats.org/drawingml/2006/main">
            <a:srgbClr val="FFFFFF"/>
          </a:solidFill>
          <a:ln xmlns:a="http://schemas.openxmlformats.org/drawingml/2006/main" w="15240">
            <a:solidFill>
              <a:srgbClr val="16735D"/>
            </a:solidFill>
          </a:ln>
        </p:spPr>
      </p:sp>
      <p:sp>
        <p:nvSpPr>
          <p:cNvPr id="48" name="texto">
            <a:extLst xmlns:a="http://schemas.openxmlformats.org/drawingml/2006/main">
              <a:ext uri="{FF2B5EF4-FFF2-40B4-BE49-F238E27FC236}">
                <a16:creationId xmlns:a16="http://schemas.microsoft.com/office/drawing/2014/main" id="{37CE38C8-B1A4-46E7-9A49-E296098C2B57}"/>
              </a:ext>
            </a:extLst>
          </p:cNvPr>
          <p:cNvSpPr>
            <a:spLocks xmlns:a="http://schemas.openxmlformats.org/drawingml/2006/main" noGrp="1"/>
          </p:cNvSpPr>
          <p:nvPr/>
        </p:nvSpPr>
        <p:spPr>
          <a:xfrm xmlns:a="http://schemas.openxmlformats.org/drawingml/2006/main">
            <a:off x="3057525" y="377190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773"/>
                </a:solidFill>
                <a:latin typeface="DejaVu Sans"/>
                <a:ea typeface="DejaVu Sans"/>
                <a:cs typeface="DejaVu Sans"/>
              </a:defRPr>
            </a:defPPr>
          </a:lstStyle>
          <a:p xmlns:a="http://schemas.openxmlformats.org/drawingml/2006/main">
            <a:pPr>
              <a:defRPr sz="1275" b="0">
                <a:solidFill>
                  <a:srgbClr val="526773"/>
                </a:solidFill>
                <a:latin typeface="DejaVu Sans"/>
                <a:ea typeface="DejaVu Sans"/>
                <a:cs typeface="DejaVu Sans"/>
              </a:defRPr>
            </a:pPr>
            <a:r>
              <a:rPr sz="1275" b="0">
                <a:solidFill>
                  <a:srgbClr val="526773"/>
                </a:solidFill>
                <a:latin typeface="DejaVu Sans"/>
                <a:ea typeface="DejaVu Sans"/>
                <a:cs typeface="DejaVu Sans"/>
              </a:rPr>
              <a:t>comparte</a:t>
            </a:r>
          </a:p>
        </p:txBody>
      </p:sp>
      <p:sp>
        <p:nvSpPr>
          <p:cNvPr id="49" name="">
            <a:extLst xmlns:a="http://schemas.openxmlformats.org/drawingml/2006/main">
              <a:ext uri="{FF2B5EF4-FFF2-40B4-BE49-F238E27FC236}">
                <a16:creationId xmlns:a16="http://schemas.microsoft.com/office/drawing/2014/main" id="{B776A607-D02B-4D28-88CD-C545A46BA5FF}"/>
              </a:ext>
            </a:extLst>
          </p:cNvPr>
          <p:cNvSpPr>
            <a:spLocks xmlns:a="http://schemas.openxmlformats.org/drawingml/2006/main" noGrp="1"/>
          </p:cNvSpPr>
          <p:nvPr/>
        </p:nvSpPr>
        <p:spPr>
          <a:xfrm xmlns:a="http://schemas.openxmlformats.org/drawingml/2006/main">
            <a:off x="7239000" y="2762250"/>
            <a:ext cx="942975" cy="0"/>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50" name="">
            <a:extLst xmlns:a="http://schemas.openxmlformats.org/drawingml/2006/main">
              <a:ext uri="{FF2B5EF4-FFF2-40B4-BE49-F238E27FC236}">
                <a16:creationId xmlns:a16="http://schemas.microsoft.com/office/drawing/2014/main" id="{1D107832-CE56-4858-A27A-F2F05D51D85D}"/>
              </a:ext>
            </a:extLst>
          </p:cNvPr>
          <p:cNvSpPr>
            <a:spLocks xmlns:a="http://schemas.openxmlformats.org/drawingml/2006/main" noGrp="1"/>
          </p:cNvSpPr>
          <p:nvPr/>
        </p:nvSpPr>
        <p:spPr>
          <a:xfrm xmlns:a="http://schemas.openxmlformats.org/drawingml/2006/main">
            <a:off x="8181975" y="2762250"/>
            <a:ext cx="0" cy="1743075"/>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51" name="">
            <a:extLst xmlns:a="http://schemas.openxmlformats.org/drawingml/2006/main">
              <a:ext uri="{FF2B5EF4-FFF2-40B4-BE49-F238E27FC236}">
                <a16:creationId xmlns:a16="http://schemas.microsoft.com/office/drawing/2014/main" id="{3A05E3A5-1FB3-4661-921A-CCEF3640C25B}"/>
              </a:ext>
            </a:extLst>
          </p:cNvPr>
          <p:cNvSpPr>
            <a:spLocks xmlns:a="http://schemas.openxmlformats.org/drawingml/2006/main" noGrp="1"/>
          </p:cNvSpPr>
          <p:nvPr/>
        </p:nvSpPr>
        <p:spPr>
          <a:xfrm xmlns:a="http://schemas.openxmlformats.org/drawingml/2006/main">
            <a:off x="8181975" y="4505325"/>
            <a:ext cx="1057275" cy="0"/>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52" name="">
            <a:extLst xmlns:a="http://schemas.openxmlformats.org/drawingml/2006/main">
              <a:ext uri="{FF2B5EF4-FFF2-40B4-BE49-F238E27FC236}">
                <a16:creationId xmlns:a16="http://schemas.microsoft.com/office/drawing/2014/main" id="{A5B36755-7723-4332-8FA7-337125F875D0}"/>
              </a:ext>
            </a:extLst>
          </p:cNvPr>
          <p:cNvSpPr>
            <a:spLocks xmlns:a="http://schemas.openxmlformats.org/drawingml/2006/main" noGrp="1"/>
          </p:cNvSpPr>
          <p:nvPr/>
        </p:nvSpPr>
        <p:spPr>
          <a:xfrm xmlns:a="http://schemas.openxmlformats.org/drawingml/2006/main" rot="0">
            <a:off x="7296150" y="2695575"/>
            <a:ext cx="133350" cy="133350"/>
          </a:xfrm>
          <a:prstGeom xmlns:a="http://schemas.openxmlformats.org/drawingml/2006/main" prst="diamond">
            <a:avLst/>
          </a:prstGeom>
          <a:solidFill xmlns:a="http://schemas.openxmlformats.org/drawingml/2006/main">
            <a:srgbClr val="16735D"/>
          </a:solidFill>
          <a:ln xmlns:a="http://schemas.openxmlformats.org/drawingml/2006/main" w="15240">
            <a:solidFill>
              <a:srgbClr val="16735D"/>
            </a:solidFill>
          </a:ln>
        </p:spPr>
      </p:sp>
      <p:sp>
        <p:nvSpPr>
          <p:cNvPr id="53" name="texto">
            <a:extLst xmlns:a="http://schemas.openxmlformats.org/drawingml/2006/main">
              <a:ext uri="{FF2B5EF4-FFF2-40B4-BE49-F238E27FC236}">
                <a16:creationId xmlns:a16="http://schemas.microsoft.com/office/drawing/2014/main" id="{8C355E38-8CC3-4A96-B362-0622708FA2AF}"/>
              </a:ext>
            </a:extLst>
          </p:cNvPr>
          <p:cNvSpPr>
            <a:spLocks xmlns:a="http://schemas.openxmlformats.org/drawingml/2006/main" noGrp="1"/>
          </p:cNvSpPr>
          <p:nvPr/>
        </p:nvSpPr>
        <p:spPr>
          <a:xfrm xmlns:a="http://schemas.openxmlformats.org/drawingml/2006/main">
            <a:off x="8286750" y="36290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773"/>
                </a:solidFill>
                <a:latin typeface="DejaVu Sans"/>
                <a:ea typeface="DejaVu Sans"/>
                <a:cs typeface="DejaVu Sans"/>
              </a:defRPr>
            </a:defPPr>
          </a:lstStyle>
          <a:p xmlns:a="http://schemas.openxmlformats.org/drawingml/2006/main">
            <a:pPr>
              <a:defRPr sz="1275" b="0">
                <a:solidFill>
                  <a:srgbClr val="526773"/>
                </a:solidFill>
                <a:latin typeface="DejaVu Sans"/>
                <a:ea typeface="DejaVu Sans"/>
                <a:cs typeface="DejaVu Sans"/>
              </a:defRPr>
            </a:pPr>
            <a:r>
              <a:rPr sz="1275" b="0">
                <a:solidFill>
                  <a:srgbClr val="526773"/>
                </a:solidFill>
                <a:latin typeface="DejaVu Sans"/>
                <a:ea typeface="DejaVu Sans"/>
                <a:cs typeface="DejaVu Sans"/>
              </a:rPr>
              <a:t>mapa</a:t>
            </a:r>
          </a:p>
        </p:txBody>
      </p:sp>
      <p:sp>
        <p:nvSpPr>
          <p:cNvPr id="54" name="">
            <a:extLst xmlns:a="http://schemas.openxmlformats.org/drawingml/2006/main">
              <a:ext uri="{FF2B5EF4-FFF2-40B4-BE49-F238E27FC236}">
                <a16:creationId xmlns:a16="http://schemas.microsoft.com/office/drawing/2014/main" id="{A554493B-BDF4-4ABA-BB72-5473C198D37D}"/>
              </a:ext>
            </a:extLst>
          </p:cNvPr>
          <p:cNvSpPr>
            <a:spLocks xmlns:a="http://schemas.openxmlformats.org/drawingml/2006/main" noGrp="1"/>
          </p:cNvSpPr>
          <p:nvPr/>
        </p:nvSpPr>
        <p:spPr>
          <a:xfrm xmlns:a="http://schemas.openxmlformats.org/drawingml/2006/main">
            <a:off x="10382250" y="2019300"/>
            <a:ext cx="0" cy="285750"/>
          </a:xfrm>
          <a:prstGeom xmlns:a="http://schemas.openxmlformats.org/drawingml/2006/main" prst="line">
            <a:avLst/>
          </a:prstGeom>
          <a:noFill xmlns:a="http://schemas.openxmlformats.org/drawingml/2006/main"/>
          <a:ln xmlns:a="http://schemas.openxmlformats.org/drawingml/2006/main" w="14288">
            <a:solidFill>
              <a:srgbClr val="16735D"/>
            </a:solidFill>
            <a:prstDash val="dash"/>
          </a:ln>
        </p:spPr>
      </p:sp>
      <p:sp>
        <p:nvSpPr>
          <p:cNvPr id="55" name="">
            <a:extLst xmlns:a="http://schemas.openxmlformats.org/drawingml/2006/main">
              <a:ext uri="{FF2B5EF4-FFF2-40B4-BE49-F238E27FC236}">
                <a16:creationId xmlns:a16="http://schemas.microsoft.com/office/drawing/2014/main" id="{862D4772-31EB-4950-BADA-A7F9227F9CD9}"/>
              </a:ext>
            </a:extLst>
          </p:cNvPr>
          <p:cNvSpPr>
            <a:spLocks xmlns:a="http://schemas.openxmlformats.org/drawingml/2006/main" noGrp="1"/>
          </p:cNvSpPr>
          <p:nvPr/>
        </p:nvSpPr>
        <p:spPr>
          <a:xfrm xmlns:a="http://schemas.openxmlformats.org/drawingml/2006/main">
            <a:off x="1809750" y="2019300"/>
            <a:ext cx="8572500" cy="0"/>
          </a:xfrm>
          <a:prstGeom xmlns:a="http://schemas.openxmlformats.org/drawingml/2006/main" prst="line">
            <a:avLst/>
          </a:prstGeom>
          <a:noFill xmlns:a="http://schemas.openxmlformats.org/drawingml/2006/main"/>
          <a:ln xmlns:a="http://schemas.openxmlformats.org/drawingml/2006/main" w="14288">
            <a:solidFill>
              <a:srgbClr val="16735D"/>
            </a:solidFill>
            <a:prstDash val="dash"/>
          </a:ln>
        </p:spPr>
      </p:sp>
      <p:sp>
        <p:nvSpPr>
          <p:cNvPr id="56" name="">
            <a:extLst xmlns:a="http://schemas.openxmlformats.org/drawingml/2006/main">
              <a:ext uri="{FF2B5EF4-FFF2-40B4-BE49-F238E27FC236}">
                <a16:creationId xmlns:a16="http://schemas.microsoft.com/office/drawing/2014/main" id="{6ADF366B-2AAD-4ED8-BFFF-B502469F8FBD}"/>
              </a:ext>
            </a:extLst>
          </p:cNvPr>
          <p:cNvSpPr>
            <a:spLocks xmlns:a="http://schemas.openxmlformats.org/drawingml/2006/main" noGrp="1"/>
          </p:cNvSpPr>
          <p:nvPr/>
        </p:nvSpPr>
        <p:spPr>
          <a:xfrm xmlns:a="http://schemas.openxmlformats.org/drawingml/2006/main">
            <a:off x="1809750" y="2019300"/>
            <a:ext cx="0" cy="285750"/>
          </a:xfrm>
          <a:prstGeom xmlns:a="http://schemas.openxmlformats.org/drawingml/2006/main" prst="line">
            <a:avLst/>
          </a:prstGeom>
          <a:noFill xmlns:a="http://schemas.openxmlformats.org/drawingml/2006/main"/>
          <a:ln xmlns:a="http://schemas.openxmlformats.org/drawingml/2006/main" w="14288">
            <a:solidFill>
              <a:srgbClr val="16735D"/>
            </a:solidFill>
            <a:prstDash val="dash"/>
          </a:ln>
        </p:spPr>
      </p:sp>
      <p:sp>
        <p:nvSpPr>
          <p:cNvPr id="57" name="">
            <a:extLst xmlns:a="http://schemas.openxmlformats.org/drawingml/2006/main">
              <a:ext uri="{FF2B5EF4-FFF2-40B4-BE49-F238E27FC236}">
                <a16:creationId xmlns:a16="http://schemas.microsoft.com/office/drawing/2014/main" id="{DE376F3C-D95B-44C8-8DC9-42E05FAE338F}"/>
              </a:ext>
            </a:extLst>
          </p:cNvPr>
          <p:cNvSpPr>
            <a:spLocks xmlns:a="http://schemas.openxmlformats.org/drawingml/2006/main" noGrp="1"/>
          </p:cNvSpPr>
          <p:nvPr/>
        </p:nvSpPr>
        <p:spPr>
          <a:xfrm xmlns:a="http://schemas.openxmlformats.org/drawingml/2006/main">
            <a:off x="1752600" y="2228850"/>
            <a:ext cx="57150" cy="76200"/>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58" name="">
            <a:extLst xmlns:a="http://schemas.openxmlformats.org/drawingml/2006/main">
              <a:ext uri="{FF2B5EF4-FFF2-40B4-BE49-F238E27FC236}">
                <a16:creationId xmlns:a16="http://schemas.microsoft.com/office/drawing/2014/main" id="{755A327C-1B7A-4FDD-A266-30A8EA002FBD}"/>
              </a:ext>
            </a:extLst>
          </p:cNvPr>
          <p:cNvSpPr>
            <a:spLocks xmlns:a="http://schemas.openxmlformats.org/drawingml/2006/main" noGrp="1"/>
          </p:cNvSpPr>
          <p:nvPr/>
        </p:nvSpPr>
        <p:spPr>
          <a:xfrm xmlns:a="http://schemas.openxmlformats.org/drawingml/2006/main">
            <a:off x="1809750" y="2228850"/>
            <a:ext cx="57150" cy="76200"/>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59" name="texto">
            <a:extLst xmlns:a="http://schemas.openxmlformats.org/drawingml/2006/main">
              <a:ext uri="{FF2B5EF4-FFF2-40B4-BE49-F238E27FC236}">
                <a16:creationId xmlns:a16="http://schemas.microsoft.com/office/drawing/2014/main" id="{DBA0F39B-FC59-4875-AAD3-86CCF8DDADAF}"/>
              </a:ext>
            </a:extLst>
          </p:cNvPr>
          <p:cNvSpPr>
            <a:spLocks xmlns:a="http://schemas.openxmlformats.org/drawingml/2006/main" noGrp="1"/>
          </p:cNvSpPr>
          <p:nvPr/>
        </p:nvSpPr>
        <p:spPr>
          <a:xfrm xmlns:a="http://schemas.openxmlformats.org/drawingml/2006/main">
            <a:off x="9582150" y="1695450"/>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773"/>
                </a:solidFill>
                <a:latin typeface="DejaVu Sans"/>
                <a:ea typeface="DejaVu Sans"/>
                <a:cs typeface="DejaVu Sans"/>
              </a:defRPr>
            </a:defPPr>
          </a:lstStyle>
          <a:p xmlns:a="http://schemas.openxmlformats.org/drawingml/2006/main">
            <a:pPr>
              <a:defRPr sz="1275" b="0">
                <a:solidFill>
                  <a:srgbClr val="526773"/>
                </a:solidFill>
                <a:latin typeface="DejaVu Sans"/>
                <a:ea typeface="DejaVu Sans"/>
                <a:cs typeface="DejaVu Sans"/>
              </a:defRPr>
            </a:pPr>
            <a:r>
              <a:rPr sz="1275" b="0">
                <a:solidFill>
                  <a:srgbClr val="526773"/>
                </a:solidFill>
                <a:latin typeface="DejaVu Sans"/>
                <a:ea typeface="DejaVu Sans"/>
                <a:cs typeface="DejaVu Sans"/>
              </a:rPr>
              <a:t>dibuja</a:t>
            </a:r>
          </a:p>
        </p:txBody>
      </p:sp>
      <p:sp>
        <p:nvSpPr>
          <p:cNvPr id="60" name="">
            <a:extLst xmlns:a="http://schemas.openxmlformats.org/drawingml/2006/main">
              <a:ext uri="{FF2B5EF4-FFF2-40B4-BE49-F238E27FC236}">
                <a16:creationId xmlns:a16="http://schemas.microsoft.com/office/drawing/2014/main" id="{FDD5B1A7-DAD2-45EC-A8BE-8442655F758B}"/>
              </a:ext>
            </a:extLst>
          </p:cNvPr>
          <p:cNvSpPr>
            <a:spLocks xmlns:a="http://schemas.openxmlformats.org/drawingml/2006/main" noGrp="1"/>
          </p:cNvSpPr>
          <p:nvPr/>
        </p:nvSpPr>
        <p:spPr>
          <a:xfrm xmlns:a="http://schemas.openxmlformats.org/drawingml/2006/main">
            <a:off x="6096000" y="4962525"/>
            <a:ext cx="0" cy="276225"/>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61" name="">
            <a:extLst xmlns:a="http://schemas.openxmlformats.org/drawingml/2006/main">
              <a:ext uri="{FF2B5EF4-FFF2-40B4-BE49-F238E27FC236}">
                <a16:creationId xmlns:a16="http://schemas.microsoft.com/office/drawing/2014/main" id="{DD88C55A-5244-486D-ADF1-0067E942AB09}"/>
              </a:ext>
            </a:extLst>
          </p:cNvPr>
          <p:cNvSpPr>
            <a:spLocks xmlns:a="http://schemas.openxmlformats.org/drawingml/2006/main" noGrp="1"/>
          </p:cNvSpPr>
          <p:nvPr/>
        </p:nvSpPr>
        <p:spPr>
          <a:xfrm xmlns:a="http://schemas.openxmlformats.org/drawingml/2006/main">
            <a:off x="4857750" y="5238750"/>
            <a:ext cx="3048000" cy="0"/>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62" name="">
            <a:extLst xmlns:a="http://schemas.openxmlformats.org/drawingml/2006/main">
              <a:ext uri="{FF2B5EF4-FFF2-40B4-BE49-F238E27FC236}">
                <a16:creationId xmlns:a16="http://schemas.microsoft.com/office/drawing/2014/main" id="{8926EB11-ECDD-446E-9FCC-F46246AA2A26}"/>
              </a:ext>
            </a:extLst>
          </p:cNvPr>
          <p:cNvSpPr>
            <a:spLocks xmlns:a="http://schemas.openxmlformats.org/drawingml/2006/main" noGrp="1"/>
          </p:cNvSpPr>
          <p:nvPr/>
        </p:nvSpPr>
        <p:spPr>
          <a:xfrm xmlns:a="http://schemas.openxmlformats.org/drawingml/2006/main">
            <a:off x="4857750" y="5238750"/>
            <a:ext cx="0" cy="342900"/>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63" name="">
            <a:extLst xmlns:a="http://schemas.openxmlformats.org/drawingml/2006/main">
              <a:ext uri="{FF2B5EF4-FFF2-40B4-BE49-F238E27FC236}">
                <a16:creationId xmlns:a16="http://schemas.microsoft.com/office/drawing/2014/main" id="{E42E07D9-BFCD-4BA8-A76F-9D4A0CAC922A}"/>
              </a:ext>
            </a:extLst>
          </p:cNvPr>
          <p:cNvSpPr>
            <a:spLocks xmlns:a="http://schemas.openxmlformats.org/drawingml/2006/main" noGrp="1"/>
          </p:cNvSpPr>
          <p:nvPr/>
        </p:nvSpPr>
        <p:spPr>
          <a:xfrm xmlns:a="http://schemas.openxmlformats.org/drawingml/2006/main">
            <a:off x="7905750" y="5238750"/>
            <a:ext cx="0" cy="342900"/>
          </a:xfrm>
          <a:prstGeom xmlns:a="http://schemas.openxmlformats.org/drawingml/2006/main" prst="line">
            <a:avLst/>
          </a:prstGeom>
          <a:noFill xmlns:a="http://schemas.openxmlformats.org/drawingml/2006/main"/>
          <a:ln xmlns:a="http://schemas.openxmlformats.org/drawingml/2006/main" w="14288">
            <a:solidFill>
              <a:srgbClr val="16735D"/>
            </a:solidFill>
            <a:prstDash val="solid"/>
          </a:ln>
        </p:spPr>
      </p:sp>
      <p:sp>
        <p:nvSpPr>
          <p:cNvPr id="64" name="">
            <a:extLst xmlns:a="http://schemas.openxmlformats.org/drawingml/2006/main">
              <a:ext uri="{FF2B5EF4-FFF2-40B4-BE49-F238E27FC236}">
                <a16:creationId xmlns:a16="http://schemas.microsoft.com/office/drawing/2014/main" id="{2059B637-612A-487F-A3C1-5D514CEDCC9F}"/>
              </a:ext>
            </a:extLst>
          </p:cNvPr>
          <p:cNvSpPr>
            <a:spLocks xmlns:a="http://schemas.openxmlformats.org/drawingml/2006/main" noGrp="1"/>
          </p:cNvSpPr>
          <p:nvPr/>
        </p:nvSpPr>
        <p:spPr>
          <a:xfrm xmlns:a="http://schemas.openxmlformats.org/drawingml/2006/main" rot="0">
            <a:off x="6019800" y="4962525"/>
            <a:ext cx="152400" cy="133350"/>
          </a:xfrm>
          <a:prstGeom xmlns:a="http://schemas.openxmlformats.org/drawingml/2006/main" prst="triangle">
            <a:avLst/>
          </a:prstGeom>
          <a:solidFill xmlns:a="http://schemas.openxmlformats.org/drawingml/2006/main">
            <a:srgbClr val="FFFFFF"/>
          </a:solidFill>
          <a:ln xmlns:a="http://schemas.openxmlformats.org/drawingml/2006/main" w="15240">
            <a:solidFill>
              <a:srgbClr val="16735D"/>
            </a:solidFill>
          </a:ln>
        </p:spPr>
      </p:sp>
    </p:spTree>
    <p:extLst>
      <p:ext uri="{BB962C8B-B14F-4D97-AF65-F5344CB8AC3E}">
        <p14:creationId xmlns:p14="http://schemas.microsoft.com/office/powerpoint/2010/main" val="209711239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apartado-rubrica">
            <a:extLst xmlns:a="http://schemas.openxmlformats.org/drawingml/2006/main">
              <a:ext uri="{FF2B5EF4-FFF2-40B4-BE49-F238E27FC236}">
                <a16:creationId xmlns:a16="http://schemas.microsoft.com/office/drawing/2014/main" id="{CE7C0756-C550-40E1-85DF-E8227617B002}"/>
              </a:ext>
            </a:extLst>
          </p:cNvPr>
          <p:cNvSpPr>
            <a:spLocks xmlns:a="http://schemas.openxmlformats.org/drawingml/2006/main" noGrp="1"/>
          </p:cNvSpPr>
          <p:nvPr/>
        </p:nvSpPr>
        <p:spPr>
          <a:xfrm xmlns:a="http://schemas.openxmlformats.org/drawingml/2006/main">
            <a:off x="609600" y="28575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4 de 7. Criterio II: fundamentos POO, 6 puntos</a:t>
            </a:r>
          </a:p>
        </p:txBody>
      </p:sp>
      <p:sp>
        <p:nvSpPr>
          <p:cNvPr id="2" name="titulo">
            <a:extLst xmlns:a="http://schemas.openxmlformats.org/drawingml/2006/main">
              <a:ext uri="{FF2B5EF4-FFF2-40B4-BE49-F238E27FC236}">
                <a16:creationId xmlns:a16="http://schemas.microsoft.com/office/drawing/2014/main" id="{65C9C37E-F06F-4533-A5D1-E0CD68706AE8}"/>
              </a:ext>
            </a:extLst>
          </p:cNvPr>
          <p:cNvSpPr>
            <a:spLocks xmlns:a="http://schemas.openxmlformats.org/drawingml/2006/main" noGrp="1"/>
          </p:cNvSpPr>
          <p:nvPr/>
        </p:nvSpPr>
        <p:spPr>
          <a:xfrm xmlns:a="http://schemas.openxmlformats.org/drawingml/2006/main">
            <a:off x="609600" y="790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150" b="1">
                <a:solidFill>
                  <a:srgbClr val="172F3C"/>
                </a:solidFill>
                <a:latin typeface="DejaVu Sans"/>
                <a:ea typeface="DejaVu Sans"/>
                <a:cs typeface="DejaVu Sans"/>
              </a:defRPr>
            </a:defPPr>
          </a:lstStyle>
          <a:p xmlns:a="http://schemas.openxmlformats.org/drawingml/2006/main">
            <a:pPr>
              <a:defRPr sz="3150" b="1">
                <a:solidFill>
                  <a:srgbClr val="172F3C"/>
                </a:solidFill>
                <a:latin typeface="DejaVu Sans"/>
                <a:ea typeface="DejaVu Sans"/>
                <a:cs typeface="DejaVu Sans"/>
              </a:defRPr>
            </a:pPr>
            <a:r>
              <a:rPr sz="3150" b="1">
                <a:solidFill>
                  <a:srgbClr val="172F3C"/>
                </a:solidFill>
                <a:latin typeface="DejaVu Sans"/>
                <a:ea typeface="DejaVu Sans"/>
                <a:cs typeface="DejaVu Sans"/>
              </a:rPr>
              <a:t>IV. Fundamentos de POO</a:t>
            </a:r>
          </a:p>
        </p:txBody>
      </p:sp>
      <p:sp>
        <p:nvSpPr>
          <p:cNvPr id="3" name="numero">
            <a:extLst xmlns:a="http://schemas.openxmlformats.org/drawingml/2006/main">
              <a:ext uri="{FF2B5EF4-FFF2-40B4-BE49-F238E27FC236}">
                <a16:creationId xmlns:a16="http://schemas.microsoft.com/office/drawing/2014/main" id="{E5F91AD4-5929-4912-BA08-BEDC535CE897}"/>
              </a:ext>
            </a:extLst>
          </p:cNvPr>
          <p:cNvSpPr>
            <a:spLocks xmlns:a="http://schemas.openxmlformats.org/drawingml/2006/main" noGrp="1"/>
          </p:cNvSpPr>
          <p:nvPr/>
        </p:nvSpPr>
        <p:spPr>
          <a:xfrm xmlns:a="http://schemas.openxmlformats.org/drawingml/2006/main">
            <a:off x="11210925" y="64770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526773"/>
                </a:solidFill>
                <a:latin typeface="DejaVu Sans"/>
                <a:ea typeface="DejaVu Sans"/>
                <a:cs typeface="DejaVu Sans"/>
              </a:defRPr>
            </a:defPPr>
          </a:lstStyle>
          <a:p xmlns:a="http://schemas.openxmlformats.org/drawingml/2006/main">
            <a:pPr>
              <a:defRPr sz="1050" b="0">
                <a:solidFill>
                  <a:srgbClr val="526773"/>
                </a:solidFill>
                <a:latin typeface="DejaVu Sans"/>
                <a:ea typeface="DejaVu Sans"/>
                <a:cs typeface="DejaVu Sans"/>
              </a:defRPr>
            </a:pPr>
            <a:r>
              <a:rPr sz="1050" b="0">
                <a:solidFill>
                  <a:srgbClr val="526773"/>
                </a:solidFill>
                <a:latin typeface="DejaVu Sans"/>
                <a:ea typeface="DejaVu Sans"/>
                <a:cs typeface="DejaVu Sans"/>
              </a:rPr>
              <a:t>05</a:t>
            </a:r>
          </a:p>
        </p:txBody>
      </p:sp>
      <p:sp>
        <p:nvSpPr>
          <p:cNvPr id="4" name="texto">
            <a:extLst xmlns:a="http://schemas.openxmlformats.org/drawingml/2006/main">
              <a:ext uri="{FF2B5EF4-FFF2-40B4-BE49-F238E27FC236}">
                <a16:creationId xmlns:a16="http://schemas.microsoft.com/office/drawing/2014/main" id="{3B6D82BB-3435-4400-B6DF-4377C85BAB34}"/>
              </a:ext>
            </a:extLst>
          </p:cNvPr>
          <p:cNvSpPr>
            <a:spLocks xmlns:a="http://schemas.openxmlformats.org/drawingml/2006/main" noGrp="1"/>
          </p:cNvSpPr>
          <p:nvPr/>
        </p:nvSpPr>
        <p:spPr>
          <a:xfrm xmlns:a="http://schemas.openxmlformats.org/drawingml/2006/main">
            <a:off x="609600" y="220027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1">
                <a:solidFill>
                  <a:srgbClr val="16735D"/>
                </a:solidFill>
                <a:latin typeface="DejaVu Sans"/>
                <a:ea typeface="DejaVu Sans"/>
                <a:cs typeface="DejaVu Sans"/>
              </a:defRPr>
            </a:defPPr>
          </a:lstStyle>
          <a:p xmlns:a="http://schemas.openxmlformats.org/drawingml/2006/main">
            <a:pPr>
              <a:defRPr sz="2100" b="1">
                <a:solidFill>
                  <a:srgbClr val="16735D"/>
                </a:solidFill>
                <a:latin typeface="DejaVu Sans"/>
                <a:ea typeface="DejaVu Sans"/>
                <a:cs typeface="DejaVu Sans"/>
              </a:defRPr>
            </a:pPr>
            <a:r>
              <a:rPr sz="2100" b="1">
                <a:solidFill>
                  <a:srgbClr val="16735D"/>
                </a:solidFill>
                <a:latin typeface="DejaVu Sans"/>
                <a:ea typeface="DejaVu Sans"/>
                <a:cs typeface="DejaVu Sans"/>
              </a:rPr>
              <a:t>Asociación</a:t>
            </a:r>
          </a:p>
        </p:txBody>
      </p:sp>
      <p:sp>
        <p:nvSpPr>
          <p:cNvPr id="5" name="texto">
            <a:extLst xmlns:a="http://schemas.openxmlformats.org/drawingml/2006/main">
              <a:ext uri="{FF2B5EF4-FFF2-40B4-BE49-F238E27FC236}">
                <a16:creationId xmlns:a16="http://schemas.microsoft.com/office/drawing/2014/main" id="{0E3A8BD0-8ABA-4788-8DD3-1BC061EB94E1}"/>
              </a:ext>
            </a:extLst>
          </p:cNvPr>
          <p:cNvSpPr>
            <a:spLocks xmlns:a="http://schemas.openxmlformats.org/drawingml/2006/main" noGrp="1"/>
          </p:cNvSpPr>
          <p:nvPr/>
        </p:nvSpPr>
        <p:spPr>
          <a:xfrm xmlns:a="http://schemas.openxmlformats.org/drawingml/2006/main">
            <a:off x="609600" y="2943225"/>
            <a:ext cx="3238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Personaje guarda su Nivel.</a:t>
            </a:r>
          </a:p>
        </p:txBody>
      </p:sp>
      <p:sp>
        <p:nvSpPr>
          <p:cNvPr id="6" name="fragmento-Asociación">
            <a:extLst xmlns:a="http://schemas.openxmlformats.org/drawingml/2006/main">
              <a:ext uri="{FF2B5EF4-FFF2-40B4-BE49-F238E27FC236}">
                <a16:creationId xmlns:a16="http://schemas.microsoft.com/office/drawing/2014/main" id="{7BC16F7A-3C0F-4E01-AA90-E34B116D2712}"/>
              </a:ext>
            </a:extLst>
          </p:cNvPr>
          <p:cNvSpPr>
            <a:spLocks xmlns:a="http://schemas.openxmlformats.org/drawingml/2006/main" noGrp="1"/>
          </p:cNvSpPr>
          <p:nvPr/>
        </p:nvSpPr>
        <p:spPr>
          <a:xfrm xmlns:a="http://schemas.openxmlformats.org/drawingml/2006/main">
            <a:off x="609600" y="4667250"/>
            <a:ext cx="3238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72F3C"/>
                </a:solidFill>
                <a:latin typeface="DejaVu Sans Mono"/>
                <a:ea typeface="DejaVu Sans Mono"/>
                <a:cs typeface="DejaVu Sans Mono"/>
              </a:defRPr>
            </a:defPPr>
          </a:lstStyle>
          <a:p xmlns:a="http://schemas.openxmlformats.org/drawingml/2006/main">
            <a:pPr>
              <a:defRPr sz="1800" b="0">
                <a:solidFill>
                  <a:srgbClr val="172F3C"/>
                </a:solidFill>
                <a:latin typeface="DejaVu Sans Mono"/>
                <a:ea typeface="DejaVu Sans Mono"/>
                <a:cs typeface="DejaVu Sans Mono"/>
              </a:defRPr>
            </a:pPr>
            <a:r>
              <a:rPr sz="1800" b="0">
                <a:solidFill>
                  <a:srgbClr val="172F3C"/>
                </a:solidFill>
                <a:latin typeface="DejaVu Sans Mono"/>
                <a:ea typeface="DejaVu Sans Mono"/>
                <a:cs typeface="DejaVu Sans Mono"/>
              </a:rPr>
              <a:t>self.nivel = nivel</a:t>
            </a:r>
          </a:p>
        </p:txBody>
      </p:sp>
      <p:sp>
        <p:nvSpPr>
          <p:cNvPr id="7" name="texto">
            <a:extLst xmlns:a="http://schemas.openxmlformats.org/drawingml/2006/main">
              <a:ext uri="{FF2B5EF4-FFF2-40B4-BE49-F238E27FC236}">
                <a16:creationId xmlns:a16="http://schemas.microsoft.com/office/drawing/2014/main" id="{225B5986-DB0E-4C41-AF86-C12ADA57B6C9}"/>
              </a:ext>
            </a:extLst>
          </p:cNvPr>
          <p:cNvSpPr>
            <a:spLocks xmlns:a="http://schemas.openxmlformats.org/drawingml/2006/main" noGrp="1"/>
          </p:cNvSpPr>
          <p:nvPr/>
        </p:nvSpPr>
        <p:spPr>
          <a:xfrm xmlns:a="http://schemas.openxmlformats.org/drawingml/2006/main">
            <a:off x="4505325" y="220027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1">
                <a:solidFill>
                  <a:srgbClr val="16735D"/>
                </a:solidFill>
                <a:latin typeface="DejaVu Sans"/>
                <a:ea typeface="DejaVu Sans"/>
                <a:cs typeface="DejaVu Sans"/>
              </a:defRPr>
            </a:defPPr>
          </a:lstStyle>
          <a:p xmlns:a="http://schemas.openxmlformats.org/drawingml/2006/main">
            <a:pPr>
              <a:defRPr sz="2100" b="1">
                <a:solidFill>
                  <a:srgbClr val="16735D"/>
                </a:solidFill>
                <a:latin typeface="DejaVu Sans"/>
                <a:ea typeface="DejaVu Sans"/>
                <a:cs typeface="DejaVu Sans"/>
              </a:defRPr>
            </a:pPr>
            <a:r>
              <a:rPr sz="2100" b="1">
                <a:solidFill>
                  <a:srgbClr val="16735D"/>
                </a:solidFill>
                <a:latin typeface="DejaVu Sans"/>
                <a:ea typeface="DejaVu Sans"/>
                <a:cs typeface="DejaVu Sans"/>
              </a:rPr>
              <a:t>Agregación</a:t>
            </a:r>
          </a:p>
        </p:txBody>
      </p:sp>
      <p:sp>
        <p:nvSpPr>
          <p:cNvPr id="8" name="texto">
            <a:extLst xmlns:a="http://schemas.openxmlformats.org/drawingml/2006/main">
              <a:ext uri="{FF2B5EF4-FFF2-40B4-BE49-F238E27FC236}">
                <a16:creationId xmlns:a16="http://schemas.microsoft.com/office/drawing/2014/main" id="{683F5065-0A8A-4B3A-B678-368E9088A137}"/>
              </a:ext>
            </a:extLst>
          </p:cNvPr>
          <p:cNvSpPr>
            <a:spLocks xmlns:a="http://schemas.openxmlformats.org/drawingml/2006/main" noGrp="1"/>
          </p:cNvSpPr>
          <p:nvPr/>
        </p:nvSpPr>
        <p:spPr>
          <a:xfrm xmlns:a="http://schemas.openxmlformats.org/drawingml/2006/main">
            <a:off x="4505325" y="2943225"/>
            <a:ext cx="3238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Nivel recibe el Puntaje</a:t>
            </a:r>
          </a:p>
          <a:p xmlns:a="http://schemas.openxmlformats.org/drawingml/2006/main">
            <a:pPr>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compartido de la campaña.</a:t>
            </a:r>
          </a:p>
        </p:txBody>
      </p:sp>
      <p:sp>
        <p:nvSpPr>
          <p:cNvPr id="9" name="fragmento-Agregación">
            <a:extLst xmlns:a="http://schemas.openxmlformats.org/drawingml/2006/main">
              <a:ext uri="{FF2B5EF4-FFF2-40B4-BE49-F238E27FC236}">
                <a16:creationId xmlns:a16="http://schemas.microsoft.com/office/drawing/2014/main" id="{7FBC1498-0884-465A-B87F-89C45974020E}"/>
              </a:ext>
            </a:extLst>
          </p:cNvPr>
          <p:cNvSpPr>
            <a:spLocks xmlns:a="http://schemas.openxmlformats.org/drawingml/2006/main" noGrp="1"/>
          </p:cNvSpPr>
          <p:nvPr/>
        </p:nvSpPr>
        <p:spPr>
          <a:xfrm xmlns:a="http://schemas.openxmlformats.org/drawingml/2006/main">
            <a:off x="4505325" y="4667250"/>
            <a:ext cx="3238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72F3C"/>
                </a:solidFill>
                <a:latin typeface="DejaVu Sans Mono"/>
                <a:ea typeface="DejaVu Sans Mono"/>
                <a:cs typeface="DejaVu Sans Mono"/>
              </a:defRPr>
            </a:defPPr>
          </a:lstStyle>
          <a:p xmlns:a="http://schemas.openxmlformats.org/drawingml/2006/main">
            <a:pPr>
              <a:defRPr sz="1800" b="0">
                <a:solidFill>
                  <a:srgbClr val="172F3C"/>
                </a:solidFill>
                <a:latin typeface="DejaVu Sans Mono"/>
                <a:ea typeface="DejaVu Sans Mono"/>
                <a:cs typeface="DejaVu Sans Mono"/>
              </a:defRPr>
            </a:pPr>
            <a:r>
              <a:rPr sz="1800" b="0">
                <a:solidFill>
                  <a:srgbClr val="172F3C"/>
                </a:solidFill>
                <a:latin typeface="DejaVu Sans Mono"/>
                <a:ea typeface="DejaVu Sans Mono"/>
                <a:cs typeface="DejaVu Sans Mono"/>
              </a:rPr>
              <a:t>self.puntaje = puntaje</a:t>
            </a:r>
          </a:p>
        </p:txBody>
      </p:sp>
      <p:sp>
        <p:nvSpPr>
          <p:cNvPr id="10" name="texto">
            <a:extLst xmlns:a="http://schemas.openxmlformats.org/drawingml/2006/main">
              <a:ext uri="{FF2B5EF4-FFF2-40B4-BE49-F238E27FC236}">
                <a16:creationId xmlns:a16="http://schemas.microsoft.com/office/drawing/2014/main" id="{67760C8F-AE4E-4AA8-B3A7-AEE7CFB684EE}"/>
              </a:ext>
            </a:extLst>
          </p:cNvPr>
          <p:cNvSpPr>
            <a:spLocks xmlns:a="http://schemas.openxmlformats.org/drawingml/2006/main" noGrp="1"/>
          </p:cNvSpPr>
          <p:nvPr/>
        </p:nvSpPr>
        <p:spPr>
          <a:xfrm xmlns:a="http://schemas.openxmlformats.org/drawingml/2006/main">
            <a:off x="8401050" y="220027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1">
                <a:solidFill>
                  <a:srgbClr val="16735D"/>
                </a:solidFill>
                <a:latin typeface="DejaVu Sans"/>
                <a:ea typeface="DejaVu Sans"/>
                <a:cs typeface="DejaVu Sans"/>
              </a:defRPr>
            </a:defPPr>
          </a:lstStyle>
          <a:p xmlns:a="http://schemas.openxmlformats.org/drawingml/2006/main">
            <a:pPr>
              <a:defRPr sz="2100" b="1">
                <a:solidFill>
                  <a:srgbClr val="16735D"/>
                </a:solidFill>
                <a:latin typeface="DejaVu Sans"/>
                <a:ea typeface="DejaVu Sans"/>
                <a:cs typeface="DejaVu Sans"/>
              </a:defRPr>
            </a:pPr>
            <a:r>
              <a:rPr sz="2100" b="1">
                <a:solidFill>
                  <a:srgbClr val="16735D"/>
                </a:solidFill>
                <a:latin typeface="DejaVu Sans"/>
                <a:ea typeface="DejaVu Sans"/>
                <a:cs typeface="DejaVu Sans"/>
              </a:rPr>
              <a:t>Composición</a:t>
            </a:r>
          </a:p>
        </p:txBody>
      </p:sp>
      <p:sp>
        <p:nvSpPr>
          <p:cNvPr id="11" name="texto">
            <a:extLst xmlns:a="http://schemas.openxmlformats.org/drawingml/2006/main">
              <a:ext uri="{FF2B5EF4-FFF2-40B4-BE49-F238E27FC236}">
                <a16:creationId xmlns:a16="http://schemas.microsoft.com/office/drawing/2014/main" id="{737A4F6F-A38D-4FFC-B413-A3746F8DDFC0}"/>
              </a:ext>
            </a:extLst>
          </p:cNvPr>
          <p:cNvSpPr>
            <a:spLocks xmlns:a="http://schemas.openxmlformats.org/drawingml/2006/main" noGrp="1"/>
          </p:cNvSpPr>
          <p:nvPr/>
        </p:nvSpPr>
        <p:spPr>
          <a:xfrm xmlns:a="http://schemas.openxmlformats.org/drawingml/2006/main">
            <a:off x="8401050" y="2943225"/>
            <a:ext cx="3238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Nivel crea su propio Mapa.</a:t>
            </a:r>
          </a:p>
        </p:txBody>
      </p:sp>
      <p:sp>
        <p:nvSpPr>
          <p:cNvPr id="12" name="fragmento-Composición">
            <a:extLst xmlns:a="http://schemas.openxmlformats.org/drawingml/2006/main">
              <a:ext uri="{FF2B5EF4-FFF2-40B4-BE49-F238E27FC236}">
                <a16:creationId xmlns:a16="http://schemas.microsoft.com/office/drawing/2014/main" id="{606684E8-E4BD-4687-AD10-EC4CFCFF9AD3}"/>
              </a:ext>
            </a:extLst>
          </p:cNvPr>
          <p:cNvSpPr>
            <a:spLocks xmlns:a="http://schemas.openxmlformats.org/drawingml/2006/main" noGrp="1"/>
          </p:cNvSpPr>
          <p:nvPr/>
        </p:nvSpPr>
        <p:spPr>
          <a:xfrm xmlns:a="http://schemas.openxmlformats.org/drawingml/2006/main">
            <a:off x="8401050" y="4667250"/>
            <a:ext cx="3238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72F3C"/>
                </a:solidFill>
                <a:latin typeface="DejaVu Sans Mono"/>
                <a:ea typeface="DejaVu Sans Mono"/>
                <a:cs typeface="DejaVu Sans Mono"/>
              </a:defRPr>
            </a:defPPr>
          </a:lstStyle>
          <a:p xmlns:a="http://schemas.openxmlformats.org/drawingml/2006/main">
            <a:pPr>
              <a:defRPr sz="1800" b="0">
                <a:solidFill>
                  <a:srgbClr val="172F3C"/>
                </a:solidFill>
                <a:latin typeface="DejaVu Sans Mono"/>
                <a:ea typeface="DejaVu Sans Mono"/>
                <a:cs typeface="DejaVu Sans Mono"/>
              </a:defRPr>
            </a:pPr>
            <a:r>
              <a:rPr sz="1800" b="0">
                <a:solidFill>
                  <a:srgbClr val="172F3C"/>
                </a:solidFill>
                <a:latin typeface="DejaVu Sans Mono"/>
                <a:ea typeface="DejaVu Sans Mono"/>
                <a:cs typeface="DejaVu Sans Mono"/>
              </a:rPr>
              <a:t>self.mapa = Mapa(</a:t>
            </a:r>
          </a:p>
          <a:p xmlns:a="http://schemas.openxmlformats.org/drawingml/2006/main">
            <a:pPr>
              <a:defRPr sz="1800" b="0">
                <a:solidFill>
                  <a:srgbClr val="172F3C"/>
                </a:solidFill>
                <a:latin typeface="DejaVu Sans Mono"/>
                <a:ea typeface="DejaVu Sans Mono"/>
                <a:cs typeface="DejaVu Sans Mono"/>
              </a:defRPr>
            </a:pPr>
            <a:r>
              <a:rPr sz="1800" b="0">
                <a:solidFill>
                  <a:srgbClr val="172F3C"/>
                </a:solidFill>
                <a:latin typeface="DejaVu Sans Mono"/>
                <a:ea typeface="DejaVu Sans Mono"/>
                <a:cs typeface="DejaVu Sans Mono"/>
              </a:rPr>
              <a:t>    PLANOS[indice])</a:t>
            </a:r>
          </a:p>
        </p:txBody>
      </p:sp>
    </p:spTree>
    <p:extLst>
      <p:ext uri="{BB962C8B-B14F-4D97-AF65-F5344CB8AC3E}">
        <p14:creationId xmlns:p14="http://schemas.microsoft.com/office/powerpoint/2010/main" val="185244295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partado-rubrica">
            <a:extLst xmlns:a="http://schemas.openxmlformats.org/drawingml/2006/main">
              <a:ext uri="{FF2B5EF4-FFF2-40B4-BE49-F238E27FC236}">
                <a16:creationId xmlns:a16="http://schemas.microsoft.com/office/drawing/2014/main" id="{9ED391B0-418B-4E3C-84BE-1D55910BCDA1}"/>
              </a:ext>
            </a:extLst>
          </p:cNvPr>
          <p:cNvSpPr>
            <a:spLocks xmlns:a="http://schemas.openxmlformats.org/drawingml/2006/main" noGrp="1"/>
          </p:cNvSpPr>
          <p:nvPr/>
        </p:nvSpPr>
        <p:spPr>
          <a:xfrm xmlns:a="http://schemas.openxmlformats.org/drawingml/2006/main">
            <a:off x="609600" y="28575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4 de 7. Criterio II: fundamentos POO, 6 puntos</a:t>
            </a:r>
          </a:p>
        </p:txBody>
      </p:sp>
      <p:sp>
        <p:nvSpPr>
          <p:cNvPr id="2" name="titulo">
            <a:extLst xmlns:a="http://schemas.openxmlformats.org/drawingml/2006/main">
              <a:ext uri="{FF2B5EF4-FFF2-40B4-BE49-F238E27FC236}">
                <a16:creationId xmlns:a16="http://schemas.microsoft.com/office/drawing/2014/main" id="{790F612F-932E-4BFE-8B9A-94264794BAC2}"/>
              </a:ext>
            </a:extLst>
          </p:cNvPr>
          <p:cNvSpPr>
            <a:spLocks xmlns:a="http://schemas.openxmlformats.org/drawingml/2006/main" noGrp="1"/>
          </p:cNvSpPr>
          <p:nvPr/>
        </p:nvSpPr>
        <p:spPr>
          <a:xfrm xmlns:a="http://schemas.openxmlformats.org/drawingml/2006/main">
            <a:off x="609600" y="790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150" b="1">
                <a:solidFill>
                  <a:srgbClr val="172F3C"/>
                </a:solidFill>
                <a:latin typeface="DejaVu Sans"/>
                <a:ea typeface="DejaVu Sans"/>
                <a:cs typeface="DejaVu Sans"/>
              </a:defRPr>
            </a:defPPr>
          </a:lstStyle>
          <a:p xmlns:a="http://schemas.openxmlformats.org/drawingml/2006/main">
            <a:pPr>
              <a:defRPr sz="3150" b="1">
                <a:solidFill>
                  <a:srgbClr val="172F3C"/>
                </a:solidFill>
                <a:latin typeface="DejaVu Sans"/>
                <a:ea typeface="DejaVu Sans"/>
                <a:cs typeface="DejaVu Sans"/>
              </a:defRPr>
            </a:pPr>
            <a:r>
              <a:rPr sz="3150" b="1">
                <a:solidFill>
                  <a:srgbClr val="172F3C"/>
                </a:solidFill>
                <a:latin typeface="DejaVu Sans"/>
                <a:ea typeface="DejaVu Sans"/>
                <a:cs typeface="DejaVu Sans"/>
              </a:rPr>
              <a:t>IV. Fundamentos de POO, continuación</a:t>
            </a:r>
          </a:p>
        </p:txBody>
      </p:sp>
      <p:sp>
        <p:nvSpPr>
          <p:cNvPr id="3" name="numero">
            <a:extLst xmlns:a="http://schemas.openxmlformats.org/drawingml/2006/main">
              <a:ext uri="{FF2B5EF4-FFF2-40B4-BE49-F238E27FC236}">
                <a16:creationId xmlns:a16="http://schemas.microsoft.com/office/drawing/2014/main" id="{37317646-9CEA-4A51-AAD2-70F42F55CB16}"/>
              </a:ext>
            </a:extLst>
          </p:cNvPr>
          <p:cNvSpPr>
            <a:spLocks xmlns:a="http://schemas.openxmlformats.org/drawingml/2006/main" noGrp="1"/>
          </p:cNvSpPr>
          <p:nvPr/>
        </p:nvSpPr>
        <p:spPr>
          <a:xfrm xmlns:a="http://schemas.openxmlformats.org/drawingml/2006/main">
            <a:off x="11210925" y="64770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526773"/>
                </a:solidFill>
                <a:latin typeface="DejaVu Sans"/>
                <a:ea typeface="DejaVu Sans"/>
                <a:cs typeface="DejaVu Sans"/>
              </a:defRPr>
            </a:defPPr>
          </a:lstStyle>
          <a:p xmlns:a="http://schemas.openxmlformats.org/drawingml/2006/main">
            <a:pPr>
              <a:defRPr sz="1050" b="0">
                <a:solidFill>
                  <a:srgbClr val="526773"/>
                </a:solidFill>
                <a:latin typeface="DejaVu Sans"/>
                <a:ea typeface="DejaVu Sans"/>
                <a:cs typeface="DejaVu Sans"/>
              </a:defRPr>
            </a:pPr>
            <a:r>
              <a:rPr sz="1050" b="0">
                <a:solidFill>
                  <a:srgbClr val="526773"/>
                </a:solidFill>
                <a:latin typeface="DejaVu Sans"/>
                <a:ea typeface="DejaVu Sans"/>
                <a:cs typeface="DejaVu Sans"/>
              </a:rPr>
              <a:t>06</a:t>
            </a:r>
          </a:p>
        </p:txBody>
      </p:sp>
      <p:sp>
        <p:nvSpPr>
          <p:cNvPr id="4" name="texto">
            <a:extLst xmlns:a="http://schemas.openxmlformats.org/drawingml/2006/main">
              <a:ext uri="{FF2B5EF4-FFF2-40B4-BE49-F238E27FC236}">
                <a16:creationId xmlns:a16="http://schemas.microsoft.com/office/drawing/2014/main" id="{DE593C13-73B8-4A6A-BCEC-6B03E480C813}"/>
              </a:ext>
            </a:extLst>
          </p:cNvPr>
          <p:cNvSpPr>
            <a:spLocks xmlns:a="http://schemas.openxmlformats.org/drawingml/2006/main" noGrp="1"/>
          </p:cNvSpPr>
          <p:nvPr/>
        </p:nvSpPr>
        <p:spPr>
          <a:xfrm xmlns:a="http://schemas.openxmlformats.org/drawingml/2006/main">
            <a:off x="609600" y="19526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16735D"/>
                </a:solidFill>
                <a:latin typeface="DejaVu Sans"/>
                <a:ea typeface="DejaVu Sans"/>
                <a:cs typeface="DejaVu Sans"/>
              </a:defRPr>
            </a:defPPr>
          </a:lstStyle>
          <a:p xmlns:a="http://schemas.openxmlformats.org/drawingml/2006/main">
            <a:pPr>
              <a:defRPr sz="1950" b="1">
                <a:solidFill>
                  <a:srgbClr val="16735D"/>
                </a:solidFill>
                <a:latin typeface="DejaVu Sans"/>
                <a:ea typeface="DejaVu Sans"/>
                <a:cs typeface="DejaVu Sans"/>
              </a:defRPr>
            </a:pPr>
            <a:r>
              <a:rPr sz="1950" b="1">
                <a:solidFill>
                  <a:srgbClr val="16735D"/>
                </a:solidFill>
                <a:latin typeface="DejaVu Sans"/>
                <a:ea typeface="DejaVu Sans"/>
                <a:cs typeface="DejaVu Sans"/>
              </a:rPr>
              <a:t>Herencia y abstracción</a:t>
            </a:r>
          </a:p>
        </p:txBody>
      </p:sp>
      <p:sp>
        <p:nvSpPr>
          <p:cNvPr id="5" name="texto">
            <a:extLst xmlns:a="http://schemas.openxmlformats.org/drawingml/2006/main">
              <a:ext uri="{FF2B5EF4-FFF2-40B4-BE49-F238E27FC236}">
                <a16:creationId xmlns:a16="http://schemas.microsoft.com/office/drawing/2014/main" id="{C8C2B3B7-B3A7-4816-A1AD-687142078A0D}"/>
              </a:ext>
            </a:extLst>
          </p:cNvPr>
          <p:cNvSpPr>
            <a:spLocks xmlns:a="http://schemas.openxmlformats.org/drawingml/2006/main" noGrp="1"/>
          </p:cNvSpPr>
          <p:nvPr/>
        </p:nvSpPr>
        <p:spPr>
          <a:xfrm xmlns:a="http://schemas.openxmlformats.org/drawingml/2006/main">
            <a:off x="609600" y="24669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172F3C"/>
                </a:solidFill>
                <a:latin typeface="DejaVu Sans"/>
                <a:ea typeface="DejaVu Sans"/>
                <a:cs typeface="DejaVu Sans"/>
              </a:defRPr>
            </a:defPPr>
          </a:lstStyle>
          <a:p xmlns:a="http://schemas.openxmlformats.org/drawingml/2006/main">
            <a:pPr>
              <a:defRPr sz="1875" b="0">
                <a:solidFill>
                  <a:srgbClr val="172F3C"/>
                </a:solidFill>
                <a:latin typeface="DejaVu Sans"/>
                <a:ea typeface="DejaVu Sans"/>
                <a:cs typeface="DejaVu Sans"/>
              </a:defRPr>
            </a:pPr>
            <a:r>
              <a:rPr sz="1875" b="0">
                <a:solidFill>
                  <a:srgbClr val="172F3C"/>
                </a:solidFill>
                <a:latin typeface="DejaVu Sans"/>
                <a:ea typeface="DejaVu Sans"/>
                <a:cs typeface="DejaVu Sans"/>
              </a:rPr>
              <a:t>Prisionero y Guardia heredan de la clase abstracta Personaje.</a:t>
            </a:r>
          </a:p>
        </p:txBody>
      </p:sp>
      <p:sp>
        <p:nvSpPr>
          <p:cNvPr id="6" name="texto">
            <a:extLst xmlns:a="http://schemas.openxmlformats.org/drawingml/2006/main">
              <a:ext uri="{FF2B5EF4-FFF2-40B4-BE49-F238E27FC236}">
                <a16:creationId xmlns:a16="http://schemas.microsoft.com/office/drawing/2014/main" id="{AA96F310-7C56-410C-AE99-6D0B64D0D564}"/>
              </a:ext>
            </a:extLst>
          </p:cNvPr>
          <p:cNvSpPr>
            <a:spLocks xmlns:a="http://schemas.openxmlformats.org/drawingml/2006/main" noGrp="1"/>
          </p:cNvSpPr>
          <p:nvPr/>
        </p:nvSpPr>
        <p:spPr>
          <a:xfrm xmlns:a="http://schemas.openxmlformats.org/drawingml/2006/main">
            <a:off x="609600" y="3333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16735D"/>
                </a:solidFill>
                <a:latin typeface="DejaVu Sans"/>
                <a:ea typeface="DejaVu Sans"/>
                <a:cs typeface="DejaVu Sans"/>
              </a:defRPr>
            </a:defPPr>
          </a:lstStyle>
          <a:p xmlns:a="http://schemas.openxmlformats.org/drawingml/2006/main">
            <a:pPr>
              <a:defRPr sz="1950" b="1">
                <a:solidFill>
                  <a:srgbClr val="16735D"/>
                </a:solidFill>
                <a:latin typeface="DejaVu Sans"/>
                <a:ea typeface="DejaVu Sans"/>
                <a:cs typeface="DejaVu Sans"/>
              </a:defRPr>
            </a:pPr>
            <a:r>
              <a:rPr sz="1950" b="1">
                <a:solidFill>
                  <a:srgbClr val="16735D"/>
                </a:solidFill>
                <a:latin typeface="DejaVu Sans"/>
                <a:ea typeface="DejaVu Sans"/>
                <a:cs typeface="DejaVu Sans"/>
              </a:rPr>
              <a:t>Polimorfismo</a:t>
            </a:r>
          </a:p>
        </p:txBody>
      </p:sp>
      <p:sp>
        <p:nvSpPr>
          <p:cNvPr id="7" name="bucle-polimorfico">
            <a:extLst xmlns:a="http://schemas.openxmlformats.org/drawingml/2006/main">
              <a:ext uri="{FF2B5EF4-FFF2-40B4-BE49-F238E27FC236}">
                <a16:creationId xmlns:a16="http://schemas.microsoft.com/office/drawing/2014/main" id="{F2BC45C1-77A8-449D-BFB9-22A8D03AAED4}"/>
              </a:ext>
            </a:extLst>
          </p:cNvPr>
          <p:cNvSpPr>
            <a:spLocks xmlns:a="http://schemas.openxmlformats.org/drawingml/2006/main" noGrp="1"/>
          </p:cNvSpPr>
          <p:nvPr/>
        </p:nvSpPr>
        <p:spPr>
          <a:xfrm xmlns:a="http://schemas.openxmlformats.org/drawingml/2006/main">
            <a:off x="609600" y="3895725"/>
            <a:ext cx="10572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172F3C"/>
                </a:solidFill>
                <a:latin typeface="DejaVu Sans Mono"/>
                <a:ea typeface="DejaVu Sans Mono"/>
                <a:cs typeface="DejaVu Sans Mono"/>
              </a:defRPr>
            </a:defPPr>
          </a:lstStyle>
          <a:p xmlns:a="http://schemas.openxmlformats.org/drawingml/2006/main">
            <a:pPr>
              <a:defRPr sz="1725" b="0">
                <a:solidFill>
                  <a:srgbClr val="172F3C"/>
                </a:solidFill>
                <a:latin typeface="DejaVu Sans Mono"/>
                <a:ea typeface="DejaVu Sans Mono"/>
                <a:cs typeface="DejaVu Sans Mono"/>
              </a:defRPr>
            </a:pPr>
            <a:r>
              <a:rPr sz="1725" b="0">
                <a:solidFill>
                  <a:srgbClr val="172F3C"/>
                </a:solidFill>
                <a:latin typeface="DejaVu Sans Mono"/>
                <a:ea typeface="DejaVu Sans Mono"/>
                <a:cs typeface="DejaVu Sans Mono"/>
              </a:rPr>
              <a:t>for personaje in self.personajes:</a:t>
            </a:r>
          </a:p>
          <a:p xmlns:a="http://schemas.openxmlformats.org/drawingml/2006/main">
            <a:pPr>
              <a:defRPr sz="1725" b="0">
                <a:solidFill>
                  <a:srgbClr val="172F3C"/>
                </a:solidFill>
                <a:latin typeface="DejaVu Sans Mono"/>
                <a:ea typeface="DejaVu Sans Mono"/>
                <a:cs typeface="DejaVu Sans Mono"/>
              </a:defRPr>
            </a:pPr>
            <a:r>
              <a:rPr sz="1725" b="0">
                <a:solidFill>
                  <a:srgbClr val="172F3C"/>
                </a:solidFill>
                <a:latin typeface="DejaVu Sans Mono"/>
                <a:ea typeface="DejaVu Sans Mono"/>
                <a:cs typeface="DejaVu Sans Mono"/>
              </a:rPr>
              <a:t>    personaje.update()</a:t>
            </a:r>
          </a:p>
        </p:txBody>
      </p:sp>
      <p:sp>
        <p:nvSpPr>
          <p:cNvPr id="8" name="texto">
            <a:extLst xmlns:a="http://schemas.openxmlformats.org/drawingml/2006/main">
              <a:ext uri="{FF2B5EF4-FFF2-40B4-BE49-F238E27FC236}">
                <a16:creationId xmlns:a16="http://schemas.microsoft.com/office/drawing/2014/main" id="{6B33A105-1913-45EC-B249-D5F552B00877}"/>
              </a:ext>
            </a:extLst>
          </p:cNvPr>
          <p:cNvSpPr>
            <a:spLocks xmlns:a="http://schemas.openxmlformats.org/drawingml/2006/main" noGrp="1"/>
          </p:cNvSpPr>
          <p:nvPr/>
        </p:nvSpPr>
        <p:spPr>
          <a:xfrm xmlns:a="http://schemas.openxmlformats.org/drawingml/2006/main">
            <a:off x="609600" y="50006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16735D"/>
                </a:solidFill>
                <a:latin typeface="DejaVu Sans"/>
                <a:ea typeface="DejaVu Sans"/>
                <a:cs typeface="DejaVu Sans"/>
              </a:defRPr>
            </a:defPPr>
          </a:lstStyle>
          <a:p xmlns:a="http://schemas.openxmlformats.org/drawingml/2006/main">
            <a:pPr>
              <a:defRPr sz="1950" b="1">
                <a:solidFill>
                  <a:srgbClr val="16735D"/>
                </a:solidFill>
                <a:latin typeface="DejaVu Sans"/>
                <a:ea typeface="DejaVu Sans"/>
                <a:cs typeface="DejaVu Sans"/>
              </a:defRPr>
            </a:pPr>
            <a:r>
              <a:rPr sz="1950" b="1">
                <a:solidFill>
                  <a:srgbClr val="16735D"/>
                </a:solidFill>
                <a:latin typeface="DejaVu Sans"/>
                <a:ea typeface="DejaVu Sans"/>
                <a:cs typeface="DejaVu Sans"/>
              </a:rPr>
              <a:t>Encapsulamiento</a:t>
            </a:r>
          </a:p>
        </p:txBody>
      </p:sp>
      <p:sp>
        <p:nvSpPr>
          <p:cNvPr id="9" name="texto">
            <a:extLst xmlns:a="http://schemas.openxmlformats.org/drawingml/2006/main">
              <a:ext uri="{FF2B5EF4-FFF2-40B4-BE49-F238E27FC236}">
                <a16:creationId xmlns:a16="http://schemas.microsoft.com/office/drawing/2014/main" id="{9BA8052A-42AA-48AB-A892-1FAD7FAB5180}"/>
              </a:ext>
            </a:extLst>
          </p:cNvPr>
          <p:cNvSpPr>
            <a:spLocks xmlns:a="http://schemas.openxmlformats.org/drawingml/2006/main" noGrp="1"/>
          </p:cNvSpPr>
          <p:nvPr/>
        </p:nvSpPr>
        <p:spPr>
          <a:xfrm xmlns:a="http://schemas.openxmlformats.org/drawingml/2006/main">
            <a:off x="609600" y="55435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Puntaje._valor se consulta con get_valor().</a:t>
            </a:r>
          </a:p>
          <a:p xmlns:a="http://schemas.openxmlformats.org/drawingml/2006/main">
            <a:pPr>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set_valor() valida el dato y notifica el cambio.</a:t>
            </a:r>
          </a:p>
        </p:txBody>
      </p:sp>
    </p:spTree>
    <p:extLst>
      <p:ext uri="{BB962C8B-B14F-4D97-AF65-F5344CB8AC3E}">
        <p14:creationId xmlns:p14="http://schemas.microsoft.com/office/powerpoint/2010/main" val="121864363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partado-rubrica">
            <a:extLst xmlns:a="http://schemas.openxmlformats.org/drawingml/2006/main">
              <a:ext uri="{FF2B5EF4-FFF2-40B4-BE49-F238E27FC236}">
                <a16:creationId xmlns:a16="http://schemas.microsoft.com/office/drawing/2014/main" id="{D74FF4DC-9D08-4088-A1A3-A8A364EA5804}"/>
              </a:ext>
            </a:extLst>
          </p:cNvPr>
          <p:cNvSpPr>
            <a:spLocks xmlns:a="http://schemas.openxmlformats.org/drawingml/2006/main" noGrp="1"/>
          </p:cNvSpPr>
          <p:nvPr/>
        </p:nvSpPr>
        <p:spPr>
          <a:xfrm xmlns:a="http://schemas.openxmlformats.org/drawingml/2006/main">
            <a:off x="609600" y="28575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5 de 7. Criterio III: resultados parciales, 3 puntos</a:t>
            </a:r>
          </a:p>
        </p:txBody>
      </p:sp>
      <p:sp>
        <p:nvSpPr>
          <p:cNvPr id="2" name="titulo">
            <a:extLst xmlns:a="http://schemas.openxmlformats.org/drawingml/2006/main">
              <a:ext uri="{FF2B5EF4-FFF2-40B4-BE49-F238E27FC236}">
                <a16:creationId xmlns:a16="http://schemas.microsoft.com/office/drawing/2014/main" id="{832B6B99-9116-42F0-93C3-0B91CE5A56D2}"/>
              </a:ext>
            </a:extLst>
          </p:cNvPr>
          <p:cNvSpPr>
            <a:spLocks xmlns:a="http://schemas.openxmlformats.org/drawingml/2006/main" noGrp="1"/>
          </p:cNvSpPr>
          <p:nvPr/>
        </p:nvSpPr>
        <p:spPr>
          <a:xfrm xmlns:a="http://schemas.openxmlformats.org/drawingml/2006/main">
            <a:off x="609600" y="790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150" b="1">
                <a:solidFill>
                  <a:srgbClr val="172F3C"/>
                </a:solidFill>
                <a:latin typeface="DejaVu Sans"/>
                <a:ea typeface="DejaVu Sans"/>
                <a:cs typeface="DejaVu Sans"/>
              </a:defRPr>
            </a:defPPr>
          </a:lstStyle>
          <a:p xmlns:a="http://schemas.openxmlformats.org/drawingml/2006/main">
            <a:pPr>
              <a:defRPr sz="3150" b="1">
                <a:solidFill>
                  <a:srgbClr val="172F3C"/>
                </a:solidFill>
                <a:latin typeface="DejaVu Sans"/>
                <a:ea typeface="DejaVu Sans"/>
                <a:cs typeface="DejaVu Sans"/>
              </a:defRPr>
            </a:pPr>
            <a:r>
              <a:rPr sz="3150" b="1">
                <a:solidFill>
                  <a:srgbClr val="172F3C"/>
                </a:solidFill>
                <a:latin typeface="DejaVu Sans"/>
                <a:ea typeface="DejaVu Sans"/>
                <a:cs typeface="DejaVu Sans"/>
              </a:rPr>
              <a:t>VI. Resultados parciales</a:t>
            </a:r>
          </a:p>
        </p:txBody>
      </p:sp>
      <p:sp>
        <p:nvSpPr>
          <p:cNvPr id="3" name="numero">
            <a:extLst xmlns:a="http://schemas.openxmlformats.org/drawingml/2006/main">
              <a:ext uri="{FF2B5EF4-FFF2-40B4-BE49-F238E27FC236}">
                <a16:creationId xmlns:a16="http://schemas.microsoft.com/office/drawing/2014/main" id="{9F5D2316-64D3-4118-A218-78696C8226A1}"/>
              </a:ext>
            </a:extLst>
          </p:cNvPr>
          <p:cNvSpPr>
            <a:spLocks xmlns:a="http://schemas.openxmlformats.org/drawingml/2006/main" noGrp="1"/>
          </p:cNvSpPr>
          <p:nvPr/>
        </p:nvSpPr>
        <p:spPr>
          <a:xfrm xmlns:a="http://schemas.openxmlformats.org/drawingml/2006/main">
            <a:off x="11210925" y="64770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526773"/>
                </a:solidFill>
                <a:latin typeface="DejaVu Sans"/>
                <a:ea typeface="DejaVu Sans"/>
                <a:cs typeface="DejaVu Sans"/>
              </a:defRPr>
            </a:defPPr>
          </a:lstStyle>
          <a:p xmlns:a="http://schemas.openxmlformats.org/drawingml/2006/main">
            <a:pPr>
              <a:defRPr sz="1050" b="0">
                <a:solidFill>
                  <a:srgbClr val="526773"/>
                </a:solidFill>
                <a:latin typeface="DejaVu Sans"/>
                <a:ea typeface="DejaVu Sans"/>
                <a:cs typeface="DejaVu Sans"/>
              </a:defRPr>
            </a:pPr>
            <a:r>
              <a:rPr sz="1050" b="0">
                <a:solidFill>
                  <a:srgbClr val="526773"/>
                </a:solidFill>
                <a:latin typeface="DejaVu Sans"/>
                <a:ea typeface="DejaVu Sans"/>
                <a:cs typeface="DejaVu Sans"/>
              </a:rPr>
              <a:t>07</a:t>
            </a:r>
          </a:p>
        </p:txBody>
      </p:sp>
      <p:pic>
        <p:nvPicPr>
          <p:cNvPr id="4" name="">
            <a:extLst xmlns:a="http://schemas.openxmlformats.org/drawingml/2006/main">
              <a:ext uri="{FF2B5EF4-FFF2-40B4-BE49-F238E27FC236}">
                <a16:creationId xmlns:a16="http://schemas.microsoft.com/office/drawing/2014/main" id="{1DC6066D-1380-46A9-B740-68A4E0B9D834}"/>
              </a:ext>
            </a:extLst>
          </p:cNvPr>
          <p:cNvPicPr>
            <a:picLocks xmlns:a="http://schemas.openxmlformats.org/drawingml/2006/main" noChangeAspect="1"/>
          </p:cNvPicPr>
          <p:nvPr/>
        </p:nvPicPr>
        <p:blipFill>
          <a:blip xmlns:r="http://schemas.openxmlformats.org/officeDocument/2006/relationships" xmlns:a="http://schemas.openxmlformats.org/drawingml/2006/main" r:embed="Ra42be96b5f8f44fb"/>
          <a:srcRect xmlns:a="http://schemas.openxmlformats.org/drawingml/2006/main" l="0" t="0" r="0" b="0"/>
          <a:stretch xmlns:a="http://schemas.openxmlformats.org/drawingml/2006/main">
            <a:fillRect l="0" t="0" r="0" b="0"/>
          </a:stretch>
        </p:blipFill>
        <p:spPr>
          <a:xfrm xmlns:a="http://schemas.openxmlformats.org/drawingml/2006/main">
            <a:off x="612107" y="2038350"/>
            <a:ext cx="5852862" cy="4448175"/>
          </a:xfrm>
          <a:prstGeom xmlns:a="http://schemas.openxmlformats.org/drawingml/2006/main" prst="rect">
            <a:avLst/>
          </a:prstGeom>
        </p:spPr>
      </p:pic>
      <p:sp>
        <p:nvSpPr>
          <p:cNvPr id="5" name="texto">
            <a:extLst xmlns:a="http://schemas.openxmlformats.org/drawingml/2006/main">
              <a:ext uri="{FF2B5EF4-FFF2-40B4-BE49-F238E27FC236}">
                <a16:creationId xmlns:a16="http://schemas.microsoft.com/office/drawing/2014/main" id="{191EE7C5-F5ED-41F6-AE3C-00CE2FD0E1A7}"/>
              </a:ext>
            </a:extLst>
          </p:cNvPr>
          <p:cNvSpPr>
            <a:spLocks xmlns:a="http://schemas.openxmlformats.org/drawingml/2006/main" noGrp="1"/>
          </p:cNvSpPr>
          <p:nvPr/>
        </p:nvSpPr>
        <p:spPr>
          <a:xfrm xmlns:a="http://schemas.openxmlformats.org/drawingml/2006/main">
            <a:off x="6991350" y="2057400"/>
            <a:ext cx="4524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16735D"/>
                </a:solidFill>
                <a:latin typeface="DejaVu Sans"/>
                <a:ea typeface="DejaVu Sans"/>
                <a:cs typeface="DejaVu Sans"/>
              </a:defRPr>
            </a:defPPr>
          </a:lstStyle>
          <a:p xmlns:a="http://schemas.openxmlformats.org/drawingml/2006/main">
            <a:pPr>
              <a:defRPr sz="1950" b="1">
                <a:solidFill>
                  <a:srgbClr val="16735D"/>
                </a:solidFill>
                <a:latin typeface="DejaVu Sans"/>
                <a:ea typeface="DejaVu Sans"/>
                <a:cs typeface="DejaVu Sans"/>
              </a:defRPr>
            </a:pPr>
            <a:r>
              <a:rPr sz="1950" b="1">
                <a:solidFill>
                  <a:srgbClr val="16735D"/>
                </a:solidFill>
                <a:latin typeface="DejaVu Sans"/>
                <a:ea typeface="DejaVu Sans"/>
                <a:cs typeface="DejaVu Sans"/>
              </a:rPr>
              <a:t>Interfaces y funcionalidades</a:t>
            </a:r>
          </a:p>
        </p:txBody>
      </p:sp>
      <p:sp>
        <p:nvSpPr>
          <p:cNvPr id="6" name="texto">
            <a:extLst xmlns:a="http://schemas.openxmlformats.org/drawingml/2006/main">
              <a:ext uri="{FF2B5EF4-FFF2-40B4-BE49-F238E27FC236}">
                <a16:creationId xmlns:a16="http://schemas.microsoft.com/office/drawing/2014/main" id="{BFCE25EB-C35A-4970-B32B-70C1CF0F371A}"/>
              </a:ext>
            </a:extLst>
          </p:cNvPr>
          <p:cNvSpPr>
            <a:spLocks xmlns:a="http://schemas.openxmlformats.org/drawingml/2006/main" noGrp="1"/>
          </p:cNvSpPr>
          <p:nvPr/>
        </p:nvSpPr>
        <p:spPr>
          <a:xfrm xmlns:a="http://schemas.openxmlformats.org/drawingml/2006/main">
            <a:off x="6991350" y="2638425"/>
            <a:ext cx="45243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Apertura de celda, vigilancia,</a:t>
            </a:r>
          </a:p>
          <a:p xmlns:a="http://schemas.openxmlformats.org/drawingml/2006/main">
            <a:pPr>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llaves y salida.</a:t>
            </a:r>
          </a:p>
          <a:p xmlns:a="http://schemas.openxmlformats.org/drawingml/2006/main">
            <a:pPr>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Campaña de cuatro niveles.</a:t>
            </a:r>
          </a:p>
        </p:txBody>
      </p:sp>
      <p:sp>
        <p:nvSpPr>
          <p:cNvPr id="7" name="texto">
            <a:extLst xmlns:a="http://schemas.openxmlformats.org/drawingml/2006/main">
              <a:ext uri="{FF2B5EF4-FFF2-40B4-BE49-F238E27FC236}">
                <a16:creationId xmlns:a16="http://schemas.microsoft.com/office/drawing/2014/main" id="{8A09FAE8-F101-4FF7-8616-B564B51A4542}"/>
              </a:ext>
            </a:extLst>
          </p:cNvPr>
          <p:cNvSpPr>
            <a:spLocks xmlns:a="http://schemas.openxmlformats.org/drawingml/2006/main" noGrp="1"/>
          </p:cNvSpPr>
          <p:nvPr/>
        </p:nvSpPr>
        <p:spPr>
          <a:xfrm xmlns:a="http://schemas.openxmlformats.org/drawingml/2006/main">
            <a:off x="6991350" y="4105275"/>
            <a:ext cx="4524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16735D"/>
                </a:solidFill>
                <a:latin typeface="DejaVu Sans"/>
                <a:ea typeface="DejaVu Sans"/>
                <a:cs typeface="DejaVu Sans"/>
              </a:defRPr>
            </a:defPPr>
          </a:lstStyle>
          <a:p xmlns:a="http://schemas.openxmlformats.org/drawingml/2006/main">
            <a:pPr>
              <a:defRPr sz="1950" b="1">
                <a:solidFill>
                  <a:srgbClr val="16735D"/>
                </a:solidFill>
                <a:latin typeface="DejaVu Sans"/>
                <a:ea typeface="DejaVu Sans"/>
                <a:cs typeface="DejaVu Sans"/>
              </a:defRPr>
            </a:pPr>
            <a:r>
              <a:rPr sz="1950" b="1">
                <a:solidFill>
                  <a:srgbClr val="16735D"/>
                </a:solidFill>
                <a:latin typeface="DejaVu Sans"/>
                <a:ea typeface="DejaVu Sans"/>
                <a:cs typeface="DejaVu Sans"/>
              </a:rPr>
              <a:t>Uso de Git</a:t>
            </a:r>
          </a:p>
        </p:txBody>
      </p:sp>
      <p:sp>
        <p:nvSpPr>
          <p:cNvPr id="8" name="texto">
            <a:extLst xmlns:a="http://schemas.openxmlformats.org/drawingml/2006/main">
              <a:ext uri="{FF2B5EF4-FFF2-40B4-BE49-F238E27FC236}">
                <a16:creationId xmlns:a16="http://schemas.microsoft.com/office/drawing/2014/main" id="{7C86F058-6747-4F3E-903E-67C8CB5D7B5B}"/>
              </a:ext>
            </a:extLst>
          </p:cNvPr>
          <p:cNvSpPr>
            <a:spLocks xmlns:a="http://schemas.openxmlformats.org/drawingml/2006/main" noGrp="1"/>
          </p:cNvSpPr>
          <p:nvPr/>
        </p:nvSpPr>
        <p:spPr>
          <a:xfrm xmlns:a="http://schemas.openxmlformats.org/drawingml/2006/main">
            <a:off x="6991350" y="4648200"/>
            <a:ext cx="452437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a:solidFill>
                  <a:srgbClr val="172F3C"/>
                </a:solidFill>
                <a:latin typeface="DejaVu Sans"/>
                <a:ea typeface="DejaVu Sans"/>
                <a:cs typeface="DejaVu Sans"/>
              </a:defRPr>
            </a:defPPr>
          </a:lstStyle>
          <a:p xmlns:a="http://schemas.openxmlformats.org/drawingml/2006/main">
            <a:pPr>
              <a:defRPr sz="1575" b="0">
                <a:solidFill>
                  <a:srgbClr val="172F3C"/>
                </a:solidFill>
                <a:latin typeface="DejaVu Sans"/>
                <a:ea typeface="DejaVu Sans"/>
                <a:cs typeface="DejaVu Sans"/>
              </a:defRPr>
            </a:pPr>
            <a:r>
              <a:rPr sz="1575" b="0">
                <a:solidFill>
                  <a:srgbClr val="172F3C"/>
                </a:solidFill>
                <a:latin typeface="DejaVu Sans"/>
                <a:ea typeface="DejaVu Sans"/>
                <a:cs typeface="DejaVu Sans"/>
              </a:rPr>
              <a:t>cfaba6e   Plan inicial</a:t>
            </a:r>
          </a:p>
          <a:p xmlns:a="http://schemas.openxmlformats.org/drawingml/2006/main">
            <a:pPr>
              <a:defRPr sz="1575" b="0">
                <a:solidFill>
                  <a:srgbClr val="172F3C"/>
                </a:solidFill>
                <a:latin typeface="DejaVu Sans"/>
                <a:ea typeface="DejaVu Sans"/>
                <a:cs typeface="DejaVu Sans"/>
              </a:defRPr>
            </a:pPr>
            <a:r>
              <a:rPr sz="1575" b="0">
                <a:solidFill>
                  <a:srgbClr val="172F3C"/>
                </a:solidFill>
                <a:latin typeface="DejaVu Sans"/>
                <a:ea typeface="DejaVu Sans"/>
                <a:cs typeface="DejaVu Sans"/>
              </a:rPr>
              <a:t>8917f20   Prototipo y pruebas</a:t>
            </a:r>
          </a:p>
          <a:p xmlns:a="http://schemas.openxmlformats.org/drawingml/2006/main">
            <a:pPr>
              <a:defRPr sz="1575" b="0">
                <a:solidFill>
                  <a:srgbClr val="172F3C"/>
                </a:solidFill>
                <a:latin typeface="DejaVu Sans"/>
                <a:ea typeface="DejaVu Sans"/>
                <a:cs typeface="DejaVu Sans"/>
              </a:defRPr>
            </a:pPr>
            <a:r>
              <a:rPr sz="1575" b="0">
                <a:solidFill>
                  <a:srgbClr val="172F3C"/>
                </a:solidFill>
                <a:latin typeface="DejaVu Sans"/>
                <a:ea typeface="DejaVu Sans"/>
                <a:cs typeface="DejaVu Sans"/>
              </a:rPr>
              <a:t>f3cd9fe   Informe y diagramas</a:t>
            </a:r>
          </a:p>
        </p:txBody>
      </p:sp>
      <p:sp>
        <p:nvSpPr>
          <p:cNvPr id="9" name="texto">
            <a:extLst xmlns:a="http://schemas.openxmlformats.org/drawingml/2006/main">
              <a:ext uri="{FF2B5EF4-FFF2-40B4-BE49-F238E27FC236}">
                <a16:creationId xmlns:a16="http://schemas.microsoft.com/office/drawing/2014/main" id="{D93D10F0-48B0-4B31-86D4-F8552841EC93}"/>
              </a:ext>
            </a:extLst>
          </p:cNvPr>
          <p:cNvSpPr>
            <a:spLocks xmlns:a="http://schemas.openxmlformats.org/drawingml/2006/main" noGrp="1"/>
          </p:cNvSpPr>
          <p:nvPr/>
        </p:nvSpPr>
        <p:spPr>
          <a:xfrm xmlns:a="http://schemas.openxmlformats.org/drawingml/2006/main">
            <a:off x="6991350" y="6000750"/>
            <a:ext cx="45243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hlinkClick xmlns:r="http://schemas.openxmlformats.org/officeDocument/2006/relationships" r:id="Re5b1fc01e59148ca"/>
              </a:rPr>
              <a:t>Ver historial del repositorio</a:t>
            </a:r>
          </a:p>
        </p:txBody>
      </p:sp>
    </p:spTree>
    <p:extLst>
      <p:ext uri="{BB962C8B-B14F-4D97-AF65-F5344CB8AC3E}">
        <p14:creationId xmlns:p14="http://schemas.microsoft.com/office/powerpoint/2010/main" val="9430264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partado-rubrica">
            <a:extLst xmlns:a="http://schemas.openxmlformats.org/drawingml/2006/main">
              <a:ext uri="{FF2B5EF4-FFF2-40B4-BE49-F238E27FC236}">
                <a16:creationId xmlns:a16="http://schemas.microsoft.com/office/drawing/2014/main" id="{2B5C39D4-D791-40C5-8AD0-C28B02A291F9}"/>
              </a:ext>
            </a:extLst>
          </p:cNvPr>
          <p:cNvSpPr>
            <a:spLocks xmlns:a="http://schemas.openxmlformats.org/drawingml/2006/main" noGrp="1"/>
          </p:cNvSpPr>
          <p:nvPr/>
        </p:nvSpPr>
        <p:spPr>
          <a:xfrm xmlns:a="http://schemas.openxmlformats.org/drawingml/2006/main">
            <a:off x="609600" y="28575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6 de 7</a:t>
            </a:r>
          </a:p>
        </p:txBody>
      </p:sp>
      <p:sp>
        <p:nvSpPr>
          <p:cNvPr id="2" name="titulo">
            <a:extLst xmlns:a="http://schemas.openxmlformats.org/drawingml/2006/main">
              <a:ext uri="{FF2B5EF4-FFF2-40B4-BE49-F238E27FC236}">
                <a16:creationId xmlns:a16="http://schemas.microsoft.com/office/drawing/2014/main" id="{DA4CA869-6C04-4580-94E7-01265226AE02}"/>
              </a:ext>
            </a:extLst>
          </p:cNvPr>
          <p:cNvSpPr>
            <a:spLocks xmlns:a="http://schemas.openxmlformats.org/drawingml/2006/main" noGrp="1"/>
          </p:cNvSpPr>
          <p:nvPr/>
        </p:nvSpPr>
        <p:spPr>
          <a:xfrm xmlns:a="http://schemas.openxmlformats.org/drawingml/2006/main">
            <a:off x="609600" y="790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150" b="1">
                <a:solidFill>
                  <a:srgbClr val="172F3C"/>
                </a:solidFill>
                <a:latin typeface="DejaVu Sans"/>
                <a:ea typeface="DejaVu Sans"/>
                <a:cs typeface="DejaVu Sans"/>
              </a:defRPr>
            </a:defPPr>
          </a:lstStyle>
          <a:p xmlns:a="http://schemas.openxmlformats.org/drawingml/2006/main">
            <a:pPr>
              <a:defRPr sz="3150" b="1">
                <a:solidFill>
                  <a:srgbClr val="172F3C"/>
                </a:solidFill>
                <a:latin typeface="DejaVu Sans"/>
                <a:ea typeface="DejaVu Sans"/>
                <a:cs typeface="DejaVu Sans"/>
              </a:defRPr>
            </a:pPr>
            <a:r>
              <a:rPr sz="3150" b="1">
                <a:solidFill>
                  <a:srgbClr val="172F3C"/>
                </a:solidFill>
                <a:latin typeface="DejaVu Sans"/>
                <a:ea typeface="DejaVu Sans"/>
                <a:cs typeface="DejaVu Sans"/>
              </a:rPr>
              <a:t>VII. Conclusiones</a:t>
            </a:r>
          </a:p>
        </p:txBody>
      </p:sp>
      <p:sp>
        <p:nvSpPr>
          <p:cNvPr id="3" name="numero">
            <a:extLst xmlns:a="http://schemas.openxmlformats.org/drawingml/2006/main">
              <a:ext uri="{FF2B5EF4-FFF2-40B4-BE49-F238E27FC236}">
                <a16:creationId xmlns:a16="http://schemas.microsoft.com/office/drawing/2014/main" id="{AE0B8A9B-9FF7-4603-8979-A8B830F68671}"/>
              </a:ext>
            </a:extLst>
          </p:cNvPr>
          <p:cNvSpPr>
            <a:spLocks xmlns:a="http://schemas.openxmlformats.org/drawingml/2006/main" noGrp="1"/>
          </p:cNvSpPr>
          <p:nvPr/>
        </p:nvSpPr>
        <p:spPr>
          <a:xfrm xmlns:a="http://schemas.openxmlformats.org/drawingml/2006/main">
            <a:off x="11210925" y="64770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526773"/>
                </a:solidFill>
                <a:latin typeface="DejaVu Sans"/>
                <a:ea typeface="DejaVu Sans"/>
                <a:cs typeface="DejaVu Sans"/>
              </a:defRPr>
            </a:defPPr>
          </a:lstStyle>
          <a:p xmlns:a="http://schemas.openxmlformats.org/drawingml/2006/main">
            <a:pPr>
              <a:defRPr sz="1050" b="0">
                <a:solidFill>
                  <a:srgbClr val="526773"/>
                </a:solidFill>
                <a:latin typeface="DejaVu Sans"/>
                <a:ea typeface="DejaVu Sans"/>
                <a:cs typeface="DejaVu Sans"/>
              </a:defRPr>
            </a:pPr>
            <a:r>
              <a:rPr sz="1050" b="0">
                <a:solidFill>
                  <a:srgbClr val="526773"/>
                </a:solidFill>
                <a:latin typeface="DejaVu Sans"/>
                <a:ea typeface="DejaVu Sans"/>
                <a:cs typeface="DejaVu Sans"/>
              </a:rPr>
              <a:t>08</a:t>
            </a:r>
          </a:p>
        </p:txBody>
      </p:sp>
      <p:sp>
        <p:nvSpPr>
          <p:cNvPr id="4" name="texto">
            <a:extLst xmlns:a="http://schemas.openxmlformats.org/drawingml/2006/main">
              <a:ext uri="{FF2B5EF4-FFF2-40B4-BE49-F238E27FC236}">
                <a16:creationId xmlns:a16="http://schemas.microsoft.com/office/drawing/2014/main" id="{DB8983EA-0C37-474C-88C4-D316CD436D5C}"/>
              </a:ext>
            </a:extLst>
          </p:cNvPr>
          <p:cNvSpPr>
            <a:spLocks xmlns:a="http://schemas.openxmlformats.org/drawingml/2006/main" noGrp="1"/>
          </p:cNvSpPr>
          <p:nvPr/>
        </p:nvSpPr>
        <p:spPr>
          <a:xfrm xmlns:a="http://schemas.openxmlformats.org/drawingml/2006/main">
            <a:off x="609600" y="2143125"/>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1">
                <a:solidFill>
                  <a:srgbClr val="16735D"/>
                </a:solidFill>
                <a:latin typeface="DejaVu Sans"/>
                <a:ea typeface="DejaVu Sans"/>
                <a:cs typeface="DejaVu Sans"/>
              </a:defRPr>
            </a:defPPr>
          </a:lstStyle>
          <a:p xmlns:a="http://schemas.openxmlformats.org/drawingml/2006/main">
            <a:pPr>
              <a:defRPr sz="2025" b="1">
                <a:solidFill>
                  <a:srgbClr val="16735D"/>
                </a:solidFill>
                <a:latin typeface="DejaVu Sans"/>
                <a:ea typeface="DejaVu Sans"/>
                <a:cs typeface="DejaVu Sans"/>
              </a:defRPr>
            </a:pPr>
            <a:r>
              <a:rPr sz="2025" b="1">
                <a:solidFill>
                  <a:srgbClr val="16735D"/>
                </a:solidFill>
                <a:latin typeface="DejaVu Sans"/>
                <a:ea typeface="DejaVu Sans"/>
                <a:cs typeface="DejaVu Sans"/>
              </a:rPr>
              <a:t>Logro</a:t>
            </a:r>
          </a:p>
        </p:txBody>
      </p:sp>
      <p:sp>
        <p:nvSpPr>
          <p:cNvPr id="5" name="texto">
            <a:extLst xmlns:a="http://schemas.openxmlformats.org/drawingml/2006/main">
              <a:ext uri="{FF2B5EF4-FFF2-40B4-BE49-F238E27FC236}">
                <a16:creationId xmlns:a16="http://schemas.microsoft.com/office/drawing/2014/main" id="{055A0920-A55C-4AAA-BD86-C9C9687D6F16}"/>
              </a:ext>
            </a:extLst>
          </p:cNvPr>
          <p:cNvSpPr>
            <a:spLocks xmlns:a="http://schemas.openxmlformats.org/drawingml/2006/main" noGrp="1"/>
          </p:cNvSpPr>
          <p:nvPr/>
        </p:nvSpPr>
        <p:spPr>
          <a:xfrm xmlns:a="http://schemas.openxmlformats.org/drawingml/2006/main">
            <a:off x="3143250" y="2143125"/>
            <a:ext cx="8382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0">
                <a:solidFill>
                  <a:srgbClr val="172F3C"/>
                </a:solidFill>
                <a:latin typeface="DejaVu Sans"/>
                <a:ea typeface="DejaVu Sans"/>
                <a:cs typeface="DejaVu Sans"/>
              </a:defRPr>
            </a:defPPr>
          </a:lstStyle>
          <a:p xmlns:a="http://schemas.openxmlformats.org/drawingml/2006/main">
            <a:pPr>
              <a:defRPr sz="1950" b="0">
                <a:solidFill>
                  <a:srgbClr val="172F3C"/>
                </a:solidFill>
                <a:latin typeface="DejaVu Sans"/>
                <a:ea typeface="DejaVu Sans"/>
                <a:cs typeface="DejaVu Sans"/>
              </a:defRPr>
            </a:pPr>
            <a:r>
              <a:rPr sz="1950" b="0">
                <a:solidFill>
                  <a:srgbClr val="172F3C"/>
                </a:solidFill>
                <a:latin typeface="DejaVu Sans"/>
                <a:ea typeface="DejaVu Sans"/>
                <a:cs typeface="DejaVu Sans"/>
              </a:rPr>
              <a:t>Juego funcional con clases, relaciones y patrones de diseño.</a:t>
            </a:r>
          </a:p>
        </p:txBody>
      </p:sp>
      <p:sp>
        <p:nvSpPr>
          <p:cNvPr id="6" name="texto">
            <a:extLst xmlns:a="http://schemas.openxmlformats.org/drawingml/2006/main">
              <a:ext uri="{FF2B5EF4-FFF2-40B4-BE49-F238E27FC236}">
                <a16:creationId xmlns:a16="http://schemas.microsoft.com/office/drawing/2014/main" id="{AB6DAEB8-8C9B-49F4-B995-E5C9AF52D5EB}"/>
              </a:ext>
            </a:extLst>
          </p:cNvPr>
          <p:cNvSpPr>
            <a:spLocks xmlns:a="http://schemas.openxmlformats.org/drawingml/2006/main" noGrp="1"/>
          </p:cNvSpPr>
          <p:nvPr/>
        </p:nvSpPr>
        <p:spPr>
          <a:xfrm xmlns:a="http://schemas.openxmlformats.org/drawingml/2006/main">
            <a:off x="609600" y="3533775"/>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1">
                <a:solidFill>
                  <a:srgbClr val="16735D"/>
                </a:solidFill>
                <a:latin typeface="DejaVu Sans"/>
                <a:ea typeface="DejaVu Sans"/>
                <a:cs typeface="DejaVu Sans"/>
              </a:defRPr>
            </a:defPPr>
          </a:lstStyle>
          <a:p xmlns:a="http://schemas.openxmlformats.org/drawingml/2006/main">
            <a:pPr>
              <a:defRPr sz="2025" b="1">
                <a:solidFill>
                  <a:srgbClr val="16735D"/>
                </a:solidFill>
                <a:latin typeface="DejaVu Sans"/>
                <a:ea typeface="DejaVu Sans"/>
                <a:cs typeface="DejaVu Sans"/>
              </a:defRPr>
            </a:pPr>
            <a:r>
              <a:rPr sz="2025" b="1">
                <a:solidFill>
                  <a:srgbClr val="16735D"/>
                </a:solidFill>
                <a:latin typeface="DejaVu Sans"/>
                <a:ea typeface="DejaVu Sans"/>
                <a:cs typeface="DejaVu Sans"/>
              </a:rPr>
              <a:t>Aprendizaje</a:t>
            </a:r>
          </a:p>
        </p:txBody>
      </p:sp>
      <p:sp>
        <p:nvSpPr>
          <p:cNvPr id="7" name="texto">
            <a:extLst xmlns:a="http://schemas.openxmlformats.org/drawingml/2006/main">
              <a:ext uri="{FF2B5EF4-FFF2-40B4-BE49-F238E27FC236}">
                <a16:creationId xmlns:a16="http://schemas.microsoft.com/office/drawing/2014/main" id="{732CB38B-50E5-4CF7-B2C8-5730A5913EAB}"/>
              </a:ext>
            </a:extLst>
          </p:cNvPr>
          <p:cNvSpPr>
            <a:spLocks xmlns:a="http://schemas.openxmlformats.org/drawingml/2006/main" noGrp="1"/>
          </p:cNvSpPr>
          <p:nvPr/>
        </p:nvSpPr>
        <p:spPr>
          <a:xfrm xmlns:a="http://schemas.openxmlformats.org/drawingml/2006/main">
            <a:off x="3143250" y="3533775"/>
            <a:ext cx="8382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0">
                <a:solidFill>
                  <a:srgbClr val="172F3C"/>
                </a:solidFill>
                <a:latin typeface="DejaVu Sans"/>
                <a:ea typeface="DejaVu Sans"/>
                <a:cs typeface="DejaVu Sans"/>
              </a:defRPr>
            </a:defPPr>
          </a:lstStyle>
          <a:p xmlns:a="http://schemas.openxmlformats.org/drawingml/2006/main">
            <a:pPr>
              <a:defRPr sz="1950" b="0">
                <a:solidFill>
                  <a:srgbClr val="172F3C"/>
                </a:solidFill>
                <a:latin typeface="DejaVu Sans"/>
                <a:ea typeface="DejaVu Sans"/>
                <a:cs typeface="DejaVu Sans"/>
              </a:defRPr>
            </a:pPr>
            <a:r>
              <a:rPr sz="1950" b="0">
                <a:solidFill>
                  <a:srgbClr val="172F3C"/>
                </a:solidFill>
                <a:latin typeface="DejaVu Sans"/>
                <a:ea typeface="DejaVu Sans"/>
                <a:cs typeface="DejaVu Sans"/>
              </a:rPr>
              <a:t>Separar responsabilidades facilita probar cada regla.</a:t>
            </a:r>
          </a:p>
        </p:txBody>
      </p:sp>
      <p:sp>
        <p:nvSpPr>
          <p:cNvPr id="8" name="texto">
            <a:extLst xmlns:a="http://schemas.openxmlformats.org/drawingml/2006/main">
              <a:ext uri="{FF2B5EF4-FFF2-40B4-BE49-F238E27FC236}">
                <a16:creationId xmlns:a16="http://schemas.microsoft.com/office/drawing/2014/main" id="{BCB52D4D-6C11-46E1-B1AC-DDA6A8D5FDCE}"/>
              </a:ext>
            </a:extLst>
          </p:cNvPr>
          <p:cNvSpPr>
            <a:spLocks xmlns:a="http://schemas.openxmlformats.org/drawingml/2006/main" noGrp="1"/>
          </p:cNvSpPr>
          <p:nvPr/>
        </p:nvSpPr>
        <p:spPr>
          <a:xfrm xmlns:a="http://schemas.openxmlformats.org/drawingml/2006/main">
            <a:off x="609600" y="4924425"/>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1">
                <a:solidFill>
                  <a:srgbClr val="16735D"/>
                </a:solidFill>
                <a:latin typeface="DejaVu Sans"/>
                <a:ea typeface="DejaVu Sans"/>
                <a:cs typeface="DejaVu Sans"/>
              </a:defRPr>
            </a:defPPr>
          </a:lstStyle>
          <a:p xmlns:a="http://schemas.openxmlformats.org/drawingml/2006/main">
            <a:pPr>
              <a:defRPr sz="2025" b="1">
                <a:solidFill>
                  <a:srgbClr val="16735D"/>
                </a:solidFill>
                <a:latin typeface="DejaVu Sans"/>
                <a:ea typeface="DejaVu Sans"/>
                <a:cs typeface="DejaVu Sans"/>
              </a:defRPr>
            </a:pPr>
            <a:r>
              <a:rPr sz="2025" b="1">
                <a:solidFill>
                  <a:srgbClr val="16735D"/>
                </a:solidFill>
                <a:latin typeface="DejaVu Sans"/>
                <a:ea typeface="DejaVu Sans"/>
                <a:cs typeface="DejaVu Sans"/>
              </a:rPr>
              <a:t>Dificultad</a:t>
            </a:r>
          </a:p>
        </p:txBody>
      </p:sp>
      <p:sp>
        <p:nvSpPr>
          <p:cNvPr id="9" name="texto">
            <a:extLst xmlns:a="http://schemas.openxmlformats.org/drawingml/2006/main">
              <a:ext uri="{FF2B5EF4-FFF2-40B4-BE49-F238E27FC236}">
                <a16:creationId xmlns:a16="http://schemas.microsoft.com/office/drawing/2014/main" id="{61C68ABA-2815-4761-A825-3E764F7AA368}"/>
              </a:ext>
            </a:extLst>
          </p:cNvPr>
          <p:cNvSpPr>
            <a:spLocks xmlns:a="http://schemas.openxmlformats.org/drawingml/2006/main" noGrp="1"/>
          </p:cNvSpPr>
          <p:nvPr/>
        </p:nvSpPr>
        <p:spPr>
          <a:xfrm xmlns:a="http://schemas.openxmlformats.org/drawingml/2006/main">
            <a:off x="3143250" y="4924425"/>
            <a:ext cx="8382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0">
                <a:solidFill>
                  <a:srgbClr val="172F3C"/>
                </a:solidFill>
                <a:latin typeface="DejaVu Sans"/>
                <a:ea typeface="DejaVu Sans"/>
                <a:cs typeface="DejaVu Sans"/>
              </a:defRPr>
            </a:defPPr>
          </a:lstStyle>
          <a:p xmlns:a="http://schemas.openxmlformats.org/drawingml/2006/main">
            <a:pPr>
              <a:defRPr sz="1950" b="0">
                <a:solidFill>
                  <a:srgbClr val="172F3C"/>
                </a:solidFill>
                <a:latin typeface="DejaVu Sans"/>
                <a:ea typeface="DejaVu Sans"/>
                <a:cs typeface="DejaVu Sans"/>
              </a:defRPr>
            </a:pPr>
            <a:r>
              <a:rPr sz="1950" b="0">
                <a:solidFill>
                  <a:srgbClr val="172F3C"/>
                </a:solidFill>
                <a:latin typeface="DejaVu Sans"/>
                <a:ea typeface="DejaVu Sans"/>
                <a:cs typeface="DejaVu Sans"/>
              </a:rPr>
              <a:t>Mantener coherentes paredes, puertas, ruido y caminos.</a:t>
            </a:r>
          </a:p>
        </p:txBody>
      </p:sp>
    </p:spTree>
    <p:extLst>
      <p:ext uri="{BB962C8B-B14F-4D97-AF65-F5344CB8AC3E}">
        <p14:creationId xmlns:p14="http://schemas.microsoft.com/office/powerpoint/2010/main" val="93728679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partado-rubrica">
            <a:extLst xmlns:a="http://schemas.openxmlformats.org/drawingml/2006/main">
              <a:ext uri="{FF2B5EF4-FFF2-40B4-BE49-F238E27FC236}">
                <a16:creationId xmlns:a16="http://schemas.microsoft.com/office/drawing/2014/main" id="{A26183F0-0640-4674-B529-45FFE401A5AE}"/>
              </a:ext>
            </a:extLst>
          </p:cNvPr>
          <p:cNvSpPr>
            <a:spLocks xmlns:a="http://schemas.openxmlformats.org/drawingml/2006/main" noGrp="1"/>
          </p:cNvSpPr>
          <p:nvPr/>
        </p:nvSpPr>
        <p:spPr>
          <a:xfrm xmlns:a="http://schemas.openxmlformats.org/drawingml/2006/main">
            <a:off x="609600" y="28575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a:t>
            </a:r>
          </a:p>
        </p:txBody>
      </p:sp>
      <p:sp>
        <p:nvSpPr>
          <p:cNvPr id="2" name="titulo">
            <a:extLst xmlns:a="http://schemas.openxmlformats.org/drawingml/2006/main">
              <a:ext uri="{FF2B5EF4-FFF2-40B4-BE49-F238E27FC236}">
                <a16:creationId xmlns:a16="http://schemas.microsoft.com/office/drawing/2014/main" id="{F36F143D-8059-416E-AFB5-E1D1DBB697FD}"/>
              </a:ext>
            </a:extLst>
          </p:cNvPr>
          <p:cNvSpPr>
            <a:spLocks xmlns:a="http://schemas.openxmlformats.org/drawingml/2006/main" noGrp="1"/>
          </p:cNvSpPr>
          <p:nvPr/>
        </p:nvSpPr>
        <p:spPr>
          <a:xfrm xmlns:a="http://schemas.openxmlformats.org/drawingml/2006/main">
            <a:off x="609600" y="7905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150" b="1">
                <a:solidFill>
                  <a:srgbClr val="172F3C"/>
                </a:solidFill>
                <a:latin typeface="DejaVu Sans"/>
                <a:ea typeface="DejaVu Sans"/>
                <a:cs typeface="DejaVu Sans"/>
              </a:defRPr>
            </a:defPPr>
          </a:lstStyle>
          <a:p xmlns:a="http://schemas.openxmlformats.org/drawingml/2006/main">
            <a:pPr>
              <a:defRPr sz="3150" b="1">
                <a:solidFill>
                  <a:srgbClr val="172F3C"/>
                </a:solidFill>
                <a:latin typeface="DejaVu Sans"/>
                <a:ea typeface="DejaVu Sans"/>
                <a:cs typeface="DejaVu Sans"/>
              </a:defRPr>
            </a:pPr>
            <a:r>
              <a:rPr sz="3150" b="1">
                <a:solidFill>
                  <a:srgbClr val="172F3C"/>
                </a:solidFill>
                <a:latin typeface="DejaVu Sans"/>
                <a:ea typeface="DejaVu Sans"/>
                <a:cs typeface="DejaVu Sans"/>
              </a:rPr>
              <a:t>VIII. Anexos</a:t>
            </a:r>
          </a:p>
        </p:txBody>
      </p:sp>
      <p:sp>
        <p:nvSpPr>
          <p:cNvPr id="3" name="numero">
            <a:extLst xmlns:a="http://schemas.openxmlformats.org/drawingml/2006/main">
              <a:ext uri="{FF2B5EF4-FFF2-40B4-BE49-F238E27FC236}">
                <a16:creationId xmlns:a16="http://schemas.microsoft.com/office/drawing/2014/main" id="{9BFF43AC-9A72-4E30-A600-9E0A6FEB9CD6}"/>
              </a:ext>
            </a:extLst>
          </p:cNvPr>
          <p:cNvSpPr>
            <a:spLocks xmlns:a="http://schemas.openxmlformats.org/drawingml/2006/main" noGrp="1"/>
          </p:cNvSpPr>
          <p:nvPr/>
        </p:nvSpPr>
        <p:spPr>
          <a:xfrm xmlns:a="http://schemas.openxmlformats.org/drawingml/2006/main">
            <a:off x="11210925" y="64770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526773"/>
                </a:solidFill>
                <a:latin typeface="DejaVu Sans"/>
                <a:ea typeface="DejaVu Sans"/>
                <a:cs typeface="DejaVu Sans"/>
              </a:defRPr>
            </a:defPPr>
          </a:lstStyle>
          <a:p xmlns:a="http://schemas.openxmlformats.org/drawingml/2006/main">
            <a:pPr>
              <a:defRPr sz="1050" b="0">
                <a:solidFill>
                  <a:srgbClr val="526773"/>
                </a:solidFill>
                <a:latin typeface="DejaVu Sans"/>
                <a:ea typeface="DejaVu Sans"/>
                <a:cs typeface="DejaVu Sans"/>
              </a:defRPr>
            </a:pPr>
            <a:r>
              <a:rPr sz="1050" b="0">
                <a:solidFill>
                  <a:srgbClr val="526773"/>
                </a:solidFill>
                <a:latin typeface="DejaVu Sans"/>
                <a:ea typeface="DejaVu Sans"/>
                <a:cs typeface="DejaVu Sans"/>
              </a:rPr>
              <a:t>09</a:t>
            </a:r>
          </a:p>
        </p:txBody>
      </p:sp>
      <p:sp>
        <p:nvSpPr>
          <p:cNvPr id="4" name="texto">
            <a:extLst xmlns:a="http://schemas.openxmlformats.org/drawingml/2006/main">
              <a:ext uri="{FF2B5EF4-FFF2-40B4-BE49-F238E27FC236}">
                <a16:creationId xmlns:a16="http://schemas.microsoft.com/office/drawing/2014/main" id="{1A4ABAB5-E9D9-4B21-BA21-D54E56150E59}"/>
              </a:ext>
            </a:extLst>
          </p:cNvPr>
          <p:cNvSpPr>
            <a:spLocks xmlns:a="http://schemas.openxmlformats.org/drawingml/2006/main" noGrp="1"/>
          </p:cNvSpPr>
          <p:nvPr/>
        </p:nvSpPr>
        <p:spPr>
          <a:xfrm xmlns:a="http://schemas.openxmlformats.org/drawingml/2006/main">
            <a:off x="609600" y="1914525"/>
            <a:ext cx="5429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16735D"/>
                </a:solidFill>
                <a:latin typeface="DejaVu Sans"/>
                <a:ea typeface="DejaVu Sans"/>
                <a:cs typeface="DejaVu Sans"/>
              </a:defRPr>
            </a:defPPr>
          </a:lstStyle>
          <a:p xmlns:a="http://schemas.openxmlformats.org/drawingml/2006/main">
            <a:pPr>
              <a:defRPr sz="1875" b="1">
                <a:solidFill>
                  <a:srgbClr val="16735D"/>
                </a:solidFill>
                <a:latin typeface="DejaVu Sans"/>
                <a:ea typeface="DejaVu Sans"/>
                <a:cs typeface="DejaVu Sans"/>
              </a:defRPr>
            </a:pPr>
            <a:r>
              <a:rPr sz="1875" b="1">
                <a:solidFill>
                  <a:srgbClr val="16735D"/>
                </a:solidFill>
                <a:latin typeface="DejaVu Sans"/>
                <a:ea typeface="DejaVu Sans"/>
                <a:cs typeface="DejaVu Sans"/>
              </a:rPr>
              <a:t>Fragmento de código: Puntaje</a:t>
            </a:r>
          </a:p>
        </p:txBody>
      </p:sp>
      <p:sp>
        <p:nvSpPr>
          <p:cNvPr id="5" name="codigo-setter-completo">
            <a:extLst xmlns:a="http://schemas.openxmlformats.org/drawingml/2006/main">
              <a:ext uri="{FF2B5EF4-FFF2-40B4-BE49-F238E27FC236}">
                <a16:creationId xmlns:a16="http://schemas.microsoft.com/office/drawing/2014/main" id="{D6503A54-337C-494D-98BB-825D5E66F873}"/>
              </a:ext>
            </a:extLst>
          </p:cNvPr>
          <p:cNvSpPr>
            <a:spLocks xmlns:a="http://schemas.openxmlformats.org/drawingml/2006/main" noGrp="1"/>
          </p:cNvSpPr>
          <p:nvPr/>
        </p:nvSpPr>
        <p:spPr>
          <a:xfrm xmlns:a="http://schemas.openxmlformats.org/drawingml/2006/main">
            <a:off x="609600" y="2562225"/>
            <a:ext cx="6858000" cy="225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def set_valor(self, valor):</a:t>
            </a:r>
          </a:p>
          <a:p xmlns:a="http://schemas.openxmlformats.org/drawingml/2006/main">
            <a:pPr>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if type(valor) is not int or valor &lt; 0:</a:t>
            </a:r>
          </a:p>
          <a:p xmlns:a="http://schemas.openxmlformats.org/drawingml/2006/main">
            <a:pPr>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raise ValueError(</a:t>
            </a:r>
          </a:p>
          <a:p xmlns:a="http://schemas.openxmlformats.org/drawingml/2006/main">
            <a:pPr>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"El puntaje debe ser un entero no negativo.")</a:t>
            </a:r>
          </a:p>
          <a:p xmlns:a="http://schemas.openxmlformats.org/drawingml/2006/main">
            <a:pPr>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self._valor = valor</a:t>
            </a:r>
          </a:p>
          <a:p xmlns:a="http://schemas.openxmlformats.org/drawingml/2006/main">
            <a:pPr>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self._notificar()</a:t>
            </a:r>
          </a:p>
        </p:txBody>
      </p:sp>
      <p:sp>
        <p:nvSpPr>
          <p:cNvPr id="6" name="texto">
            <a:extLst xmlns:a="http://schemas.openxmlformats.org/drawingml/2006/main">
              <a:ext uri="{FF2B5EF4-FFF2-40B4-BE49-F238E27FC236}">
                <a16:creationId xmlns:a16="http://schemas.microsoft.com/office/drawing/2014/main" id="{19FDDAE9-CE0A-4F73-AF36-2C25204AAFF5}"/>
              </a:ext>
            </a:extLst>
          </p:cNvPr>
          <p:cNvSpPr>
            <a:spLocks xmlns:a="http://schemas.openxmlformats.org/drawingml/2006/main" noGrp="1"/>
          </p:cNvSpPr>
          <p:nvPr/>
        </p:nvSpPr>
        <p:spPr>
          <a:xfrm xmlns:a="http://schemas.openxmlformats.org/drawingml/2006/main">
            <a:off x="8001000" y="1914525"/>
            <a:ext cx="34956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16735D"/>
                </a:solidFill>
                <a:latin typeface="DejaVu Sans"/>
                <a:ea typeface="DejaVu Sans"/>
                <a:cs typeface="DejaVu Sans"/>
              </a:defRPr>
            </a:defPPr>
          </a:lstStyle>
          <a:p xmlns:a="http://schemas.openxmlformats.org/drawingml/2006/main">
            <a:pPr>
              <a:defRPr sz="1875" b="1">
                <a:solidFill>
                  <a:srgbClr val="16735D"/>
                </a:solidFill>
                <a:latin typeface="DejaVu Sans"/>
                <a:ea typeface="DejaVu Sans"/>
                <a:cs typeface="DejaVu Sans"/>
              </a:defRPr>
            </a:pPr>
            <a:r>
              <a:rPr sz="1875" b="1">
                <a:solidFill>
                  <a:srgbClr val="16735D"/>
                </a:solidFill>
                <a:latin typeface="DejaVu Sans"/>
                <a:ea typeface="DejaVu Sans"/>
                <a:cs typeface="DejaVu Sans"/>
              </a:rPr>
              <a:t>Diagrama de clases</a:t>
            </a:r>
          </a:p>
        </p:txBody>
      </p:sp>
      <p:pic>
        <p:nvPicPr>
          <p:cNvPr id="7" name="">
            <a:extLst xmlns:a="http://schemas.openxmlformats.org/drawingml/2006/main">
              <a:ext uri="{FF2B5EF4-FFF2-40B4-BE49-F238E27FC236}">
                <a16:creationId xmlns:a16="http://schemas.microsoft.com/office/drawing/2014/main" id="{3E6BA5D1-2483-49F1-B92E-5F51780FF397}"/>
              </a:ext>
            </a:extLst>
          </p:cNvPr>
          <p:cNvPicPr>
            <a:picLocks xmlns:a="http://schemas.openxmlformats.org/drawingml/2006/main" noChangeAspect="1"/>
          </p:cNvPicPr>
          <p:nvPr/>
        </p:nvPicPr>
        <p:blipFill>
          <a:blip xmlns:r="http://schemas.openxmlformats.org/officeDocument/2006/relationships" xmlns:a="http://schemas.openxmlformats.org/drawingml/2006/main" r:embed="R57b47a6ca2ac4c5b"/>
          <a:srcRect xmlns:a="http://schemas.openxmlformats.org/drawingml/2006/main" l="0" t="0" r="0" b="0"/>
          <a:stretch xmlns:a="http://schemas.openxmlformats.org/drawingml/2006/main">
            <a:fillRect l="0" t="0" r="0" b="0"/>
          </a:stretch>
        </p:blipFill>
        <p:spPr>
          <a:xfrm xmlns:a="http://schemas.openxmlformats.org/drawingml/2006/main">
            <a:off x="8001441" y="2476500"/>
            <a:ext cx="3494794" cy="2819400"/>
          </a:xfrm>
          <a:prstGeom xmlns:a="http://schemas.openxmlformats.org/drawingml/2006/main" prst="rect">
            <a:avLst/>
          </a:prstGeom>
        </p:spPr>
      </p:pic>
      <p:sp>
        <p:nvSpPr>
          <p:cNvPr id="8" name="texto">
            <a:extLst xmlns:a="http://schemas.openxmlformats.org/drawingml/2006/main">
              <a:ext uri="{FF2B5EF4-FFF2-40B4-BE49-F238E27FC236}">
                <a16:creationId xmlns:a16="http://schemas.microsoft.com/office/drawing/2014/main" id="{57FD0672-F110-4A38-A2E1-6D6C391EA6A0}"/>
              </a:ext>
            </a:extLst>
          </p:cNvPr>
          <p:cNvSpPr>
            <a:spLocks xmlns:a="http://schemas.openxmlformats.org/drawingml/2006/main" noGrp="1"/>
          </p:cNvSpPr>
          <p:nvPr/>
        </p:nvSpPr>
        <p:spPr>
          <a:xfrm xmlns:a="http://schemas.openxmlformats.org/drawingml/2006/main">
            <a:off x="8001000" y="5572125"/>
            <a:ext cx="34956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hlinkClick xmlns:r="http://schemas.openxmlformats.org/officeDocument/2006/relationships" r:id="Rd07dac14b2f64411"/>
              </a:rPr>
              <a:t>Abrir UML completo</a:t>
            </a:r>
          </a:p>
        </p:txBody>
      </p:sp>
      <p:sp>
        <p:nvSpPr>
          <p:cNvPr id="9" name="texto">
            <a:extLst xmlns:a="http://schemas.openxmlformats.org/drawingml/2006/main">
              <a:ext uri="{FF2B5EF4-FFF2-40B4-BE49-F238E27FC236}">
                <a16:creationId xmlns:a16="http://schemas.microsoft.com/office/drawing/2014/main" id="{1225CD33-A78C-4E83-8BD6-75993CE36DB1}"/>
              </a:ext>
            </a:extLst>
          </p:cNvPr>
          <p:cNvSpPr>
            <a:spLocks xmlns:a="http://schemas.openxmlformats.org/drawingml/2006/main" noGrp="1"/>
          </p:cNvSpPr>
          <p:nvPr/>
        </p:nvSpPr>
        <p:spPr>
          <a:xfrm xmlns:a="http://schemas.openxmlformats.org/drawingml/2006/main">
            <a:off x="609600" y="5572125"/>
            <a:ext cx="685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hlinkClick xmlns:r="http://schemas.openxmlformats.org/officeDocument/2006/relationships" r:id="R91ca6a37a4be430d"/>
              </a:rPr>
              <a:t>Abrir código de Puntaje</a:t>
            </a:r>
          </a:p>
        </p:txBody>
      </p:sp>
    </p:spTree>
    <p:extLst>
      <p:ext uri="{BB962C8B-B14F-4D97-AF65-F5344CB8AC3E}">
        <p14:creationId xmlns:p14="http://schemas.microsoft.com/office/powerpoint/2010/main" val="111335772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6912A40D-E4E0-403E-9573-458E39E2E4CE}"/>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01 de 25</a:t>
            </a:r>
          </a:p>
        </p:txBody>
      </p:sp>
      <p:sp>
        <p:nvSpPr>
          <p:cNvPr id="2" name="titulo-clase">
            <a:extLst xmlns:a="http://schemas.openxmlformats.org/drawingml/2006/main">
              <a:ext uri="{FF2B5EF4-FFF2-40B4-BE49-F238E27FC236}">
                <a16:creationId xmlns:a16="http://schemas.microsoft.com/office/drawing/2014/main" id="{32C6E8F4-893A-424E-811C-50B7A105A472}"/>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Juego</a:t>
            </a:r>
          </a:p>
        </p:txBody>
      </p:sp>
      <p:sp>
        <p:nvSpPr>
          <p:cNvPr id="3" name="etiqueta-uml">
            <a:extLst xmlns:a="http://schemas.openxmlformats.org/drawingml/2006/main">
              <a:ext uri="{FF2B5EF4-FFF2-40B4-BE49-F238E27FC236}">
                <a16:creationId xmlns:a16="http://schemas.microsoft.com/office/drawing/2014/main" id="{60B4FCEE-ED4F-4A15-9EE4-BF0FB29A2B6C}"/>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19448AC3-F5E3-4EA6-9DFD-E98CB2EF780F}"/>
              </a:ext>
            </a:extLst>
          </p:cNvPr>
          <p:cNvPicPr>
            <a:picLocks xmlns:a="http://schemas.openxmlformats.org/drawingml/2006/main" noChangeAspect="1"/>
          </p:cNvPicPr>
          <p:nvPr/>
        </p:nvPicPr>
        <p:blipFill>
          <a:blip xmlns:r="http://schemas.openxmlformats.org/officeDocument/2006/relationships" xmlns:a="http://schemas.openxmlformats.org/drawingml/2006/main" r:embed="R98614d1dc86d4f22"/>
          <a:stretch xmlns:a="http://schemas.openxmlformats.org/drawingml/2006/main"/>
        </p:blipFill>
        <p:spPr>
          <a:xfrm xmlns:a="http://schemas.openxmlformats.org/drawingml/2006/main">
            <a:off x="609600" y="2055384"/>
            <a:ext cx="2762250" cy="4004532"/>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B30DBC94-7E5E-4F94-8818-FB94A339DFB9}"/>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Coordina la campaña, los niveles, los puntos y el estado de la partida.</a:t>
            </a:r>
          </a:p>
        </p:txBody>
      </p:sp>
      <p:sp>
        <p:nvSpPr>
          <p:cNvPr id="6" name="poo-0">
            <a:extLst xmlns:a="http://schemas.openxmlformats.org/drawingml/2006/main">
              <a:ext uri="{FF2B5EF4-FFF2-40B4-BE49-F238E27FC236}">
                <a16:creationId xmlns:a16="http://schemas.microsoft.com/office/drawing/2014/main" id="{BC37EDF9-C6F5-4AA3-BB08-6C9609E82331}"/>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Composición: crea Puntaje, PanelPuntaje y Nivel.</a:t>
            </a:r>
          </a:p>
        </p:txBody>
      </p:sp>
      <p:sp>
        <p:nvSpPr>
          <p:cNvPr id="7" name="poo-1">
            <a:extLst xmlns:a="http://schemas.openxmlformats.org/drawingml/2006/main">
              <a:ext uri="{FF2B5EF4-FFF2-40B4-BE49-F238E27FC236}">
                <a16:creationId xmlns:a16="http://schemas.microsoft.com/office/drawing/2014/main" id="{9FED0D3B-78F9-41B9-ABAE-348A509775C0}"/>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Polimorfismo: delega en el EstadoJuego activo.</a:t>
            </a:r>
          </a:p>
        </p:txBody>
      </p:sp>
      <p:sp>
        <p:nvSpPr>
          <p:cNvPr id="8" name="etiqueta-codigo">
            <a:extLst xmlns:a="http://schemas.openxmlformats.org/drawingml/2006/main">
              <a:ext uri="{FF2B5EF4-FFF2-40B4-BE49-F238E27FC236}">
                <a16:creationId xmlns:a16="http://schemas.microsoft.com/office/drawing/2014/main" id="{BD1CB5AF-8655-499C-9FBD-5730D9EBBAC5}"/>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AE50D461-902A-420C-8B12-8A1E6E3E4BA8}"/>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Juego:</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__init__(self):</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self.puntaje = Puntaje()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self.panel = PanelPuntaje()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self.puntaje.suscribir(self.panel)</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manejar_entrada(self, tecla):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self.estado.manejar_entrada(tecla)</a:t>
            </a:r>
          </a:p>
        </p:txBody>
      </p:sp>
      <p:sp>
        <p:nvSpPr>
          <p:cNvPr id="10" name="enlace-fuente">
            <a:extLst xmlns:a="http://schemas.openxmlformats.org/drawingml/2006/main">
              <a:ext uri="{FF2B5EF4-FFF2-40B4-BE49-F238E27FC236}">
                <a16:creationId xmlns:a16="http://schemas.microsoft.com/office/drawing/2014/main" id="{CE7D8DAF-4055-4A84-B805-6F73069FA473}"/>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00a82243d73a4256"/>
              </a:rPr>
              <a:t>src/juego.py, clase desde línea 7</a:t>
            </a:r>
          </a:p>
        </p:txBody>
      </p:sp>
      <p:sp>
        <p:nvSpPr>
          <p:cNvPr id="11" name="enlace-recorte">
            <a:extLst xmlns:a="http://schemas.openxmlformats.org/drawingml/2006/main">
              <a:ext uri="{FF2B5EF4-FFF2-40B4-BE49-F238E27FC236}">
                <a16:creationId xmlns:a16="http://schemas.microsoft.com/office/drawing/2014/main" id="{4824BC2C-2033-456D-B78D-76E7BEEF4353}"/>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e89882245dce4169"/>
              </a:rPr>
              <a:t>Abrir recorte en tamaño original</a:t>
            </a:r>
          </a:p>
        </p:txBody>
      </p:sp>
    </p:spTree>
    <p:extLst>
      <p:ext uri="{BB962C8B-B14F-4D97-AF65-F5344CB8AC3E}">
        <p14:creationId xmlns:p14="http://schemas.microsoft.com/office/powerpoint/2010/main" val="174039869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3278AB83-BC4E-4EE7-B8DE-6B32714ED749}"/>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02 de 25</a:t>
            </a:r>
          </a:p>
        </p:txBody>
      </p:sp>
      <p:sp>
        <p:nvSpPr>
          <p:cNvPr id="2" name="titulo-clase">
            <a:extLst xmlns:a="http://schemas.openxmlformats.org/drawingml/2006/main">
              <a:ext uri="{FF2B5EF4-FFF2-40B4-BE49-F238E27FC236}">
                <a16:creationId xmlns:a16="http://schemas.microsoft.com/office/drawing/2014/main" id="{1F69E60B-72AA-44EA-A9F2-9F812BCA866C}"/>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EstadoJuego</a:t>
            </a:r>
          </a:p>
        </p:txBody>
      </p:sp>
      <p:sp>
        <p:nvSpPr>
          <p:cNvPr id="3" name="etiqueta-uml">
            <a:extLst xmlns:a="http://schemas.openxmlformats.org/drawingml/2006/main">
              <a:ext uri="{FF2B5EF4-FFF2-40B4-BE49-F238E27FC236}">
                <a16:creationId xmlns:a16="http://schemas.microsoft.com/office/drawing/2014/main" id="{CA2117EB-521E-44E0-975E-0C480E4238FC}"/>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0C83E82A-343B-4C1E-8C7B-5588599466BA}"/>
              </a:ext>
            </a:extLst>
          </p:cNvPr>
          <p:cNvPicPr>
            <a:picLocks xmlns:a="http://schemas.openxmlformats.org/drawingml/2006/main" noChangeAspect="1"/>
          </p:cNvPicPr>
          <p:nvPr/>
        </p:nvPicPr>
        <p:blipFill>
          <a:blip xmlns:r="http://schemas.openxmlformats.org/officeDocument/2006/relationships" xmlns:a="http://schemas.openxmlformats.org/drawingml/2006/main" r:embed="Radc72da01bfc4257"/>
          <a:stretch xmlns:a="http://schemas.openxmlformats.org/drawingml/2006/main"/>
        </p:blipFill>
        <p:spPr>
          <a:xfrm xmlns:a="http://schemas.openxmlformats.org/drawingml/2006/main">
            <a:off x="609600" y="3059411"/>
            <a:ext cx="2762250" cy="1996478"/>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D2EBF2A1-E539-44C7-AF9E-0A91DAB90E9D}"/>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Define las operaciones comunes de los estados de la partida.</a:t>
            </a:r>
          </a:p>
        </p:txBody>
      </p:sp>
      <p:sp>
        <p:nvSpPr>
          <p:cNvPr id="6" name="poo-0">
            <a:extLst xmlns:a="http://schemas.openxmlformats.org/drawingml/2006/main">
              <a:ext uri="{FF2B5EF4-FFF2-40B4-BE49-F238E27FC236}">
                <a16:creationId xmlns:a16="http://schemas.microsoft.com/office/drawing/2014/main" id="{26094271-A4E9-4E29-A1B2-29EF2AC6F9B1}"/>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Abstracción: exige implementar entrada y actualización.</a:t>
            </a:r>
          </a:p>
        </p:txBody>
      </p:sp>
      <p:sp>
        <p:nvSpPr>
          <p:cNvPr id="7" name="poo-1">
            <a:extLst xmlns:a="http://schemas.openxmlformats.org/drawingml/2006/main">
              <a:ext uri="{FF2B5EF4-FFF2-40B4-BE49-F238E27FC236}">
                <a16:creationId xmlns:a16="http://schemas.microsoft.com/office/drawing/2014/main" id="{56EC61FF-F608-4DEB-8273-EAF8929B07E4}"/>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Asociación: conserva el Juego que recibe.</a:t>
            </a:r>
          </a:p>
        </p:txBody>
      </p:sp>
      <p:sp>
        <p:nvSpPr>
          <p:cNvPr id="8" name="etiqueta-codigo">
            <a:extLst xmlns:a="http://schemas.openxmlformats.org/drawingml/2006/main">
              <a:ext uri="{FF2B5EF4-FFF2-40B4-BE49-F238E27FC236}">
                <a16:creationId xmlns:a16="http://schemas.microsoft.com/office/drawing/2014/main" id="{4BEAD1F9-2FBC-49F5-AD59-330F493FBE8B}"/>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2CBF8B05-6677-41B5-9F3B-B3BB53ED594C}"/>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EstadoJuego(ABC):</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__init__(self, juego):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self.juego = juego</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@abstractmethod</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actualizar(self, dt, teclas):</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pass</a:t>
            </a:r>
          </a:p>
        </p:txBody>
      </p:sp>
      <p:sp>
        <p:nvSpPr>
          <p:cNvPr id="10" name="enlace-fuente">
            <a:extLst xmlns:a="http://schemas.openxmlformats.org/drawingml/2006/main">
              <a:ext uri="{FF2B5EF4-FFF2-40B4-BE49-F238E27FC236}">
                <a16:creationId xmlns:a16="http://schemas.microsoft.com/office/drawing/2014/main" id="{C07D65F0-060C-47EC-98C8-D9025463B9DA}"/>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c88757dc039f44f8"/>
              </a:rPr>
              <a:t>src/estados.py, clase desde línea 4</a:t>
            </a:r>
          </a:p>
        </p:txBody>
      </p:sp>
      <p:sp>
        <p:nvSpPr>
          <p:cNvPr id="11" name="enlace-recorte">
            <a:extLst xmlns:a="http://schemas.openxmlformats.org/drawingml/2006/main">
              <a:ext uri="{FF2B5EF4-FFF2-40B4-BE49-F238E27FC236}">
                <a16:creationId xmlns:a16="http://schemas.microsoft.com/office/drawing/2014/main" id="{6B13B69C-27CE-423A-908E-034D50805783}"/>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ce548c6953454b3f"/>
              </a:rPr>
              <a:t>Abrir recorte en tamaño original</a:t>
            </a:r>
          </a:p>
        </p:txBody>
      </p:sp>
    </p:spTree>
    <p:extLst>
      <p:ext uri="{BB962C8B-B14F-4D97-AF65-F5344CB8AC3E}">
        <p14:creationId xmlns:p14="http://schemas.microsoft.com/office/powerpoint/2010/main" val="119507916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B8EA8F28-0F25-4943-A274-3069B63F1BE9}"/>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03 de 25</a:t>
            </a:r>
          </a:p>
        </p:txBody>
      </p:sp>
      <p:sp>
        <p:nvSpPr>
          <p:cNvPr id="2" name="titulo-clase">
            <a:extLst xmlns:a="http://schemas.openxmlformats.org/drawingml/2006/main">
              <a:ext uri="{FF2B5EF4-FFF2-40B4-BE49-F238E27FC236}">
                <a16:creationId xmlns:a16="http://schemas.microsoft.com/office/drawing/2014/main" id="{F55BF69A-98AC-4A5B-8DA0-032BFEF1073A}"/>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Jugando</a:t>
            </a:r>
          </a:p>
        </p:txBody>
      </p:sp>
      <p:sp>
        <p:nvSpPr>
          <p:cNvPr id="3" name="etiqueta-uml">
            <a:extLst xmlns:a="http://schemas.openxmlformats.org/drawingml/2006/main">
              <a:ext uri="{FF2B5EF4-FFF2-40B4-BE49-F238E27FC236}">
                <a16:creationId xmlns:a16="http://schemas.microsoft.com/office/drawing/2014/main" id="{D690FA80-253F-4EAB-ACF4-4E8981BC7941}"/>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5A183250-22F5-4CF5-813E-98233AF2D2CD}"/>
              </a:ext>
            </a:extLst>
          </p:cNvPr>
          <p:cNvPicPr>
            <a:picLocks xmlns:a="http://schemas.openxmlformats.org/drawingml/2006/main" noChangeAspect="1"/>
          </p:cNvPicPr>
          <p:nvPr/>
        </p:nvPicPr>
        <p:blipFill>
          <a:blip xmlns:r="http://schemas.openxmlformats.org/officeDocument/2006/relationships" xmlns:a="http://schemas.openxmlformats.org/drawingml/2006/main" r:embed="R7376dd1e30f24bf2"/>
          <a:stretch xmlns:a="http://schemas.openxmlformats.org/drawingml/2006/main"/>
        </p:blipFill>
        <p:spPr>
          <a:xfrm xmlns:a="http://schemas.openxmlformats.org/drawingml/2006/main">
            <a:off x="609600" y="3233314"/>
            <a:ext cx="2762250" cy="1648673"/>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9C369731-C628-44A3-9792-5CE3BDB7717F}"/>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Mantiene activa la simulación del nivel.</a:t>
            </a:r>
          </a:p>
        </p:txBody>
      </p:sp>
      <p:sp>
        <p:nvSpPr>
          <p:cNvPr id="6" name="poo-0">
            <a:extLst xmlns:a="http://schemas.openxmlformats.org/drawingml/2006/main">
              <a:ext uri="{FF2B5EF4-FFF2-40B4-BE49-F238E27FC236}">
                <a16:creationId xmlns:a16="http://schemas.microsoft.com/office/drawing/2014/main" id="{A279306E-2FDD-4638-AD00-AEA012E0461E}"/>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Herencia: deriva de EstadoJuego.</a:t>
            </a:r>
          </a:p>
        </p:txBody>
      </p:sp>
      <p:sp>
        <p:nvSpPr>
          <p:cNvPr id="7" name="poo-1">
            <a:extLst xmlns:a="http://schemas.openxmlformats.org/drawingml/2006/main">
              <a:ext uri="{FF2B5EF4-FFF2-40B4-BE49-F238E27FC236}">
                <a16:creationId xmlns:a16="http://schemas.microsoft.com/office/drawing/2014/main" id="{34CF120B-1127-4B09-BE5D-D44B015089E6}"/>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Polimorfismo: actualizar ejecuta la simulación.</a:t>
            </a:r>
          </a:p>
        </p:txBody>
      </p:sp>
      <p:sp>
        <p:nvSpPr>
          <p:cNvPr id="8" name="etiqueta-codigo">
            <a:extLst xmlns:a="http://schemas.openxmlformats.org/drawingml/2006/main">
              <a:ext uri="{FF2B5EF4-FFF2-40B4-BE49-F238E27FC236}">
                <a16:creationId xmlns:a16="http://schemas.microsoft.com/office/drawing/2014/main" id="{F6638CC6-85CD-4CC0-A99D-9C86CB2CC171}"/>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C8D88C1D-9B8A-4095-8CFE-9FD12FBF57A5}"/>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Jugando(EstadoJuego):</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actualizar(self, dt, teclas):</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resultado = self.juego.nivel.actualizar(dt, teclas)</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if resultado == "derrota":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self.juego.cambiar_estado(Derrota(self.juego))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elif resultado == "victoria":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self.juego.cambiar_estado(Victoria(self.juego))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elif resultado == "nivel_completado":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self.juego.cambiar_estado(NivelCompletado(self.juego))</a:t>
            </a:r>
          </a:p>
        </p:txBody>
      </p:sp>
      <p:sp>
        <p:nvSpPr>
          <p:cNvPr id="10" name="enlace-fuente">
            <a:extLst xmlns:a="http://schemas.openxmlformats.org/drawingml/2006/main">
              <a:ext uri="{FF2B5EF4-FFF2-40B4-BE49-F238E27FC236}">
                <a16:creationId xmlns:a16="http://schemas.microsoft.com/office/drawing/2014/main" id="{A9D14323-E160-4CAC-9505-E26E693636DC}"/>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653f4ae06ab3431a"/>
              </a:rPr>
              <a:t>src/estados.py, clase desde línea 19</a:t>
            </a:r>
          </a:p>
        </p:txBody>
      </p:sp>
      <p:sp>
        <p:nvSpPr>
          <p:cNvPr id="11" name="enlace-recorte">
            <a:extLst xmlns:a="http://schemas.openxmlformats.org/drawingml/2006/main">
              <a:ext uri="{FF2B5EF4-FFF2-40B4-BE49-F238E27FC236}">
                <a16:creationId xmlns:a16="http://schemas.microsoft.com/office/drawing/2014/main" id="{3BECC2DD-EFD6-4396-B9A3-BF9F7ADAEA37}"/>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5e586c2f6fc8405f"/>
              </a:rPr>
              <a:t>Abrir recorte en tamaño original</a:t>
            </a:r>
          </a:p>
        </p:txBody>
      </p:sp>
    </p:spTree>
    <p:extLst>
      <p:ext uri="{BB962C8B-B14F-4D97-AF65-F5344CB8AC3E}">
        <p14:creationId xmlns:p14="http://schemas.microsoft.com/office/powerpoint/2010/main" val="103085650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3ABB4AA0-E87E-4FBF-BCEA-E77F49072263}"/>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04 de 25</a:t>
            </a:r>
          </a:p>
        </p:txBody>
      </p:sp>
      <p:sp>
        <p:nvSpPr>
          <p:cNvPr id="2" name="titulo-clase">
            <a:extLst xmlns:a="http://schemas.openxmlformats.org/drawingml/2006/main">
              <a:ext uri="{FF2B5EF4-FFF2-40B4-BE49-F238E27FC236}">
                <a16:creationId xmlns:a16="http://schemas.microsoft.com/office/drawing/2014/main" id="{8D6C0E45-A5AA-495B-9660-596083A3ABE6}"/>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Pausa</a:t>
            </a:r>
          </a:p>
        </p:txBody>
      </p:sp>
      <p:sp>
        <p:nvSpPr>
          <p:cNvPr id="3" name="etiqueta-uml">
            <a:extLst xmlns:a="http://schemas.openxmlformats.org/drawingml/2006/main">
              <a:ext uri="{FF2B5EF4-FFF2-40B4-BE49-F238E27FC236}">
                <a16:creationId xmlns:a16="http://schemas.microsoft.com/office/drawing/2014/main" id="{219C4CF2-8521-4849-8E3C-B74586B13194}"/>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ECEB6D41-8B25-40A0-8418-14161DF72C53}"/>
              </a:ext>
            </a:extLst>
          </p:cNvPr>
          <p:cNvPicPr>
            <a:picLocks xmlns:a="http://schemas.openxmlformats.org/drawingml/2006/main" noChangeAspect="1"/>
          </p:cNvPicPr>
          <p:nvPr/>
        </p:nvPicPr>
        <p:blipFill>
          <a:blip xmlns:r="http://schemas.openxmlformats.org/officeDocument/2006/relationships" xmlns:a="http://schemas.openxmlformats.org/drawingml/2006/main" r:embed="R6532067226f94cbd"/>
          <a:stretch xmlns:a="http://schemas.openxmlformats.org/drawingml/2006/main"/>
        </p:blipFill>
        <p:spPr>
          <a:xfrm xmlns:a="http://schemas.openxmlformats.org/drawingml/2006/main">
            <a:off x="609600" y="3203500"/>
            <a:ext cx="2762250" cy="1708299"/>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FACA3F5D-DD27-4EB4-AA20-6AB25C4322B9}"/>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Detiene la simulación hasta que el jugador continúa.</a:t>
            </a:r>
          </a:p>
        </p:txBody>
      </p:sp>
      <p:sp>
        <p:nvSpPr>
          <p:cNvPr id="6" name="poo-0">
            <a:extLst xmlns:a="http://schemas.openxmlformats.org/drawingml/2006/main">
              <a:ext uri="{FF2B5EF4-FFF2-40B4-BE49-F238E27FC236}">
                <a16:creationId xmlns:a16="http://schemas.microsoft.com/office/drawing/2014/main" id="{54405D42-569C-4923-B53B-D9F1CFCC797D}"/>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Herencia: deriva de EstadoJuego.</a:t>
            </a:r>
          </a:p>
        </p:txBody>
      </p:sp>
      <p:sp>
        <p:nvSpPr>
          <p:cNvPr id="7" name="poo-1">
            <a:extLst xmlns:a="http://schemas.openxmlformats.org/drawingml/2006/main">
              <a:ext uri="{FF2B5EF4-FFF2-40B4-BE49-F238E27FC236}">
                <a16:creationId xmlns:a16="http://schemas.microsoft.com/office/drawing/2014/main" id="{2583902D-C16B-42E0-AD41-3B466925C086}"/>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Polimorfismo: actualizar deja el nivel detenido.</a:t>
            </a:r>
          </a:p>
        </p:txBody>
      </p:sp>
      <p:sp>
        <p:nvSpPr>
          <p:cNvPr id="8" name="etiqueta-codigo">
            <a:extLst xmlns:a="http://schemas.openxmlformats.org/drawingml/2006/main">
              <a:ext uri="{FF2B5EF4-FFF2-40B4-BE49-F238E27FC236}">
                <a16:creationId xmlns:a16="http://schemas.microsoft.com/office/drawing/2014/main" id="{AA5F516C-1E27-4311-A6AF-25C9A5989FE7}"/>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53A422D3-2FB1-4EF6-B80D-7D2A1A91A374}"/>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Pausa(EstadoJuego):</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manejar_entrada(self, tecla):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if tecla == "pausa":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self.juego.cambiar_estado(Jugando(self.juego))</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actualizar(self, dt, teclas):</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pass</a:t>
            </a:r>
          </a:p>
        </p:txBody>
      </p:sp>
      <p:sp>
        <p:nvSpPr>
          <p:cNvPr id="10" name="enlace-fuente">
            <a:extLst xmlns:a="http://schemas.openxmlformats.org/drawingml/2006/main">
              <a:ext uri="{FF2B5EF4-FFF2-40B4-BE49-F238E27FC236}">
                <a16:creationId xmlns:a16="http://schemas.microsoft.com/office/drawing/2014/main" id="{04AF18A8-8EC6-4F09-9809-88B34CCA97EB}"/>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955bbac40d7346f5"/>
              </a:rPr>
              <a:t>src/estados.py, clase desde línea 38</a:t>
            </a:r>
          </a:p>
        </p:txBody>
      </p:sp>
      <p:sp>
        <p:nvSpPr>
          <p:cNvPr id="11" name="enlace-recorte">
            <a:extLst xmlns:a="http://schemas.openxmlformats.org/drawingml/2006/main">
              <a:ext uri="{FF2B5EF4-FFF2-40B4-BE49-F238E27FC236}">
                <a16:creationId xmlns:a16="http://schemas.microsoft.com/office/drawing/2014/main" id="{9C91094F-DEB9-4F83-9092-B3200DBDD422}"/>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4943522687e44feb"/>
              </a:rPr>
              <a:t>Abrir recorte en tamaño original</a:t>
            </a:r>
          </a:p>
        </p:txBody>
      </p:sp>
    </p:spTree>
    <p:extLst>
      <p:ext uri="{BB962C8B-B14F-4D97-AF65-F5344CB8AC3E}">
        <p14:creationId xmlns:p14="http://schemas.microsoft.com/office/powerpoint/2010/main" val="180579741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FCD08342-0BC1-4C1B-8BA2-6F5A0E654C21}"/>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05 de 25</a:t>
            </a:r>
          </a:p>
        </p:txBody>
      </p:sp>
      <p:sp>
        <p:nvSpPr>
          <p:cNvPr id="2" name="titulo-clase">
            <a:extLst xmlns:a="http://schemas.openxmlformats.org/drawingml/2006/main">
              <a:ext uri="{FF2B5EF4-FFF2-40B4-BE49-F238E27FC236}">
                <a16:creationId xmlns:a16="http://schemas.microsoft.com/office/drawing/2014/main" id="{6A2485C5-6524-4D3D-AB6A-FBEB54CF6A83}"/>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Derrota</a:t>
            </a:r>
          </a:p>
        </p:txBody>
      </p:sp>
      <p:sp>
        <p:nvSpPr>
          <p:cNvPr id="3" name="etiqueta-uml">
            <a:extLst xmlns:a="http://schemas.openxmlformats.org/drawingml/2006/main">
              <a:ext uri="{FF2B5EF4-FFF2-40B4-BE49-F238E27FC236}">
                <a16:creationId xmlns:a16="http://schemas.microsoft.com/office/drawing/2014/main" id="{DF142DF3-4C68-4F06-849F-6ED65A6F1765}"/>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6145DE53-BDC4-4F9B-B9CF-7EF8F2727A46}"/>
              </a:ext>
            </a:extLst>
          </p:cNvPr>
          <p:cNvPicPr>
            <a:picLocks xmlns:a="http://schemas.openxmlformats.org/drawingml/2006/main" noChangeAspect="1"/>
          </p:cNvPicPr>
          <p:nvPr/>
        </p:nvPicPr>
        <p:blipFill>
          <a:blip xmlns:r="http://schemas.openxmlformats.org/officeDocument/2006/relationships" xmlns:a="http://schemas.openxmlformats.org/drawingml/2006/main" r:embed="R31532eb19902474f"/>
          <a:stretch xmlns:a="http://schemas.openxmlformats.org/drawingml/2006/main"/>
        </p:blipFill>
        <p:spPr>
          <a:xfrm xmlns:a="http://schemas.openxmlformats.org/drawingml/2006/main">
            <a:off x="609600" y="3217179"/>
            <a:ext cx="2762250" cy="1680942"/>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0BB1F237-721A-4539-9685-CCB2A3919D9F}"/>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Espera la decisión del jugador después de perder.</a:t>
            </a:r>
          </a:p>
        </p:txBody>
      </p:sp>
      <p:sp>
        <p:nvSpPr>
          <p:cNvPr id="6" name="poo-0">
            <a:extLst xmlns:a="http://schemas.openxmlformats.org/drawingml/2006/main">
              <a:ext uri="{FF2B5EF4-FFF2-40B4-BE49-F238E27FC236}">
                <a16:creationId xmlns:a16="http://schemas.microsoft.com/office/drawing/2014/main" id="{887E72CA-1682-4FDF-AA1D-9B02549DF863}"/>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Herencia: deriva de EstadoJuego.</a:t>
            </a:r>
          </a:p>
        </p:txBody>
      </p:sp>
      <p:sp>
        <p:nvSpPr>
          <p:cNvPr id="7" name="poo-1">
            <a:extLst xmlns:a="http://schemas.openxmlformats.org/drawingml/2006/main">
              <a:ext uri="{FF2B5EF4-FFF2-40B4-BE49-F238E27FC236}">
                <a16:creationId xmlns:a16="http://schemas.microsoft.com/office/drawing/2014/main" id="{5BE50502-EC22-4BB5-8E09-F9C2D08C7F93}"/>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Polimorfismo: la entrada permite reintentar o reiniciar.</a:t>
            </a:r>
          </a:p>
        </p:txBody>
      </p:sp>
      <p:sp>
        <p:nvSpPr>
          <p:cNvPr id="8" name="etiqueta-codigo">
            <a:extLst xmlns:a="http://schemas.openxmlformats.org/drawingml/2006/main">
              <a:ext uri="{FF2B5EF4-FFF2-40B4-BE49-F238E27FC236}">
                <a16:creationId xmlns:a16="http://schemas.microsoft.com/office/drawing/2014/main" id="{BC773D69-EA25-4772-BE72-E4AE429A7CAD}"/>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6D72FC5C-0A8C-4CCC-996C-255F9984167A}"/>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Derrota(EstadoJuego):</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manejar_entrada(self, tecla):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if tecla == "reiniciar":</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self.juego.reintentar_nivel()</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elif tecla == "nueva_partida":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self.juego.iniciar_partida()</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actualizar(self, dt, teclas):</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pass</a:t>
            </a:r>
          </a:p>
        </p:txBody>
      </p:sp>
      <p:sp>
        <p:nvSpPr>
          <p:cNvPr id="10" name="enlace-fuente">
            <a:extLst xmlns:a="http://schemas.openxmlformats.org/drawingml/2006/main">
              <a:ext uri="{FF2B5EF4-FFF2-40B4-BE49-F238E27FC236}">
                <a16:creationId xmlns:a16="http://schemas.microsoft.com/office/drawing/2014/main" id="{C50029C7-BDE4-47C8-BEA9-853495334049}"/>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4f643d6af7cb423c"/>
              </a:rPr>
              <a:t>src/estados.py, clase desde línea 49</a:t>
            </a:r>
          </a:p>
        </p:txBody>
      </p:sp>
      <p:sp>
        <p:nvSpPr>
          <p:cNvPr id="11" name="enlace-recorte">
            <a:extLst xmlns:a="http://schemas.openxmlformats.org/drawingml/2006/main">
              <a:ext uri="{FF2B5EF4-FFF2-40B4-BE49-F238E27FC236}">
                <a16:creationId xmlns:a16="http://schemas.microsoft.com/office/drawing/2014/main" id="{4A0D523E-ECAD-48E8-93A1-B71D5AD4966E}"/>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16a01c3a93694126"/>
              </a:rPr>
              <a:t>Abrir recorte en tamaño original</a:t>
            </a:r>
          </a:p>
        </p:txBody>
      </p:sp>
    </p:spTree>
    <p:extLst>
      <p:ext uri="{BB962C8B-B14F-4D97-AF65-F5344CB8AC3E}">
        <p14:creationId xmlns:p14="http://schemas.microsoft.com/office/powerpoint/2010/main" val="45606773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77CD281D-F613-4917-A5BD-986E2EED43FA}"/>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06 de 25</a:t>
            </a:r>
          </a:p>
        </p:txBody>
      </p:sp>
      <p:sp>
        <p:nvSpPr>
          <p:cNvPr id="2" name="titulo-clase">
            <a:extLst xmlns:a="http://schemas.openxmlformats.org/drawingml/2006/main">
              <a:ext uri="{FF2B5EF4-FFF2-40B4-BE49-F238E27FC236}">
                <a16:creationId xmlns:a16="http://schemas.microsoft.com/office/drawing/2014/main" id="{7EF5ACDB-56DD-4ED1-8A2D-2C629FC8681E}"/>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Victoria</a:t>
            </a:r>
          </a:p>
        </p:txBody>
      </p:sp>
      <p:sp>
        <p:nvSpPr>
          <p:cNvPr id="3" name="etiqueta-uml">
            <a:extLst xmlns:a="http://schemas.openxmlformats.org/drawingml/2006/main">
              <a:ext uri="{FF2B5EF4-FFF2-40B4-BE49-F238E27FC236}">
                <a16:creationId xmlns:a16="http://schemas.microsoft.com/office/drawing/2014/main" id="{EFB0AD0B-8EDC-4851-920F-93DAA17F460F}"/>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B8D55331-4A54-42BF-968A-14DF220B64CB}"/>
              </a:ext>
            </a:extLst>
          </p:cNvPr>
          <p:cNvPicPr>
            <a:picLocks xmlns:a="http://schemas.openxmlformats.org/drawingml/2006/main" noChangeAspect="1"/>
          </p:cNvPicPr>
          <p:nvPr/>
        </p:nvPicPr>
        <p:blipFill>
          <a:blip xmlns:r="http://schemas.openxmlformats.org/officeDocument/2006/relationships" xmlns:a="http://schemas.openxmlformats.org/drawingml/2006/main" r:embed="R9f0f11ac183f41ef"/>
          <a:stretch xmlns:a="http://schemas.openxmlformats.org/drawingml/2006/main"/>
        </p:blipFill>
        <p:spPr>
          <a:xfrm xmlns:a="http://schemas.openxmlformats.org/drawingml/2006/main">
            <a:off x="609600" y="3221642"/>
            <a:ext cx="2762250" cy="1672017"/>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C116A4CE-3265-4700-A804-91CC15C2480F}"/>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Representa el final de la campaña completada.</a:t>
            </a:r>
          </a:p>
        </p:txBody>
      </p:sp>
      <p:sp>
        <p:nvSpPr>
          <p:cNvPr id="6" name="poo-0">
            <a:extLst xmlns:a="http://schemas.openxmlformats.org/drawingml/2006/main">
              <a:ext uri="{FF2B5EF4-FFF2-40B4-BE49-F238E27FC236}">
                <a16:creationId xmlns:a16="http://schemas.microsoft.com/office/drawing/2014/main" id="{684BFCB0-E7D3-42BA-9511-F3B49111D220}"/>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Herencia: deriva de EstadoJuego.</a:t>
            </a:r>
          </a:p>
        </p:txBody>
      </p:sp>
      <p:sp>
        <p:nvSpPr>
          <p:cNvPr id="7" name="poo-1">
            <a:extLst xmlns:a="http://schemas.openxmlformats.org/drawingml/2006/main">
              <a:ext uri="{FF2B5EF4-FFF2-40B4-BE49-F238E27FC236}">
                <a16:creationId xmlns:a16="http://schemas.microsoft.com/office/drawing/2014/main" id="{754E3F2A-A289-4498-968F-AD774FD1FBE0}"/>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Polimorfismo: reiniciar inicia una campaña nueva.</a:t>
            </a:r>
          </a:p>
        </p:txBody>
      </p:sp>
      <p:sp>
        <p:nvSpPr>
          <p:cNvPr id="8" name="etiqueta-codigo">
            <a:extLst xmlns:a="http://schemas.openxmlformats.org/drawingml/2006/main">
              <a:ext uri="{FF2B5EF4-FFF2-40B4-BE49-F238E27FC236}">
                <a16:creationId xmlns:a16="http://schemas.microsoft.com/office/drawing/2014/main" id="{28C8EE97-8926-4971-B486-BD355BE8F3FC}"/>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52B85A67-9002-46F5-85A2-8B89BCE48DD7}"/>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Victoria(EstadoJuego):</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manejar_entrada(self, tecla):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if tecla == "reiniciar":</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self.juego.iniciar_partida()</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actualizar(self, dt, teclas):</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pass</a:t>
            </a:r>
          </a:p>
        </p:txBody>
      </p:sp>
      <p:sp>
        <p:nvSpPr>
          <p:cNvPr id="10" name="enlace-fuente">
            <a:extLst xmlns:a="http://schemas.openxmlformats.org/drawingml/2006/main">
              <a:ext uri="{FF2B5EF4-FFF2-40B4-BE49-F238E27FC236}">
                <a16:creationId xmlns:a16="http://schemas.microsoft.com/office/drawing/2014/main" id="{B7BDB05D-4195-4BDC-83F4-8941051CAECE}"/>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081171a2e51f4c61"/>
              </a:rPr>
              <a:t>src/estados.py, clase desde línea 62</a:t>
            </a:r>
          </a:p>
        </p:txBody>
      </p:sp>
      <p:sp>
        <p:nvSpPr>
          <p:cNvPr id="11" name="enlace-recorte">
            <a:extLst xmlns:a="http://schemas.openxmlformats.org/drawingml/2006/main">
              <a:ext uri="{FF2B5EF4-FFF2-40B4-BE49-F238E27FC236}">
                <a16:creationId xmlns:a16="http://schemas.microsoft.com/office/drawing/2014/main" id="{83D4A7AB-6318-4999-93E3-012ED936685C}"/>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318701ef48d04c3e"/>
              </a:rPr>
              <a:t>Abrir recorte en tamaño original</a:t>
            </a:r>
          </a:p>
        </p:txBody>
      </p:sp>
    </p:spTree>
    <p:extLst>
      <p:ext uri="{BB962C8B-B14F-4D97-AF65-F5344CB8AC3E}">
        <p14:creationId xmlns:p14="http://schemas.microsoft.com/office/powerpoint/2010/main" val="85428134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FCBCE9B8-0555-4377-924C-17964FF71E8B}"/>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07 de 25</a:t>
            </a:r>
          </a:p>
        </p:txBody>
      </p:sp>
      <p:sp>
        <p:nvSpPr>
          <p:cNvPr id="2" name="titulo-clase">
            <a:extLst xmlns:a="http://schemas.openxmlformats.org/drawingml/2006/main">
              <a:ext uri="{FF2B5EF4-FFF2-40B4-BE49-F238E27FC236}">
                <a16:creationId xmlns:a16="http://schemas.microsoft.com/office/drawing/2014/main" id="{C92239D1-A2A4-48B3-8F26-05753554BE63}"/>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NivelCompletado</a:t>
            </a:r>
          </a:p>
        </p:txBody>
      </p:sp>
      <p:sp>
        <p:nvSpPr>
          <p:cNvPr id="3" name="etiqueta-uml">
            <a:extLst xmlns:a="http://schemas.openxmlformats.org/drawingml/2006/main">
              <a:ext uri="{FF2B5EF4-FFF2-40B4-BE49-F238E27FC236}">
                <a16:creationId xmlns:a16="http://schemas.microsoft.com/office/drawing/2014/main" id="{C26717A6-C962-4238-A157-013088548E5A}"/>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218D8179-9385-477B-BB57-5D671B3260C3}"/>
              </a:ext>
            </a:extLst>
          </p:cNvPr>
          <p:cNvPicPr>
            <a:picLocks xmlns:a="http://schemas.openxmlformats.org/drawingml/2006/main" noChangeAspect="1"/>
          </p:cNvPicPr>
          <p:nvPr/>
        </p:nvPicPr>
        <p:blipFill>
          <a:blip xmlns:r="http://schemas.openxmlformats.org/officeDocument/2006/relationships" xmlns:a="http://schemas.openxmlformats.org/drawingml/2006/main" r:embed="Rec7a816e786f489f"/>
          <a:stretch xmlns:a="http://schemas.openxmlformats.org/drawingml/2006/main"/>
        </p:blipFill>
        <p:spPr>
          <a:xfrm xmlns:a="http://schemas.openxmlformats.org/drawingml/2006/main">
            <a:off x="609600" y="3316135"/>
            <a:ext cx="2762250" cy="1483029"/>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C85D1D19-A0FF-4A83-81DD-B2D3875AC5E7}"/>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Separa el final de un nivel del final de toda la campaña.</a:t>
            </a:r>
          </a:p>
        </p:txBody>
      </p:sp>
      <p:sp>
        <p:nvSpPr>
          <p:cNvPr id="6" name="poo-0">
            <a:extLst xmlns:a="http://schemas.openxmlformats.org/drawingml/2006/main">
              <a:ext uri="{FF2B5EF4-FFF2-40B4-BE49-F238E27FC236}">
                <a16:creationId xmlns:a16="http://schemas.microsoft.com/office/drawing/2014/main" id="{6213D503-833B-4CCB-B95D-2F5F862377BA}"/>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Herencia: deriva de EstadoJuego.</a:t>
            </a:r>
          </a:p>
        </p:txBody>
      </p:sp>
      <p:sp>
        <p:nvSpPr>
          <p:cNvPr id="7" name="poo-1">
            <a:extLst xmlns:a="http://schemas.openxmlformats.org/drawingml/2006/main">
              <a:ext uri="{FF2B5EF4-FFF2-40B4-BE49-F238E27FC236}">
                <a16:creationId xmlns:a16="http://schemas.microsoft.com/office/drawing/2014/main" id="{132C11C4-E8D9-4F2D-81F6-E55A5B377CCD}"/>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Polimorfismo: continuar carga el siguiente nivel.</a:t>
            </a:r>
          </a:p>
        </p:txBody>
      </p:sp>
      <p:sp>
        <p:nvSpPr>
          <p:cNvPr id="8" name="etiqueta-codigo">
            <a:extLst xmlns:a="http://schemas.openxmlformats.org/drawingml/2006/main">
              <a:ext uri="{FF2B5EF4-FFF2-40B4-BE49-F238E27FC236}">
                <a16:creationId xmlns:a16="http://schemas.microsoft.com/office/drawing/2014/main" id="{DBA0E541-1F9A-4316-9FDF-A1AF73FCFA10}"/>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B465B63F-2305-44F6-B12B-E1EAE606AFC2}"/>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NivelCompletado(EstadoJuego):</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manejar_entrada(self, tecla):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if tecla == "continuar":</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self.juego.siguiente_nivel()</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elif tecla == "nueva_partida":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self.juego.iniciar_partida()</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actualizar(self, dt, teclas):</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pass</a:t>
            </a:r>
          </a:p>
        </p:txBody>
      </p:sp>
      <p:sp>
        <p:nvSpPr>
          <p:cNvPr id="10" name="enlace-fuente">
            <a:extLst xmlns:a="http://schemas.openxmlformats.org/drawingml/2006/main">
              <a:ext uri="{FF2B5EF4-FFF2-40B4-BE49-F238E27FC236}">
                <a16:creationId xmlns:a16="http://schemas.microsoft.com/office/drawing/2014/main" id="{4BBB362C-9F84-42B8-81B0-C95BA9F73104}"/>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7ba09b1e342942c3"/>
              </a:rPr>
              <a:t>src/estados.py, clase desde línea 73</a:t>
            </a:r>
          </a:p>
        </p:txBody>
      </p:sp>
      <p:sp>
        <p:nvSpPr>
          <p:cNvPr id="11" name="enlace-recorte">
            <a:extLst xmlns:a="http://schemas.openxmlformats.org/drawingml/2006/main">
              <a:ext uri="{FF2B5EF4-FFF2-40B4-BE49-F238E27FC236}">
                <a16:creationId xmlns:a16="http://schemas.microsoft.com/office/drawing/2014/main" id="{75F557B8-2ED2-4AE5-93E8-7DDF3216774F}"/>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a3815701260c460b"/>
              </a:rPr>
              <a:t>Abrir recorte en tamaño original</a:t>
            </a:r>
          </a:p>
        </p:txBody>
      </p:sp>
    </p:spTree>
    <p:extLst>
      <p:ext uri="{BB962C8B-B14F-4D97-AF65-F5344CB8AC3E}">
        <p14:creationId xmlns:p14="http://schemas.microsoft.com/office/powerpoint/2010/main" val="180764045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apartado-clase">
            <a:extLst xmlns:a="http://schemas.openxmlformats.org/drawingml/2006/main">
              <a:ext uri="{FF2B5EF4-FFF2-40B4-BE49-F238E27FC236}">
                <a16:creationId xmlns:a16="http://schemas.microsoft.com/office/drawing/2014/main" id="{B778F5F7-C545-4791-8156-1BDABA155813}"/>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08 de 25</a:t>
            </a:r>
          </a:p>
        </p:txBody>
      </p:sp>
      <p:sp>
        <p:nvSpPr>
          <p:cNvPr id="2" name="titulo-clase">
            <a:extLst xmlns:a="http://schemas.openxmlformats.org/drawingml/2006/main">
              <a:ext uri="{FF2B5EF4-FFF2-40B4-BE49-F238E27FC236}">
                <a16:creationId xmlns:a16="http://schemas.microsoft.com/office/drawing/2014/main" id="{9A8708C4-A480-486F-A354-73CE81F3F957}"/>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Nivel</a:t>
            </a:r>
          </a:p>
        </p:txBody>
      </p:sp>
      <p:sp>
        <p:nvSpPr>
          <p:cNvPr id="3" name="etiqueta-uml">
            <a:extLst xmlns:a="http://schemas.openxmlformats.org/drawingml/2006/main">
              <a:ext uri="{FF2B5EF4-FFF2-40B4-BE49-F238E27FC236}">
                <a16:creationId xmlns:a16="http://schemas.microsoft.com/office/drawing/2014/main" id="{6E233B33-A816-4488-A3C0-54829B878F45}"/>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87B0C709-9336-4121-AFD3-DFE385E207D3}"/>
              </a:ext>
            </a:extLst>
          </p:cNvPr>
          <p:cNvPicPr>
            <a:picLocks xmlns:a="http://schemas.openxmlformats.org/drawingml/2006/main" noChangeAspect="1"/>
          </p:cNvPicPr>
          <p:nvPr/>
        </p:nvPicPr>
        <p:blipFill>
          <a:blip xmlns:r="http://schemas.openxmlformats.org/officeDocument/2006/relationships" xmlns:a="http://schemas.openxmlformats.org/drawingml/2006/main" r:embed="R15f0a964a5bb4f6d"/>
          <a:stretch xmlns:a="http://schemas.openxmlformats.org/drawingml/2006/main"/>
        </p:blipFill>
        <p:spPr>
          <a:xfrm xmlns:a="http://schemas.openxmlformats.org/drawingml/2006/main">
            <a:off x="939228" y="1866900"/>
            <a:ext cx="2102995" cy="4381500"/>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076F63C0-ED1B-4155-A5E6-DED2527F5D48}"/>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Coordina uno de los cuatro niveles y resuelve sus interacciones.</a:t>
            </a:r>
          </a:p>
        </p:txBody>
      </p:sp>
      <p:sp>
        <p:nvSpPr>
          <p:cNvPr id="6" name="poo-0">
            <a:extLst xmlns:a="http://schemas.openxmlformats.org/drawingml/2006/main">
              <a:ext uri="{FF2B5EF4-FFF2-40B4-BE49-F238E27FC236}">
                <a16:creationId xmlns:a16="http://schemas.microsoft.com/office/drawing/2014/main" id="{7895B4D1-F8B6-4AB4-AAE9-30E5C96B2FC0}"/>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Composición: construye Mapa y personajes.</a:t>
            </a:r>
          </a:p>
        </p:txBody>
      </p:sp>
      <p:sp>
        <p:nvSpPr>
          <p:cNvPr id="7" name="poo-1">
            <a:extLst xmlns:a="http://schemas.openxmlformats.org/drawingml/2006/main">
              <a:ext uri="{FF2B5EF4-FFF2-40B4-BE49-F238E27FC236}">
                <a16:creationId xmlns:a16="http://schemas.microsoft.com/office/drawing/2014/main" id="{997498EC-99E7-499F-9592-910CC5536371}"/>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Agregación: recibe el Puntaje compartido.</a:t>
            </a:r>
          </a:p>
        </p:txBody>
      </p:sp>
      <p:sp>
        <p:nvSpPr>
          <p:cNvPr id="8" name="poo-2">
            <a:extLst xmlns:a="http://schemas.openxmlformats.org/drawingml/2006/main">
              <a:ext uri="{FF2B5EF4-FFF2-40B4-BE49-F238E27FC236}">
                <a16:creationId xmlns:a16="http://schemas.microsoft.com/office/drawing/2014/main" id="{13EAE1F6-D748-4448-9EB1-A0929FCCC543}"/>
              </a:ext>
            </a:extLst>
          </p:cNvPr>
          <p:cNvSpPr>
            <a:spLocks xmlns:a="http://schemas.openxmlformats.org/drawingml/2006/main" noGrp="1"/>
          </p:cNvSpPr>
          <p:nvPr/>
        </p:nvSpPr>
        <p:spPr>
          <a:xfrm xmlns:a="http://schemas.openxmlformats.org/drawingml/2006/main">
            <a:off x="3810000" y="28575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Polimorfismo: llama update sin distinguir personajes.</a:t>
            </a:r>
          </a:p>
        </p:txBody>
      </p:sp>
      <p:sp>
        <p:nvSpPr>
          <p:cNvPr id="9" name="etiqueta-codigo">
            <a:extLst xmlns:a="http://schemas.openxmlformats.org/drawingml/2006/main">
              <a:ext uri="{FF2B5EF4-FFF2-40B4-BE49-F238E27FC236}">
                <a16:creationId xmlns:a16="http://schemas.microsoft.com/office/drawing/2014/main" id="{43BA6B8F-0B29-443C-A936-96701A3F88FE}"/>
              </a:ext>
            </a:extLst>
          </p:cNvPr>
          <p:cNvSpPr>
            <a:spLocks xmlns:a="http://schemas.openxmlformats.org/drawingml/2006/main" noGrp="1"/>
          </p:cNvSpPr>
          <p:nvPr/>
        </p:nvSpPr>
        <p:spPr>
          <a:xfrm xmlns:a="http://schemas.openxmlformats.org/drawingml/2006/main">
            <a:off x="3810000" y="31623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10" name="fragmento-codigo">
            <a:extLst xmlns:a="http://schemas.openxmlformats.org/drawingml/2006/main">
              <a:ext uri="{FF2B5EF4-FFF2-40B4-BE49-F238E27FC236}">
                <a16:creationId xmlns:a16="http://schemas.microsoft.com/office/drawing/2014/main" id="{2D1F6DFA-53B7-4CA4-B13F-312E9EFD7D92}"/>
              </a:ext>
            </a:extLst>
          </p:cNvPr>
          <p:cNvSpPr>
            <a:spLocks xmlns:a="http://schemas.openxmlformats.org/drawingml/2006/main" noGrp="1"/>
          </p:cNvSpPr>
          <p:nvPr/>
        </p:nvSpPr>
        <p:spPr>
          <a:xfrm xmlns:a="http://schemas.openxmlformats.org/drawingml/2006/main">
            <a:off x="3810000" y="3486150"/>
            <a:ext cx="7762875"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Nivel:</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__init__(self, puntaje, indice=0):</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self.puntaje = puntaje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self.mapa = Mapa(PLANOS[indice])</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actualizar(self, dt, teclas):</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for personaje in self.personajes:</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personaje.update()</a:t>
            </a:r>
          </a:p>
        </p:txBody>
      </p:sp>
      <p:sp>
        <p:nvSpPr>
          <p:cNvPr id="11" name="enlace-fuente">
            <a:extLst xmlns:a="http://schemas.openxmlformats.org/drawingml/2006/main">
              <a:ext uri="{FF2B5EF4-FFF2-40B4-BE49-F238E27FC236}">
                <a16:creationId xmlns:a16="http://schemas.microsoft.com/office/drawing/2014/main" id="{B179139E-8ECB-4B7A-914A-CFA834FC50B7}"/>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305b17ca366e4830"/>
              </a:rPr>
              <a:t>src/nivel.py, clase desde línea 85</a:t>
            </a:r>
          </a:p>
        </p:txBody>
      </p:sp>
      <p:sp>
        <p:nvSpPr>
          <p:cNvPr id="12" name="enlace-recorte">
            <a:extLst xmlns:a="http://schemas.openxmlformats.org/drawingml/2006/main">
              <a:ext uri="{FF2B5EF4-FFF2-40B4-BE49-F238E27FC236}">
                <a16:creationId xmlns:a16="http://schemas.microsoft.com/office/drawing/2014/main" id="{C00CEC0F-1B12-4EAE-AECF-441911C6DBF0}"/>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86b84112a5d5437d"/>
              </a:rPr>
              <a:t>Abrir recorte en tamaño original</a:t>
            </a:r>
          </a:p>
        </p:txBody>
      </p:sp>
    </p:spTree>
    <p:extLst>
      <p:ext uri="{BB962C8B-B14F-4D97-AF65-F5344CB8AC3E}">
        <p14:creationId xmlns:p14="http://schemas.microsoft.com/office/powerpoint/2010/main" val="200229794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8EDF4EBA-9A40-4323-AE63-8CB10F5CDBA4}"/>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09 de 25</a:t>
            </a:r>
          </a:p>
        </p:txBody>
      </p:sp>
      <p:sp>
        <p:nvSpPr>
          <p:cNvPr id="2" name="titulo-clase">
            <a:extLst xmlns:a="http://schemas.openxmlformats.org/drawingml/2006/main">
              <a:ext uri="{FF2B5EF4-FFF2-40B4-BE49-F238E27FC236}">
                <a16:creationId xmlns:a16="http://schemas.microsoft.com/office/drawing/2014/main" id="{FB2F9F9E-F198-4ECC-A308-95E61E5FF2BB}"/>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PuertaCelda</a:t>
            </a:r>
          </a:p>
        </p:txBody>
      </p:sp>
      <p:sp>
        <p:nvSpPr>
          <p:cNvPr id="3" name="etiqueta-uml">
            <a:extLst xmlns:a="http://schemas.openxmlformats.org/drawingml/2006/main">
              <a:ext uri="{FF2B5EF4-FFF2-40B4-BE49-F238E27FC236}">
                <a16:creationId xmlns:a16="http://schemas.microsoft.com/office/drawing/2014/main" id="{D27DAD6B-8C71-4FA6-89EE-41AA7BA8D23D}"/>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24AB3127-4954-4B08-8E3A-1DCA88E6A883}"/>
              </a:ext>
            </a:extLst>
          </p:cNvPr>
          <p:cNvPicPr>
            <a:picLocks xmlns:a="http://schemas.openxmlformats.org/drawingml/2006/main" noChangeAspect="1"/>
          </p:cNvPicPr>
          <p:nvPr/>
        </p:nvPicPr>
        <p:blipFill>
          <a:blip xmlns:r="http://schemas.openxmlformats.org/officeDocument/2006/relationships" xmlns:a="http://schemas.openxmlformats.org/drawingml/2006/main" r:embed="R15092f502d8f45c7"/>
          <a:stretch xmlns:a="http://schemas.openxmlformats.org/drawingml/2006/main"/>
        </p:blipFill>
        <p:spPr>
          <a:xfrm xmlns:a="http://schemas.openxmlformats.org/drawingml/2006/main">
            <a:off x="609600" y="3352625"/>
            <a:ext cx="2762250" cy="1410049"/>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42110017-7C4D-436A-88AE-0D4F42C14B52}"/>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Mantiene cerrada la celda inicial y controla cómo se fuerza su puerta.</a:t>
            </a:r>
          </a:p>
        </p:txBody>
      </p:sp>
      <p:sp>
        <p:nvSpPr>
          <p:cNvPr id="6" name="poo-0">
            <a:extLst xmlns:a="http://schemas.openxmlformats.org/drawingml/2006/main">
              <a:ext uri="{FF2B5EF4-FFF2-40B4-BE49-F238E27FC236}">
                <a16:creationId xmlns:a16="http://schemas.microsoft.com/office/drawing/2014/main" id="{72DBDE46-B8EA-4D84-AF6A-74CF4284FEE4}"/>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Composición: Nivel crea su puerta inicial.</a:t>
            </a:r>
          </a:p>
        </p:txBody>
      </p:sp>
      <p:sp>
        <p:nvSpPr>
          <p:cNvPr id="7" name="poo-1">
            <a:extLst xmlns:a="http://schemas.openxmlformats.org/drawingml/2006/main">
              <a:ext uri="{FF2B5EF4-FFF2-40B4-BE49-F238E27FC236}">
                <a16:creationId xmlns:a16="http://schemas.microsoft.com/office/drawing/2014/main" id="{1D885153-02D0-40E2-BE84-34B48A7EC6F7}"/>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Dependencia: actualizar recibe al Prisionero.</a:t>
            </a:r>
          </a:p>
        </p:txBody>
      </p:sp>
      <p:sp>
        <p:nvSpPr>
          <p:cNvPr id="8" name="etiqueta-codigo">
            <a:extLst xmlns:a="http://schemas.openxmlformats.org/drawingml/2006/main">
              <a:ext uri="{FF2B5EF4-FFF2-40B4-BE49-F238E27FC236}">
                <a16:creationId xmlns:a16="http://schemas.microsoft.com/office/drawing/2014/main" id="{757EE8BB-96A1-4765-80EA-9B4627E7F988}"/>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6005CFE3-CB2D-4DCF-9A68-C274CAFAAFD7}"/>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PuertaCelda:</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actualizar(self, dt, prisionero, interactuar):</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if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not interactuar</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or distancia(self.posicion, prisionero.get_posicion())</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&gt; 48</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self.progreso = 0.0</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False</a:t>
            </a:r>
          </a:p>
        </p:txBody>
      </p:sp>
      <p:sp>
        <p:nvSpPr>
          <p:cNvPr id="10" name="enlace-fuente">
            <a:extLst xmlns:a="http://schemas.openxmlformats.org/drawingml/2006/main">
              <a:ext uri="{FF2B5EF4-FFF2-40B4-BE49-F238E27FC236}">
                <a16:creationId xmlns:a16="http://schemas.microsoft.com/office/drawing/2014/main" id="{ACD78F80-3F2B-4A65-A23A-179051E73F1C}"/>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b375b1f0dff04a91"/>
              </a:rPr>
              <a:t>src/nivel.py, clase desde línea 32</a:t>
            </a:r>
          </a:p>
        </p:txBody>
      </p:sp>
      <p:sp>
        <p:nvSpPr>
          <p:cNvPr id="11" name="enlace-recorte">
            <a:extLst xmlns:a="http://schemas.openxmlformats.org/drawingml/2006/main">
              <a:ext uri="{FF2B5EF4-FFF2-40B4-BE49-F238E27FC236}">
                <a16:creationId xmlns:a16="http://schemas.microsoft.com/office/drawing/2014/main" id="{A551B758-3D88-4A49-A204-E86661699912}"/>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32d3fc667fd545da"/>
              </a:rPr>
              <a:t>Abrir recorte en tamaño original</a:t>
            </a:r>
          </a:p>
        </p:txBody>
      </p:sp>
    </p:spTree>
    <p:extLst>
      <p:ext uri="{BB962C8B-B14F-4D97-AF65-F5344CB8AC3E}">
        <p14:creationId xmlns:p14="http://schemas.microsoft.com/office/powerpoint/2010/main" val="9212779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3CC91CDF-15D1-486B-BFBA-865B7B9EE942}"/>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10 de 25</a:t>
            </a:r>
          </a:p>
        </p:txBody>
      </p:sp>
      <p:sp>
        <p:nvSpPr>
          <p:cNvPr id="2" name="titulo-clase">
            <a:extLst xmlns:a="http://schemas.openxmlformats.org/drawingml/2006/main">
              <a:ext uri="{FF2B5EF4-FFF2-40B4-BE49-F238E27FC236}">
                <a16:creationId xmlns:a16="http://schemas.microsoft.com/office/drawing/2014/main" id="{0A53BFE9-6121-49F5-A426-775014E1DE06}"/>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Mapa</a:t>
            </a:r>
          </a:p>
        </p:txBody>
      </p:sp>
      <p:sp>
        <p:nvSpPr>
          <p:cNvPr id="3" name="etiqueta-uml">
            <a:extLst xmlns:a="http://schemas.openxmlformats.org/drawingml/2006/main">
              <a:ext uri="{FF2B5EF4-FFF2-40B4-BE49-F238E27FC236}">
                <a16:creationId xmlns:a16="http://schemas.microsoft.com/office/drawing/2014/main" id="{E29A5108-47C7-49B2-AC76-67C96D6BB13E}"/>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BE5035DD-D2F6-4B80-96B5-59D6705E4324}"/>
              </a:ext>
            </a:extLst>
          </p:cNvPr>
          <p:cNvPicPr>
            <a:picLocks xmlns:a="http://schemas.openxmlformats.org/drawingml/2006/main" noChangeAspect="1"/>
          </p:cNvPicPr>
          <p:nvPr/>
        </p:nvPicPr>
        <p:blipFill>
          <a:blip xmlns:r="http://schemas.openxmlformats.org/officeDocument/2006/relationships" xmlns:a="http://schemas.openxmlformats.org/drawingml/2006/main" r:embed="R4df544f751714a3b"/>
          <a:stretch xmlns:a="http://schemas.openxmlformats.org/drawingml/2006/main"/>
        </p:blipFill>
        <p:spPr>
          <a:xfrm xmlns:a="http://schemas.openxmlformats.org/drawingml/2006/main">
            <a:off x="609600" y="3106010"/>
            <a:ext cx="2762250" cy="1903279"/>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19DC044C-858D-4A35-94F8-9AA5CC683E10}"/>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Conserva el plano y reúne las reglas de paredes y caminos.</a:t>
            </a:r>
          </a:p>
        </p:txBody>
      </p:sp>
      <p:sp>
        <p:nvSpPr>
          <p:cNvPr id="6" name="poo-0">
            <a:extLst xmlns:a="http://schemas.openxmlformats.org/drawingml/2006/main">
              <a:ext uri="{FF2B5EF4-FFF2-40B4-BE49-F238E27FC236}">
                <a16:creationId xmlns:a16="http://schemas.microsoft.com/office/drawing/2014/main" id="{0457A888-BE66-48CC-94F9-A4A0E5CA1BB4}"/>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Composición: Nivel crea su propio Mapa.</a:t>
            </a:r>
          </a:p>
        </p:txBody>
      </p:sp>
      <p:sp>
        <p:nvSpPr>
          <p:cNvPr id="7" name="poo-1">
            <a:extLst xmlns:a="http://schemas.openxmlformats.org/drawingml/2006/main">
              <a:ext uri="{FF2B5EF4-FFF2-40B4-BE49-F238E27FC236}">
                <a16:creationId xmlns:a16="http://schemas.microsoft.com/office/drawing/2014/main" id="{77459CE2-EE24-4710-B472-8AF2E60DF773}"/>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Abstracción: ofrece colisiones y rutas mediante métodos.</a:t>
            </a:r>
          </a:p>
        </p:txBody>
      </p:sp>
      <p:sp>
        <p:nvSpPr>
          <p:cNvPr id="8" name="etiqueta-codigo">
            <a:extLst xmlns:a="http://schemas.openxmlformats.org/drawingml/2006/main">
              <a:ext uri="{FF2B5EF4-FFF2-40B4-BE49-F238E27FC236}">
                <a16:creationId xmlns:a16="http://schemas.microsoft.com/office/drawing/2014/main" id="{79F31273-7777-42C2-9375-23C8786327C4}"/>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F6882585-4199-4012-AD4A-94759D64583B}"/>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Mapa:</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distancia_camino(self, origen, destino):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ruta = self.buscar_ruta(origen, destino)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if not ruta: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math.inf</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sum(</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distancia(a, b) for a, b in zip([origen, *ruta], ruta)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a:t>
            </a:r>
          </a:p>
        </p:txBody>
      </p:sp>
      <p:sp>
        <p:nvSpPr>
          <p:cNvPr id="10" name="enlace-fuente">
            <a:extLst xmlns:a="http://schemas.openxmlformats.org/drawingml/2006/main">
              <a:ext uri="{FF2B5EF4-FFF2-40B4-BE49-F238E27FC236}">
                <a16:creationId xmlns:a16="http://schemas.microsoft.com/office/drawing/2014/main" id="{3AE6C34D-E192-467A-8512-AE0E28B8AADA}"/>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f117dcac3e3e4649"/>
              </a:rPr>
              <a:t>src/mapa.py, clase desde línea 82</a:t>
            </a:r>
          </a:p>
        </p:txBody>
      </p:sp>
      <p:sp>
        <p:nvSpPr>
          <p:cNvPr id="11" name="enlace-recorte">
            <a:extLst xmlns:a="http://schemas.openxmlformats.org/drawingml/2006/main">
              <a:ext uri="{FF2B5EF4-FFF2-40B4-BE49-F238E27FC236}">
                <a16:creationId xmlns:a16="http://schemas.microsoft.com/office/drawing/2014/main" id="{5106BC92-0FE6-4F31-BD4B-54CB3D16731B}"/>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c8cbf4ee9aed4b1c"/>
              </a:rPr>
              <a:t>Abrir recorte en tamaño original</a:t>
            </a:r>
          </a:p>
        </p:txBody>
      </p:sp>
    </p:spTree>
    <p:extLst>
      <p:ext uri="{BB962C8B-B14F-4D97-AF65-F5344CB8AC3E}">
        <p14:creationId xmlns:p14="http://schemas.microsoft.com/office/powerpoint/2010/main" val="107959613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apartado-clase">
            <a:extLst xmlns:a="http://schemas.openxmlformats.org/drawingml/2006/main">
              <a:ext uri="{FF2B5EF4-FFF2-40B4-BE49-F238E27FC236}">
                <a16:creationId xmlns:a16="http://schemas.microsoft.com/office/drawing/2014/main" id="{0C0F372D-4E74-4544-BD8B-2BBD98B87034}"/>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11 de 25</a:t>
            </a:r>
          </a:p>
        </p:txBody>
      </p:sp>
      <p:sp>
        <p:nvSpPr>
          <p:cNvPr id="2" name="titulo-clase">
            <a:extLst xmlns:a="http://schemas.openxmlformats.org/drawingml/2006/main">
              <a:ext uri="{FF2B5EF4-FFF2-40B4-BE49-F238E27FC236}">
                <a16:creationId xmlns:a16="http://schemas.microsoft.com/office/drawing/2014/main" id="{37C31D11-C5A4-4CB5-B6B0-BEAAE8ECF846}"/>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Personaje</a:t>
            </a:r>
          </a:p>
        </p:txBody>
      </p:sp>
      <p:sp>
        <p:nvSpPr>
          <p:cNvPr id="3" name="etiqueta-uml">
            <a:extLst xmlns:a="http://schemas.openxmlformats.org/drawingml/2006/main">
              <a:ext uri="{FF2B5EF4-FFF2-40B4-BE49-F238E27FC236}">
                <a16:creationId xmlns:a16="http://schemas.microsoft.com/office/drawing/2014/main" id="{0832C834-59E2-405E-A757-A12003F18CDE}"/>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31773F55-D398-4EBE-BD85-8580637F754C}"/>
              </a:ext>
            </a:extLst>
          </p:cNvPr>
          <p:cNvPicPr>
            <a:picLocks xmlns:a="http://schemas.openxmlformats.org/drawingml/2006/main" noChangeAspect="1"/>
          </p:cNvPicPr>
          <p:nvPr/>
        </p:nvPicPr>
        <p:blipFill>
          <a:blip xmlns:r="http://schemas.openxmlformats.org/officeDocument/2006/relationships" xmlns:a="http://schemas.openxmlformats.org/drawingml/2006/main" r:embed="Rb643497b6b7b418d"/>
          <a:stretch xmlns:a="http://schemas.openxmlformats.org/drawingml/2006/main"/>
        </p:blipFill>
        <p:spPr>
          <a:xfrm xmlns:a="http://schemas.openxmlformats.org/drawingml/2006/main">
            <a:off x="609600" y="2111098"/>
            <a:ext cx="2762250" cy="3893104"/>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7CBEE9EC-DABF-4612-B1D8-C6F8AA7D3D41}"/>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Reúne posición, tamaño y movimiento de los personajes.</a:t>
            </a:r>
          </a:p>
        </p:txBody>
      </p:sp>
      <p:sp>
        <p:nvSpPr>
          <p:cNvPr id="6" name="poo-0">
            <a:extLst xmlns:a="http://schemas.openxmlformats.org/drawingml/2006/main">
              <a:ext uri="{FF2B5EF4-FFF2-40B4-BE49-F238E27FC236}">
                <a16:creationId xmlns:a16="http://schemas.microsoft.com/office/drawing/2014/main" id="{933A628D-C2A3-41EF-A62A-71456137C511}"/>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Abstracción y herencia: base de Prisionero y Guardia.</a:t>
            </a:r>
          </a:p>
        </p:txBody>
      </p:sp>
      <p:sp>
        <p:nvSpPr>
          <p:cNvPr id="7" name="poo-1">
            <a:extLst xmlns:a="http://schemas.openxmlformats.org/drawingml/2006/main">
              <a:ext uri="{FF2B5EF4-FFF2-40B4-BE49-F238E27FC236}">
                <a16:creationId xmlns:a16="http://schemas.microsoft.com/office/drawing/2014/main" id="{9D6EB7B9-F8E9-43D9-A18B-E1709C963833}"/>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Encapsulamiento: _x, _y y _velocidad son internos.</a:t>
            </a:r>
          </a:p>
        </p:txBody>
      </p:sp>
      <p:sp>
        <p:nvSpPr>
          <p:cNvPr id="8" name="poo-2">
            <a:extLst xmlns:a="http://schemas.openxmlformats.org/drawingml/2006/main">
              <a:ext uri="{FF2B5EF4-FFF2-40B4-BE49-F238E27FC236}">
                <a16:creationId xmlns:a16="http://schemas.microsoft.com/office/drawing/2014/main" id="{2EFB1CF7-6243-4EED-B8D7-93EC8A3F068E}"/>
              </a:ext>
            </a:extLst>
          </p:cNvPr>
          <p:cNvSpPr>
            <a:spLocks xmlns:a="http://schemas.openxmlformats.org/drawingml/2006/main" noGrp="1"/>
          </p:cNvSpPr>
          <p:nvPr/>
        </p:nvSpPr>
        <p:spPr>
          <a:xfrm xmlns:a="http://schemas.openxmlformats.org/drawingml/2006/main">
            <a:off x="3810000" y="28575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Asociación: guarda el Nivel que recibe.</a:t>
            </a:r>
          </a:p>
        </p:txBody>
      </p:sp>
      <p:sp>
        <p:nvSpPr>
          <p:cNvPr id="9" name="etiqueta-codigo">
            <a:extLst xmlns:a="http://schemas.openxmlformats.org/drawingml/2006/main">
              <a:ext uri="{FF2B5EF4-FFF2-40B4-BE49-F238E27FC236}">
                <a16:creationId xmlns:a16="http://schemas.microsoft.com/office/drawing/2014/main" id="{8C6B5107-D18D-4DD2-9769-60B835FF90C2}"/>
              </a:ext>
            </a:extLst>
          </p:cNvPr>
          <p:cNvSpPr>
            <a:spLocks xmlns:a="http://schemas.openxmlformats.org/drawingml/2006/main" noGrp="1"/>
          </p:cNvSpPr>
          <p:nvPr/>
        </p:nvSpPr>
        <p:spPr>
          <a:xfrm xmlns:a="http://schemas.openxmlformats.org/drawingml/2006/main">
            <a:off x="3810000" y="31623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10" name="fragmento-codigo">
            <a:extLst xmlns:a="http://schemas.openxmlformats.org/drawingml/2006/main">
              <a:ext uri="{FF2B5EF4-FFF2-40B4-BE49-F238E27FC236}">
                <a16:creationId xmlns:a16="http://schemas.microsoft.com/office/drawing/2014/main" id="{CD211D21-B501-4FAE-951C-1A6057E20C80}"/>
              </a:ext>
            </a:extLst>
          </p:cNvPr>
          <p:cNvSpPr>
            <a:spLocks xmlns:a="http://schemas.openxmlformats.org/drawingml/2006/main" noGrp="1"/>
          </p:cNvSpPr>
          <p:nvPr/>
        </p:nvSpPr>
        <p:spPr>
          <a:xfrm xmlns:a="http://schemas.openxmlformats.org/drawingml/2006/main">
            <a:off x="3810000" y="3486150"/>
            <a:ext cx="7762875"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13" b="0">
                <a:solidFill>
                  <a:srgbClr val="172F3C"/>
                </a:solidFill>
                <a:latin typeface="DejaVu Sans Mono"/>
                <a:ea typeface="DejaVu Sans Mono"/>
                <a:cs typeface="DejaVu Sans Mono"/>
              </a:defRPr>
            </a:defPPr>
          </a:lstStyle>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class Personaje(ABC):</a:t>
            </a:r>
          </a:p>
          <a:p xmlns:a="http://schemas.openxmlformats.org/drawingml/2006/main">
            <a:r>
              <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def __init__(self, nivel, x, y, velocidad):</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self.nivel = nivel</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self._x = float(x)</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self._y = float(y)</a:t>
            </a:r>
          </a:p>
          <a:p xmlns:a="http://schemas.openxmlformats.org/drawingml/2006/main">
            <a:r>
              <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def get_posicion(self):</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return self._x, self._y</a:t>
            </a:r>
          </a:p>
          <a:p xmlns:a="http://schemas.openxmlformats.org/drawingml/2006/main">
            <a:r>
              <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@abstractmethod</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def update(self):</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pass</a:t>
            </a:r>
          </a:p>
        </p:txBody>
      </p:sp>
      <p:sp>
        <p:nvSpPr>
          <p:cNvPr id="11" name="enlace-fuente">
            <a:extLst xmlns:a="http://schemas.openxmlformats.org/drawingml/2006/main">
              <a:ext uri="{FF2B5EF4-FFF2-40B4-BE49-F238E27FC236}">
                <a16:creationId xmlns:a16="http://schemas.microsoft.com/office/drawing/2014/main" id="{EB70EAF1-E2F2-49EA-BA56-0DA66D7E91CE}"/>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d6de3c7f547843aa"/>
              </a:rPr>
              <a:t>src/personajes.py, clase desde línea 39</a:t>
            </a:r>
          </a:p>
        </p:txBody>
      </p:sp>
      <p:sp>
        <p:nvSpPr>
          <p:cNvPr id="12" name="enlace-recorte">
            <a:extLst xmlns:a="http://schemas.openxmlformats.org/drawingml/2006/main">
              <a:ext uri="{FF2B5EF4-FFF2-40B4-BE49-F238E27FC236}">
                <a16:creationId xmlns:a16="http://schemas.microsoft.com/office/drawing/2014/main" id="{58003179-A8F5-48C6-A9CD-8F04E49B23E8}"/>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56b624b99f144bb3"/>
              </a:rPr>
              <a:t>Abrir recorte en tamaño original</a:t>
            </a:r>
          </a:p>
        </p:txBody>
      </p:sp>
    </p:spTree>
    <p:extLst>
      <p:ext uri="{BB962C8B-B14F-4D97-AF65-F5344CB8AC3E}">
        <p14:creationId xmlns:p14="http://schemas.microsoft.com/office/powerpoint/2010/main" val="39077878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apartado-clase">
            <a:extLst xmlns:a="http://schemas.openxmlformats.org/drawingml/2006/main">
              <a:ext uri="{FF2B5EF4-FFF2-40B4-BE49-F238E27FC236}">
                <a16:creationId xmlns:a16="http://schemas.microsoft.com/office/drawing/2014/main" id="{B6AEC478-8598-4D44-A75E-273FDD0B331A}"/>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12 de 25</a:t>
            </a:r>
          </a:p>
        </p:txBody>
      </p:sp>
      <p:sp>
        <p:nvSpPr>
          <p:cNvPr id="2" name="titulo-clase">
            <a:extLst xmlns:a="http://schemas.openxmlformats.org/drawingml/2006/main">
              <a:ext uri="{FF2B5EF4-FFF2-40B4-BE49-F238E27FC236}">
                <a16:creationId xmlns:a16="http://schemas.microsoft.com/office/drawing/2014/main" id="{4256D3C2-AF55-46E1-AF44-0DAEC88FCD57}"/>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Prisionero</a:t>
            </a:r>
          </a:p>
        </p:txBody>
      </p:sp>
      <p:sp>
        <p:nvSpPr>
          <p:cNvPr id="3" name="etiqueta-uml">
            <a:extLst xmlns:a="http://schemas.openxmlformats.org/drawingml/2006/main">
              <a:ext uri="{FF2B5EF4-FFF2-40B4-BE49-F238E27FC236}">
                <a16:creationId xmlns:a16="http://schemas.microsoft.com/office/drawing/2014/main" id="{5E72B958-A96D-47A0-A60E-7BD041099846}"/>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6D582025-97CC-4564-A4B2-1B95C4928BAF}"/>
              </a:ext>
            </a:extLst>
          </p:cNvPr>
          <p:cNvPicPr>
            <a:picLocks xmlns:a="http://schemas.openxmlformats.org/drawingml/2006/main" noChangeAspect="1"/>
          </p:cNvPicPr>
          <p:nvPr/>
        </p:nvPicPr>
        <p:blipFill>
          <a:blip xmlns:r="http://schemas.openxmlformats.org/officeDocument/2006/relationships" xmlns:a="http://schemas.openxmlformats.org/drawingml/2006/main" r:embed="Rf855a4b419234091"/>
          <a:stretch xmlns:a="http://schemas.openxmlformats.org/drawingml/2006/main"/>
        </p:blipFill>
        <p:spPr>
          <a:xfrm xmlns:a="http://schemas.openxmlformats.org/drawingml/2006/main">
            <a:off x="609600" y="2487699"/>
            <a:ext cx="2762250" cy="3139901"/>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ADAECD59-9809-4737-9C67-F099D0E63488}"/>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Es el personaje controlado por el jugador y el origen del ruido de pasos.</a:t>
            </a:r>
          </a:p>
        </p:txBody>
      </p:sp>
      <p:sp>
        <p:nvSpPr>
          <p:cNvPr id="6" name="poo-0">
            <a:extLst xmlns:a="http://schemas.openxmlformats.org/drawingml/2006/main">
              <a:ext uri="{FF2B5EF4-FFF2-40B4-BE49-F238E27FC236}">
                <a16:creationId xmlns:a16="http://schemas.microsoft.com/office/drawing/2014/main" id="{2E074BF5-FD28-4714-9CB6-597AFD56401A}"/>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Herencia y polimorfismo: implementa update de Personaje.</a:t>
            </a:r>
          </a:p>
        </p:txBody>
      </p:sp>
      <p:sp>
        <p:nvSpPr>
          <p:cNvPr id="7" name="poo-1">
            <a:extLst xmlns:a="http://schemas.openxmlformats.org/drawingml/2006/main">
              <a:ext uri="{FF2B5EF4-FFF2-40B4-BE49-F238E27FC236}">
                <a16:creationId xmlns:a16="http://schemas.microsoft.com/office/drawing/2014/main" id="{E48B9882-23EB-4635-93D7-596FCB09DFB4}"/>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Composición: crea su HabilidadCarrera.</a:t>
            </a:r>
          </a:p>
        </p:txBody>
      </p:sp>
      <p:sp>
        <p:nvSpPr>
          <p:cNvPr id="8" name="poo-2">
            <a:extLst xmlns:a="http://schemas.openxmlformats.org/drawingml/2006/main">
              <a:ext uri="{FF2B5EF4-FFF2-40B4-BE49-F238E27FC236}">
                <a16:creationId xmlns:a16="http://schemas.microsoft.com/office/drawing/2014/main" id="{6636A55B-2D3B-41E1-8B7B-4B39DF143EC8}"/>
              </a:ext>
            </a:extLst>
          </p:cNvPr>
          <p:cNvSpPr>
            <a:spLocks xmlns:a="http://schemas.openxmlformats.org/drawingml/2006/main" noGrp="1"/>
          </p:cNvSpPr>
          <p:nvPr/>
        </p:nvSpPr>
        <p:spPr>
          <a:xfrm xmlns:a="http://schemas.openxmlformats.org/drawingml/2006/main">
            <a:off x="3810000" y="28575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Encapsulamiento: controla _tiene_llave con métodos.</a:t>
            </a:r>
          </a:p>
        </p:txBody>
      </p:sp>
      <p:sp>
        <p:nvSpPr>
          <p:cNvPr id="9" name="etiqueta-codigo">
            <a:extLst xmlns:a="http://schemas.openxmlformats.org/drawingml/2006/main">
              <a:ext uri="{FF2B5EF4-FFF2-40B4-BE49-F238E27FC236}">
                <a16:creationId xmlns:a16="http://schemas.microsoft.com/office/drawing/2014/main" id="{CD03E70A-8B2C-453F-9389-46DD8FC348AC}"/>
              </a:ext>
            </a:extLst>
          </p:cNvPr>
          <p:cNvSpPr>
            <a:spLocks xmlns:a="http://schemas.openxmlformats.org/drawingml/2006/main" noGrp="1"/>
          </p:cNvSpPr>
          <p:nvPr/>
        </p:nvSpPr>
        <p:spPr>
          <a:xfrm xmlns:a="http://schemas.openxmlformats.org/drawingml/2006/main">
            <a:off x="3810000" y="31623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10" name="fragmento-codigo">
            <a:extLst xmlns:a="http://schemas.openxmlformats.org/drawingml/2006/main">
              <a:ext uri="{FF2B5EF4-FFF2-40B4-BE49-F238E27FC236}">
                <a16:creationId xmlns:a16="http://schemas.microsoft.com/office/drawing/2014/main" id="{F3D43D5A-BF6A-43E9-A0E4-0611D50F20AE}"/>
              </a:ext>
            </a:extLst>
          </p:cNvPr>
          <p:cNvSpPr>
            <a:spLocks xmlns:a="http://schemas.openxmlformats.org/drawingml/2006/main" noGrp="1"/>
          </p:cNvSpPr>
          <p:nvPr/>
        </p:nvSpPr>
        <p:spPr>
          <a:xfrm xmlns:a="http://schemas.openxmlformats.org/drawingml/2006/main">
            <a:off x="3810000" y="3486150"/>
            <a:ext cx="7762875"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Prisionero(Personaje):</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__init__(self, nivel, x, y):</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super().__init__(nivel, x, y, 145)</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self.carrera = HabilidadCarrera()</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tiene_llave(self):</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self._tiene_llave</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recoger_llave(self):</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self._tiene_llave = True</a:t>
            </a:r>
          </a:p>
        </p:txBody>
      </p:sp>
      <p:sp>
        <p:nvSpPr>
          <p:cNvPr id="11" name="enlace-fuente">
            <a:extLst xmlns:a="http://schemas.openxmlformats.org/drawingml/2006/main">
              <a:ext uri="{FF2B5EF4-FFF2-40B4-BE49-F238E27FC236}">
                <a16:creationId xmlns:a16="http://schemas.microsoft.com/office/drawing/2014/main" id="{29FA3089-42C3-4E8E-9CB4-1BAF6FEC96BA}"/>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9978591a25e34fa1"/>
              </a:rPr>
              <a:t>src/personajes.py, clase desde línea 58</a:t>
            </a:r>
          </a:p>
        </p:txBody>
      </p:sp>
      <p:sp>
        <p:nvSpPr>
          <p:cNvPr id="12" name="enlace-recorte">
            <a:extLst xmlns:a="http://schemas.openxmlformats.org/drawingml/2006/main">
              <a:ext uri="{FF2B5EF4-FFF2-40B4-BE49-F238E27FC236}">
                <a16:creationId xmlns:a16="http://schemas.microsoft.com/office/drawing/2014/main" id="{5C0DABCD-93BC-44B6-9DD3-997B3DF22AD0}"/>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eced866d83d7435c"/>
              </a:rPr>
              <a:t>Abrir recorte en tamaño original</a:t>
            </a:r>
          </a:p>
        </p:txBody>
      </p:sp>
    </p:spTree>
    <p:extLst>
      <p:ext uri="{BB962C8B-B14F-4D97-AF65-F5344CB8AC3E}">
        <p14:creationId xmlns:p14="http://schemas.microsoft.com/office/powerpoint/2010/main" val="97689877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apartado-clase">
            <a:extLst xmlns:a="http://schemas.openxmlformats.org/drawingml/2006/main">
              <a:ext uri="{FF2B5EF4-FFF2-40B4-BE49-F238E27FC236}">
                <a16:creationId xmlns:a16="http://schemas.microsoft.com/office/drawing/2014/main" id="{FC49B971-4FDB-4090-B0BD-CA5548DAC8D5}"/>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13 de 25</a:t>
            </a:r>
          </a:p>
        </p:txBody>
      </p:sp>
      <p:sp>
        <p:nvSpPr>
          <p:cNvPr id="2" name="titulo-clase">
            <a:extLst xmlns:a="http://schemas.openxmlformats.org/drawingml/2006/main">
              <a:ext uri="{FF2B5EF4-FFF2-40B4-BE49-F238E27FC236}">
                <a16:creationId xmlns:a16="http://schemas.microsoft.com/office/drawing/2014/main" id="{6D420496-2B8A-46EB-9462-A405572A1B70}"/>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Guardia</a:t>
            </a:r>
          </a:p>
        </p:txBody>
      </p:sp>
      <p:sp>
        <p:nvSpPr>
          <p:cNvPr id="3" name="etiqueta-uml">
            <a:extLst xmlns:a="http://schemas.openxmlformats.org/drawingml/2006/main">
              <a:ext uri="{FF2B5EF4-FFF2-40B4-BE49-F238E27FC236}">
                <a16:creationId xmlns:a16="http://schemas.microsoft.com/office/drawing/2014/main" id="{D4821087-37CC-4BCF-9022-55441BF4E7FE}"/>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CBC46661-B220-412D-AB63-92892A253E76}"/>
              </a:ext>
            </a:extLst>
          </p:cNvPr>
          <p:cNvPicPr>
            <a:picLocks xmlns:a="http://schemas.openxmlformats.org/drawingml/2006/main" noChangeAspect="1"/>
          </p:cNvPicPr>
          <p:nvPr/>
        </p:nvPicPr>
        <p:blipFill>
          <a:blip xmlns:r="http://schemas.openxmlformats.org/officeDocument/2006/relationships" xmlns:a="http://schemas.openxmlformats.org/drawingml/2006/main" r:embed="R9d2ecb627d5d4974"/>
          <a:stretch xmlns:a="http://schemas.openxmlformats.org/drawingml/2006/main"/>
        </p:blipFill>
        <p:spPr>
          <a:xfrm xmlns:a="http://schemas.openxmlformats.org/drawingml/2006/main">
            <a:off x="796668" y="1866900"/>
            <a:ext cx="2388115" cy="4381500"/>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DB04A6C7-F713-42F7-B0A9-66C338E5F49B}"/>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Patrulla, escucha ruidos, persigue al jugador y lo captura por contacto.</a:t>
            </a:r>
          </a:p>
        </p:txBody>
      </p:sp>
      <p:sp>
        <p:nvSpPr>
          <p:cNvPr id="6" name="poo-0">
            <a:extLst xmlns:a="http://schemas.openxmlformats.org/drawingml/2006/main">
              <a:ext uri="{FF2B5EF4-FFF2-40B4-BE49-F238E27FC236}">
                <a16:creationId xmlns:a16="http://schemas.microsoft.com/office/drawing/2014/main" id="{A41CA699-AE44-4AB3-A9E7-FED0F4725750}"/>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Herencia y polimorfismo: implementa update de Personaje.</a:t>
            </a:r>
          </a:p>
        </p:txBody>
      </p:sp>
      <p:sp>
        <p:nvSpPr>
          <p:cNvPr id="7" name="poo-1">
            <a:extLst xmlns:a="http://schemas.openxmlformats.org/drawingml/2006/main">
              <a:ext uri="{FF2B5EF4-FFF2-40B4-BE49-F238E27FC236}">
                <a16:creationId xmlns:a16="http://schemas.microsoft.com/office/drawing/2014/main" id="{05FB3999-EC7F-4A3E-97B1-63B8AD70A43F}"/>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Encapsulamiento: gestiona _objetivo y _camino.</a:t>
            </a:r>
          </a:p>
        </p:txBody>
      </p:sp>
      <p:sp>
        <p:nvSpPr>
          <p:cNvPr id="8" name="poo-2">
            <a:extLst xmlns:a="http://schemas.openxmlformats.org/drawingml/2006/main">
              <a:ext uri="{FF2B5EF4-FFF2-40B4-BE49-F238E27FC236}">
                <a16:creationId xmlns:a16="http://schemas.microsoft.com/office/drawing/2014/main" id="{A064A6E2-0D22-4B45-B34A-A1436EBAD64A}"/>
              </a:ext>
            </a:extLst>
          </p:cNvPr>
          <p:cNvSpPr>
            <a:spLocks xmlns:a="http://schemas.openxmlformats.org/drawingml/2006/main" noGrp="1"/>
          </p:cNvSpPr>
          <p:nvPr/>
        </p:nvSpPr>
        <p:spPr>
          <a:xfrm xmlns:a="http://schemas.openxmlformats.org/drawingml/2006/main">
            <a:off x="3810000" y="28575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Dependencia: consulta al Prisionero para detectarlo.</a:t>
            </a:r>
          </a:p>
        </p:txBody>
      </p:sp>
      <p:sp>
        <p:nvSpPr>
          <p:cNvPr id="9" name="etiqueta-codigo">
            <a:extLst xmlns:a="http://schemas.openxmlformats.org/drawingml/2006/main">
              <a:ext uri="{FF2B5EF4-FFF2-40B4-BE49-F238E27FC236}">
                <a16:creationId xmlns:a16="http://schemas.microsoft.com/office/drawing/2014/main" id="{F8089F83-9BC3-4464-B5C6-F076103EF1F6}"/>
              </a:ext>
            </a:extLst>
          </p:cNvPr>
          <p:cNvSpPr>
            <a:spLocks xmlns:a="http://schemas.openxmlformats.org/drawingml/2006/main" noGrp="1"/>
          </p:cNvSpPr>
          <p:nvPr/>
        </p:nvSpPr>
        <p:spPr>
          <a:xfrm xmlns:a="http://schemas.openxmlformats.org/drawingml/2006/main">
            <a:off x="3810000" y="31623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10" name="fragmento-codigo">
            <a:extLst xmlns:a="http://schemas.openxmlformats.org/drawingml/2006/main">
              <a:ext uri="{FF2B5EF4-FFF2-40B4-BE49-F238E27FC236}">
                <a16:creationId xmlns:a16="http://schemas.microsoft.com/office/drawing/2014/main" id="{A964E4AF-429B-4C27-8A70-FC75BE216347}"/>
              </a:ext>
            </a:extLst>
          </p:cNvPr>
          <p:cNvSpPr>
            <a:spLocks xmlns:a="http://schemas.openxmlformats.org/drawingml/2006/main" noGrp="1"/>
          </p:cNvSpPr>
          <p:nvPr/>
        </p:nvSpPr>
        <p:spPr>
          <a:xfrm xmlns:a="http://schemas.openxmlformats.org/drawingml/2006/main">
            <a:off x="3810000" y="3486150"/>
            <a:ext cx="7762875"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Guardia(Personaje):</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__init__(self, nivel, ruta):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self._objetivo = 1</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self._camino = []</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update(self):</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if self.puede_detectar(self.nivel.prisionero):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self.alertar(self.nivel.prisionero.get_posicion())</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elif self.modo == "PERSIGUE" and self._recuerdo == 0:</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self.modo = "BUSCA"</a:t>
            </a:r>
          </a:p>
        </p:txBody>
      </p:sp>
      <p:sp>
        <p:nvSpPr>
          <p:cNvPr id="11" name="enlace-fuente">
            <a:extLst xmlns:a="http://schemas.openxmlformats.org/drawingml/2006/main">
              <a:ext uri="{FF2B5EF4-FFF2-40B4-BE49-F238E27FC236}">
                <a16:creationId xmlns:a16="http://schemas.microsoft.com/office/drawing/2014/main" id="{318615D7-36E8-47F1-8831-737CAEE42003}"/>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33c99ca0f5154ddf"/>
              </a:rPr>
              <a:t>src/personajes.py, clase desde línea 97</a:t>
            </a:r>
          </a:p>
        </p:txBody>
      </p:sp>
      <p:sp>
        <p:nvSpPr>
          <p:cNvPr id="12" name="enlace-recorte">
            <a:extLst xmlns:a="http://schemas.openxmlformats.org/drawingml/2006/main">
              <a:ext uri="{FF2B5EF4-FFF2-40B4-BE49-F238E27FC236}">
                <a16:creationId xmlns:a16="http://schemas.microsoft.com/office/drawing/2014/main" id="{03588EE5-CD0F-45A1-97B3-356D5F13E805}"/>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091d1df4ab0f4816"/>
              </a:rPr>
              <a:t>Abrir recorte en tamaño original</a:t>
            </a:r>
          </a:p>
        </p:txBody>
      </p:sp>
    </p:spTree>
    <p:extLst>
      <p:ext uri="{BB962C8B-B14F-4D97-AF65-F5344CB8AC3E}">
        <p14:creationId xmlns:p14="http://schemas.microsoft.com/office/powerpoint/2010/main" val="51056061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B583E64F-E701-4D24-A8F6-5B108351211C}"/>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14 de 25</a:t>
            </a:r>
          </a:p>
        </p:txBody>
      </p:sp>
      <p:sp>
        <p:nvSpPr>
          <p:cNvPr id="2" name="titulo-clase">
            <a:extLst xmlns:a="http://schemas.openxmlformats.org/drawingml/2006/main">
              <a:ext uri="{FF2B5EF4-FFF2-40B4-BE49-F238E27FC236}">
                <a16:creationId xmlns:a16="http://schemas.microsoft.com/office/drawing/2014/main" id="{5FC4B0D1-665B-4D52-ABCB-8FDA4D4B6F3F}"/>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HabilidadCarrera</a:t>
            </a:r>
          </a:p>
        </p:txBody>
      </p:sp>
      <p:sp>
        <p:nvSpPr>
          <p:cNvPr id="3" name="etiqueta-uml">
            <a:extLst xmlns:a="http://schemas.openxmlformats.org/drawingml/2006/main">
              <a:ext uri="{FF2B5EF4-FFF2-40B4-BE49-F238E27FC236}">
                <a16:creationId xmlns:a16="http://schemas.microsoft.com/office/drawing/2014/main" id="{37881438-0357-4BF7-9907-737705ECD006}"/>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A5C08AD6-FF90-484D-9E48-0E0B2E6CEEF0}"/>
              </a:ext>
            </a:extLst>
          </p:cNvPr>
          <p:cNvPicPr>
            <a:picLocks xmlns:a="http://schemas.openxmlformats.org/drawingml/2006/main" noChangeAspect="1"/>
          </p:cNvPicPr>
          <p:nvPr/>
        </p:nvPicPr>
        <p:blipFill>
          <a:blip xmlns:r="http://schemas.openxmlformats.org/officeDocument/2006/relationships" xmlns:a="http://schemas.openxmlformats.org/drawingml/2006/main" r:embed="Rceffe3d1c80842f1"/>
          <a:stretch xmlns:a="http://schemas.openxmlformats.org/drawingml/2006/main"/>
        </p:blipFill>
        <p:spPr>
          <a:xfrm xmlns:a="http://schemas.openxmlformats.org/drawingml/2006/main">
            <a:off x="609600" y="2839453"/>
            <a:ext cx="2762250" cy="2436395"/>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0A5CB050-A9BD-4BCA-A64E-31AB43A88C08}"/>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Controla el aumento temporal de velocidad del prisionero.</a:t>
            </a:r>
          </a:p>
        </p:txBody>
      </p:sp>
      <p:sp>
        <p:nvSpPr>
          <p:cNvPr id="6" name="poo-0">
            <a:extLst xmlns:a="http://schemas.openxmlformats.org/drawingml/2006/main">
              <a:ext uri="{FF2B5EF4-FFF2-40B4-BE49-F238E27FC236}">
                <a16:creationId xmlns:a16="http://schemas.microsoft.com/office/drawing/2014/main" id="{EAF1E57E-004A-4F35-85A7-45DCE46FB83D}"/>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Encapsulamiento: gestiona _duracion y _recarga.</a:t>
            </a:r>
          </a:p>
        </p:txBody>
      </p:sp>
      <p:sp>
        <p:nvSpPr>
          <p:cNvPr id="7" name="poo-1">
            <a:extLst xmlns:a="http://schemas.openxmlformats.org/drawingml/2006/main">
              <a:ext uri="{FF2B5EF4-FFF2-40B4-BE49-F238E27FC236}">
                <a16:creationId xmlns:a16="http://schemas.microsoft.com/office/drawing/2014/main" id="{CCC02275-88D1-4487-8E00-1A85ED579BB0}"/>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Composición: es creada por cada Prisionero.</a:t>
            </a:r>
          </a:p>
        </p:txBody>
      </p:sp>
      <p:sp>
        <p:nvSpPr>
          <p:cNvPr id="8" name="etiqueta-codigo">
            <a:extLst xmlns:a="http://schemas.openxmlformats.org/drawingml/2006/main">
              <a:ext uri="{FF2B5EF4-FFF2-40B4-BE49-F238E27FC236}">
                <a16:creationId xmlns:a16="http://schemas.microsoft.com/office/drawing/2014/main" id="{2A3D2262-115B-48AC-83E2-987203C6DB98}"/>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1B7263C2-7E56-4161-8914-6C0C99C87BFE}"/>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HabilidadCarrera:</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activar(self):</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if self._duracion &gt; 0 or self._recarga &gt; 0:</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False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self._duracion = 2.0</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True</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get_multiplicador(self):</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if self._duracion &gt; 0:</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1.5</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1.0</a:t>
            </a:r>
          </a:p>
        </p:txBody>
      </p:sp>
      <p:sp>
        <p:nvSpPr>
          <p:cNvPr id="10" name="enlace-fuente">
            <a:extLst xmlns:a="http://schemas.openxmlformats.org/drawingml/2006/main">
              <a:ext uri="{FF2B5EF4-FFF2-40B4-BE49-F238E27FC236}">
                <a16:creationId xmlns:a16="http://schemas.microsoft.com/office/drawing/2014/main" id="{11D7D49F-52D0-4DD4-B60A-26E5D32C15E0}"/>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23abd6fb0a144790"/>
              </a:rPr>
              <a:t>src/personajes.py, clase desde línea 6</a:t>
            </a:r>
          </a:p>
        </p:txBody>
      </p:sp>
      <p:sp>
        <p:nvSpPr>
          <p:cNvPr id="11" name="enlace-recorte">
            <a:extLst xmlns:a="http://schemas.openxmlformats.org/drawingml/2006/main">
              <a:ext uri="{FF2B5EF4-FFF2-40B4-BE49-F238E27FC236}">
                <a16:creationId xmlns:a16="http://schemas.microsoft.com/office/drawing/2014/main" id="{A37B0612-5B62-4831-8EC3-E118B8A27B64}"/>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01af2836561a4232"/>
              </a:rPr>
              <a:t>Abrir recorte en tamaño original</a:t>
            </a:r>
          </a:p>
        </p:txBody>
      </p:sp>
    </p:spTree>
    <p:extLst>
      <p:ext uri="{BB962C8B-B14F-4D97-AF65-F5344CB8AC3E}">
        <p14:creationId xmlns:p14="http://schemas.microsoft.com/office/powerpoint/2010/main" val="143293769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apartado-clase">
            <a:extLst xmlns:a="http://schemas.openxmlformats.org/drawingml/2006/main">
              <a:ext uri="{FF2B5EF4-FFF2-40B4-BE49-F238E27FC236}">
                <a16:creationId xmlns:a16="http://schemas.microsoft.com/office/drawing/2014/main" id="{37CEED01-0CA6-4FF8-8DEA-4C03069D9CD4}"/>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15 de 25</a:t>
            </a:r>
          </a:p>
        </p:txBody>
      </p:sp>
      <p:sp>
        <p:nvSpPr>
          <p:cNvPr id="2" name="titulo-clase">
            <a:extLst xmlns:a="http://schemas.openxmlformats.org/drawingml/2006/main">
              <a:ext uri="{FF2B5EF4-FFF2-40B4-BE49-F238E27FC236}">
                <a16:creationId xmlns:a16="http://schemas.microsoft.com/office/drawing/2014/main" id="{D107B94A-7593-456F-BDF3-53DE3DC41DE3}"/>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SistemaRuido</a:t>
            </a:r>
          </a:p>
        </p:txBody>
      </p:sp>
      <p:sp>
        <p:nvSpPr>
          <p:cNvPr id="3" name="etiqueta-uml">
            <a:extLst xmlns:a="http://schemas.openxmlformats.org/drawingml/2006/main">
              <a:ext uri="{FF2B5EF4-FFF2-40B4-BE49-F238E27FC236}">
                <a16:creationId xmlns:a16="http://schemas.microsoft.com/office/drawing/2014/main" id="{BB8B410A-FF96-4A5C-9005-EBCBCD555B10}"/>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1FA533C4-CF80-455C-AB41-AF7943E44D54}"/>
              </a:ext>
            </a:extLst>
          </p:cNvPr>
          <p:cNvPicPr>
            <a:picLocks xmlns:a="http://schemas.openxmlformats.org/drawingml/2006/main" noChangeAspect="1"/>
          </p:cNvPicPr>
          <p:nvPr/>
        </p:nvPicPr>
        <p:blipFill>
          <a:blip xmlns:r="http://schemas.openxmlformats.org/officeDocument/2006/relationships" xmlns:a="http://schemas.openxmlformats.org/drawingml/2006/main" r:embed="R43e8bef0531249a0"/>
          <a:stretch xmlns:a="http://schemas.openxmlformats.org/drawingml/2006/main"/>
        </p:blipFill>
        <p:spPr>
          <a:xfrm xmlns:a="http://schemas.openxmlformats.org/drawingml/2006/main">
            <a:off x="609600" y="3198577"/>
            <a:ext cx="2762250" cy="1718146"/>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9E1C8610-D17D-4E95-A2B8-19A231EBB100}"/>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Emite los ruidos de pasos y avisa a los guardias que pueden escucharlos.</a:t>
            </a:r>
          </a:p>
        </p:txBody>
      </p:sp>
      <p:sp>
        <p:nvSpPr>
          <p:cNvPr id="6" name="poo-0">
            <a:extLst xmlns:a="http://schemas.openxmlformats.org/drawingml/2006/main">
              <a:ext uri="{FF2B5EF4-FFF2-40B4-BE49-F238E27FC236}">
                <a16:creationId xmlns:a16="http://schemas.microsoft.com/office/drawing/2014/main" id="{B6C430AD-A522-4BAF-AEC2-F5D2AE548146}"/>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Asociación: conserva el Mapa recibido.</a:t>
            </a:r>
          </a:p>
        </p:txBody>
      </p:sp>
      <p:sp>
        <p:nvSpPr>
          <p:cNvPr id="7" name="poo-1">
            <a:extLst xmlns:a="http://schemas.openxmlformats.org/drawingml/2006/main">
              <a:ext uri="{FF2B5EF4-FFF2-40B4-BE49-F238E27FC236}">
                <a16:creationId xmlns:a16="http://schemas.microsoft.com/office/drawing/2014/main" id="{3101AFC6-8CB4-426F-94C4-82C0FF11F93A}"/>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Agregación: registra guardias creados por Nivel.</a:t>
            </a:r>
          </a:p>
        </p:txBody>
      </p:sp>
      <p:sp>
        <p:nvSpPr>
          <p:cNvPr id="8" name="poo-2">
            <a:extLst xmlns:a="http://schemas.openxmlformats.org/drawingml/2006/main">
              <a:ext uri="{FF2B5EF4-FFF2-40B4-BE49-F238E27FC236}">
                <a16:creationId xmlns:a16="http://schemas.microsoft.com/office/drawing/2014/main" id="{5808F15F-A360-4E4A-B7E5-8F24F8CA2487}"/>
              </a:ext>
            </a:extLst>
          </p:cNvPr>
          <p:cNvSpPr>
            <a:spLocks xmlns:a="http://schemas.openxmlformats.org/drawingml/2006/main" noGrp="1"/>
          </p:cNvSpPr>
          <p:nvPr/>
        </p:nvSpPr>
        <p:spPr>
          <a:xfrm xmlns:a="http://schemas.openxmlformats.org/drawingml/2006/main">
            <a:off x="3810000" y="28575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Notificación: avisa a los oyentes que pueden escuchar.</a:t>
            </a:r>
          </a:p>
        </p:txBody>
      </p:sp>
      <p:sp>
        <p:nvSpPr>
          <p:cNvPr id="9" name="etiqueta-codigo">
            <a:extLst xmlns:a="http://schemas.openxmlformats.org/drawingml/2006/main">
              <a:ext uri="{FF2B5EF4-FFF2-40B4-BE49-F238E27FC236}">
                <a16:creationId xmlns:a16="http://schemas.microsoft.com/office/drawing/2014/main" id="{3314C5DE-DE4A-40C1-B56B-FBC898613843}"/>
              </a:ext>
            </a:extLst>
          </p:cNvPr>
          <p:cNvSpPr>
            <a:spLocks xmlns:a="http://schemas.openxmlformats.org/drawingml/2006/main" noGrp="1"/>
          </p:cNvSpPr>
          <p:nvPr/>
        </p:nvSpPr>
        <p:spPr>
          <a:xfrm xmlns:a="http://schemas.openxmlformats.org/drawingml/2006/main">
            <a:off x="3810000" y="31623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10" name="fragmento-codigo">
            <a:extLst xmlns:a="http://schemas.openxmlformats.org/drawingml/2006/main">
              <a:ext uri="{FF2B5EF4-FFF2-40B4-BE49-F238E27FC236}">
                <a16:creationId xmlns:a16="http://schemas.microsoft.com/office/drawing/2014/main" id="{D272F271-442F-4623-91D0-7922BFE53CCD}"/>
              </a:ext>
            </a:extLst>
          </p:cNvPr>
          <p:cNvSpPr>
            <a:spLocks xmlns:a="http://schemas.openxmlformats.org/drawingml/2006/main" noGrp="1"/>
          </p:cNvSpPr>
          <p:nvPr/>
        </p:nvSpPr>
        <p:spPr>
          <a:xfrm xmlns:a="http://schemas.openxmlformats.org/drawingml/2006/main">
            <a:off x="3810000" y="3486150"/>
            <a:ext cx="7762875"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SistemaRuido:</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__init__(self, mapa):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self.mapa = mapa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self.oyentes = []</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registrar(self, oyente):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if oyente not in self.oyentes:</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self.oyentes.append(oyente)</a:t>
            </a:r>
          </a:p>
        </p:txBody>
      </p:sp>
      <p:sp>
        <p:nvSpPr>
          <p:cNvPr id="11" name="enlace-fuente">
            <a:extLst xmlns:a="http://schemas.openxmlformats.org/drawingml/2006/main">
              <a:ext uri="{FF2B5EF4-FFF2-40B4-BE49-F238E27FC236}">
                <a16:creationId xmlns:a16="http://schemas.microsoft.com/office/drawing/2014/main" id="{7643BEDA-AC3D-4FDD-9F45-5AC3A01E9A7F}"/>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c62491385f224c47"/>
              </a:rPr>
              <a:t>src/ruido.py, clase desde línea 4</a:t>
            </a:r>
          </a:p>
        </p:txBody>
      </p:sp>
      <p:sp>
        <p:nvSpPr>
          <p:cNvPr id="12" name="enlace-recorte">
            <a:extLst xmlns:a="http://schemas.openxmlformats.org/drawingml/2006/main">
              <a:ext uri="{FF2B5EF4-FFF2-40B4-BE49-F238E27FC236}">
                <a16:creationId xmlns:a16="http://schemas.microsoft.com/office/drawing/2014/main" id="{91ED8FD6-99BC-4313-9A9F-EF04A9461111}"/>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04d60af16ad44eab"/>
              </a:rPr>
              <a:t>Abrir recorte en tamaño original</a:t>
            </a:r>
          </a:p>
        </p:txBody>
      </p:sp>
    </p:spTree>
    <p:extLst>
      <p:ext uri="{BB962C8B-B14F-4D97-AF65-F5344CB8AC3E}">
        <p14:creationId xmlns:p14="http://schemas.microsoft.com/office/powerpoint/2010/main" val="63290569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08CA966C-2FFA-45DC-99BF-19133E5B5BA5}"/>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16 de 25</a:t>
            </a:r>
          </a:p>
        </p:txBody>
      </p:sp>
      <p:sp>
        <p:nvSpPr>
          <p:cNvPr id="2" name="titulo-clase">
            <a:extLst xmlns:a="http://schemas.openxmlformats.org/drawingml/2006/main">
              <a:ext uri="{FF2B5EF4-FFF2-40B4-BE49-F238E27FC236}">
                <a16:creationId xmlns:a16="http://schemas.microsoft.com/office/drawing/2014/main" id="{9ADDB5BA-9603-47EC-ADB8-6BC4EDF9B9B2}"/>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Camara</a:t>
            </a:r>
          </a:p>
        </p:txBody>
      </p:sp>
      <p:sp>
        <p:nvSpPr>
          <p:cNvPr id="3" name="etiqueta-uml">
            <a:extLst xmlns:a="http://schemas.openxmlformats.org/drawingml/2006/main">
              <a:ext uri="{FF2B5EF4-FFF2-40B4-BE49-F238E27FC236}">
                <a16:creationId xmlns:a16="http://schemas.microsoft.com/office/drawing/2014/main" id="{33C8EEF1-3F1C-4AFE-9B57-029ED93275C0}"/>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B493087E-9DC1-47A5-86E3-6C495086FCA2}"/>
              </a:ext>
            </a:extLst>
          </p:cNvPr>
          <p:cNvPicPr>
            <a:picLocks xmlns:a="http://schemas.openxmlformats.org/drawingml/2006/main" noChangeAspect="1"/>
          </p:cNvPicPr>
          <p:nvPr/>
        </p:nvPicPr>
        <p:blipFill>
          <a:blip xmlns:r="http://schemas.openxmlformats.org/officeDocument/2006/relationships" xmlns:a="http://schemas.openxmlformats.org/drawingml/2006/main" r:embed="Rd1c5b6324c314440"/>
          <a:stretch xmlns:a="http://schemas.openxmlformats.org/drawingml/2006/main"/>
        </p:blipFill>
        <p:spPr>
          <a:xfrm xmlns:a="http://schemas.openxmlformats.org/drawingml/2006/main">
            <a:off x="609600" y="2942655"/>
            <a:ext cx="2762250" cy="2229989"/>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2FC6A75C-E39E-458E-A555-1CA009FC8FD2}"/>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Comprueba si el prisionero está dentro de su campo de visión.</a:t>
            </a:r>
          </a:p>
        </p:txBody>
      </p:sp>
      <p:sp>
        <p:nvSpPr>
          <p:cNvPr id="6" name="poo-0">
            <a:extLst xmlns:a="http://schemas.openxmlformats.org/drawingml/2006/main">
              <a:ext uri="{FF2B5EF4-FFF2-40B4-BE49-F238E27FC236}">
                <a16:creationId xmlns:a16="http://schemas.microsoft.com/office/drawing/2014/main" id="{0A87B801-7C27-4FB4-B326-A13CEA92D944}"/>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Composición: Nivel construye sus cámaras.</a:t>
            </a:r>
          </a:p>
        </p:txBody>
      </p:sp>
      <p:sp>
        <p:nvSpPr>
          <p:cNvPr id="7" name="poo-1">
            <a:extLst xmlns:a="http://schemas.openxmlformats.org/drawingml/2006/main">
              <a:ext uri="{FF2B5EF4-FFF2-40B4-BE49-F238E27FC236}">
                <a16:creationId xmlns:a16="http://schemas.microsoft.com/office/drawing/2014/main" id="{0ECEFC04-E2DB-40FB-8737-4F4E129C6F57}"/>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Dependencia: detectar recibe Prisionero y muros.</a:t>
            </a:r>
          </a:p>
        </p:txBody>
      </p:sp>
      <p:sp>
        <p:nvSpPr>
          <p:cNvPr id="8" name="etiqueta-codigo">
            <a:extLst xmlns:a="http://schemas.openxmlformats.org/drawingml/2006/main">
              <a:ext uri="{FF2B5EF4-FFF2-40B4-BE49-F238E27FC236}">
                <a16:creationId xmlns:a16="http://schemas.microsoft.com/office/drawing/2014/main" id="{B919006E-6519-4835-9DC4-2FBE67417E6F}"/>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E4DB8E91-0CD3-4F51-90C1-6C197AECD32E}"/>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Camara:</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detectar(self, prisionero, muros):</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dentro_de_vision(</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self.posicion,</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prisionero.get_posicion(),</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self.angulo,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self.alcance,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self.apertura,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muros,</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prisionero.radio,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a:t>
            </a:r>
          </a:p>
        </p:txBody>
      </p:sp>
      <p:sp>
        <p:nvSpPr>
          <p:cNvPr id="10" name="enlace-fuente">
            <a:extLst xmlns:a="http://schemas.openxmlformats.org/drawingml/2006/main">
              <a:ext uri="{FF2B5EF4-FFF2-40B4-BE49-F238E27FC236}">
                <a16:creationId xmlns:a16="http://schemas.microsoft.com/office/drawing/2014/main" id="{58FDA4E1-B90F-4C14-8253-02B0E89018A4}"/>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83711aa2e5364d3c"/>
              </a:rPr>
              <a:t>src/nivel.py, clase desde línea 51</a:t>
            </a:r>
          </a:p>
        </p:txBody>
      </p:sp>
      <p:sp>
        <p:nvSpPr>
          <p:cNvPr id="11" name="enlace-recorte">
            <a:extLst xmlns:a="http://schemas.openxmlformats.org/drawingml/2006/main">
              <a:ext uri="{FF2B5EF4-FFF2-40B4-BE49-F238E27FC236}">
                <a16:creationId xmlns:a16="http://schemas.microsoft.com/office/drawing/2014/main" id="{75737399-35DD-4F50-BA70-F4CE2812058E}"/>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27e1637338c74bdc"/>
              </a:rPr>
              <a:t>Abrir recorte en tamaño original</a:t>
            </a:r>
          </a:p>
        </p:txBody>
      </p:sp>
    </p:spTree>
    <p:extLst>
      <p:ext uri="{BB962C8B-B14F-4D97-AF65-F5344CB8AC3E}">
        <p14:creationId xmlns:p14="http://schemas.microsoft.com/office/powerpoint/2010/main" val="62836572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6475A754-1919-4661-9373-6227663C811C}"/>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17 de 25</a:t>
            </a:r>
          </a:p>
        </p:txBody>
      </p:sp>
      <p:sp>
        <p:nvSpPr>
          <p:cNvPr id="2" name="titulo-clase">
            <a:extLst xmlns:a="http://schemas.openxmlformats.org/drawingml/2006/main">
              <a:ext uri="{FF2B5EF4-FFF2-40B4-BE49-F238E27FC236}">
                <a16:creationId xmlns:a16="http://schemas.microsoft.com/office/drawing/2014/main" id="{E3F217C4-6D4C-42C8-BE32-B2BF8FB1BCB6}"/>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Llave</a:t>
            </a:r>
          </a:p>
        </p:txBody>
      </p:sp>
      <p:sp>
        <p:nvSpPr>
          <p:cNvPr id="3" name="etiqueta-uml">
            <a:extLst xmlns:a="http://schemas.openxmlformats.org/drawingml/2006/main">
              <a:ext uri="{FF2B5EF4-FFF2-40B4-BE49-F238E27FC236}">
                <a16:creationId xmlns:a16="http://schemas.microsoft.com/office/drawing/2014/main" id="{D40F50A4-A5CE-4598-926A-32A875E24B4B}"/>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51F8ED12-E4F1-4E06-9EFE-EB287A879B8C}"/>
              </a:ext>
            </a:extLst>
          </p:cNvPr>
          <p:cNvPicPr>
            <a:picLocks xmlns:a="http://schemas.openxmlformats.org/drawingml/2006/main" noChangeAspect="1"/>
          </p:cNvPicPr>
          <p:nvPr/>
        </p:nvPicPr>
        <p:blipFill>
          <a:blip xmlns:r="http://schemas.openxmlformats.org/officeDocument/2006/relationships" xmlns:a="http://schemas.openxmlformats.org/drawingml/2006/main" r:embed="Rfa17b68b011b43b5"/>
          <a:stretch xmlns:a="http://schemas.openxmlformats.org/drawingml/2006/main"/>
        </p:blipFill>
        <p:spPr>
          <a:xfrm xmlns:a="http://schemas.openxmlformats.org/drawingml/2006/main">
            <a:off x="609600" y="3054795"/>
            <a:ext cx="2762250" cy="2005710"/>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D1997612-54DE-477B-878A-7C50A8E4D9AE}"/>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Es el objeto que habilita la salida.</a:t>
            </a:r>
          </a:p>
        </p:txBody>
      </p:sp>
      <p:sp>
        <p:nvSpPr>
          <p:cNvPr id="6" name="poo-0">
            <a:extLst xmlns:a="http://schemas.openxmlformats.org/drawingml/2006/main">
              <a:ext uri="{FF2B5EF4-FFF2-40B4-BE49-F238E27FC236}">
                <a16:creationId xmlns:a16="http://schemas.microsoft.com/office/drawing/2014/main" id="{BBECAFAD-FDF4-4D88-B3FA-EFC8A7BF68CF}"/>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Composición: cada Nivel crea su Llave.</a:t>
            </a:r>
          </a:p>
        </p:txBody>
      </p:sp>
      <p:sp>
        <p:nvSpPr>
          <p:cNvPr id="7" name="poo-1">
            <a:extLst xmlns:a="http://schemas.openxmlformats.org/drawingml/2006/main">
              <a:ext uri="{FF2B5EF4-FFF2-40B4-BE49-F238E27FC236}">
                <a16:creationId xmlns:a16="http://schemas.microsoft.com/office/drawing/2014/main" id="{F30E9B71-7B92-4C68-A3EB-532A44EABB22}"/>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Dependencia: recoger utiliza el Prisionero recibido.</a:t>
            </a:r>
          </a:p>
        </p:txBody>
      </p:sp>
      <p:sp>
        <p:nvSpPr>
          <p:cNvPr id="8" name="etiqueta-codigo">
            <a:extLst xmlns:a="http://schemas.openxmlformats.org/drawingml/2006/main">
              <a:ext uri="{FF2B5EF4-FFF2-40B4-BE49-F238E27FC236}">
                <a16:creationId xmlns:a16="http://schemas.microsoft.com/office/drawing/2014/main" id="{2B4F0A35-D717-4B63-9773-3F10A3F34681}"/>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E6E82875-478D-4820-83E2-DF2E77115D91}"/>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Llave:</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recoger(self, prisionero):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if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self.disponible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and distancia(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self.posicion, prisionero.get_posicion()</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&lt; 22</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self.disponible = False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prisionero.recoger_llave()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True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False</a:t>
            </a:r>
          </a:p>
        </p:txBody>
      </p:sp>
      <p:sp>
        <p:nvSpPr>
          <p:cNvPr id="10" name="enlace-fuente">
            <a:extLst xmlns:a="http://schemas.openxmlformats.org/drawingml/2006/main">
              <a:ext uri="{FF2B5EF4-FFF2-40B4-BE49-F238E27FC236}">
                <a16:creationId xmlns:a16="http://schemas.microsoft.com/office/drawing/2014/main" id="{88B34B8C-F515-40C0-B5B4-3C47EFB803E2}"/>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24e397765f2b4a07"/>
              </a:rPr>
              <a:t>src/nivel.py, clase desde línea 64</a:t>
            </a:r>
          </a:p>
        </p:txBody>
      </p:sp>
      <p:sp>
        <p:nvSpPr>
          <p:cNvPr id="11" name="enlace-recorte">
            <a:extLst xmlns:a="http://schemas.openxmlformats.org/drawingml/2006/main">
              <a:ext uri="{FF2B5EF4-FFF2-40B4-BE49-F238E27FC236}">
                <a16:creationId xmlns:a16="http://schemas.microsoft.com/office/drawing/2014/main" id="{C1CF9F2C-7FD8-4E8F-AE40-A6E90724BD3A}"/>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1e25117f9d5c47ba"/>
              </a:rPr>
              <a:t>Abrir recorte en tamaño original</a:t>
            </a:r>
          </a:p>
        </p:txBody>
      </p:sp>
    </p:spTree>
    <p:extLst>
      <p:ext uri="{BB962C8B-B14F-4D97-AF65-F5344CB8AC3E}">
        <p14:creationId xmlns:p14="http://schemas.microsoft.com/office/powerpoint/2010/main" val="7580406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9BBBEEDD-7035-4079-9A59-42FE3D73444F}"/>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18 de 25</a:t>
            </a:r>
          </a:p>
        </p:txBody>
      </p:sp>
      <p:sp>
        <p:nvSpPr>
          <p:cNvPr id="2" name="titulo-clase">
            <a:extLst xmlns:a="http://schemas.openxmlformats.org/drawingml/2006/main">
              <a:ext uri="{FF2B5EF4-FFF2-40B4-BE49-F238E27FC236}">
                <a16:creationId xmlns:a16="http://schemas.microsoft.com/office/drawing/2014/main" id="{DDB6D55B-EB0A-4B77-9FFF-D02C64932CF0}"/>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PuertaSalida</a:t>
            </a:r>
          </a:p>
        </p:txBody>
      </p:sp>
      <p:sp>
        <p:nvSpPr>
          <p:cNvPr id="3" name="etiqueta-uml">
            <a:extLst xmlns:a="http://schemas.openxmlformats.org/drawingml/2006/main">
              <a:ext uri="{FF2B5EF4-FFF2-40B4-BE49-F238E27FC236}">
                <a16:creationId xmlns:a16="http://schemas.microsoft.com/office/drawing/2014/main" id="{BD347834-F157-4758-AF05-AB98FE5BFDDE}"/>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54485856-0325-423F-BE93-089B3FC78F5C}"/>
              </a:ext>
            </a:extLst>
          </p:cNvPr>
          <p:cNvPicPr>
            <a:picLocks xmlns:a="http://schemas.openxmlformats.org/drawingml/2006/main" noChangeAspect="1"/>
          </p:cNvPicPr>
          <p:nvPr/>
        </p:nvPicPr>
        <p:blipFill>
          <a:blip xmlns:r="http://schemas.openxmlformats.org/officeDocument/2006/relationships" xmlns:a="http://schemas.openxmlformats.org/drawingml/2006/main" r:embed="R36cd2033403b4fe3"/>
          <a:stretch xmlns:a="http://schemas.openxmlformats.org/drawingml/2006/main"/>
        </p:blipFill>
        <p:spPr>
          <a:xfrm xmlns:a="http://schemas.openxmlformats.org/drawingml/2006/main">
            <a:off x="609600" y="3362358"/>
            <a:ext cx="2762250" cy="1390585"/>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4B052033-C878-45E6-9C80-4AF5E34A85D2}"/>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Representa el lugar por el que se termina un nivel.</a:t>
            </a:r>
          </a:p>
        </p:txBody>
      </p:sp>
      <p:sp>
        <p:nvSpPr>
          <p:cNvPr id="6" name="poo-0">
            <a:extLst xmlns:a="http://schemas.openxmlformats.org/drawingml/2006/main">
              <a:ext uri="{FF2B5EF4-FFF2-40B4-BE49-F238E27FC236}">
                <a16:creationId xmlns:a16="http://schemas.microsoft.com/office/drawing/2014/main" id="{0098F99F-9215-4F63-9FB0-01E9761B5E82}"/>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Composición: Nivel crea su PuertaSalida.</a:t>
            </a:r>
          </a:p>
        </p:txBody>
      </p:sp>
      <p:sp>
        <p:nvSpPr>
          <p:cNvPr id="7" name="poo-1">
            <a:extLst xmlns:a="http://schemas.openxmlformats.org/drawingml/2006/main">
              <a:ext uri="{FF2B5EF4-FFF2-40B4-BE49-F238E27FC236}">
                <a16:creationId xmlns:a16="http://schemas.microsoft.com/office/drawing/2014/main" id="{C1BBB0A6-6261-47E6-A5DB-BC3BAC08075A}"/>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Dependencia: puede_salir consulta al Prisionero.</a:t>
            </a:r>
          </a:p>
        </p:txBody>
      </p:sp>
      <p:sp>
        <p:nvSpPr>
          <p:cNvPr id="8" name="etiqueta-codigo">
            <a:extLst xmlns:a="http://schemas.openxmlformats.org/drawingml/2006/main">
              <a:ext uri="{FF2B5EF4-FFF2-40B4-BE49-F238E27FC236}">
                <a16:creationId xmlns:a16="http://schemas.microsoft.com/office/drawing/2014/main" id="{DB3A189F-7CC7-4BB1-8BAA-18DC301875AC}"/>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CFB2FFD9-E080-463F-BE55-E0A5B9E5F6A1}"/>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PuertaSalida:</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puede_salir(self, prisionero):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prisionero.tiene_llave()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and distancia(</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self.posicion, prisionero.get_posicion()</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&lt; 22</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a:t>
            </a:r>
          </a:p>
        </p:txBody>
      </p:sp>
      <p:sp>
        <p:nvSpPr>
          <p:cNvPr id="10" name="enlace-fuente">
            <a:extLst xmlns:a="http://schemas.openxmlformats.org/drawingml/2006/main">
              <a:ext uri="{FF2B5EF4-FFF2-40B4-BE49-F238E27FC236}">
                <a16:creationId xmlns:a16="http://schemas.microsoft.com/office/drawing/2014/main" id="{AEBA4840-76F5-4FB1-B5A8-6C8E2810DDDA}"/>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edacb0b22f434146"/>
              </a:rPr>
              <a:t>src/nivel.py, clase desde línea 77</a:t>
            </a:r>
          </a:p>
        </p:txBody>
      </p:sp>
      <p:sp>
        <p:nvSpPr>
          <p:cNvPr id="11" name="enlace-recorte">
            <a:extLst xmlns:a="http://schemas.openxmlformats.org/drawingml/2006/main">
              <a:ext uri="{FF2B5EF4-FFF2-40B4-BE49-F238E27FC236}">
                <a16:creationId xmlns:a16="http://schemas.microsoft.com/office/drawing/2014/main" id="{4A091198-5540-46AC-8DBA-AC4A80CD1C96}"/>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354d1c7020ee49e1"/>
              </a:rPr>
              <a:t>Abrir recorte en tamaño original</a:t>
            </a:r>
          </a:p>
        </p:txBody>
      </p:sp>
    </p:spTree>
    <p:extLst>
      <p:ext uri="{BB962C8B-B14F-4D97-AF65-F5344CB8AC3E}">
        <p14:creationId xmlns:p14="http://schemas.microsoft.com/office/powerpoint/2010/main" val="78103171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apartado-clase">
            <a:extLst xmlns:a="http://schemas.openxmlformats.org/drawingml/2006/main">
              <a:ext uri="{FF2B5EF4-FFF2-40B4-BE49-F238E27FC236}">
                <a16:creationId xmlns:a16="http://schemas.microsoft.com/office/drawing/2014/main" id="{0AC5B3F8-8EF5-453F-8172-C15D93BE06AD}"/>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19 de 25</a:t>
            </a:r>
          </a:p>
        </p:txBody>
      </p:sp>
      <p:sp>
        <p:nvSpPr>
          <p:cNvPr id="2" name="titulo-clase">
            <a:extLst xmlns:a="http://schemas.openxmlformats.org/drawingml/2006/main">
              <a:ext uri="{FF2B5EF4-FFF2-40B4-BE49-F238E27FC236}">
                <a16:creationId xmlns:a16="http://schemas.microsoft.com/office/drawing/2014/main" id="{2929A4DF-C989-4EE1-82CC-F9EB1F3DF765}"/>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Puntaje</a:t>
            </a:r>
          </a:p>
        </p:txBody>
      </p:sp>
      <p:sp>
        <p:nvSpPr>
          <p:cNvPr id="3" name="etiqueta-uml">
            <a:extLst xmlns:a="http://schemas.openxmlformats.org/drawingml/2006/main">
              <a:ext uri="{FF2B5EF4-FFF2-40B4-BE49-F238E27FC236}">
                <a16:creationId xmlns:a16="http://schemas.microsoft.com/office/drawing/2014/main" id="{FFEDBDF7-C881-4E38-8B72-6EC034EB7DA1}"/>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6921FD54-B502-4C3B-B850-793122C96303}"/>
              </a:ext>
            </a:extLst>
          </p:cNvPr>
          <p:cNvPicPr>
            <a:picLocks xmlns:a="http://schemas.openxmlformats.org/drawingml/2006/main" noChangeAspect="1"/>
          </p:cNvPicPr>
          <p:nvPr/>
        </p:nvPicPr>
        <p:blipFill>
          <a:blip xmlns:r="http://schemas.openxmlformats.org/officeDocument/2006/relationships" xmlns:a="http://schemas.openxmlformats.org/drawingml/2006/main" r:embed="R428caa3355e0485f"/>
          <a:stretch xmlns:a="http://schemas.openxmlformats.org/drawingml/2006/main"/>
        </p:blipFill>
        <p:spPr>
          <a:xfrm xmlns:a="http://schemas.openxmlformats.org/drawingml/2006/main">
            <a:off x="609600" y="2833868"/>
            <a:ext cx="2762250" cy="2447563"/>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0FE4C32F-081D-46CB-8AE8-A2EFFEE634F8}"/>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Conserva los puntos y avisa cuando cambian.</a:t>
            </a:r>
          </a:p>
        </p:txBody>
      </p:sp>
      <p:sp>
        <p:nvSpPr>
          <p:cNvPr id="6" name="poo-0">
            <a:extLst xmlns:a="http://schemas.openxmlformats.org/drawingml/2006/main">
              <a:ext uri="{FF2B5EF4-FFF2-40B4-BE49-F238E27FC236}">
                <a16:creationId xmlns:a16="http://schemas.microsoft.com/office/drawing/2014/main" id="{57940EC6-E603-4051-855A-B47F2A51D1F8}"/>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Encapsulamiento: valida los cambios de _valor.</a:t>
            </a:r>
          </a:p>
        </p:txBody>
      </p:sp>
      <p:sp>
        <p:nvSpPr>
          <p:cNvPr id="7" name="poo-1">
            <a:extLst xmlns:a="http://schemas.openxmlformats.org/drawingml/2006/main">
              <a:ext uri="{FF2B5EF4-FFF2-40B4-BE49-F238E27FC236}">
                <a16:creationId xmlns:a16="http://schemas.microsoft.com/office/drawing/2014/main" id="{D846063D-8D97-4A27-B9D6-A03FBA85D9B1}"/>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Agregación: conserva observadores creados fuera.</a:t>
            </a:r>
          </a:p>
        </p:txBody>
      </p:sp>
      <p:sp>
        <p:nvSpPr>
          <p:cNvPr id="8" name="poo-2">
            <a:extLst xmlns:a="http://schemas.openxmlformats.org/drawingml/2006/main">
              <a:ext uri="{FF2B5EF4-FFF2-40B4-BE49-F238E27FC236}">
                <a16:creationId xmlns:a16="http://schemas.microsoft.com/office/drawing/2014/main" id="{7FDD0FBA-35BD-4B66-83DF-891CD2D199A2}"/>
              </a:ext>
            </a:extLst>
          </p:cNvPr>
          <p:cNvSpPr>
            <a:spLocks xmlns:a="http://schemas.openxmlformats.org/drawingml/2006/main" noGrp="1"/>
          </p:cNvSpPr>
          <p:nvPr/>
        </p:nvSpPr>
        <p:spPr>
          <a:xfrm xmlns:a="http://schemas.openxmlformats.org/drawingml/2006/main">
            <a:off x="3810000" y="28575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Observer: notifica mediante actualizar_puntaje.</a:t>
            </a:r>
          </a:p>
        </p:txBody>
      </p:sp>
      <p:sp>
        <p:nvSpPr>
          <p:cNvPr id="9" name="etiqueta-codigo">
            <a:extLst xmlns:a="http://schemas.openxmlformats.org/drawingml/2006/main">
              <a:ext uri="{FF2B5EF4-FFF2-40B4-BE49-F238E27FC236}">
                <a16:creationId xmlns:a16="http://schemas.microsoft.com/office/drawing/2014/main" id="{8ED8BA29-3C94-43EB-ADD5-B14C848715A9}"/>
              </a:ext>
            </a:extLst>
          </p:cNvPr>
          <p:cNvSpPr>
            <a:spLocks xmlns:a="http://schemas.openxmlformats.org/drawingml/2006/main" noGrp="1"/>
          </p:cNvSpPr>
          <p:nvPr/>
        </p:nvSpPr>
        <p:spPr>
          <a:xfrm xmlns:a="http://schemas.openxmlformats.org/drawingml/2006/main">
            <a:off x="3810000" y="31623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10" name="fragmento-codigo">
            <a:extLst xmlns:a="http://schemas.openxmlformats.org/drawingml/2006/main">
              <a:ext uri="{FF2B5EF4-FFF2-40B4-BE49-F238E27FC236}">
                <a16:creationId xmlns:a16="http://schemas.microsoft.com/office/drawing/2014/main" id="{8B8350BD-112E-4A8E-96E2-F7F7EA53A2EF}"/>
              </a:ext>
            </a:extLst>
          </p:cNvPr>
          <p:cNvSpPr>
            <a:spLocks xmlns:a="http://schemas.openxmlformats.org/drawingml/2006/main" noGrp="1"/>
          </p:cNvSpPr>
          <p:nvPr/>
        </p:nvSpPr>
        <p:spPr>
          <a:xfrm xmlns:a="http://schemas.openxmlformats.org/drawingml/2006/main">
            <a:off x="3810000" y="3486150"/>
            <a:ext cx="7762875"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13" b="0">
                <a:solidFill>
                  <a:srgbClr val="172F3C"/>
                </a:solidFill>
                <a:latin typeface="DejaVu Sans Mono"/>
                <a:ea typeface="DejaVu Sans Mono"/>
                <a:cs typeface="DejaVu Sans Mono"/>
              </a:defRPr>
            </a:defPPr>
          </a:lstStyle>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class Puntaje:</a:t>
            </a:r>
          </a:p>
          <a:p xmlns:a="http://schemas.openxmlformats.org/drawingml/2006/main">
            <a:r>
              <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def set_valor(self, valor):</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if type(valor) is not int or valor &lt; 0:</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raise ValueError(</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"El puntaje debe ser un entero no negativo."</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self._valor = valor</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self._notificar()</a:t>
            </a:r>
          </a:p>
          <a:p xmlns:a="http://schemas.openxmlformats.org/drawingml/2006/main">
            <a:r>
              <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def _notificar(self):</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for observador in tuple(self._observadores):</a:t>
            </a:r>
          </a:p>
          <a:p xmlns:a="http://schemas.openxmlformats.org/drawingml/2006/main">
            <a:pPr>
              <a:lnSpc>
                <a:spcPct val="105000"/>
              </a:lnSpc>
              <a:buNone/>
              <a:defRPr sz="1413" b="0">
                <a:solidFill>
                  <a:srgbClr val="172F3C"/>
                </a:solidFill>
                <a:latin typeface="DejaVu Sans Mono"/>
                <a:ea typeface="DejaVu Sans Mono"/>
                <a:cs typeface="DejaVu Sans Mono"/>
              </a:defRPr>
            </a:pPr>
            <a:r>
              <a:rPr sz="1413" b="0">
                <a:solidFill>
                  <a:srgbClr val="172F3C"/>
                </a:solidFill>
                <a:latin typeface="DejaVu Sans Mono"/>
                <a:ea typeface="DejaVu Sans Mono"/>
                <a:cs typeface="DejaVu Sans Mono"/>
              </a:rPr>
              <a:t>            observador.actualizar_puntaje(self._valor)</a:t>
            </a:r>
          </a:p>
        </p:txBody>
      </p:sp>
      <p:sp>
        <p:nvSpPr>
          <p:cNvPr id="11" name="enlace-fuente">
            <a:extLst xmlns:a="http://schemas.openxmlformats.org/drawingml/2006/main">
              <a:ext uri="{FF2B5EF4-FFF2-40B4-BE49-F238E27FC236}">
                <a16:creationId xmlns:a16="http://schemas.microsoft.com/office/drawing/2014/main" id="{0F1DFC29-E039-4E9D-85D6-1855CC7855C6}"/>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95c0fed3f2a74af3"/>
              </a:rPr>
              <a:t>src/puntuacion.py, clase desde línea 18</a:t>
            </a:r>
          </a:p>
        </p:txBody>
      </p:sp>
      <p:sp>
        <p:nvSpPr>
          <p:cNvPr id="12" name="enlace-recorte">
            <a:extLst xmlns:a="http://schemas.openxmlformats.org/drawingml/2006/main">
              <a:ext uri="{FF2B5EF4-FFF2-40B4-BE49-F238E27FC236}">
                <a16:creationId xmlns:a16="http://schemas.microsoft.com/office/drawing/2014/main" id="{B625EB75-1F18-4F4A-BD50-7667D3887B6D}"/>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9f3d05a86b74479a"/>
              </a:rPr>
              <a:t>Abrir recorte en tamaño original</a:t>
            </a:r>
          </a:p>
        </p:txBody>
      </p:sp>
    </p:spTree>
    <p:extLst>
      <p:ext uri="{BB962C8B-B14F-4D97-AF65-F5344CB8AC3E}">
        <p14:creationId xmlns:p14="http://schemas.microsoft.com/office/powerpoint/2010/main" val="30822692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DA4A4F9F-7C9D-4596-B8B3-E5BF8CFC8FC7}"/>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20 de 25</a:t>
            </a:r>
          </a:p>
        </p:txBody>
      </p:sp>
      <p:sp>
        <p:nvSpPr>
          <p:cNvPr id="2" name="titulo-clase">
            <a:extLst xmlns:a="http://schemas.openxmlformats.org/drawingml/2006/main">
              <a:ext uri="{FF2B5EF4-FFF2-40B4-BE49-F238E27FC236}">
                <a16:creationId xmlns:a16="http://schemas.microsoft.com/office/drawing/2014/main" id="{FCAD069E-FA79-4E34-AEB0-331981AD36DE}"/>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ObservadorPuntaje</a:t>
            </a:r>
          </a:p>
        </p:txBody>
      </p:sp>
      <p:sp>
        <p:nvSpPr>
          <p:cNvPr id="3" name="etiqueta-uml">
            <a:extLst xmlns:a="http://schemas.openxmlformats.org/drawingml/2006/main">
              <a:ext uri="{FF2B5EF4-FFF2-40B4-BE49-F238E27FC236}">
                <a16:creationId xmlns:a16="http://schemas.microsoft.com/office/drawing/2014/main" id="{60B53ECA-7849-47F3-8BE5-98C79315AC9A}"/>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F60D61D4-7074-4AF9-901C-34661836B745}"/>
              </a:ext>
            </a:extLst>
          </p:cNvPr>
          <p:cNvPicPr>
            <a:picLocks xmlns:a="http://schemas.openxmlformats.org/drawingml/2006/main" noChangeAspect="1"/>
          </p:cNvPicPr>
          <p:nvPr/>
        </p:nvPicPr>
        <p:blipFill>
          <a:blip xmlns:r="http://schemas.openxmlformats.org/officeDocument/2006/relationships" xmlns:a="http://schemas.openxmlformats.org/drawingml/2006/main" r:embed="R6d287ba05b554f31"/>
          <a:stretch xmlns:a="http://schemas.openxmlformats.org/drawingml/2006/main"/>
        </p:blipFill>
        <p:spPr>
          <a:xfrm xmlns:a="http://schemas.openxmlformats.org/drawingml/2006/main">
            <a:off x="609600" y="3429679"/>
            <a:ext cx="2762250" cy="1255941"/>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E96531D6-1F0D-4C14-B873-6414AAC984E3}"/>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Define cómo debe recibir los cambios un observador del puntaje.</a:t>
            </a:r>
          </a:p>
        </p:txBody>
      </p:sp>
      <p:sp>
        <p:nvSpPr>
          <p:cNvPr id="6" name="poo-0">
            <a:extLst xmlns:a="http://schemas.openxmlformats.org/drawingml/2006/main">
              <a:ext uri="{FF2B5EF4-FFF2-40B4-BE49-F238E27FC236}">
                <a16:creationId xmlns:a16="http://schemas.microsoft.com/office/drawing/2014/main" id="{2EFD86A5-28E1-415E-9BC2-00040729A387}"/>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Abstracción: exige implementar actualizar_puntaje.</a:t>
            </a:r>
          </a:p>
        </p:txBody>
      </p:sp>
      <p:sp>
        <p:nvSpPr>
          <p:cNvPr id="7" name="poo-1">
            <a:extLst xmlns:a="http://schemas.openxmlformats.org/drawingml/2006/main">
              <a:ext uri="{FF2B5EF4-FFF2-40B4-BE49-F238E27FC236}">
                <a16:creationId xmlns:a16="http://schemas.microsoft.com/office/drawing/2014/main" id="{824EFF66-29EB-4CF8-99C0-68566F36AE08}"/>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Herencia: es la base de PanelPuntaje.</a:t>
            </a:r>
          </a:p>
        </p:txBody>
      </p:sp>
      <p:sp>
        <p:nvSpPr>
          <p:cNvPr id="8" name="etiqueta-codigo">
            <a:extLst xmlns:a="http://schemas.openxmlformats.org/drawingml/2006/main">
              <a:ext uri="{FF2B5EF4-FFF2-40B4-BE49-F238E27FC236}">
                <a16:creationId xmlns:a16="http://schemas.microsoft.com/office/drawing/2014/main" id="{70988ED5-7597-4A76-BE1A-ACCCEFB43856}"/>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51AD3B96-9AA2-4EEB-BB4C-A67B763F1818}"/>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ObservadorPuntaje(ABC):</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@abstractmethod</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actualizar_puntaje(self, valor):</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pass</a:t>
            </a:r>
          </a:p>
        </p:txBody>
      </p:sp>
      <p:sp>
        <p:nvSpPr>
          <p:cNvPr id="10" name="enlace-fuente">
            <a:extLst xmlns:a="http://schemas.openxmlformats.org/drawingml/2006/main">
              <a:ext uri="{FF2B5EF4-FFF2-40B4-BE49-F238E27FC236}">
                <a16:creationId xmlns:a16="http://schemas.microsoft.com/office/drawing/2014/main" id="{61E26A02-6CB1-4F63-8FF0-F2ADD96516B5}"/>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d828e368d5f9415b"/>
              </a:rPr>
              <a:t>src/puntuacion.py, clase desde línea 4</a:t>
            </a:r>
          </a:p>
        </p:txBody>
      </p:sp>
      <p:sp>
        <p:nvSpPr>
          <p:cNvPr id="11" name="enlace-recorte">
            <a:extLst xmlns:a="http://schemas.openxmlformats.org/drawingml/2006/main">
              <a:ext uri="{FF2B5EF4-FFF2-40B4-BE49-F238E27FC236}">
                <a16:creationId xmlns:a16="http://schemas.microsoft.com/office/drawing/2014/main" id="{B196E0FB-F745-4C21-98D4-9B64B8004A96}"/>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8e6f702d0f1747fd"/>
              </a:rPr>
              <a:t>Abrir recorte en tamaño original</a:t>
            </a:r>
          </a:p>
        </p:txBody>
      </p:sp>
    </p:spTree>
    <p:extLst>
      <p:ext uri="{BB962C8B-B14F-4D97-AF65-F5344CB8AC3E}">
        <p14:creationId xmlns:p14="http://schemas.microsoft.com/office/powerpoint/2010/main" val="197625409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apartado-clase">
            <a:extLst xmlns:a="http://schemas.openxmlformats.org/drawingml/2006/main">
              <a:ext uri="{FF2B5EF4-FFF2-40B4-BE49-F238E27FC236}">
                <a16:creationId xmlns:a16="http://schemas.microsoft.com/office/drawing/2014/main" id="{FCF62E2A-36D4-4CC4-A61A-B0AC75EDB635}"/>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21 de 25</a:t>
            </a:r>
          </a:p>
        </p:txBody>
      </p:sp>
      <p:sp>
        <p:nvSpPr>
          <p:cNvPr id="2" name="titulo-clase">
            <a:extLst xmlns:a="http://schemas.openxmlformats.org/drawingml/2006/main">
              <a:ext uri="{FF2B5EF4-FFF2-40B4-BE49-F238E27FC236}">
                <a16:creationId xmlns:a16="http://schemas.microsoft.com/office/drawing/2014/main" id="{C27B509E-F505-4572-9AF4-6F50A4A9E845}"/>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PanelPuntaje</a:t>
            </a:r>
          </a:p>
        </p:txBody>
      </p:sp>
      <p:sp>
        <p:nvSpPr>
          <p:cNvPr id="3" name="etiqueta-uml">
            <a:extLst xmlns:a="http://schemas.openxmlformats.org/drawingml/2006/main">
              <a:ext uri="{FF2B5EF4-FFF2-40B4-BE49-F238E27FC236}">
                <a16:creationId xmlns:a16="http://schemas.microsoft.com/office/drawing/2014/main" id="{D12FD46F-076A-48C2-AE27-1F46F3D81E6C}"/>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7E7258BE-48A6-4CAC-B895-8296F87E531C}"/>
              </a:ext>
            </a:extLst>
          </p:cNvPr>
          <p:cNvPicPr>
            <a:picLocks xmlns:a="http://schemas.openxmlformats.org/drawingml/2006/main" noChangeAspect="1"/>
          </p:cNvPicPr>
          <p:nvPr/>
        </p:nvPicPr>
        <p:blipFill>
          <a:blip xmlns:r="http://schemas.openxmlformats.org/officeDocument/2006/relationships" xmlns:a="http://schemas.openxmlformats.org/drawingml/2006/main" r:embed="Re44b0c49ee3242b5"/>
          <a:stretch xmlns:a="http://schemas.openxmlformats.org/drawingml/2006/main"/>
        </p:blipFill>
        <p:spPr>
          <a:xfrm xmlns:a="http://schemas.openxmlformats.org/drawingml/2006/main">
            <a:off x="609600" y="3409007"/>
            <a:ext cx="2762250" cy="1297287"/>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26BE5921-DBE5-445B-A9F1-FF872DD5182F}"/>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Conserva el último puntaje notificado para mostrarlo en pantalla.</a:t>
            </a:r>
          </a:p>
        </p:txBody>
      </p:sp>
      <p:sp>
        <p:nvSpPr>
          <p:cNvPr id="6" name="poo-0">
            <a:extLst xmlns:a="http://schemas.openxmlformats.org/drawingml/2006/main">
              <a:ext uri="{FF2B5EF4-FFF2-40B4-BE49-F238E27FC236}">
                <a16:creationId xmlns:a16="http://schemas.microsoft.com/office/drawing/2014/main" id="{26285B3F-EE25-42C0-B495-CA53891D79D2}"/>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Herencia: deriva de ObservadorPuntaje.</a:t>
            </a:r>
          </a:p>
        </p:txBody>
      </p:sp>
      <p:sp>
        <p:nvSpPr>
          <p:cNvPr id="7" name="poo-1">
            <a:extLst xmlns:a="http://schemas.openxmlformats.org/drawingml/2006/main">
              <a:ext uri="{FF2B5EF4-FFF2-40B4-BE49-F238E27FC236}">
                <a16:creationId xmlns:a16="http://schemas.microsoft.com/office/drawing/2014/main" id="{4129970D-5278-46FA-ABAD-EC3466F7DD65}"/>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Polimorfismo: implementa actualizar_puntaje.</a:t>
            </a:r>
          </a:p>
        </p:txBody>
      </p:sp>
      <p:sp>
        <p:nvSpPr>
          <p:cNvPr id="8" name="poo-2">
            <a:extLst xmlns:a="http://schemas.openxmlformats.org/drawingml/2006/main">
              <a:ext uri="{FF2B5EF4-FFF2-40B4-BE49-F238E27FC236}">
                <a16:creationId xmlns:a16="http://schemas.microsoft.com/office/drawing/2014/main" id="{786AD3D4-C1E5-4F6A-9CDE-66730DF7E8DB}"/>
              </a:ext>
            </a:extLst>
          </p:cNvPr>
          <p:cNvSpPr>
            <a:spLocks xmlns:a="http://schemas.openxmlformats.org/drawingml/2006/main" noGrp="1"/>
          </p:cNvSpPr>
          <p:nvPr/>
        </p:nvSpPr>
        <p:spPr>
          <a:xfrm xmlns:a="http://schemas.openxmlformats.org/drawingml/2006/main">
            <a:off x="3810000" y="28575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Observer: recibe el nuevo valor que luego dibuja Vista.</a:t>
            </a:r>
          </a:p>
        </p:txBody>
      </p:sp>
      <p:sp>
        <p:nvSpPr>
          <p:cNvPr id="9" name="etiqueta-codigo">
            <a:extLst xmlns:a="http://schemas.openxmlformats.org/drawingml/2006/main">
              <a:ext uri="{FF2B5EF4-FFF2-40B4-BE49-F238E27FC236}">
                <a16:creationId xmlns:a16="http://schemas.microsoft.com/office/drawing/2014/main" id="{6339E332-433E-45D1-9A77-F8A3B61A1798}"/>
              </a:ext>
            </a:extLst>
          </p:cNvPr>
          <p:cNvSpPr>
            <a:spLocks xmlns:a="http://schemas.openxmlformats.org/drawingml/2006/main" noGrp="1"/>
          </p:cNvSpPr>
          <p:nvPr/>
        </p:nvSpPr>
        <p:spPr>
          <a:xfrm xmlns:a="http://schemas.openxmlformats.org/drawingml/2006/main">
            <a:off x="3810000" y="31623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10" name="fragmento-codigo">
            <a:extLst xmlns:a="http://schemas.openxmlformats.org/drawingml/2006/main">
              <a:ext uri="{FF2B5EF4-FFF2-40B4-BE49-F238E27FC236}">
                <a16:creationId xmlns:a16="http://schemas.microsoft.com/office/drawing/2014/main" id="{0AC136CE-7554-4250-91A1-1AFC94778678}"/>
              </a:ext>
            </a:extLst>
          </p:cNvPr>
          <p:cNvSpPr>
            <a:spLocks xmlns:a="http://schemas.openxmlformats.org/drawingml/2006/main" noGrp="1"/>
          </p:cNvSpPr>
          <p:nvPr/>
        </p:nvSpPr>
        <p:spPr>
          <a:xfrm xmlns:a="http://schemas.openxmlformats.org/drawingml/2006/main">
            <a:off x="3810000" y="3486150"/>
            <a:ext cx="7762875"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PanelPuntaje(ObservadorPuntaje):</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__init__(self):</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self.valor = 0</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actualizar_puntaje(self, valor):</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self.valor = valor</a:t>
            </a:r>
          </a:p>
        </p:txBody>
      </p:sp>
      <p:sp>
        <p:nvSpPr>
          <p:cNvPr id="11" name="enlace-fuente">
            <a:extLst xmlns:a="http://schemas.openxmlformats.org/drawingml/2006/main">
              <a:ext uri="{FF2B5EF4-FFF2-40B4-BE49-F238E27FC236}">
                <a16:creationId xmlns:a16="http://schemas.microsoft.com/office/drawing/2014/main" id="{1E3C9F68-1883-44AD-9956-5306C99B3083}"/>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bac89a7ea67844bb"/>
              </a:rPr>
              <a:t>src/puntuacion.py, clase desde línea 10</a:t>
            </a:r>
          </a:p>
        </p:txBody>
      </p:sp>
      <p:sp>
        <p:nvSpPr>
          <p:cNvPr id="12" name="enlace-recorte">
            <a:extLst xmlns:a="http://schemas.openxmlformats.org/drawingml/2006/main">
              <a:ext uri="{FF2B5EF4-FFF2-40B4-BE49-F238E27FC236}">
                <a16:creationId xmlns:a16="http://schemas.microsoft.com/office/drawing/2014/main" id="{6F91A0B3-FC0D-42CD-B383-95045D3FD8EC}"/>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82ee44c4003549a6"/>
              </a:rPr>
              <a:t>Abrir recorte en tamaño original</a:t>
            </a:r>
          </a:p>
        </p:txBody>
      </p:sp>
    </p:spTree>
    <p:extLst>
      <p:ext uri="{BB962C8B-B14F-4D97-AF65-F5344CB8AC3E}">
        <p14:creationId xmlns:p14="http://schemas.microsoft.com/office/powerpoint/2010/main" val="6300999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E103D04B-809A-48A6-A925-30C269BE99C1}"/>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22 de 25</a:t>
            </a:r>
          </a:p>
        </p:txBody>
      </p:sp>
      <p:sp>
        <p:nvSpPr>
          <p:cNvPr id="2" name="titulo-clase">
            <a:extLst xmlns:a="http://schemas.openxmlformats.org/drawingml/2006/main">
              <a:ext uri="{FF2B5EF4-FFF2-40B4-BE49-F238E27FC236}">
                <a16:creationId xmlns:a16="http://schemas.microsoft.com/office/drawing/2014/main" id="{07340C3A-B055-4520-B343-6309B03C2437}"/>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Proyectil</a:t>
            </a:r>
          </a:p>
        </p:txBody>
      </p:sp>
      <p:sp>
        <p:nvSpPr>
          <p:cNvPr id="3" name="etiqueta-uml">
            <a:extLst xmlns:a="http://schemas.openxmlformats.org/drawingml/2006/main">
              <a:ext uri="{FF2B5EF4-FFF2-40B4-BE49-F238E27FC236}">
                <a16:creationId xmlns:a16="http://schemas.microsoft.com/office/drawing/2014/main" id="{1E98C399-C8DA-43C5-AC9C-7B156B41ACCE}"/>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133014CD-0D57-4BC6-975A-D873D4ED5258}"/>
              </a:ext>
            </a:extLst>
          </p:cNvPr>
          <p:cNvPicPr>
            <a:picLocks xmlns:a="http://schemas.openxmlformats.org/drawingml/2006/main" noChangeAspect="1"/>
          </p:cNvPicPr>
          <p:nvPr/>
        </p:nvPicPr>
        <p:blipFill>
          <a:blip xmlns:r="http://schemas.openxmlformats.org/officeDocument/2006/relationships" xmlns:a="http://schemas.openxmlformats.org/drawingml/2006/main" r:embed="R4656d6f6bc4642d6"/>
          <a:stretch xmlns:a="http://schemas.openxmlformats.org/drawingml/2006/main"/>
        </p:blipFill>
        <p:spPr>
          <a:xfrm xmlns:a="http://schemas.openxmlformats.org/drawingml/2006/main">
            <a:off x="649779" y="1866900"/>
            <a:ext cx="2681892" cy="4381500"/>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8CEFE169-F168-4BE3-AC37-3DD10FAA39CC}"/>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Guarda la posición, velocidad, tamaño y duración de un disparo.</a:t>
            </a:r>
          </a:p>
        </p:txBody>
      </p:sp>
      <p:sp>
        <p:nvSpPr>
          <p:cNvPr id="6" name="poo-0">
            <a:extLst xmlns:a="http://schemas.openxmlformats.org/drawingml/2006/main">
              <a:ext uri="{FF2B5EF4-FFF2-40B4-BE49-F238E27FC236}">
                <a16:creationId xmlns:a16="http://schemas.microsoft.com/office/drawing/2014/main" id="{CEB546D9-21B2-4504-80BB-7661BADC7B98}"/>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Composición: Combate crea y conserva los disparos.</a:t>
            </a:r>
          </a:p>
        </p:txBody>
      </p:sp>
      <p:sp>
        <p:nvSpPr>
          <p:cNvPr id="7" name="poo-1">
            <a:extLst xmlns:a="http://schemas.openxmlformats.org/drawingml/2006/main">
              <a:ext uri="{FF2B5EF4-FFF2-40B4-BE49-F238E27FC236}">
                <a16:creationId xmlns:a16="http://schemas.microsoft.com/office/drawing/2014/main" id="{627E85C8-9992-47C1-A19A-6028A8889A2D}"/>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Dataclass: genera el constructor de sus datos.</a:t>
            </a:r>
          </a:p>
        </p:txBody>
      </p:sp>
      <p:sp>
        <p:nvSpPr>
          <p:cNvPr id="8" name="etiqueta-codigo">
            <a:extLst xmlns:a="http://schemas.openxmlformats.org/drawingml/2006/main">
              <a:ext uri="{FF2B5EF4-FFF2-40B4-BE49-F238E27FC236}">
                <a16:creationId xmlns:a16="http://schemas.microsoft.com/office/drawing/2014/main" id="{689D5CC1-7F02-4870-9A04-59D9E0155C0F}"/>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35E479AE-9401-41D2-A82D-75D540E6AC3D}"/>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@dataclass</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Proyectil:</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x: float</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y: float</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vx: float</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vy: float</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avanzar(self, dt):</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inicio = self.posicion</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self.x += self.vx * dt</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self.y += self.vy * dt</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self.duracion -= dt</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inicio, self.posicion</a:t>
            </a:r>
          </a:p>
        </p:txBody>
      </p:sp>
      <p:sp>
        <p:nvSpPr>
          <p:cNvPr id="10" name="enlace-fuente">
            <a:extLst xmlns:a="http://schemas.openxmlformats.org/drawingml/2006/main">
              <a:ext uri="{FF2B5EF4-FFF2-40B4-BE49-F238E27FC236}">
                <a16:creationId xmlns:a16="http://schemas.microsoft.com/office/drawing/2014/main" id="{1570C11D-39C5-4212-B75D-5E6AF20A44CB}"/>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5d62bfeb7233404c"/>
              </a:rPr>
              <a:t>src/combate.py, clase desde línea 8</a:t>
            </a:r>
          </a:p>
        </p:txBody>
      </p:sp>
      <p:sp>
        <p:nvSpPr>
          <p:cNvPr id="11" name="enlace-recorte">
            <a:extLst xmlns:a="http://schemas.openxmlformats.org/drawingml/2006/main">
              <a:ext uri="{FF2B5EF4-FFF2-40B4-BE49-F238E27FC236}">
                <a16:creationId xmlns:a16="http://schemas.microsoft.com/office/drawing/2014/main" id="{DE952871-1115-44B0-A7B7-0340319F9364}"/>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221f94586ee548b7"/>
              </a:rPr>
              <a:t>Abrir recorte en tamaño original</a:t>
            </a:r>
          </a:p>
        </p:txBody>
      </p:sp>
    </p:spTree>
    <p:extLst>
      <p:ext uri="{BB962C8B-B14F-4D97-AF65-F5344CB8AC3E}">
        <p14:creationId xmlns:p14="http://schemas.microsoft.com/office/powerpoint/2010/main" val="123301286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apartado-clase">
            <a:extLst xmlns:a="http://schemas.openxmlformats.org/drawingml/2006/main">
              <a:ext uri="{FF2B5EF4-FFF2-40B4-BE49-F238E27FC236}">
                <a16:creationId xmlns:a16="http://schemas.microsoft.com/office/drawing/2014/main" id="{8BA692B7-C92C-4277-8699-32FABCE012D9}"/>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23 de 25</a:t>
            </a:r>
          </a:p>
        </p:txBody>
      </p:sp>
      <p:sp>
        <p:nvSpPr>
          <p:cNvPr id="2" name="titulo-clase">
            <a:extLst xmlns:a="http://schemas.openxmlformats.org/drawingml/2006/main">
              <a:ext uri="{FF2B5EF4-FFF2-40B4-BE49-F238E27FC236}">
                <a16:creationId xmlns:a16="http://schemas.microsoft.com/office/drawing/2014/main" id="{31F05630-DF57-4C45-B4F4-7C90045B63CE}"/>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Alcaide</a:t>
            </a:r>
          </a:p>
        </p:txBody>
      </p:sp>
      <p:sp>
        <p:nvSpPr>
          <p:cNvPr id="3" name="etiqueta-uml">
            <a:extLst xmlns:a="http://schemas.openxmlformats.org/drawingml/2006/main">
              <a:ext uri="{FF2B5EF4-FFF2-40B4-BE49-F238E27FC236}">
                <a16:creationId xmlns:a16="http://schemas.microsoft.com/office/drawing/2014/main" id="{E8DA73BF-9AFE-4729-AB1A-4D9BEDB9D615}"/>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D28619A8-9F73-4A61-82ED-34CECE239B2C}"/>
              </a:ext>
            </a:extLst>
          </p:cNvPr>
          <p:cNvPicPr>
            <a:picLocks xmlns:a="http://schemas.openxmlformats.org/drawingml/2006/main" noChangeAspect="1"/>
          </p:cNvPicPr>
          <p:nvPr/>
        </p:nvPicPr>
        <p:blipFill>
          <a:blip xmlns:r="http://schemas.openxmlformats.org/officeDocument/2006/relationships" xmlns:a="http://schemas.openxmlformats.org/drawingml/2006/main" r:embed="R4f27fd270745409e"/>
          <a:stretch xmlns:a="http://schemas.openxmlformats.org/drawingml/2006/main"/>
        </p:blipFill>
        <p:spPr>
          <a:xfrm xmlns:a="http://schemas.openxmlformats.org/drawingml/2006/main">
            <a:off x="1086838" y="1866900"/>
            <a:ext cx="1807774" cy="4381500"/>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C95FEBC2-B203-4819-A3F5-2BD4000AC413}"/>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Controla al jefe del último nivel.</a:t>
            </a:r>
          </a:p>
        </p:txBody>
      </p:sp>
      <p:sp>
        <p:nvSpPr>
          <p:cNvPr id="6" name="poo-0">
            <a:extLst xmlns:a="http://schemas.openxmlformats.org/drawingml/2006/main">
              <a:ext uri="{FF2B5EF4-FFF2-40B4-BE49-F238E27FC236}">
                <a16:creationId xmlns:a16="http://schemas.microsoft.com/office/drawing/2014/main" id="{6582B1C2-3052-411B-9E1A-D8FEC5840042}"/>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Composición: Combate crea su Alcaide.</a:t>
            </a:r>
          </a:p>
        </p:txBody>
      </p:sp>
      <p:sp>
        <p:nvSpPr>
          <p:cNvPr id="7" name="poo-1">
            <a:extLst xmlns:a="http://schemas.openxmlformats.org/drawingml/2006/main">
              <a:ext uri="{FF2B5EF4-FFF2-40B4-BE49-F238E27FC236}">
                <a16:creationId xmlns:a16="http://schemas.microsoft.com/office/drawing/2014/main" id="{5B7959D9-B8D5-4042-9074-1A437F1993FF}"/>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Dependencia: actualizar recibe el Combate.</a:t>
            </a:r>
          </a:p>
        </p:txBody>
      </p:sp>
      <p:sp>
        <p:nvSpPr>
          <p:cNvPr id="8" name="poo-2">
            <a:extLst xmlns:a="http://schemas.openxmlformats.org/drawingml/2006/main">
              <a:ext uri="{FF2B5EF4-FFF2-40B4-BE49-F238E27FC236}">
                <a16:creationId xmlns:a16="http://schemas.microsoft.com/office/drawing/2014/main" id="{B5975245-9A31-4244-83C9-47F7F2BBE9BA}"/>
              </a:ext>
            </a:extLst>
          </p:cNvPr>
          <p:cNvSpPr>
            <a:spLocks xmlns:a="http://schemas.openxmlformats.org/drawingml/2006/main" noGrp="1"/>
          </p:cNvSpPr>
          <p:nvPr/>
        </p:nvSpPr>
        <p:spPr>
          <a:xfrm xmlns:a="http://schemas.openxmlformats.org/drawingml/2006/main">
            <a:off x="3810000" y="28575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Propiedades: consultan fase, posición y derrota.</a:t>
            </a:r>
          </a:p>
        </p:txBody>
      </p:sp>
      <p:sp>
        <p:nvSpPr>
          <p:cNvPr id="9" name="etiqueta-codigo">
            <a:extLst xmlns:a="http://schemas.openxmlformats.org/drawingml/2006/main">
              <a:ext uri="{FF2B5EF4-FFF2-40B4-BE49-F238E27FC236}">
                <a16:creationId xmlns:a16="http://schemas.microsoft.com/office/drawing/2014/main" id="{41AB3FBE-9419-4B1B-9D10-A37254D1FD89}"/>
              </a:ext>
            </a:extLst>
          </p:cNvPr>
          <p:cNvSpPr>
            <a:spLocks xmlns:a="http://schemas.openxmlformats.org/drawingml/2006/main" noGrp="1"/>
          </p:cNvSpPr>
          <p:nvPr/>
        </p:nvSpPr>
        <p:spPr>
          <a:xfrm xmlns:a="http://schemas.openxmlformats.org/drawingml/2006/main">
            <a:off x="3810000" y="31623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10" name="fragmento-codigo">
            <a:extLst xmlns:a="http://schemas.openxmlformats.org/drawingml/2006/main">
              <a:ext uri="{FF2B5EF4-FFF2-40B4-BE49-F238E27FC236}">
                <a16:creationId xmlns:a16="http://schemas.microsoft.com/office/drawing/2014/main" id="{2B0DFD3D-0156-4D2E-ADCC-0561B7C033A1}"/>
              </a:ext>
            </a:extLst>
          </p:cNvPr>
          <p:cNvSpPr>
            <a:spLocks xmlns:a="http://schemas.openxmlformats.org/drawingml/2006/main" noGrp="1"/>
          </p:cNvSpPr>
          <p:nvPr/>
        </p:nvSpPr>
        <p:spPr>
          <a:xfrm xmlns:a="http://schemas.openxmlformats.org/drawingml/2006/main">
            <a:off x="3810000" y="3486150"/>
            <a:ext cx="7762875"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Alcaide:</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@property</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posicion(self):</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self.x, self.y</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@property</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derrotado(self):</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return self.vida &lt;= 0</a:t>
            </a:r>
          </a:p>
        </p:txBody>
      </p:sp>
      <p:sp>
        <p:nvSpPr>
          <p:cNvPr id="11" name="enlace-fuente">
            <a:extLst xmlns:a="http://schemas.openxmlformats.org/drawingml/2006/main">
              <a:ext uri="{FF2B5EF4-FFF2-40B4-BE49-F238E27FC236}">
                <a16:creationId xmlns:a16="http://schemas.microsoft.com/office/drawing/2014/main" id="{181999A9-BDDB-49E9-9106-15EF68C62966}"/>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92d07d4e2c2749ca"/>
              </a:rPr>
              <a:t>src/combate.py, clase desde línea 47</a:t>
            </a:r>
          </a:p>
        </p:txBody>
      </p:sp>
      <p:sp>
        <p:nvSpPr>
          <p:cNvPr id="12" name="enlace-recorte">
            <a:extLst xmlns:a="http://schemas.openxmlformats.org/drawingml/2006/main">
              <a:ext uri="{FF2B5EF4-FFF2-40B4-BE49-F238E27FC236}">
                <a16:creationId xmlns:a16="http://schemas.microsoft.com/office/drawing/2014/main" id="{B4238D90-2434-462F-8708-DCC89D5D5959}"/>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48f222a92d4744b9"/>
              </a:rPr>
              <a:t>Abrir recorte en tamaño original</a:t>
            </a:r>
          </a:p>
        </p:txBody>
      </p:sp>
    </p:spTree>
    <p:extLst>
      <p:ext uri="{BB962C8B-B14F-4D97-AF65-F5344CB8AC3E}">
        <p14:creationId xmlns:p14="http://schemas.microsoft.com/office/powerpoint/2010/main" val="75241210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BE853500-A536-4654-B854-02A91AA3EB8C}"/>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24 de 25</a:t>
            </a:r>
          </a:p>
        </p:txBody>
      </p:sp>
      <p:sp>
        <p:nvSpPr>
          <p:cNvPr id="2" name="titulo-clase">
            <a:extLst xmlns:a="http://schemas.openxmlformats.org/drawingml/2006/main">
              <a:ext uri="{FF2B5EF4-FFF2-40B4-BE49-F238E27FC236}">
                <a16:creationId xmlns:a16="http://schemas.microsoft.com/office/drawing/2014/main" id="{9AE60E77-7744-4E6F-88EB-7300B072E665}"/>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Combate</a:t>
            </a:r>
          </a:p>
        </p:txBody>
      </p:sp>
      <p:sp>
        <p:nvSpPr>
          <p:cNvPr id="3" name="etiqueta-uml">
            <a:extLst xmlns:a="http://schemas.openxmlformats.org/drawingml/2006/main">
              <a:ext uri="{FF2B5EF4-FFF2-40B4-BE49-F238E27FC236}">
                <a16:creationId xmlns:a16="http://schemas.microsoft.com/office/drawing/2014/main" id="{999C8896-78EE-4AC3-B55D-D9916793DA58}"/>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D017E03C-4747-4041-B912-E4D8B8A323EA}"/>
              </a:ext>
            </a:extLst>
          </p:cNvPr>
          <p:cNvPicPr>
            <a:picLocks xmlns:a="http://schemas.openxmlformats.org/drawingml/2006/main" noChangeAspect="1"/>
          </p:cNvPicPr>
          <p:nvPr/>
        </p:nvPicPr>
        <p:blipFill>
          <a:blip xmlns:r="http://schemas.openxmlformats.org/officeDocument/2006/relationships" xmlns:a="http://schemas.openxmlformats.org/drawingml/2006/main" r:embed="R09569965b997414a"/>
          <a:stretch xmlns:a="http://schemas.openxmlformats.org/drawingml/2006/main"/>
        </p:blipFill>
        <p:spPr>
          <a:xfrm xmlns:a="http://schemas.openxmlformats.org/drawingml/2006/main">
            <a:off x="609600" y="2863963"/>
            <a:ext cx="2762250" cy="2387373"/>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0E1DDC27-B95A-4800-8496-0454CA69D287}"/>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Resuelve los ataques, los proyectiles y la vida en la arena.</a:t>
            </a:r>
          </a:p>
        </p:txBody>
      </p:sp>
      <p:sp>
        <p:nvSpPr>
          <p:cNvPr id="6" name="poo-0">
            <a:extLst xmlns:a="http://schemas.openxmlformats.org/drawingml/2006/main">
              <a:ext uri="{FF2B5EF4-FFF2-40B4-BE49-F238E27FC236}">
                <a16:creationId xmlns:a16="http://schemas.microsoft.com/office/drawing/2014/main" id="{F3AF69DD-5BC4-4383-A5F8-83764E4A38BC}"/>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Composición: crea Alcaide y Proyectil.</a:t>
            </a:r>
          </a:p>
        </p:txBody>
      </p:sp>
      <p:sp>
        <p:nvSpPr>
          <p:cNvPr id="7" name="poo-1">
            <a:extLst xmlns:a="http://schemas.openxmlformats.org/drawingml/2006/main">
              <a:ext uri="{FF2B5EF4-FFF2-40B4-BE49-F238E27FC236}">
                <a16:creationId xmlns:a16="http://schemas.microsoft.com/office/drawing/2014/main" id="{061472EF-343C-44D5-87CF-B01EB2B182F5}"/>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Asociación: conserva el Nivel recibido.</a:t>
            </a:r>
          </a:p>
        </p:txBody>
      </p:sp>
      <p:sp>
        <p:nvSpPr>
          <p:cNvPr id="8" name="etiqueta-codigo">
            <a:extLst xmlns:a="http://schemas.openxmlformats.org/drawingml/2006/main">
              <a:ext uri="{FF2B5EF4-FFF2-40B4-BE49-F238E27FC236}">
                <a16:creationId xmlns:a16="http://schemas.microsoft.com/office/drawing/2014/main" id="{5E155A6E-2013-41C3-840C-9365A2ABA683}"/>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5634E045-444F-4F96-8820-B2EB7FA703DB}"/>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Combate: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__init__(self, nivel):</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self.nivel = nivel</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self.jefe = Alcaide()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self.proyectiles = []</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emitir(self, origen, angulo, velocidad, enemigo=True):</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self.proyectiles.append(Proyectil(</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*origen, math.cos(angulo) * velocidad,</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math.sin(angulo) * velocidad, enemigo,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6 if enemigo else 5))</a:t>
            </a:r>
          </a:p>
        </p:txBody>
      </p:sp>
      <p:sp>
        <p:nvSpPr>
          <p:cNvPr id="10" name="enlace-fuente">
            <a:extLst xmlns:a="http://schemas.openxmlformats.org/drawingml/2006/main">
              <a:ext uri="{FF2B5EF4-FFF2-40B4-BE49-F238E27FC236}">
                <a16:creationId xmlns:a16="http://schemas.microsoft.com/office/drawing/2014/main" id="{D99DD549-8540-4665-B088-88CB8AD97E00}"/>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9766b1ad1b684acf"/>
              </a:rPr>
              <a:t>src/combate.py, clase desde línea 162</a:t>
            </a:r>
          </a:p>
        </p:txBody>
      </p:sp>
      <p:sp>
        <p:nvSpPr>
          <p:cNvPr id="11" name="enlace-recorte">
            <a:extLst xmlns:a="http://schemas.openxmlformats.org/drawingml/2006/main">
              <a:ext uri="{FF2B5EF4-FFF2-40B4-BE49-F238E27FC236}">
                <a16:creationId xmlns:a16="http://schemas.microsoft.com/office/drawing/2014/main" id="{4CA82263-0A1D-438C-80E6-ED6272C1EAA4}"/>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4b506da0006640cd"/>
              </a:rPr>
              <a:t>Abrir recorte en tamaño original</a:t>
            </a:r>
          </a:p>
        </p:txBody>
      </p:sp>
    </p:spTree>
    <p:extLst>
      <p:ext uri="{BB962C8B-B14F-4D97-AF65-F5344CB8AC3E}">
        <p14:creationId xmlns:p14="http://schemas.microsoft.com/office/powerpoint/2010/main" val="129119752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partado-clase">
            <a:extLst xmlns:a="http://schemas.openxmlformats.org/drawingml/2006/main">
              <a:ext uri="{FF2B5EF4-FFF2-40B4-BE49-F238E27FC236}">
                <a16:creationId xmlns:a16="http://schemas.microsoft.com/office/drawing/2014/main" id="{37D7050A-854A-4A9F-B707-6ED65383A3A7}"/>
              </a:ext>
            </a:extLst>
          </p:cNvPr>
          <p:cNvSpPr>
            <a:spLocks xmlns:a="http://schemas.openxmlformats.org/drawingml/2006/main" noGrp="1"/>
          </p:cNvSpPr>
          <p:nvPr/>
        </p:nvSpPr>
        <p:spPr>
          <a:xfrm xmlns:a="http://schemas.openxmlformats.org/drawingml/2006/main">
            <a:off x="60960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00" b="1">
                <a:solidFill>
                  <a:srgbClr val="16735D"/>
                </a:solidFill>
                <a:latin typeface="DejaVu Sans"/>
                <a:ea typeface="DejaVu Sans"/>
                <a:cs typeface="DejaVu Sans"/>
              </a:defRPr>
            </a:defPPr>
          </a:lstStyle>
          <a:p xmlns:a="http://schemas.openxmlformats.org/drawingml/2006/main">
            <a:pPr>
              <a:lnSpc>
                <a:spcPct val="105000"/>
              </a:lnSpc>
              <a:buNone/>
              <a:defRPr sz="1500" b="1">
                <a:solidFill>
                  <a:srgbClr val="16735D"/>
                </a:solidFill>
                <a:latin typeface="DejaVu Sans"/>
                <a:ea typeface="DejaVu Sans"/>
                <a:cs typeface="DejaVu Sans"/>
              </a:defRPr>
            </a:pPr>
            <a:r>
              <a:rPr sz="1500" b="1">
                <a:solidFill>
                  <a:srgbClr val="16735D"/>
                </a:solidFill>
                <a:latin typeface="DejaVu Sans"/>
                <a:ea typeface="DejaVu Sans"/>
                <a:cs typeface="DejaVu Sans"/>
              </a:rPr>
              <a:t>Punto 7 de 7. VIII. Anexos. Clase 25 de 25</a:t>
            </a:r>
          </a:p>
        </p:txBody>
      </p:sp>
      <p:sp>
        <p:nvSpPr>
          <p:cNvPr id="2" name="titulo-clase">
            <a:extLst xmlns:a="http://schemas.openxmlformats.org/drawingml/2006/main">
              <a:ext uri="{FF2B5EF4-FFF2-40B4-BE49-F238E27FC236}">
                <a16:creationId xmlns:a16="http://schemas.microsoft.com/office/drawing/2014/main" id="{BCE72575-9666-4024-B9A0-27AF6107CEEF}"/>
              </a:ext>
            </a:extLst>
          </p:cNvPr>
          <p:cNvSpPr>
            <a:spLocks xmlns:a="http://schemas.openxmlformats.org/drawingml/2006/main" noGrp="1"/>
          </p:cNvSpPr>
          <p:nvPr/>
        </p:nvSpPr>
        <p:spPr>
          <a:xfrm xmlns:a="http://schemas.openxmlformats.org/drawingml/2006/main">
            <a:off x="609600" y="6953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300" b="1">
                <a:solidFill>
                  <a:srgbClr val="172F3C"/>
                </a:solidFill>
                <a:latin typeface="DejaVu Sans"/>
                <a:ea typeface="DejaVu Sans"/>
                <a:cs typeface="DejaVu Sans"/>
              </a:defRPr>
            </a:defPPr>
          </a:lstStyle>
          <a:p xmlns:a="http://schemas.openxmlformats.org/drawingml/2006/main">
            <a:pPr>
              <a:lnSpc>
                <a:spcPct val="105000"/>
              </a:lnSpc>
              <a:buNone/>
              <a:defRPr sz="3300" b="1">
                <a:solidFill>
                  <a:srgbClr val="172F3C"/>
                </a:solidFill>
                <a:latin typeface="DejaVu Sans"/>
                <a:ea typeface="DejaVu Sans"/>
                <a:cs typeface="DejaVu Sans"/>
              </a:defRPr>
            </a:pPr>
            <a:r>
              <a:rPr sz="3300" b="1">
                <a:solidFill>
                  <a:srgbClr val="172F3C"/>
                </a:solidFill>
                <a:latin typeface="DejaVu Sans"/>
                <a:ea typeface="DejaVu Sans"/>
                <a:cs typeface="DejaVu Sans"/>
              </a:rPr>
              <a:t>Vista</a:t>
            </a:r>
          </a:p>
        </p:txBody>
      </p:sp>
      <p:sp>
        <p:nvSpPr>
          <p:cNvPr id="3" name="etiqueta-uml">
            <a:extLst xmlns:a="http://schemas.openxmlformats.org/drawingml/2006/main">
              <a:ext uri="{FF2B5EF4-FFF2-40B4-BE49-F238E27FC236}">
                <a16:creationId xmlns:a16="http://schemas.microsoft.com/office/drawing/2014/main" id="{F9FCD0F6-5C66-4697-91F6-92A9D7136B7A}"/>
              </a:ext>
            </a:extLst>
          </p:cNvPr>
          <p:cNvSpPr>
            <a:spLocks xmlns:a="http://schemas.openxmlformats.org/drawingml/2006/main" noGrp="1"/>
          </p:cNvSpPr>
          <p:nvPr/>
        </p:nvSpPr>
        <p:spPr>
          <a:xfrm xmlns:a="http://schemas.openxmlformats.org/drawingml/2006/main">
            <a:off x="609600" y="1495425"/>
            <a:ext cx="2809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UML: recorte original</a:t>
            </a:r>
          </a:p>
        </p:txBody>
      </p:sp>
      <p:pic>
        <p:nvPicPr>
          <p:cNvPr id="4" name="">
            <a:extLst xmlns:a="http://schemas.openxmlformats.org/drawingml/2006/main">
              <a:ext uri="{FF2B5EF4-FFF2-40B4-BE49-F238E27FC236}">
                <a16:creationId xmlns:a16="http://schemas.microsoft.com/office/drawing/2014/main" id="{24024347-7C12-425F-9CF3-02A212E5A13C}"/>
              </a:ext>
            </a:extLst>
          </p:cNvPr>
          <p:cNvPicPr>
            <a:picLocks xmlns:a="http://schemas.openxmlformats.org/drawingml/2006/main" noChangeAspect="1"/>
          </p:cNvPicPr>
          <p:nvPr/>
        </p:nvPicPr>
        <p:blipFill>
          <a:blip xmlns:r="http://schemas.openxmlformats.org/officeDocument/2006/relationships" xmlns:a="http://schemas.openxmlformats.org/drawingml/2006/main" r:embed="Rb8f853d0c2894234"/>
          <a:stretch xmlns:a="http://schemas.openxmlformats.org/drawingml/2006/main"/>
        </p:blipFill>
        <p:spPr>
          <a:xfrm xmlns:a="http://schemas.openxmlformats.org/drawingml/2006/main">
            <a:off x="609600" y="2675280"/>
            <a:ext cx="2762250" cy="2764741"/>
          </a:xfrm>
          <a:prstGeom xmlns:a="http://schemas.openxmlformats.org/drawingml/2006/main" prst="rect">
            <a:avLst/>
          </a:prstGeom>
        </p:spPr>
      </p:pic>
      <p:sp>
        <p:nvSpPr>
          <p:cNvPr id="5" name="funcion-clase">
            <a:extLst xmlns:a="http://schemas.openxmlformats.org/drawingml/2006/main">
              <a:ext uri="{FF2B5EF4-FFF2-40B4-BE49-F238E27FC236}">
                <a16:creationId xmlns:a16="http://schemas.microsoft.com/office/drawing/2014/main" id="{481BE638-C861-4B9A-8087-58267A0F30E8}"/>
              </a:ext>
            </a:extLst>
          </p:cNvPr>
          <p:cNvSpPr>
            <a:spLocks xmlns:a="http://schemas.openxmlformats.org/drawingml/2006/main" noGrp="1"/>
          </p:cNvSpPr>
          <p:nvPr/>
        </p:nvSpPr>
        <p:spPr>
          <a:xfrm xmlns:a="http://schemas.openxmlformats.org/drawingml/2006/main">
            <a:off x="3810000" y="1419225"/>
            <a:ext cx="776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2F3C"/>
                </a:solidFill>
                <a:latin typeface="DejaVu Sans"/>
                <a:ea typeface="DejaVu Sans"/>
                <a:cs typeface="DejaVu Sans"/>
              </a:defRPr>
            </a:defPPr>
          </a:lstStyle>
          <a:p xmlns:a="http://schemas.openxmlformats.org/drawingml/2006/main">
            <a:pPr>
              <a:lnSpc>
                <a:spcPct val="105000"/>
              </a:lnSpc>
              <a:buNone/>
              <a:defRPr sz="1800" b="0">
                <a:solidFill>
                  <a:srgbClr val="172F3C"/>
                </a:solidFill>
                <a:latin typeface="DejaVu Sans"/>
                <a:ea typeface="DejaVu Sans"/>
                <a:cs typeface="DejaVu Sans"/>
              </a:defRPr>
            </a:pPr>
            <a:r>
              <a:rPr sz="1800" b="0">
                <a:solidFill>
                  <a:srgbClr val="172F3C"/>
                </a:solidFill>
                <a:latin typeface="DejaVu Sans"/>
                <a:ea typeface="DejaVu Sans"/>
                <a:cs typeface="DejaVu Sans"/>
              </a:rPr>
              <a:t>Dibuja la interfaz, los mapas y los personajes stickman con Pygame.</a:t>
            </a:r>
          </a:p>
        </p:txBody>
      </p:sp>
      <p:sp>
        <p:nvSpPr>
          <p:cNvPr id="6" name="poo-0">
            <a:extLst xmlns:a="http://schemas.openxmlformats.org/drawingml/2006/main">
              <a:ext uri="{FF2B5EF4-FFF2-40B4-BE49-F238E27FC236}">
                <a16:creationId xmlns:a16="http://schemas.microsoft.com/office/drawing/2014/main" id="{261FD2BC-298C-4C9A-A059-9E802FA2A50A}"/>
              </a:ext>
            </a:extLst>
          </p:cNvPr>
          <p:cNvSpPr>
            <a:spLocks xmlns:a="http://schemas.openxmlformats.org/drawingml/2006/main" noGrp="1"/>
          </p:cNvSpPr>
          <p:nvPr/>
        </p:nvSpPr>
        <p:spPr>
          <a:xfrm xmlns:a="http://schemas.openxmlformats.org/drawingml/2006/main">
            <a:off x="3810000" y="21717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Asociación: conserva la pantalla que recibe.</a:t>
            </a:r>
          </a:p>
        </p:txBody>
      </p:sp>
      <p:sp>
        <p:nvSpPr>
          <p:cNvPr id="7" name="poo-1">
            <a:extLst xmlns:a="http://schemas.openxmlformats.org/drawingml/2006/main">
              <a:ext uri="{FF2B5EF4-FFF2-40B4-BE49-F238E27FC236}">
                <a16:creationId xmlns:a16="http://schemas.microsoft.com/office/drawing/2014/main" id="{A529C314-9760-4DA5-BA10-E01A8B0C520E}"/>
              </a:ext>
            </a:extLst>
          </p:cNvPr>
          <p:cNvSpPr>
            <a:spLocks xmlns:a="http://schemas.openxmlformats.org/drawingml/2006/main" noGrp="1"/>
          </p:cNvSpPr>
          <p:nvPr/>
        </p:nvSpPr>
        <p:spPr>
          <a:xfrm xmlns:a="http://schemas.openxmlformats.org/drawingml/2006/main">
            <a:off x="3810000" y="2514600"/>
            <a:ext cx="7762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38" b="0">
                <a:solidFill>
                  <a:srgbClr val="172F3C"/>
                </a:solidFill>
                <a:latin typeface="DejaVu Sans"/>
                <a:ea typeface="DejaVu Sans"/>
                <a:cs typeface="DejaVu Sans"/>
              </a:defRPr>
            </a:defPPr>
          </a:lstStyle>
          <a:p xmlns:a="http://schemas.openxmlformats.org/drawingml/2006/main">
            <a:pPr>
              <a:lnSpc>
                <a:spcPct val="105000"/>
              </a:lnSpc>
              <a:buNone/>
              <a:defRPr sz="1538" b="0">
                <a:solidFill>
                  <a:srgbClr val="172F3C"/>
                </a:solidFill>
                <a:latin typeface="DejaVu Sans"/>
                <a:ea typeface="DejaVu Sans"/>
                <a:cs typeface="DejaVu Sans"/>
              </a:defRPr>
            </a:pPr>
            <a:r>
              <a:rPr sz="1538" b="0">
                <a:solidFill>
                  <a:srgbClr val="172F3C"/>
                </a:solidFill>
                <a:latin typeface="DejaVu Sans"/>
                <a:ea typeface="DejaVu Sans"/>
                <a:cs typeface="DejaVu Sans"/>
              </a:rPr>
              <a:t>Dependencia: dibujar consulta Juego y Nivel.</a:t>
            </a:r>
          </a:p>
        </p:txBody>
      </p:sp>
      <p:sp>
        <p:nvSpPr>
          <p:cNvPr id="8" name="etiqueta-codigo">
            <a:extLst xmlns:a="http://schemas.openxmlformats.org/drawingml/2006/main">
              <a:ext uri="{FF2B5EF4-FFF2-40B4-BE49-F238E27FC236}">
                <a16:creationId xmlns:a16="http://schemas.microsoft.com/office/drawing/2014/main" id="{B3E4E7AB-8572-4045-88ED-0913B344C260}"/>
              </a:ext>
            </a:extLst>
          </p:cNvPr>
          <p:cNvSpPr>
            <a:spLocks xmlns:a="http://schemas.openxmlformats.org/drawingml/2006/main" noGrp="1"/>
          </p:cNvSpPr>
          <p:nvPr/>
        </p:nvSpPr>
        <p:spPr>
          <a:xfrm xmlns:a="http://schemas.openxmlformats.org/drawingml/2006/main">
            <a:off x="3810000" y="2819400"/>
            <a:ext cx="7762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275" b="1">
                <a:solidFill>
                  <a:srgbClr val="16735D"/>
                </a:solidFill>
                <a:latin typeface="DejaVu Sans"/>
                <a:ea typeface="DejaVu Sans"/>
                <a:cs typeface="DejaVu Sans"/>
              </a:defRPr>
            </a:defPPr>
          </a:lstStyle>
          <a:p xmlns:a="http://schemas.openxmlformats.org/drawingml/2006/main">
            <a:pPr>
              <a:lnSpc>
                <a:spcPct val="105000"/>
              </a:lnSpc>
              <a:buNone/>
              <a:defRPr sz="1275" b="1">
                <a:solidFill>
                  <a:srgbClr val="16735D"/>
                </a:solidFill>
                <a:latin typeface="DejaVu Sans"/>
                <a:ea typeface="DejaVu Sans"/>
                <a:cs typeface="DejaVu Sans"/>
              </a:defRPr>
            </a:pPr>
            <a:r>
              <a:rPr sz="1275" b="1">
                <a:solidFill>
                  <a:srgbClr val="16735D"/>
                </a:solidFill>
                <a:latin typeface="DejaVu Sans"/>
                <a:ea typeface="DejaVu Sans"/>
                <a:cs typeface="DejaVu Sans"/>
              </a:rPr>
              <a:t>Código del proyecto (fragmento)</a:t>
            </a:r>
          </a:p>
        </p:txBody>
      </p:sp>
      <p:sp>
        <p:nvSpPr>
          <p:cNvPr id="9" name="fragmento-codigo">
            <a:extLst xmlns:a="http://schemas.openxmlformats.org/drawingml/2006/main">
              <a:ext uri="{FF2B5EF4-FFF2-40B4-BE49-F238E27FC236}">
                <a16:creationId xmlns:a16="http://schemas.microsoft.com/office/drawing/2014/main" id="{0FDA3C21-60EB-432E-B89C-7D81839AB587}"/>
              </a:ext>
            </a:extLst>
          </p:cNvPr>
          <p:cNvSpPr>
            <a:spLocks xmlns:a="http://schemas.openxmlformats.org/drawingml/2006/main" noGrp="1"/>
          </p:cNvSpPr>
          <p:nvPr/>
        </p:nvSpPr>
        <p:spPr>
          <a:xfrm xmlns:a="http://schemas.openxmlformats.org/drawingml/2006/main">
            <a:off x="3810000" y="3143250"/>
            <a:ext cx="77628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172F3C"/>
                </a:solidFill>
                <a:latin typeface="DejaVu Sans Mono"/>
                <a:ea typeface="DejaVu Sans Mono"/>
                <a:cs typeface="DejaVu Sans Mono"/>
              </a:defRPr>
            </a:defPPr>
          </a:lstStyle>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class Vista:</a:t>
            </a:r>
          </a:p>
          <a:p xmlns:a="http://schemas.openxmlformats.org/drawingml/2006/main">
            <a:r>
              <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def dibujar(self, juego):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nivel = juego.nivel</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self._dibujar_encabezado(juego)</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self._dibujar_mapa(nivel)</a:t>
            </a:r>
          </a:p>
          <a:p xmlns:a="http://schemas.openxmlformats.org/drawingml/2006/main">
            <a:pPr>
              <a:lnSpc>
                <a:spcPct val="105000"/>
              </a:lnSpc>
              <a:buNone/>
              <a:defRPr sz="1425" b="0">
                <a:solidFill>
                  <a:srgbClr val="172F3C"/>
                </a:solidFill>
                <a:latin typeface="DejaVu Sans Mono"/>
                <a:ea typeface="DejaVu Sans Mono"/>
                <a:cs typeface="DejaVu Sans Mono"/>
              </a:defRPr>
            </a:pPr>
            <a:r>
              <a:rPr sz="1425" b="0">
                <a:solidFill>
                  <a:srgbClr val="172F3C"/>
                </a:solidFill>
                <a:latin typeface="DejaVu Sans Mono"/>
                <a:ea typeface="DejaVu Sans Mono"/>
                <a:cs typeface="DejaVu Sans Mono"/>
              </a:rPr>
              <a:t>        self._dibujar_objetivos(nivel)</a:t>
            </a:r>
          </a:p>
        </p:txBody>
      </p:sp>
      <p:sp>
        <p:nvSpPr>
          <p:cNvPr id="10" name="enlace-fuente">
            <a:extLst xmlns:a="http://schemas.openxmlformats.org/drawingml/2006/main">
              <a:ext uri="{FF2B5EF4-FFF2-40B4-BE49-F238E27FC236}">
                <a16:creationId xmlns:a16="http://schemas.microsoft.com/office/drawing/2014/main" id="{A537B87B-50A6-4D91-B692-762B8D4DD9DD}"/>
              </a:ext>
            </a:extLst>
          </p:cNvPr>
          <p:cNvSpPr>
            <a:spLocks xmlns:a="http://schemas.openxmlformats.org/drawingml/2006/main" noGrp="1"/>
          </p:cNvSpPr>
          <p:nvPr/>
        </p:nvSpPr>
        <p:spPr>
          <a:xfrm xmlns:a="http://schemas.openxmlformats.org/drawingml/2006/main">
            <a:off x="3810000" y="6457950"/>
            <a:ext cx="7762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526773"/>
                </a:solidFill>
                <a:latin typeface="DejaVu Sans"/>
                <a:ea typeface="DejaVu Sans"/>
                <a:cs typeface="DejaVu Sans"/>
              </a:defRPr>
            </a:defPPr>
          </a:lstStyle>
          <a:p xmlns:a="http://schemas.openxmlformats.org/drawingml/2006/main">
            <a:pPr>
              <a:lnSpc>
                <a:spcPct val="105000"/>
              </a:lnSpc>
              <a:buNone/>
              <a:defRPr sz="975" b="0">
                <a:solidFill>
                  <a:srgbClr val="526773"/>
                </a:solidFill>
                <a:latin typeface="DejaVu Sans"/>
                <a:ea typeface="DejaVu Sans"/>
                <a:cs typeface="DejaVu Sans"/>
              </a:defRPr>
            </a:pPr>
            <a:r>
              <a:rPr sz="975" b="0">
                <a:solidFill>
                  <a:srgbClr val="526773"/>
                </a:solidFill>
                <a:latin typeface="DejaVu Sans"/>
                <a:ea typeface="DejaVu Sans"/>
                <a:cs typeface="DejaVu Sans"/>
                <a:hlinkClick xmlns:r="http://schemas.openxmlformats.org/officeDocument/2006/relationships" r:id="R4a256b8f5df3433a"/>
              </a:rPr>
              <a:t>src/vista.py, clase desde línea 12</a:t>
            </a:r>
          </a:p>
        </p:txBody>
      </p:sp>
      <p:sp>
        <p:nvSpPr>
          <p:cNvPr id="11" name="enlace-recorte">
            <a:extLst xmlns:a="http://schemas.openxmlformats.org/drawingml/2006/main">
              <a:ext uri="{FF2B5EF4-FFF2-40B4-BE49-F238E27FC236}">
                <a16:creationId xmlns:a16="http://schemas.microsoft.com/office/drawing/2014/main" id="{A0B328BB-B1DA-43ED-ACF7-73E0D8A335C9}"/>
              </a:ext>
            </a:extLst>
          </p:cNvPr>
          <p:cNvSpPr>
            <a:spLocks xmlns:a="http://schemas.openxmlformats.org/drawingml/2006/main" noGrp="1"/>
          </p:cNvSpPr>
          <p:nvPr/>
        </p:nvSpPr>
        <p:spPr>
          <a:xfrm xmlns:a="http://schemas.openxmlformats.org/drawingml/2006/main">
            <a:off x="609600" y="6457950"/>
            <a:ext cx="2857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975" b="0">
                <a:solidFill>
                  <a:srgbClr val="16735D"/>
                </a:solidFill>
                <a:latin typeface="DejaVu Sans"/>
                <a:ea typeface="DejaVu Sans"/>
                <a:cs typeface="DejaVu Sans"/>
              </a:defRPr>
            </a:defPPr>
          </a:lstStyle>
          <a:p xmlns:a="http://schemas.openxmlformats.org/drawingml/2006/main">
            <a:pPr>
              <a:lnSpc>
                <a:spcPct val="105000"/>
              </a:lnSpc>
              <a:buNone/>
              <a:defRPr sz="975" b="0">
                <a:solidFill>
                  <a:srgbClr val="16735D"/>
                </a:solidFill>
                <a:latin typeface="DejaVu Sans"/>
                <a:ea typeface="DejaVu Sans"/>
                <a:cs typeface="DejaVu Sans"/>
              </a:defRPr>
            </a:pPr>
            <a:r>
              <a:rPr sz="975" b="0">
                <a:solidFill>
                  <a:srgbClr val="16735D"/>
                </a:solidFill>
                <a:latin typeface="DejaVu Sans"/>
                <a:ea typeface="DejaVu Sans"/>
                <a:cs typeface="DejaVu Sans"/>
                <a:hlinkClick xmlns:r="http://schemas.openxmlformats.org/officeDocument/2006/relationships" r:id="R8443bf5e35684ff4"/>
              </a:rPr>
              <a:t>Abrir recorte en tamaño original</a:t>
            </a:r>
          </a:p>
        </p:txBody>
      </p:sp>
    </p:spTree>
    <p:extLst>
      <p:ext uri="{BB962C8B-B14F-4D97-AF65-F5344CB8AC3E}">
        <p14:creationId xmlns:p14="http://schemas.microsoft.com/office/powerpoint/2010/main" val="6916146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2026-10-16T13:28:37.1340000Z</dcterms:created>
  <dcterms:modified xsi:type="dcterms:W3CDTF">2026-10-16T13:28:37.1340000Z</dcterms:modified>
</coreProperties>
</file>