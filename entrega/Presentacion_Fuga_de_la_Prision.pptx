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Presentación</a:t>
            </a:r>
          </a:p>
          <a:p>
            <a:r>
              <a:t>Tiempo sugerido: 20 s.</a:t>
            </a:r>
          </a:p>
          <a:p>
            <a:r>
              <a:t>Expositor sugerido para el ensayo: Jose Fernando. Este reparto no atribuye autoría del código.</a:t>
            </a:r>
          </a:p>
          <a:p/>
          <a:p>
            <a:r>
              <a:t>Presentar a los cuatro integrantes y el nombre del proyecto. Abrir con una frase: «Nuestro reto fue convertir un escape de prisión en objetos que colaboran: personajes, mapa, estados y puntaje». El foco de la exposición será mostrar una regla del juego y la decisión de diseño que la sostiene. No leer todos los nombres ni explicar todavía el UML.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y reglas</a:t>
            </a:r>
          </a:p>
          <a:p>
            <a:r>
              <a:t>Tiempo sugerido: 35 s.</a:t>
            </a:r>
          </a:p>
          <a:p>
            <a:r>
              <a:t>Expositor sugerido para el ensayo: Jose Fernando. Este reparto no atribuye autoría del código.</a:t>
            </a:r>
          </a:p>
          <a:p/>
          <a:p>
            <a:r>
              <a:t>Explicar el objetivo académico: demostrar los fundamentos de POO y patrones mediante un juego funcional. En la captura, señalar al prisionero verde, la llave amarilla, las patrullas rojas y la salida. El prisionero comienza encerrado. Ver u oír al jugador inicia una respuesta de los guardias; la captura se produce por contacto. Las cámaras alertan a las patrullas, no provocan una derrota instantánea.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Campaña</a:t>
            </a:r>
          </a:p>
          <a:p>
            <a:r>
              <a:t>Tiempo sugerido: 30 s.</a:t>
            </a:r>
          </a:p>
          <a:p>
            <a:r>
              <a:t>Expositor sugerido para el ensayo: Jose Fernando. Este reparto no atribuye autoría del código.</a:t>
            </a:r>
          </a:p>
          <a:p/>
          <a:p>
            <a:r>
              <a:t>Recorrer las cuatro capturas sin describir todos los obstáculos. Los tres primeros mapas trabajan el sigilo; la arena introduce combate. Destacar que el Patio cambia al recoger la llave porque se abren atajos en el mismo mapa usado para colisiones y caminos. El puntaje se conserva entre niveles: 400 de llaves, 2000 de salidas y 1000 del jefe, total 3400. Al reintentar un nivel se restauran los puntos que había al entrar en él.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Arquitectura</a:t>
            </a:r>
          </a:p>
          <a:p>
            <a:r>
              <a:t>Tiempo sugerido: 45 s.</a:t>
            </a:r>
          </a:p>
          <a:p>
            <a:r>
              <a:t>Expositor sugerido para el ensayo: Mickele Carlos. Este reparto no atribuye autoría del código.</a:t>
            </a:r>
          </a:p>
          <a:p/>
          <a:p>
            <a:r>
              <a:t>Este es un recorte del UML, no la lista completa. Explicar primero Juego: mantiene la campaña y delega en un estado. Nivel coordina los componentes de cada mapa y recibe el Puntaje compartido. Combate existe solo en la arena. Vista consume los datos del juego para dibujar. El rombo negro de Juego a Nivel indica creación y composición; el rombo blanco de Nivel a Puntaje señala que Nivel recibe el objeto creado por Juego. La flecha discontinua de Vista representa una dependencia de uso. El UML íntegro de 25 clases queda en el anexo. Hablar de responsabilidades, no memorizar todos los atributos.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Asociación, agregación y composición</a:t>
            </a:r>
          </a:p>
          <a:p>
            <a:r>
              <a:t>Tiempo sugerido: 40 s.</a:t>
            </a:r>
          </a:p>
          <a:p>
            <a:r>
              <a:t>Expositor sugerido para el ensayo: Mickele Carlos. Este reparto no atribuye autoría del código.</a:t>
            </a:r>
          </a:p>
          <a:p/>
          <a:p>
            <a:r>
              <a:t>Mostrar tres ejemplos reales. Asociación: Personaje conserva la referencia a su Nivel y consulta sus reglas de colisión. Agregación: cada Nivel recibe Puntaje; Juego conserva ese mismo objeto al cambiar de nivel. Composición: Nivel construye Mapa con su plano. En el diseño, el mapa es una parte del nivel. Los rombos se colocan del lado del objeto que contiene la parte. No afirmar que Python destruye automáticamente una parte en el mismo instante: los ejemplos explican responsabilidad y ciclo de vida en el diseño. Otros ejemplos de composición son Prisionero con HabilidadCarrera y Combate con Alcaide.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Herencia y polimorfismo</a:t>
            </a:r>
          </a:p>
          <a:p>
            <a:r>
              <a:t>Tiempo sugerido: 40 s.</a:t>
            </a:r>
          </a:p>
          <a:p>
            <a:r>
              <a:t>Expositor sugerido para el ensayo: Mickele Carlos. Este reparto no atribuye autoría del código.</a:t>
            </a:r>
          </a:p>
          <a:p/>
          <a:p>
            <a:r>
              <a:t>Personaje es una clase abstracta y reúne posición y movimiento. Prisionero y Guardia heredan esos elementos e implementan update. El fragmento pertenece a Nivel.actualizar, invocado desde el bucle del juego por el estado Jugando. La llamada no pregunta qué tipo de personaje tiene delante: cada objeto resuelve su propia implementación. Distinguir herencia, que define la jerarquía, de polimorfismo, que permite usar una operación común. El triángulo vacío apunta a Personaje, la base.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Encapsulamiento y abstracción</a:t>
            </a:r>
          </a:p>
          <a:p>
            <a:r>
              <a:t>Tiempo sugerido: 35 s.</a:t>
            </a:r>
          </a:p>
          <a:p>
            <a:r>
              <a:t>Expositor sugerido para el ensayo: Mickele Carlos. Este reparto no atribuye autoría del código.</a:t>
            </a:r>
          </a:p>
          <a:p/>
          <a:p>
            <a:r>
              <a:t>Leer solo la condición que rechaza datos inválidos y el llamado a _notificar. _valor es un atributo interno por convención; el guion bajo no impide físicamente el acceso en Python. Los métodos públicos controlan las operaciones válidas y evitan que la regla se repita en todos los consumidores. El getter permite consultar el valor. Conectar con abstracción: el resto del juego puede pedir sumar puntos sin conocer la lista interna de observadores. También Personaje y EstadoJuego definen contratos abstractos.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Patrón State</a:t>
            </a:r>
          </a:p>
          <a:p>
            <a:r>
              <a:t>Tiempo sugerido: 40 s.</a:t>
            </a:r>
          </a:p>
          <a:p>
            <a:r>
              <a:t>Expositor sugerido para el ensayo: Richard Aaron. Este reparto no atribuye autoría del código.</a:t>
            </a:r>
          </a:p>
          <a:p/>
          <a:p>
            <a:r>
              <a:t>La caja de EstadoJuego indica la interfaz común; las otras cinco cajas son sus estados concretos. El esquema muestra transiciones de ejecución y no sustituye el diagrama de herencia. Jugando actualiza Nivel y examina el resultado. Pausa tiene una actualización vacía, por lo que el tiempo y las reglas de la simulación quedan detenidos. P o Escape alterna Jugando y Pausa. Enter después de NivelCompletado carga el siguiente nivel; R desde Derrota reintenta el nivel; R desde Victoria inicia otra campaña. La pérdida de foco también pausa. La ausencia de avance durante la pausa se comprueba en las pruebas.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Patrón Observer</a:t>
            </a:r>
          </a:p>
          <a:p>
            <a:r>
              <a:t>Tiempo sugerido: 35 s.</a:t>
            </a:r>
          </a:p>
          <a:p>
            <a:r>
              <a:t>Expositor sugerido para el ensayo: Richard Aaron. Este reparto no atribuye autoría del código.</a:t>
            </a:r>
          </a:p>
          <a:p/>
          <a:p>
            <a:r>
              <a:t>Recorrer el caso de una llave. Nivel llama a Puntaje.sumar(100). Puntaje valida el cambio y recorre sus observadores para llamar a actualizar_puntaje. PanelPuntaje implementa esa operación y guarda el nuevo valor. Vista lee panel.valor y lo dibuja. El fragmento de suscripción está en Juego.__init__. Puntaje no necesita conocer las operaciones gráficas de Pygame. SistemaRuido emplea una comunicación semejante con sus guardias oyentes, pero el ejemplo formal de Observer es el sistema del puntaje.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Combate contra el Alcaide</a:t>
            </a:r>
          </a:p>
          <a:p>
            <a:r>
              <a:t>Tiempo sugerido: 35 s.</a:t>
            </a:r>
          </a:p>
          <a:p>
            <a:r>
              <a:t>Expositor sugerido para el ensayo: Piero Cemei. Este reparto no atribuye autoría del código.</a:t>
            </a:r>
          </a:p>
          <a:p/>
          <a:p>
            <a:r>
              <a:t>La primera columna representa la fase y las coronas cuentan todos los proyectiles de ese patrón: 12, 40 y 84. La espera de la tabla es la que queda tras ejecutar el ataque; no es el tiempo de toda la secuencia. Además existen ráfagas dirigidas y embestidas. Cada cambio de capa retira proyectiles y se anuncia durante 1,1 segundos. Combate y Alcaide separan las reglas de ataque de la coordinación general de Nivel. Solo tras derrotarlo se conceden 1000 puntos y se habilita la llave; luego hay que recogerla y llegar a la salida.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Evidencia de funcionamiento</a:t>
            </a:r>
          </a:p>
          <a:p>
            <a:r>
              <a:t>Tiempo sugerido: 35 s.</a:t>
            </a:r>
          </a:p>
          <a:p>
            <a:r>
              <a:t>Expositor sugerido para el ensayo: Piero Cemei. Este reparto no atribuye autoría del código.</a:t>
            </a:r>
          </a:p>
          <a:p/>
          <a:p>
            <a:r>
              <a:t>Durante la preparación del entorno se ejecutó tools/verificar.py en una copia temporal para no sobrescribir evidencias versionadas. Pasaron las 54 pruebas, se completaron los cuatro niveles y se generaron 14 capturas. El verificador usa movimiento y disparos del juego, sin teletransportar al jugador ni desactivar enemigos para completar la campaña. La derrota forzada posterior solo comprueba ese estado. La campaña termina con 3400 puntos. La validación automática fue sin ventana; también se comprobó el arranque del bucle de main.py y cierre por QUIT. Eso no reemplaza el ensayo con teclado del equipo.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Uso de Git y trabajo en equipo</a:t>
            </a:r>
          </a:p>
          <a:p>
            <a:r>
              <a:t>Tiempo sugerido: 25 s.</a:t>
            </a:r>
          </a:p>
          <a:p>
            <a:r>
              <a:t>Expositor sugerido para el ensayo: Piero Cemei. Este reparto no atribuye autoría del código.</a:t>
            </a:r>
          </a:p>
          <a:p/>
          <a:p>
            <a:r>
              <a:t>El historial actual contiene 14 commits. El PDF técnico conserva una revisión anterior hasta 8eed979 con 13 commits; esta diapositiva refleja el HEAD 56f629f. Se observan tres nombres de autor configurados: JhosFcL con 12 commits, Simei con uno y shzjeud con uno. No se puede deducir de esos nombres la contribución de los cuatro integrantes. Antes de exponer, cada integrante debe preparar un cambio o commit que pueda explicar de forma veraz. El reparto de voces de estas notas es una propuesta de ensayo, no una atribución de trabajo. No afirmar que hay ramas, PR o revisiones de equipo si no se cuenta con evidencia.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Demostración breve</a:t>
            </a:r>
          </a:p>
          <a:p>
            <a:r>
              <a:t>Tiempo sugerido: 60 s.</a:t>
            </a:r>
          </a:p>
          <a:p>
            <a:r>
              <a:t>Expositor sugerido para el ensayo: Piero Cemei. Este reparto no atribuye autoría del código.</a:t>
            </a:r>
          </a:p>
          <a:p/>
          <a:p>
            <a:r>
              <a:t>Reservar aproximadamente un minuto y ensayar el orden. Abrir main.py en la computadora con pantalla. Mantener E cerca de los barrotes y mostrar cómo se abre la celda. Empujar un muro para demostrar la colisión. Moverse con Ctrl y comparar con Shift sin prometer que una misma acción siempre evita toda captura. Pausar con P y volver con Escape: las patrullas no deben avanzar mientras está pausado. Si capturan al jugador, R restaura el nivel completo. No intentar completar toda la campaña en directo si eso consume el tiempo. Las capturas de las diapositivas 3 y 10 sirven como respaldo. En la nube la validación se hizo sin ventana, así que la demostración interactiva requiere el equipo de exposición.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Cierre</a:t>
            </a:r>
          </a:p>
          <a:p>
            <a:r>
              <a:t>Tiempo sugerido: 25 s.</a:t>
            </a:r>
          </a:p>
          <a:p>
            <a:r>
              <a:t>Expositor sugerido para el ensayo: Equipo. Este reparto no atribuye autoría del código.</a:t>
            </a:r>
          </a:p>
          <a:p/>
          <a:p>
            <a:r>
              <a:t>Cerrar con la dificultad principal: hacer que puertas, paredes, sonido y rutas consulten un modelo coherente del mapa. El aprendizaje fue separar responsabilidades para poder probarlas. Recordar que la campaña y las pruebas son evidencia funcional, y que la defensa oral debe conectar cada concepto con una decisión concreta del código. Agradecer y abrir preguntas. Si preguntan por el porcentaje del parcial, la rúbrica pide demostrar un avance del 25 % pero no define una fórmula: describir las funciones que ya se pueden ejecutar sin inventar un porcentaje.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UML de consulta</a:t>
            </a:r>
          </a:p>
          <a:p>
            <a:r>
              <a:t>Tiempo sugerido: 0 s.</a:t>
            </a:r>
          </a:p>
          <a:p>
            <a:r>
              <a:t>Expositor sugerido para el ensayo: Equipo. Este reparto no atribuye autoría del código.</a:t>
            </a:r>
          </a:p>
          <a:p/>
          <a:p>
            <a:r>
              <a:t>Anexo, fuera de los 8–10 minutos. La imagen completa queda incrustada en el PPT para ampliar durante las preguntas; no intentar leerla entera desde la proyección. Las diapositivas 4 a 9 ya presentan relaciones concretas con tamaño legible. Conservar el PNG original como recurso adicional si se necesita mayor ampliación. El modelo íntegro reúne las 25 clases; no incluye clases de los tests. El # refleja convención de uso interno en Python, no una restricción de acceso impuesta por el lenguaje.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y controles</a:t>
            </a:r>
          </a:p>
          <a:p>
            <a:r>
              <a:t>Tiempo sugerido: 0 s.</a:t>
            </a:r>
          </a:p>
          <a:p>
            <a:r>
              <a:t>Expositor sugerido para el ensayo: Equipo. Este reparto no atribuye autoría del código.</a:t>
            </a:r>
          </a:p>
          <a:p/>
          <a:p>
            <a:r>
              <a:t>Anexo, fuera del tiempo principal. Otras respuestas: si coinciden captura y salida, la derrota tiene prioridad. R tras perder reintenta el nivel con los puntos de entrada; N inicia una campaña desde cero. En la arena, Espacio apunta automáticamente al jefe e IJKL fija la dirección. Una misma tecla puede tener acciones diferentes según State. Las pruebas automáticas validan reglas; el ensayo con teclado valida que el equipo pueda presentar el juego con soltura. Fuentes: código del checkout main, README, informe parcial, rúbrica adjunta y verificador ejecutado durante la configuración del entorno.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821"/>
        </a:solidFill>
        <a:effectLst/>
      </p:bgPr>
    </p:bg>
    <p:spTree>
      <p:nvGrpSpPr>
        <p:cNvPr id="1" name=""/>
        <p:cNvGrpSpPr/>
        <p:nvPr/>
      </p:nvGrpSpPr>
      <p:grpSpPr/>
      <p:sp>
        <p:nvSpPr>
          <p:cNvPr id="2" name="Rectangle 1"/>
          <p:cNvSpPr/>
          <p:nvPr/>
        </p:nvSpPr>
        <p:spPr>
          <a:xfrm>
            <a:off x="548640" y="320040"/>
            <a:ext cx="292608" cy="50292"/>
          </a:xfrm>
          <a:prstGeom prst="rect">
            <a:avLst/>
          </a:prstGeom>
          <a:solidFill>
            <a:srgbClr val="8BE7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37744"/>
            <a:ext cx="9144000" cy="274320"/>
          </a:xfrm>
          <a:prstGeom prst="rect">
            <a:avLst/>
          </a:prstGeom>
          <a:noFill/>
        </p:spPr>
        <p:txBody>
          <a:bodyPr wrap="square" lIns="0" rIns="0" tIns="0" bIns="0">
            <a:spAutoFit/>
          </a:bodyPr>
          <a:lstStyle/>
          <a:p>
            <a:pPr>
              <a:lnSpc>
                <a:spcPct val="112000"/>
              </a:lnSpc>
              <a:spcBef>
                <a:spcPts val="0"/>
              </a:spcBef>
              <a:spcAft>
                <a:spcPts val="500"/>
              </a:spcAft>
              <a:defRPr sz="1050" b="1">
                <a:solidFill>
                  <a:srgbClr val="8BE7B2"/>
                </a:solidFill>
                <a:latin typeface="DejaVu Sans"/>
              </a:defRPr>
            </a:pPr>
            <a:r>
              <a:t>PROYECTO PARCIAL · POO</a:t>
            </a:r>
          </a:p>
        </p:txBody>
      </p:sp>
      <p:sp>
        <p:nvSpPr>
          <p:cNvPr id="4" name="TextBox 3"/>
          <p:cNvSpPr txBox="1"/>
          <p:nvPr/>
        </p:nvSpPr>
        <p:spPr>
          <a:xfrm>
            <a:off x="548640" y="758952"/>
            <a:ext cx="11064240" cy="960120"/>
          </a:xfrm>
          <a:prstGeom prst="rect">
            <a:avLst/>
          </a:prstGeom>
          <a:noFill/>
        </p:spPr>
        <p:txBody>
          <a:bodyPr wrap="square" lIns="0" rIns="0" tIns="0" bIns="0">
            <a:spAutoFit/>
          </a:bodyPr>
          <a:lstStyle/>
          <a:p>
            <a:pPr>
              <a:lnSpc>
                <a:spcPct val="112000"/>
              </a:lnSpc>
              <a:spcBef>
                <a:spcPts val="0"/>
              </a:spcBef>
              <a:spcAft>
                <a:spcPts val="500"/>
              </a:spcAft>
              <a:defRPr sz="3200" b="1">
                <a:solidFill>
                  <a:srgbClr val="F1F5F4"/>
                </a:solidFill>
                <a:latin typeface="DejaVu Sans"/>
              </a:defRPr>
            </a:pPr>
          </a:p>
        </p:txBody>
      </p:sp>
      <p:cxnSp>
        <p:nvCxnSpPr>
          <p:cNvPr id="5" name="Connector 4"/>
          <p:cNvCxnSpPr/>
          <p:nvPr/>
        </p:nvCxnSpPr>
        <p:spPr>
          <a:xfrm>
            <a:off x="548640" y="6419088"/>
            <a:ext cx="11091672" cy="0"/>
          </a:xfrm>
          <a:prstGeom prst="line">
            <a:avLst/>
          </a:prstGeom>
          <a:ln w="8255">
            <a:solidFill>
              <a:srgbClr val="3D5867"/>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519672"/>
            <a:ext cx="3017520" cy="173736"/>
          </a:xfrm>
          <a:prstGeom prst="rect">
            <a:avLst/>
          </a:prstGeom>
          <a:noFill/>
        </p:spPr>
        <p:txBody>
          <a:bodyPr wrap="square" lIns="0" rIns="0" tIns="0" bIns="0">
            <a:spAutoFit/>
          </a:bodyPr>
          <a:lstStyle/>
          <a:p>
            <a:pPr>
              <a:lnSpc>
                <a:spcPct val="112000"/>
              </a:lnSpc>
              <a:spcBef>
                <a:spcPts val="0"/>
              </a:spcBef>
              <a:spcAft>
                <a:spcPts val="500"/>
              </a:spcAft>
              <a:defRPr sz="850" b="0">
                <a:solidFill>
                  <a:srgbClr val="A9BBC6"/>
                </a:solidFill>
                <a:latin typeface="DejaVu Sans"/>
              </a:defRPr>
            </a:pPr>
            <a:r>
              <a:t>FUGA DE LA PRISIÓN  /  2026-II</a:t>
            </a:r>
          </a:p>
        </p:txBody>
      </p:sp>
      <p:sp>
        <p:nvSpPr>
          <p:cNvPr id="7" name="TextBox 6"/>
          <p:cNvSpPr txBox="1"/>
          <p:nvPr/>
        </p:nvSpPr>
        <p:spPr>
          <a:xfrm>
            <a:off x="3703320" y="6519672"/>
            <a:ext cx="7132320" cy="182880"/>
          </a:xfrm>
          <a:prstGeom prst="rect">
            <a:avLst/>
          </a:prstGeom>
          <a:noFill/>
        </p:spPr>
        <p:txBody>
          <a:bodyPr wrap="square" lIns="0" rIns="0" tIns="0" bIns="0">
            <a:spAutoFit/>
          </a:bodyPr>
          <a:lstStyle/>
          <a:p>
            <a:pPr algn="r">
              <a:lnSpc>
                <a:spcPct val="112000"/>
              </a:lnSpc>
              <a:spcBef>
                <a:spcPts val="0"/>
              </a:spcBef>
              <a:spcAft>
                <a:spcPts val="500"/>
              </a:spcAft>
              <a:defRPr sz="850" b="0">
                <a:solidFill>
                  <a:srgbClr val="A9BBC6"/>
                </a:solidFill>
                <a:latin typeface="DejaVu Sans"/>
              </a:defRPr>
            </a:pPr>
            <a:r>
              <a:t>UPCH · Facultad de Ciencias e Ingeniería · Ingeniería Informática</a:t>
            </a:r>
          </a:p>
        </p:txBody>
      </p:sp>
      <p:sp>
        <p:nvSpPr>
          <p:cNvPr id="8" name="TextBox 7"/>
          <p:cNvSpPr txBox="1"/>
          <p:nvPr/>
        </p:nvSpPr>
        <p:spPr>
          <a:xfrm>
            <a:off x="11018520" y="6492240"/>
            <a:ext cx="594360" cy="274320"/>
          </a:xfrm>
          <a:prstGeom prst="rect">
            <a:avLst/>
          </a:prstGeom>
          <a:noFill/>
        </p:spPr>
        <p:txBody>
          <a:bodyPr wrap="square" lIns="0" rIns="0" tIns="0" bIns="0">
            <a:spAutoFit/>
          </a:bodyPr>
          <a:lstStyle/>
          <a:p>
            <a:pPr algn="r">
              <a:lnSpc>
                <a:spcPct val="112000"/>
              </a:lnSpc>
              <a:spcBef>
                <a:spcPts val="0"/>
              </a:spcBef>
              <a:spcAft>
                <a:spcPts val="500"/>
              </a:spcAft>
              <a:defRPr sz="1100" b="1">
                <a:solidFill>
                  <a:srgbClr val="8BE7B2"/>
                </a:solidFill>
                <a:latin typeface="DejaVu Sans"/>
              </a:defRPr>
            </a:pPr>
            <a:r>
              <a:t>01</a:t>
            </a:r>
          </a:p>
        </p:txBody>
      </p:sp>
      <p:sp>
        <p:nvSpPr>
          <p:cNvPr id="9" name="TextBox 8"/>
          <p:cNvSpPr txBox="1"/>
          <p:nvPr/>
        </p:nvSpPr>
        <p:spPr>
          <a:xfrm>
            <a:off x="594360" y="1069848"/>
            <a:ext cx="6400800" cy="1737360"/>
          </a:xfrm>
          <a:prstGeom prst="rect">
            <a:avLst/>
          </a:prstGeom>
          <a:noFill/>
        </p:spPr>
        <p:txBody>
          <a:bodyPr wrap="square" lIns="0" rIns="0" tIns="0" bIns="0">
            <a:spAutoFit/>
          </a:bodyPr>
          <a:lstStyle/>
          <a:p>
            <a:pPr>
              <a:lnSpc>
                <a:spcPct val="112000"/>
              </a:lnSpc>
              <a:spcBef>
                <a:spcPts val="0"/>
              </a:spcBef>
              <a:spcAft>
                <a:spcPts val="500"/>
              </a:spcAft>
              <a:defRPr sz="4400" b="1">
                <a:solidFill>
                  <a:srgbClr val="F1F5F4"/>
                </a:solidFill>
                <a:latin typeface="DejaVu Sans"/>
              </a:defRPr>
            </a:pPr>
            <a:r>
              <a:t>FUGA DE</a:t>
            </a:r>
          </a:p>
          <a:p>
            <a:pPr>
              <a:lnSpc>
                <a:spcPct val="112000"/>
              </a:lnSpc>
              <a:spcBef>
                <a:spcPts val="0"/>
              </a:spcBef>
              <a:spcAft>
                <a:spcPts val="500"/>
              </a:spcAft>
              <a:defRPr sz="4400" b="1">
                <a:solidFill>
                  <a:srgbClr val="F1F5F4"/>
                </a:solidFill>
                <a:latin typeface="DejaVu Sans"/>
              </a:defRPr>
            </a:pPr>
            <a:r>
              <a:t>LA PRISIÓN</a:t>
            </a:r>
          </a:p>
        </p:txBody>
      </p:sp>
      <p:sp>
        <p:nvSpPr>
          <p:cNvPr id="10" name="TextBox 9"/>
          <p:cNvSpPr txBox="1"/>
          <p:nvPr/>
        </p:nvSpPr>
        <p:spPr>
          <a:xfrm>
            <a:off x="621792" y="2880360"/>
            <a:ext cx="5669280" cy="457200"/>
          </a:xfrm>
          <a:prstGeom prst="rect">
            <a:avLst/>
          </a:prstGeom>
          <a:noFill/>
        </p:spPr>
        <p:txBody>
          <a:bodyPr wrap="square" lIns="0" rIns="0" tIns="0" bIns="0">
            <a:spAutoFit/>
          </a:bodyPr>
          <a:lstStyle/>
          <a:p>
            <a:pPr>
              <a:lnSpc>
                <a:spcPct val="112000"/>
              </a:lnSpc>
              <a:spcBef>
                <a:spcPts val="0"/>
              </a:spcBef>
              <a:spcAft>
                <a:spcPts val="500"/>
              </a:spcAft>
              <a:defRPr sz="2400" b="1">
                <a:solidFill>
                  <a:srgbClr val="8BE7B2"/>
                </a:solidFill>
                <a:latin typeface="DejaVu Sans"/>
              </a:defRPr>
            </a:pPr>
            <a:r>
              <a:t>La última fuga</a:t>
            </a:r>
          </a:p>
        </p:txBody>
      </p:sp>
      <p:sp>
        <p:nvSpPr>
          <p:cNvPr id="11" name="TextBox 10"/>
          <p:cNvSpPr txBox="1"/>
          <p:nvPr/>
        </p:nvSpPr>
        <p:spPr>
          <a:xfrm>
            <a:off x="621792" y="3502152"/>
            <a:ext cx="5166360" cy="914400"/>
          </a:xfrm>
          <a:prstGeom prst="rect">
            <a:avLst/>
          </a:prstGeom>
          <a:noFill/>
        </p:spPr>
        <p:txBody>
          <a:bodyPr wrap="square" lIns="0" rIns="0" tIns="0" bIns="0">
            <a:spAutoFit/>
          </a:bodyPr>
          <a:lstStyle/>
          <a:p>
            <a:pPr>
              <a:lnSpc>
                <a:spcPct val="112000"/>
              </a:lnSpc>
              <a:spcBef>
                <a:spcPts val="0"/>
              </a:spcBef>
              <a:spcAft>
                <a:spcPts val="500"/>
              </a:spcAft>
              <a:defRPr sz="1900" b="0">
                <a:solidFill>
                  <a:srgbClr val="A9BBC6"/>
                </a:solidFill>
                <a:latin typeface="DejaVu Sans"/>
              </a:defRPr>
            </a:pPr>
            <a:r>
              <a:t>Un videojuego de sigilo para demostrar</a:t>
            </a:r>
          </a:p>
          <a:p>
            <a:pPr>
              <a:lnSpc>
                <a:spcPct val="112000"/>
              </a:lnSpc>
              <a:spcBef>
                <a:spcPts val="0"/>
              </a:spcBef>
              <a:spcAft>
                <a:spcPts val="500"/>
              </a:spcAft>
              <a:defRPr sz="1900" b="0">
                <a:solidFill>
                  <a:srgbClr val="A9BBC6"/>
                </a:solidFill>
                <a:latin typeface="DejaVu Sans"/>
              </a:defRPr>
            </a:pPr>
            <a:r>
              <a:t>Programación Orientada a Objetos.</a:t>
            </a:r>
          </a:p>
        </p:txBody>
      </p:sp>
      <p:sp>
        <p:nvSpPr>
          <p:cNvPr id="12" name="Rounded Rectangle 11"/>
          <p:cNvSpPr/>
          <p:nvPr/>
        </p:nvSpPr>
        <p:spPr>
          <a:xfrm>
            <a:off x="621792" y="4681728"/>
            <a:ext cx="1600200" cy="310896"/>
          </a:xfrm>
          <a:prstGeom prst="roundRect">
            <a:avLst>
              <a:gd name="adj" fmla="val 8000"/>
            </a:avLst>
          </a:prstGeom>
          <a:solidFill>
            <a:srgbClr val="203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732020"/>
            <a:ext cx="1380744" cy="228600"/>
          </a:xfrm>
          <a:prstGeom prst="rect">
            <a:avLst/>
          </a:prstGeom>
          <a:noFill/>
        </p:spPr>
        <p:txBody>
          <a:bodyPr wrap="square" lIns="0" rIns="0" tIns="0" bIns="0">
            <a:spAutoFit/>
          </a:bodyPr>
          <a:lstStyle/>
          <a:p>
            <a:pPr>
              <a:lnSpc>
                <a:spcPct val="112000"/>
              </a:lnSpc>
              <a:spcBef>
                <a:spcPts val="0"/>
              </a:spcBef>
              <a:spcAft>
                <a:spcPts val="500"/>
              </a:spcAft>
              <a:defRPr sz="1050" b="1">
                <a:solidFill>
                  <a:srgbClr val="8BE7B2"/>
                </a:solidFill>
                <a:latin typeface="DejaVu Sans"/>
              </a:defRPr>
            </a:pPr>
            <a:r>
              <a:t>4 NIVELES</a:t>
            </a:r>
          </a:p>
        </p:txBody>
      </p:sp>
      <p:sp>
        <p:nvSpPr>
          <p:cNvPr id="14" name="Rounded Rectangle 13"/>
          <p:cNvSpPr/>
          <p:nvPr/>
        </p:nvSpPr>
        <p:spPr>
          <a:xfrm>
            <a:off x="2350008" y="4681728"/>
            <a:ext cx="1600200" cy="310896"/>
          </a:xfrm>
          <a:prstGeom prst="roundRect">
            <a:avLst>
              <a:gd name="adj" fmla="val 8000"/>
            </a:avLst>
          </a:prstGeom>
          <a:solidFill>
            <a:srgbClr val="203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59736" y="4732020"/>
            <a:ext cx="1380744" cy="228600"/>
          </a:xfrm>
          <a:prstGeom prst="rect">
            <a:avLst/>
          </a:prstGeom>
          <a:noFill/>
        </p:spPr>
        <p:txBody>
          <a:bodyPr wrap="square" lIns="0" rIns="0" tIns="0" bIns="0">
            <a:spAutoFit/>
          </a:bodyPr>
          <a:lstStyle/>
          <a:p>
            <a:pPr>
              <a:lnSpc>
                <a:spcPct val="112000"/>
              </a:lnSpc>
              <a:spcBef>
                <a:spcPts val="0"/>
              </a:spcBef>
              <a:spcAft>
                <a:spcPts val="500"/>
              </a:spcAft>
              <a:defRPr sz="1050" b="1">
                <a:solidFill>
                  <a:srgbClr val="8BE7B2"/>
                </a:solidFill>
                <a:latin typeface="DejaVu Sans"/>
              </a:defRPr>
            </a:pPr>
            <a:r>
              <a:t>25 CLASES</a:t>
            </a:r>
          </a:p>
        </p:txBody>
      </p:sp>
      <p:sp>
        <p:nvSpPr>
          <p:cNvPr id="16" name="Rounded Rectangle 15"/>
          <p:cNvSpPr/>
          <p:nvPr/>
        </p:nvSpPr>
        <p:spPr>
          <a:xfrm>
            <a:off x="4078224" y="4681728"/>
            <a:ext cx="1600200" cy="310896"/>
          </a:xfrm>
          <a:prstGeom prst="roundRect">
            <a:avLst>
              <a:gd name="adj" fmla="val 8000"/>
            </a:avLst>
          </a:prstGeom>
          <a:solidFill>
            <a:srgbClr val="203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87952" y="4732020"/>
            <a:ext cx="1380744" cy="228600"/>
          </a:xfrm>
          <a:prstGeom prst="rect">
            <a:avLst/>
          </a:prstGeom>
          <a:noFill/>
        </p:spPr>
        <p:txBody>
          <a:bodyPr wrap="square" lIns="0" rIns="0" tIns="0" bIns="0">
            <a:spAutoFit/>
          </a:bodyPr>
          <a:lstStyle/>
          <a:p>
            <a:pPr>
              <a:lnSpc>
                <a:spcPct val="112000"/>
              </a:lnSpc>
              <a:spcBef>
                <a:spcPts val="0"/>
              </a:spcBef>
              <a:spcAft>
                <a:spcPts val="500"/>
              </a:spcAft>
              <a:defRPr sz="1050" b="1">
                <a:solidFill>
                  <a:srgbClr val="8BE7B2"/>
                </a:solidFill>
                <a:latin typeface="DejaVu Sans"/>
              </a:defRPr>
            </a:pPr>
            <a:r>
              <a:t>PYTHON + PYGAME</a:t>
            </a:r>
          </a:p>
        </p:txBody>
      </p:sp>
      <p:sp>
        <p:nvSpPr>
          <p:cNvPr id="18" name="Rectangle 17"/>
          <p:cNvSpPr/>
          <p:nvPr/>
        </p:nvSpPr>
        <p:spPr>
          <a:xfrm>
            <a:off x="6405372" y="1184148"/>
            <a:ext cx="5166359" cy="3937406"/>
          </a:xfrm>
          <a:prstGeom prst="rect">
            <a:avLst/>
          </a:prstGeom>
          <a:solidFill>
            <a:srgbClr val="3D58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01_inicio.png"/>
          <p:cNvPicPr>
            <a:picLocks noChangeAspect="1"/>
          </p:cNvPicPr>
          <p:nvPr/>
        </p:nvPicPr>
        <p:blipFill>
          <a:blip r:embed="rId2"/>
          <a:stretch>
            <a:fillRect/>
          </a:stretch>
        </p:blipFill>
        <p:spPr>
          <a:xfrm>
            <a:off x="6428232" y="1207008"/>
            <a:ext cx="5120640" cy="3891686"/>
          </a:xfrm>
          <a:prstGeom prst="rect">
            <a:avLst/>
          </a:prstGeom>
        </p:spPr>
      </p:pic>
      <p:sp>
        <p:nvSpPr>
          <p:cNvPr id="20" name="TextBox 19"/>
          <p:cNvSpPr txBox="1"/>
          <p:nvPr/>
        </p:nvSpPr>
        <p:spPr>
          <a:xfrm>
            <a:off x="6428232" y="5349240"/>
            <a:ext cx="5120640" cy="365760"/>
          </a:xfrm>
          <a:prstGeom prst="rect">
            <a:avLst/>
          </a:prstGeom>
          <a:noFill/>
        </p:spPr>
        <p:txBody>
          <a:bodyPr wrap="square" lIns="0" rIns="0" tIns="0" bIns="0">
            <a:spAutoFit/>
          </a:bodyPr>
          <a:lstStyle/>
          <a:p>
            <a:pPr>
              <a:lnSpc>
                <a:spcPct val="112000"/>
              </a:lnSpc>
              <a:spcBef>
                <a:spcPts val="0"/>
              </a:spcBef>
              <a:spcAft>
                <a:spcPts val="500"/>
              </a:spcAft>
              <a:defRPr sz="1400" b="0">
                <a:solidFill>
                  <a:srgbClr val="A9BBC6"/>
                </a:solidFill>
                <a:latin typeface="DejaVu Sans"/>
              </a:defRPr>
            </a:pPr>
            <a:r>
              <a:t>Proyecto parcial  ·  Ciclo IV  ·  2026-II</a:t>
            </a:r>
          </a:p>
        </p:txBody>
      </p:sp>
      <p:sp>
        <p:nvSpPr>
          <p:cNvPr id="21" name="TextBox 20"/>
          <p:cNvSpPr txBox="1"/>
          <p:nvPr/>
        </p:nvSpPr>
        <p:spPr>
          <a:xfrm>
            <a:off x="621792" y="5358384"/>
            <a:ext cx="5486400" cy="749808"/>
          </a:xfrm>
          <a:prstGeom prst="rect">
            <a:avLst/>
          </a:prstGeom>
          <a:noFill/>
        </p:spPr>
        <p:txBody>
          <a:bodyPr wrap="square" lIns="0" rIns="0" tIns="0" bIns="0">
            <a:spAutoFit/>
          </a:bodyPr>
          <a:lstStyle/>
          <a:p>
            <a:pPr>
              <a:lnSpc>
                <a:spcPct val="112000"/>
              </a:lnSpc>
              <a:spcBef>
                <a:spcPts val="0"/>
              </a:spcBef>
              <a:spcAft>
                <a:spcPts val="500"/>
              </a:spcAft>
              <a:defRPr sz="1150" b="0">
                <a:solidFill>
                  <a:srgbClr val="F1F5F4"/>
                </a:solidFill>
                <a:latin typeface="DejaVu Sans"/>
              </a:defRPr>
            </a:pPr>
            <a:r>
              <a:t>Jose Fernando Chavez Lozano · Mickele Carlos Torres Velazco</a:t>
            </a:r>
          </a:p>
          <a:p>
            <a:pPr>
              <a:lnSpc>
                <a:spcPct val="112000"/>
              </a:lnSpc>
              <a:spcBef>
                <a:spcPts val="0"/>
              </a:spcBef>
              <a:spcAft>
                <a:spcPts val="500"/>
              </a:spcAft>
              <a:defRPr sz="1150" b="0">
                <a:solidFill>
                  <a:srgbClr val="F1F5F4"/>
                </a:solidFill>
                <a:latin typeface="DejaVu Sans"/>
              </a:defRPr>
            </a:pPr>
            <a:r>
              <a:t>Piero Cemei Romero Meza · Richard Aaron Soriano Cordova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1821"/>
        </a:solidFill>
        <a:effectLst/>
      </p:bgPr>
    </p:bg>
    <p:spTree>
      <p:nvGrpSpPr>
        <p:cNvPr id="1" name=""/>
        <p:cNvGrpSpPr/>
        <p:nvPr/>
      </p:nvGrpSpPr>
      <p:grpSpPr/>
      <p:sp>
        <p:nvSpPr>
          <p:cNvPr id="2" name="Rectangle 1"/>
          <p:cNvSpPr/>
          <p:nvPr/>
        </p:nvSpPr>
        <p:spPr>
          <a:xfrm>
            <a:off x="548640" y="320040"/>
            <a:ext cx="292608" cy="50292"/>
          </a:xfrm>
          <a:prstGeom prst="rect">
            <a:avLst/>
          </a:prstGeom>
          <a:solidFill>
            <a:srgbClr val="8BE7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37744"/>
            <a:ext cx="9144000" cy="274320"/>
          </a:xfrm>
          <a:prstGeom prst="rect">
            <a:avLst/>
          </a:prstGeom>
          <a:noFill/>
        </p:spPr>
        <p:txBody>
          <a:bodyPr wrap="square" lIns="0" rIns="0" tIns="0" bIns="0">
            <a:spAutoFit/>
          </a:bodyPr>
          <a:lstStyle/>
          <a:p>
            <a:pPr>
              <a:lnSpc>
                <a:spcPct val="112000"/>
              </a:lnSpc>
              <a:spcBef>
                <a:spcPts val="0"/>
              </a:spcBef>
              <a:spcAft>
                <a:spcPts val="500"/>
              </a:spcAft>
              <a:defRPr sz="1050" b="1">
                <a:solidFill>
                  <a:srgbClr val="8BE7B2"/>
                </a:solidFill>
                <a:latin typeface="DejaVu Sans"/>
              </a:defRPr>
            </a:pPr>
            <a:r>
              <a:t>PROYECTO PARCIAL · POO</a:t>
            </a:r>
          </a:p>
        </p:txBody>
      </p:sp>
      <p:sp>
        <p:nvSpPr>
          <p:cNvPr id="4" name="TextBox 3"/>
          <p:cNvSpPr txBox="1"/>
          <p:nvPr/>
        </p:nvSpPr>
        <p:spPr>
          <a:xfrm>
            <a:off x="548640" y="758952"/>
            <a:ext cx="11064240" cy="960120"/>
          </a:xfrm>
          <a:prstGeom prst="rect">
            <a:avLst/>
          </a:prstGeom>
          <a:noFill/>
        </p:spPr>
        <p:txBody>
          <a:bodyPr wrap="square" lIns="0" rIns="0" tIns="0" bIns="0">
            <a:spAutoFit/>
          </a:bodyPr>
          <a:lstStyle/>
          <a:p>
            <a:pPr>
              <a:lnSpc>
                <a:spcPct val="112000"/>
              </a:lnSpc>
              <a:spcBef>
                <a:spcPts val="0"/>
              </a:spcBef>
              <a:spcAft>
                <a:spcPts val="500"/>
              </a:spcAft>
              <a:defRPr sz="3200" b="1">
                <a:solidFill>
                  <a:srgbClr val="F1F5F4"/>
                </a:solidFill>
                <a:latin typeface="DejaVu Sans"/>
              </a:defRPr>
            </a:pPr>
            <a:r>
              <a:t>Escapar exige observar, decidir y actuar</a:t>
            </a:r>
          </a:p>
        </p:txBody>
      </p:sp>
      <p:cxnSp>
        <p:nvCxnSpPr>
          <p:cNvPr id="5" name="Connector 4"/>
          <p:cNvCxnSpPr/>
          <p:nvPr/>
        </p:nvCxnSpPr>
        <p:spPr>
          <a:xfrm>
            <a:off x="548640" y="6419088"/>
            <a:ext cx="11091672" cy="0"/>
          </a:xfrm>
          <a:prstGeom prst="line">
            <a:avLst/>
          </a:prstGeom>
          <a:ln w="8255">
            <a:solidFill>
              <a:srgbClr val="3D5867"/>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519672"/>
            <a:ext cx="3017520" cy="173736"/>
          </a:xfrm>
          <a:prstGeom prst="rect">
            <a:avLst/>
          </a:prstGeom>
          <a:noFill/>
        </p:spPr>
        <p:txBody>
          <a:bodyPr wrap="square" lIns="0" rIns="0" tIns="0" bIns="0">
            <a:spAutoFit/>
          </a:bodyPr>
          <a:lstStyle/>
          <a:p>
            <a:pPr>
              <a:lnSpc>
                <a:spcPct val="112000"/>
              </a:lnSpc>
              <a:spcBef>
                <a:spcPts val="0"/>
              </a:spcBef>
              <a:spcAft>
                <a:spcPts val="500"/>
              </a:spcAft>
              <a:defRPr sz="850" b="0">
                <a:solidFill>
                  <a:srgbClr val="A9BBC6"/>
                </a:solidFill>
                <a:latin typeface="DejaVu Sans"/>
              </a:defRPr>
            </a:pPr>
            <a:r>
              <a:t>FUGA DE LA PRISIÓN  /  2026-II</a:t>
            </a:r>
          </a:p>
        </p:txBody>
      </p:sp>
      <p:sp>
        <p:nvSpPr>
          <p:cNvPr id="7" name="TextBox 6"/>
          <p:cNvSpPr txBox="1"/>
          <p:nvPr/>
        </p:nvSpPr>
        <p:spPr>
          <a:xfrm>
            <a:off x="3703320" y="6519672"/>
            <a:ext cx="7132320" cy="182880"/>
          </a:xfrm>
          <a:prstGeom prst="rect">
            <a:avLst/>
          </a:prstGeom>
          <a:noFill/>
        </p:spPr>
        <p:txBody>
          <a:bodyPr wrap="square" lIns="0" rIns="0" tIns="0" bIns="0">
            <a:spAutoFit/>
          </a:bodyPr>
          <a:lstStyle/>
          <a:p>
            <a:pPr algn="r">
              <a:lnSpc>
                <a:spcPct val="112000"/>
              </a:lnSpc>
              <a:spcBef>
                <a:spcPts val="0"/>
              </a:spcBef>
              <a:spcAft>
                <a:spcPts val="500"/>
              </a:spcAft>
              <a:defRPr sz="850" b="0">
                <a:solidFill>
                  <a:srgbClr val="A9BBC6"/>
                </a:solidFill>
                <a:latin typeface="DejaVu Sans"/>
              </a:defRPr>
            </a:pPr>
            <a:r>
              <a:t>Fuentes: README.md · src/nivel.py · src/personajes.py</a:t>
            </a:r>
          </a:p>
        </p:txBody>
      </p:sp>
      <p:sp>
        <p:nvSpPr>
          <p:cNvPr id="8" name="TextBox 7"/>
          <p:cNvSpPr txBox="1"/>
          <p:nvPr/>
        </p:nvSpPr>
        <p:spPr>
          <a:xfrm>
            <a:off x="11018520" y="6492240"/>
            <a:ext cx="594360" cy="274320"/>
          </a:xfrm>
          <a:prstGeom prst="rect">
            <a:avLst/>
          </a:prstGeom>
          <a:noFill/>
        </p:spPr>
        <p:txBody>
          <a:bodyPr wrap="square" lIns="0" rIns="0" tIns="0" bIns="0">
            <a:spAutoFit/>
          </a:bodyPr>
          <a:lstStyle/>
          <a:p>
            <a:pPr algn="r">
              <a:lnSpc>
                <a:spcPct val="112000"/>
              </a:lnSpc>
              <a:spcBef>
                <a:spcPts val="0"/>
              </a:spcBef>
              <a:spcAft>
                <a:spcPts val="500"/>
              </a:spcAft>
              <a:defRPr sz="1100" b="1">
                <a:solidFill>
                  <a:srgbClr val="8BE7B2"/>
                </a:solidFill>
                <a:latin typeface="DejaVu Sans"/>
              </a:defRPr>
            </a:pPr>
            <a:r>
              <a:t>02</a:t>
            </a:r>
          </a:p>
        </p:txBody>
      </p:sp>
      <p:sp>
        <p:nvSpPr>
          <p:cNvPr id="9" name="TextBox 8"/>
          <p:cNvSpPr txBox="1"/>
          <p:nvPr/>
        </p:nvSpPr>
        <p:spPr>
          <a:xfrm>
            <a:off x="594360" y="1783080"/>
            <a:ext cx="4297680" cy="548640"/>
          </a:xfrm>
          <a:prstGeom prst="rect">
            <a:avLst/>
          </a:prstGeom>
          <a:noFill/>
        </p:spPr>
        <p:txBody>
          <a:bodyPr wrap="square" lIns="0" rIns="0" tIns="0" bIns="0">
            <a:spAutoFit/>
          </a:bodyPr>
          <a:lstStyle/>
          <a:p>
            <a:pPr>
              <a:lnSpc>
                <a:spcPct val="112000"/>
              </a:lnSpc>
              <a:spcBef>
                <a:spcPts val="0"/>
              </a:spcBef>
              <a:spcAft>
                <a:spcPts val="500"/>
              </a:spcAft>
              <a:defRPr sz="1200" b="1">
                <a:solidFill>
                  <a:srgbClr val="8BE7B2"/>
                </a:solidFill>
                <a:latin typeface="DejaVu Sans"/>
              </a:defRPr>
            </a:pPr>
            <a:r>
              <a:t>OBJETIVO DEL PROYECTO</a:t>
            </a:r>
          </a:p>
        </p:txBody>
      </p:sp>
      <p:sp>
        <p:nvSpPr>
          <p:cNvPr id="10" name="TextBox 9"/>
          <p:cNvSpPr txBox="1"/>
          <p:nvPr/>
        </p:nvSpPr>
        <p:spPr>
          <a:xfrm>
            <a:off x="594360" y="2176272"/>
            <a:ext cx="4434840" cy="960120"/>
          </a:xfrm>
          <a:prstGeom prst="rect">
            <a:avLst/>
          </a:prstGeom>
          <a:noFill/>
        </p:spPr>
        <p:txBody>
          <a:bodyPr wrap="square" lIns="0" rIns="0" tIns="0" bIns="0">
            <a:spAutoFit/>
          </a:bodyPr>
          <a:lstStyle/>
          <a:p>
            <a:pPr>
              <a:lnSpc>
                <a:spcPct val="112000"/>
              </a:lnSpc>
              <a:spcBef>
                <a:spcPts val="0"/>
              </a:spcBef>
              <a:spcAft>
                <a:spcPts val="500"/>
              </a:spcAft>
              <a:defRPr sz="2200" b="1">
                <a:solidFill>
                  <a:srgbClr val="F1F5F4"/>
                </a:solidFill>
                <a:latin typeface="DejaVu Sans"/>
              </a:defRPr>
            </a:pPr>
            <a:r>
              <a:t>Aplicar POO en una</a:t>
            </a:r>
          </a:p>
          <a:p>
            <a:pPr>
              <a:lnSpc>
                <a:spcPct val="112000"/>
              </a:lnSpc>
              <a:spcBef>
                <a:spcPts val="0"/>
              </a:spcBef>
              <a:spcAft>
                <a:spcPts val="500"/>
              </a:spcAft>
              <a:defRPr sz="2200" b="1">
                <a:solidFill>
                  <a:srgbClr val="F1F5F4"/>
                </a:solidFill>
                <a:latin typeface="DejaVu Sans"/>
              </a:defRPr>
            </a:pPr>
            <a:r>
              <a:t>campaña jugable.</a:t>
            </a:r>
          </a:p>
        </p:txBody>
      </p:sp>
      <p:sp>
        <p:nvSpPr>
          <p:cNvPr id="11" name="TextBox 10"/>
          <p:cNvSpPr txBox="1"/>
          <p:nvPr/>
        </p:nvSpPr>
        <p:spPr>
          <a:xfrm>
            <a:off x="594360" y="3383280"/>
            <a:ext cx="457200" cy="365760"/>
          </a:xfrm>
          <a:prstGeom prst="rect">
            <a:avLst/>
          </a:prstGeom>
          <a:noFill/>
        </p:spPr>
        <p:txBody>
          <a:bodyPr wrap="square" lIns="0" rIns="0" tIns="0" bIns="0">
            <a:spAutoFit/>
          </a:bodyPr>
          <a:lstStyle/>
          <a:p>
            <a:pPr>
              <a:lnSpc>
                <a:spcPct val="112000"/>
              </a:lnSpc>
              <a:spcBef>
                <a:spcPts val="0"/>
              </a:spcBef>
              <a:spcAft>
                <a:spcPts val="500"/>
              </a:spcAft>
              <a:defRPr sz="1900" b="1">
                <a:solidFill>
                  <a:srgbClr val="8BE7B2"/>
                </a:solidFill>
                <a:latin typeface="DejaVu Sans"/>
              </a:defRPr>
            </a:pPr>
            <a:r>
              <a:t>01</a:t>
            </a:r>
          </a:p>
        </p:txBody>
      </p:sp>
      <p:sp>
        <p:nvSpPr>
          <p:cNvPr id="12" name="TextBox 11"/>
          <p:cNvSpPr txBox="1"/>
          <p:nvPr/>
        </p:nvSpPr>
        <p:spPr>
          <a:xfrm>
            <a:off x="1143000" y="3383280"/>
            <a:ext cx="3886200" cy="365760"/>
          </a:xfrm>
          <a:prstGeom prst="rect">
            <a:avLst/>
          </a:prstGeom>
          <a:noFill/>
        </p:spPr>
        <p:txBody>
          <a:bodyPr wrap="square" lIns="0" rIns="0" tIns="0" bIns="0">
            <a:spAutoFit/>
          </a:bodyPr>
          <a:lstStyle/>
          <a:p>
            <a:pPr>
              <a:lnSpc>
                <a:spcPct val="112000"/>
              </a:lnSpc>
              <a:spcBef>
                <a:spcPts val="0"/>
              </a:spcBef>
              <a:spcAft>
                <a:spcPts val="500"/>
              </a:spcAft>
              <a:defRPr sz="1800" b="1">
                <a:solidFill>
                  <a:srgbClr val="F1F5F4"/>
                </a:solidFill>
                <a:latin typeface="DejaVu Sans"/>
              </a:defRPr>
            </a:pPr>
            <a:r>
              <a:t>Salir de la celda</a:t>
            </a:r>
          </a:p>
        </p:txBody>
      </p:sp>
      <p:sp>
        <p:nvSpPr>
          <p:cNvPr id="13" name="TextBox 12"/>
          <p:cNvSpPr txBox="1"/>
          <p:nvPr/>
        </p:nvSpPr>
        <p:spPr>
          <a:xfrm>
            <a:off x="1143000" y="3767328"/>
            <a:ext cx="3886200" cy="457200"/>
          </a:xfrm>
          <a:prstGeom prst="rect">
            <a:avLst/>
          </a:prstGeom>
          <a:noFill/>
        </p:spPr>
        <p:txBody>
          <a:bodyPr wrap="square" lIns="0" rIns="0" tIns="0" bIns="0">
            <a:spAutoFit/>
          </a:bodyPr>
          <a:lstStyle/>
          <a:p>
            <a:pPr>
              <a:lnSpc>
                <a:spcPct val="112000"/>
              </a:lnSpc>
              <a:spcBef>
                <a:spcPts val="0"/>
              </a:spcBef>
              <a:spcAft>
                <a:spcPts val="500"/>
              </a:spcAft>
              <a:defRPr sz="1400" b="0">
                <a:solidFill>
                  <a:srgbClr val="A9BBC6"/>
                </a:solidFill>
                <a:latin typeface="DejaVu Sans"/>
              </a:defRPr>
            </a:pPr>
            <a:r>
              <a:t>Mantener E durante 2 segundos.</a:t>
            </a:r>
          </a:p>
        </p:txBody>
      </p:sp>
      <p:sp>
        <p:nvSpPr>
          <p:cNvPr id="14" name="TextBox 13"/>
          <p:cNvSpPr txBox="1"/>
          <p:nvPr/>
        </p:nvSpPr>
        <p:spPr>
          <a:xfrm>
            <a:off x="594360" y="4251960"/>
            <a:ext cx="457200" cy="365760"/>
          </a:xfrm>
          <a:prstGeom prst="rect">
            <a:avLst/>
          </a:prstGeom>
          <a:noFill/>
        </p:spPr>
        <p:txBody>
          <a:bodyPr wrap="square" lIns="0" rIns="0" tIns="0" bIns="0">
            <a:spAutoFit/>
          </a:bodyPr>
          <a:lstStyle/>
          <a:p>
            <a:pPr>
              <a:lnSpc>
                <a:spcPct val="112000"/>
              </a:lnSpc>
              <a:spcBef>
                <a:spcPts val="0"/>
              </a:spcBef>
              <a:spcAft>
                <a:spcPts val="500"/>
              </a:spcAft>
              <a:defRPr sz="1900" b="1">
                <a:solidFill>
                  <a:srgbClr val="8BE7B2"/>
                </a:solidFill>
                <a:latin typeface="DejaVu Sans"/>
              </a:defRPr>
            </a:pPr>
            <a:r>
              <a:t>02</a:t>
            </a:r>
          </a:p>
        </p:txBody>
      </p:sp>
      <p:sp>
        <p:nvSpPr>
          <p:cNvPr id="15" name="TextBox 14"/>
          <p:cNvSpPr txBox="1"/>
          <p:nvPr/>
        </p:nvSpPr>
        <p:spPr>
          <a:xfrm>
            <a:off x="1143000" y="4251960"/>
            <a:ext cx="3886200" cy="365760"/>
          </a:xfrm>
          <a:prstGeom prst="rect">
            <a:avLst/>
          </a:prstGeom>
          <a:noFill/>
        </p:spPr>
        <p:txBody>
          <a:bodyPr wrap="square" lIns="0" rIns="0" tIns="0" bIns="0">
            <a:spAutoFit/>
          </a:bodyPr>
          <a:lstStyle/>
          <a:p>
            <a:pPr>
              <a:lnSpc>
                <a:spcPct val="112000"/>
              </a:lnSpc>
              <a:spcBef>
                <a:spcPts val="0"/>
              </a:spcBef>
              <a:spcAft>
                <a:spcPts val="500"/>
              </a:spcAft>
              <a:defRPr sz="1800" b="1">
                <a:solidFill>
                  <a:srgbClr val="F1F5F4"/>
                </a:solidFill>
                <a:latin typeface="DejaVu Sans"/>
              </a:defRPr>
            </a:pPr>
            <a:r>
              <a:t>Evitar la vigilancia</a:t>
            </a:r>
          </a:p>
        </p:txBody>
      </p:sp>
      <p:sp>
        <p:nvSpPr>
          <p:cNvPr id="16" name="TextBox 15"/>
          <p:cNvSpPr txBox="1"/>
          <p:nvPr/>
        </p:nvSpPr>
        <p:spPr>
          <a:xfrm>
            <a:off x="1143000" y="4636008"/>
            <a:ext cx="3886200" cy="457200"/>
          </a:xfrm>
          <a:prstGeom prst="rect">
            <a:avLst/>
          </a:prstGeom>
          <a:noFill/>
        </p:spPr>
        <p:txBody>
          <a:bodyPr wrap="square" lIns="0" rIns="0" tIns="0" bIns="0">
            <a:spAutoFit/>
          </a:bodyPr>
          <a:lstStyle/>
          <a:p>
            <a:pPr>
              <a:lnSpc>
                <a:spcPct val="112000"/>
              </a:lnSpc>
              <a:spcBef>
                <a:spcPts val="0"/>
              </a:spcBef>
              <a:spcAft>
                <a:spcPts val="500"/>
              </a:spcAft>
              <a:defRPr sz="1400" b="0">
                <a:solidFill>
                  <a:srgbClr val="A9BBC6"/>
                </a:solidFill>
                <a:latin typeface="DejaVu Sans"/>
              </a:defRPr>
            </a:pPr>
            <a:r>
              <a:t>El ruido y la visión activan a los guardias.</a:t>
            </a:r>
          </a:p>
        </p:txBody>
      </p:sp>
      <p:sp>
        <p:nvSpPr>
          <p:cNvPr id="17" name="TextBox 16"/>
          <p:cNvSpPr txBox="1"/>
          <p:nvPr/>
        </p:nvSpPr>
        <p:spPr>
          <a:xfrm>
            <a:off x="594360" y="5120640"/>
            <a:ext cx="457200" cy="365760"/>
          </a:xfrm>
          <a:prstGeom prst="rect">
            <a:avLst/>
          </a:prstGeom>
          <a:noFill/>
        </p:spPr>
        <p:txBody>
          <a:bodyPr wrap="square" lIns="0" rIns="0" tIns="0" bIns="0">
            <a:spAutoFit/>
          </a:bodyPr>
          <a:lstStyle/>
          <a:p>
            <a:pPr>
              <a:lnSpc>
                <a:spcPct val="112000"/>
              </a:lnSpc>
              <a:spcBef>
                <a:spcPts val="0"/>
              </a:spcBef>
              <a:spcAft>
                <a:spcPts val="500"/>
              </a:spcAft>
              <a:defRPr sz="1900" b="1">
                <a:solidFill>
                  <a:srgbClr val="8BE7B2"/>
                </a:solidFill>
                <a:latin typeface="DejaVu Sans"/>
              </a:defRPr>
            </a:pPr>
            <a:r>
              <a:t>03</a:t>
            </a:r>
          </a:p>
        </p:txBody>
      </p:sp>
      <p:sp>
        <p:nvSpPr>
          <p:cNvPr id="18" name="TextBox 17"/>
          <p:cNvSpPr txBox="1"/>
          <p:nvPr/>
        </p:nvSpPr>
        <p:spPr>
          <a:xfrm>
            <a:off x="1143000" y="5120640"/>
            <a:ext cx="3886200" cy="365760"/>
          </a:xfrm>
          <a:prstGeom prst="rect">
            <a:avLst/>
          </a:prstGeom>
          <a:noFill/>
        </p:spPr>
        <p:txBody>
          <a:bodyPr wrap="square" lIns="0" rIns="0" tIns="0" bIns="0">
            <a:spAutoFit/>
          </a:bodyPr>
          <a:lstStyle/>
          <a:p>
            <a:pPr>
              <a:lnSpc>
                <a:spcPct val="112000"/>
              </a:lnSpc>
              <a:spcBef>
                <a:spcPts val="0"/>
              </a:spcBef>
              <a:spcAft>
                <a:spcPts val="500"/>
              </a:spcAft>
              <a:defRPr sz="1800" b="1">
                <a:solidFill>
                  <a:srgbClr val="F1F5F4"/>
                </a:solidFill>
                <a:latin typeface="DejaVu Sans"/>
              </a:defRPr>
            </a:pPr>
            <a:r>
              <a:t>Conseguir la llave y escapar</a:t>
            </a:r>
          </a:p>
        </p:txBody>
      </p:sp>
      <p:sp>
        <p:nvSpPr>
          <p:cNvPr id="19" name="TextBox 18"/>
          <p:cNvSpPr txBox="1"/>
          <p:nvPr/>
        </p:nvSpPr>
        <p:spPr>
          <a:xfrm>
            <a:off x="1143000" y="5504688"/>
            <a:ext cx="3886200" cy="457200"/>
          </a:xfrm>
          <a:prstGeom prst="rect">
            <a:avLst/>
          </a:prstGeom>
          <a:noFill/>
        </p:spPr>
        <p:txBody>
          <a:bodyPr wrap="square" lIns="0" rIns="0" tIns="0" bIns="0">
            <a:spAutoFit/>
          </a:bodyPr>
          <a:lstStyle/>
          <a:p>
            <a:pPr>
              <a:lnSpc>
                <a:spcPct val="112000"/>
              </a:lnSpc>
              <a:spcBef>
                <a:spcPts val="0"/>
              </a:spcBef>
              <a:spcAft>
                <a:spcPts val="500"/>
              </a:spcAft>
              <a:defRPr sz="1400" b="0">
                <a:solidFill>
                  <a:srgbClr val="A9BBC6"/>
                </a:solidFill>
                <a:latin typeface="DejaVu Sans"/>
              </a:defRPr>
            </a:pPr>
            <a:r>
              <a:t>La salida exige haber recogido la llave.</a:t>
            </a:r>
          </a:p>
        </p:txBody>
      </p:sp>
      <p:sp>
        <p:nvSpPr>
          <p:cNvPr id="20" name="Rectangle 19"/>
          <p:cNvSpPr/>
          <p:nvPr/>
        </p:nvSpPr>
        <p:spPr>
          <a:xfrm>
            <a:off x="5783579" y="1760220"/>
            <a:ext cx="5806440" cy="4423867"/>
          </a:xfrm>
          <a:prstGeom prst="rect">
            <a:avLst/>
          </a:prstGeom>
          <a:solidFill>
            <a:srgbClr val="3D58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01_inicio.png"/>
          <p:cNvPicPr>
            <a:picLocks noChangeAspect="1"/>
          </p:cNvPicPr>
          <p:nvPr/>
        </p:nvPicPr>
        <p:blipFill>
          <a:blip r:embed="rId2"/>
          <a:stretch>
            <a:fillRect/>
          </a:stretch>
        </p:blipFill>
        <p:spPr>
          <a:xfrm>
            <a:off x="5806440" y="1783080"/>
            <a:ext cx="5760720" cy="4378147"/>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1821"/>
        </a:solidFill>
        <a:effectLst/>
      </p:bgPr>
    </p:bg>
    <p:spTree>
      <p:nvGrpSpPr>
        <p:cNvPr id="1" name=""/>
        <p:cNvGrpSpPr/>
        <p:nvPr/>
      </p:nvGrpSpPr>
      <p:grpSpPr/>
      <p:sp>
        <p:nvSpPr>
          <p:cNvPr id="2" name="Rectangle 1"/>
          <p:cNvSpPr/>
          <p:nvPr/>
        </p:nvSpPr>
        <p:spPr>
          <a:xfrm>
            <a:off x="548640" y="320040"/>
            <a:ext cx="292608" cy="50292"/>
          </a:xfrm>
          <a:prstGeom prst="rect">
            <a:avLst/>
          </a:prstGeom>
          <a:solidFill>
            <a:srgbClr val="8BE7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37744"/>
            <a:ext cx="9144000" cy="274320"/>
          </a:xfrm>
          <a:prstGeom prst="rect">
            <a:avLst/>
          </a:prstGeom>
          <a:noFill/>
        </p:spPr>
        <p:txBody>
          <a:bodyPr wrap="square" lIns="0" rIns="0" tIns="0" bIns="0">
            <a:spAutoFit/>
          </a:bodyPr>
          <a:lstStyle/>
          <a:p>
            <a:pPr>
              <a:lnSpc>
                <a:spcPct val="112000"/>
              </a:lnSpc>
              <a:spcBef>
                <a:spcPts val="0"/>
              </a:spcBef>
              <a:spcAft>
                <a:spcPts val="500"/>
              </a:spcAft>
              <a:defRPr sz="1050" b="1">
                <a:solidFill>
                  <a:srgbClr val="8BE7B2"/>
                </a:solidFill>
                <a:latin typeface="DejaVu Sans"/>
              </a:defRPr>
            </a:pPr>
            <a:r>
              <a:t>PROYECTO PARCIAL · POO</a:t>
            </a:r>
          </a:p>
        </p:txBody>
      </p:sp>
      <p:sp>
        <p:nvSpPr>
          <p:cNvPr id="4" name="TextBox 3"/>
          <p:cNvSpPr txBox="1"/>
          <p:nvPr/>
        </p:nvSpPr>
        <p:spPr>
          <a:xfrm>
            <a:off x="548640" y="758952"/>
            <a:ext cx="11064240" cy="960120"/>
          </a:xfrm>
          <a:prstGeom prst="rect">
            <a:avLst/>
          </a:prstGeom>
          <a:noFill/>
        </p:spPr>
        <p:txBody>
          <a:bodyPr wrap="square" lIns="0" rIns="0" tIns="0" bIns="0">
            <a:spAutoFit/>
          </a:bodyPr>
          <a:lstStyle/>
          <a:p>
            <a:pPr>
              <a:lnSpc>
                <a:spcPct val="112000"/>
              </a:lnSpc>
              <a:spcBef>
                <a:spcPts val="0"/>
              </a:spcBef>
              <a:spcAft>
                <a:spcPts val="500"/>
              </a:spcAft>
              <a:defRPr sz="3200" b="1">
                <a:solidFill>
                  <a:srgbClr val="F1F5F4"/>
                </a:solidFill>
                <a:latin typeface="DejaVu Sans"/>
              </a:defRPr>
            </a:pPr>
            <a:r>
              <a:t>Cuatro niveles, una campaña</a:t>
            </a:r>
          </a:p>
        </p:txBody>
      </p:sp>
      <p:cxnSp>
        <p:nvCxnSpPr>
          <p:cNvPr id="5" name="Connector 4"/>
          <p:cNvCxnSpPr/>
          <p:nvPr/>
        </p:nvCxnSpPr>
        <p:spPr>
          <a:xfrm>
            <a:off x="548640" y="6419088"/>
            <a:ext cx="11091672" cy="0"/>
          </a:xfrm>
          <a:prstGeom prst="line">
            <a:avLst/>
          </a:prstGeom>
          <a:ln w="8255">
            <a:solidFill>
              <a:srgbClr val="3D5867"/>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519672"/>
            <a:ext cx="3017520" cy="173736"/>
          </a:xfrm>
          <a:prstGeom prst="rect">
            <a:avLst/>
          </a:prstGeom>
          <a:noFill/>
        </p:spPr>
        <p:txBody>
          <a:bodyPr wrap="square" lIns="0" rIns="0" tIns="0" bIns="0">
            <a:spAutoFit/>
          </a:bodyPr>
          <a:lstStyle/>
          <a:p>
            <a:pPr>
              <a:lnSpc>
                <a:spcPct val="112000"/>
              </a:lnSpc>
              <a:spcBef>
                <a:spcPts val="0"/>
              </a:spcBef>
              <a:spcAft>
                <a:spcPts val="500"/>
              </a:spcAft>
              <a:defRPr sz="850" b="0">
                <a:solidFill>
                  <a:srgbClr val="A9BBC6"/>
                </a:solidFill>
                <a:latin typeface="DejaVu Sans"/>
              </a:defRPr>
            </a:pPr>
            <a:r>
              <a:t>FUGA DE LA PRISIÓN  /  2026-II</a:t>
            </a:r>
          </a:p>
        </p:txBody>
      </p:sp>
      <p:sp>
        <p:nvSpPr>
          <p:cNvPr id="7" name="TextBox 6"/>
          <p:cNvSpPr txBox="1"/>
          <p:nvPr/>
        </p:nvSpPr>
        <p:spPr>
          <a:xfrm>
            <a:off x="3703320" y="6519672"/>
            <a:ext cx="7132320" cy="182880"/>
          </a:xfrm>
          <a:prstGeom prst="rect">
            <a:avLst/>
          </a:prstGeom>
          <a:noFill/>
        </p:spPr>
        <p:txBody>
          <a:bodyPr wrap="square" lIns="0" rIns="0" tIns="0" bIns="0">
            <a:spAutoFit/>
          </a:bodyPr>
          <a:lstStyle/>
          <a:p>
            <a:pPr algn="r">
              <a:lnSpc>
                <a:spcPct val="112000"/>
              </a:lnSpc>
              <a:spcBef>
                <a:spcPts val="0"/>
              </a:spcBef>
              <a:spcAft>
                <a:spcPts val="500"/>
              </a:spcAft>
              <a:defRPr sz="850" b="0">
                <a:solidFill>
                  <a:srgbClr val="A9BBC6"/>
                </a:solidFill>
                <a:latin typeface="DejaVu Sans"/>
              </a:defRPr>
            </a:pPr>
            <a:r>
              <a:t>Fuentes: src/nivel.py: ETAPAS · docs/evidencias/</a:t>
            </a:r>
          </a:p>
        </p:txBody>
      </p:sp>
      <p:sp>
        <p:nvSpPr>
          <p:cNvPr id="8" name="TextBox 7"/>
          <p:cNvSpPr txBox="1"/>
          <p:nvPr/>
        </p:nvSpPr>
        <p:spPr>
          <a:xfrm>
            <a:off x="11018520" y="6492240"/>
            <a:ext cx="594360" cy="274320"/>
          </a:xfrm>
          <a:prstGeom prst="rect">
            <a:avLst/>
          </a:prstGeom>
          <a:noFill/>
        </p:spPr>
        <p:txBody>
          <a:bodyPr wrap="square" lIns="0" rIns="0" tIns="0" bIns="0">
            <a:spAutoFit/>
          </a:bodyPr>
          <a:lstStyle/>
          <a:p>
            <a:pPr algn="r">
              <a:lnSpc>
                <a:spcPct val="112000"/>
              </a:lnSpc>
              <a:spcBef>
                <a:spcPts val="0"/>
              </a:spcBef>
              <a:spcAft>
                <a:spcPts val="500"/>
              </a:spcAft>
              <a:defRPr sz="1100" b="1">
                <a:solidFill>
                  <a:srgbClr val="8BE7B2"/>
                </a:solidFill>
                <a:latin typeface="DejaVu Sans"/>
              </a:defRPr>
            </a:pPr>
            <a:r>
              <a:t>03</a:t>
            </a:r>
          </a:p>
        </p:txBody>
      </p:sp>
      <p:sp>
        <p:nvSpPr>
          <p:cNvPr id="9" name="TextBox 8"/>
          <p:cNvSpPr txBox="1"/>
          <p:nvPr/>
        </p:nvSpPr>
        <p:spPr>
          <a:xfrm>
            <a:off x="594360" y="1865376"/>
            <a:ext cx="457200" cy="411480"/>
          </a:xfrm>
          <a:prstGeom prst="rect">
            <a:avLst/>
          </a:prstGeom>
          <a:noFill/>
        </p:spPr>
        <p:txBody>
          <a:bodyPr wrap="square" lIns="0" rIns="0" tIns="0" bIns="0">
            <a:spAutoFit/>
          </a:bodyPr>
          <a:lstStyle/>
          <a:p>
            <a:pPr>
              <a:lnSpc>
                <a:spcPct val="112000"/>
              </a:lnSpc>
              <a:spcBef>
                <a:spcPts val="0"/>
              </a:spcBef>
              <a:spcAft>
                <a:spcPts val="500"/>
              </a:spcAft>
              <a:defRPr sz="2100" b="1">
                <a:solidFill>
                  <a:srgbClr val="8BE7B2"/>
                </a:solidFill>
                <a:latin typeface="DejaVu Sans"/>
              </a:defRPr>
            </a:pPr>
            <a:r>
              <a:t>01</a:t>
            </a:r>
          </a:p>
        </p:txBody>
      </p:sp>
      <p:sp>
        <p:nvSpPr>
          <p:cNvPr id="10" name="TextBox 9"/>
          <p:cNvSpPr txBox="1"/>
          <p:nvPr/>
        </p:nvSpPr>
        <p:spPr>
          <a:xfrm>
            <a:off x="594360" y="2350008"/>
            <a:ext cx="2615184" cy="502920"/>
          </a:xfrm>
          <a:prstGeom prst="rect">
            <a:avLst/>
          </a:prstGeom>
          <a:noFill/>
        </p:spPr>
        <p:txBody>
          <a:bodyPr wrap="square" lIns="0" rIns="0" tIns="0" bIns="0">
            <a:spAutoFit/>
          </a:bodyPr>
          <a:lstStyle/>
          <a:p>
            <a:pPr>
              <a:lnSpc>
                <a:spcPct val="112000"/>
              </a:lnSpc>
              <a:spcBef>
                <a:spcPts val="0"/>
              </a:spcBef>
              <a:spcAft>
                <a:spcPts val="500"/>
              </a:spcAft>
              <a:defRPr sz="1600" b="1">
                <a:solidFill>
                  <a:srgbClr val="F1F5F4"/>
                </a:solidFill>
                <a:latin typeface="DejaVu Sans"/>
              </a:defRPr>
            </a:pPr>
            <a:r>
              <a:t>Pabellón de celdas</a:t>
            </a:r>
          </a:p>
        </p:txBody>
      </p:sp>
      <p:sp>
        <p:nvSpPr>
          <p:cNvPr id="11" name="Rectangle 10"/>
          <p:cNvSpPr/>
          <p:nvPr/>
        </p:nvSpPr>
        <p:spPr>
          <a:xfrm>
            <a:off x="571500" y="2939796"/>
            <a:ext cx="2633472" cy="2012411"/>
          </a:xfrm>
          <a:prstGeom prst="rect">
            <a:avLst/>
          </a:prstGeom>
          <a:solidFill>
            <a:srgbClr val="3D58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01_inicio.png"/>
          <p:cNvPicPr>
            <a:picLocks noChangeAspect="1"/>
          </p:cNvPicPr>
          <p:nvPr/>
        </p:nvPicPr>
        <p:blipFill>
          <a:blip r:embed="rId2"/>
          <a:stretch>
            <a:fillRect/>
          </a:stretch>
        </p:blipFill>
        <p:spPr>
          <a:xfrm>
            <a:off x="594360" y="2962656"/>
            <a:ext cx="2587752" cy="1966691"/>
          </a:xfrm>
          <a:prstGeom prst="rect">
            <a:avLst/>
          </a:prstGeom>
        </p:spPr>
      </p:pic>
      <p:sp>
        <p:nvSpPr>
          <p:cNvPr id="13" name="TextBox 12"/>
          <p:cNvSpPr txBox="1"/>
          <p:nvPr/>
        </p:nvSpPr>
        <p:spPr>
          <a:xfrm>
            <a:off x="594360" y="5111496"/>
            <a:ext cx="2651760" cy="777240"/>
          </a:xfrm>
          <a:prstGeom prst="rect">
            <a:avLst/>
          </a:prstGeom>
          <a:noFill/>
        </p:spPr>
        <p:txBody>
          <a:bodyPr wrap="square" lIns="0" rIns="0" tIns="0" bIns="0">
            <a:spAutoFit/>
          </a:bodyPr>
          <a:lstStyle/>
          <a:p>
            <a:pPr>
              <a:lnSpc>
                <a:spcPct val="112000"/>
              </a:lnSpc>
              <a:spcBef>
                <a:spcPts val="0"/>
              </a:spcBef>
              <a:spcAft>
                <a:spcPts val="500"/>
              </a:spcAft>
              <a:defRPr sz="1500" b="0">
                <a:solidFill>
                  <a:srgbClr val="A9BBC6"/>
                </a:solidFill>
                <a:latin typeface="DejaVu Sans"/>
              </a:defRPr>
            </a:pPr>
            <a:r>
              <a:t>Forzar la celda y aprender</a:t>
            </a:r>
          </a:p>
          <a:p>
            <a:pPr>
              <a:lnSpc>
                <a:spcPct val="112000"/>
              </a:lnSpc>
              <a:spcBef>
                <a:spcPts val="0"/>
              </a:spcBef>
              <a:spcAft>
                <a:spcPts val="500"/>
              </a:spcAft>
              <a:defRPr sz="1500" b="0">
                <a:solidFill>
                  <a:srgbClr val="A9BBC6"/>
                </a:solidFill>
                <a:latin typeface="DejaVu Sans"/>
              </a:defRPr>
            </a:pPr>
            <a:r>
              <a:t>a evitar patrullas.</a:t>
            </a:r>
          </a:p>
        </p:txBody>
      </p:sp>
      <p:sp>
        <p:nvSpPr>
          <p:cNvPr id="14" name="TextBox 13"/>
          <p:cNvSpPr txBox="1"/>
          <p:nvPr/>
        </p:nvSpPr>
        <p:spPr>
          <a:xfrm>
            <a:off x="3401568" y="1865376"/>
            <a:ext cx="457200" cy="411480"/>
          </a:xfrm>
          <a:prstGeom prst="rect">
            <a:avLst/>
          </a:prstGeom>
          <a:noFill/>
        </p:spPr>
        <p:txBody>
          <a:bodyPr wrap="square" lIns="0" rIns="0" tIns="0" bIns="0">
            <a:spAutoFit/>
          </a:bodyPr>
          <a:lstStyle/>
          <a:p>
            <a:pPr>
              <a:lnSpc>
                <a:spcPct val="112000"/>
              </a:lnSpc>
              <a:spcBef>
                <a:spcPts val="0"/>
              </a:spcBef>
              <a:spcAft>
                <a:spcPts val="500"/>
              </a:spcAft>
              <a:defRPr sz="2100" b="1">
                <a:solidFill>
                  <a:srgbClr val="8BE7B2"/>
                </a:solidFill>
                <a:latin typeface="DejaVu Sans"/>
              </a:defRPr>
            </a:pPr>
            <a:r>
              <a:t>02</a:t>
            </a:r>
          </a:p>
        </p:txBody>
      </p:sp>
      <p:sp>
        <p:nvSpPr>
          <p:cNvPr id="15" name="TextBox 14"/>
          <p:cNvSpPr txBox="1"/>
          <p:nvPr/>
        </p:nvSpPr>
        <p:spPr>
          <a:xfrm>
            <a:off x="3401568" y="2350008"/>
            <a:ext cx="2615184" cy="502920"/>
          </a:xfrm>
          <a:prstGeom prst="rect">
            <a:avLst/>
          </a:prstGeom>
          <a:noFill/>
        </p:spPr>
        <p:txBody>
          <a:bodyPr wrap="square" lIns="0" rIns="0" tIns="0" bIns="0">
            <a:spAutoFit/>
          </a:bodyPr>
          <a:lstStyle/>
          <a:p>
            <a:pPr>
              <a:lnSpc>
                <a:spcPct val="112000"/>
              </a:lnSpc>
              <a:spcBef>
                <a:spcPts val="0"/>
              </a:spcBef>
              <a:spcAft>
                <a:spcPts val="500"/>
              </a:spcAft>
              <a:defRPr sz="1600" b="1">
                <a:solidFill>
                  <a:srgbClr val="F1F5F4"/>
                </a:solidFill>
                <a:latin typeface="DejaVu Sans"/>
              </a:defRPr>
            </a:pPr>
            <a:r>
              <a:t>Lavandería</a:t>
            </a:r>
          </a:p>
        </p:txBody>
      </p:sp>
      <p:sp>
        <p:nvSpPr>
          <p:cNvPr id="16" name="Rectangle 15"/>
          <p:cNvSpPr/>
          <p:nvPr/>
        </p:nvSpPr>
        <p:spPr>
          <a:xfrm>
            <a:off x="3378708" y="2939796"/>
            <a:ext cx="2633472" cy="2012411"/>
          </a:xfrm>
          <a:prstGeom prst="rect">
            <a:avLst/>
          </a:prstGeom>
          <a:solidFill>
            <a:srgbClr val="3D58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05_lavanderia.png"/>
          <p:cNvPicPr>
            <a:picLocks noChangeAspect="1"/>
          </p:cNvPicPr>
          <p:nvPr/>
        </p:nvPicPr>
        <p:blipFill>
          <a:blip r:embed="rId3"/>
          <a:stretch>
            <a:fillRect/>
          </a:stretch>
        </p:blipFill>
        <p:spPr>
          <a:xfrm>
            <a:off x="3401568" y="2962656"/>
            <a:ext cx="2587752" cy="1966691"/>
          </a:xfrm>
          <a:prstGeom prst="rect">
            <a:avLst/>
          </a:prstGeom>
        </p:spPr>
      </p:pic>
      <p:sp>
        <p:nvSpPr>
          <p:cNvPr id="18" name="TextBox 17"/>
          <p:cNvSpPr txBox="1"/>
          <p:nvPr/>
        </p:nvSpPr>
        <p:spPr>
          <a:xfrm>
            <a:off x="3401568" y="5111496"/>
            <a:ext cx="2651760" cy="777240"/>
          </a:xfrm>
          <a:prstGeom prst="rect">
            <a:avLst/>
          </a:prstGeom>
          <a:noFill/>
        </p:spPr>
        <p:txBody>
          <a:bodyPr wrap="square" lIns="0" rIns="0" tIns="0" bIns="0">
            <a:spAutoFit/>
          </a:bodyPr>
          <a:lstStyle/>
          <a:p>
            <a:pPr>
              <a:lnSpc>
                <a:spcPct val="112000"/>
              </a:lnSpc>
              <a:spcBef>
                <a:spcPts val="0"/>
              </a:spcBef>
              <a:spcAft>
                <a:spcPts val="500"/>
              </a:spcAft>
              <a:defRPr sz="1500" b="0">
                <a:solidFill>
                  <a:srgbClr val="A9BBC6"/>
                </a:solidFill>
                <a:latin typeface="DejaVu Sans"/>
              </a:defRPr>
            </a:pPr>
            <a:r>
              <a:t>Nuevas coberturas y</a:t>
            </a:r>
          </a:p>
          <a:p>
            <a:pPr>
              <a:lnSpc>
                <a:spcPct val="112000"/>
              </a:lnSpc>
              <a:spcBef>
                <a:spcPts val="0"/>
              </a:spcBef>
              <a:spcAft>
                <a:spcPts val="500"/>
              </a:spcAft>
              <a:defRPr sz="1500" b="0">
                <a:solidFill>
                  <a:srgbClr val="A9BBC6"/>
                </a:solidFill>
                <a:latin typeface="DejaVu Sans"/>
              </a:defRPr>
            </a:pPr>
            <a:r>
              <a:t>dos cámaras.</a:t>
            </a:r>
          </a:p>
        </p:txBody>
      </p:sp>
      <p:sp>
        <p:nvSpPr>
          <p:cNvPr id="19" name="TextBox 18"/>
          <p:cNvSpPr txBox="1"/>
          <p:nvPr/>
        </p:nvSpPr>
        <p:spPr>
          <a:xfrm>
            <a:off x="6208776" y="1865376"/>
            <a:ext cx="457200" cy="411480"/>
          </a:xfrm>
          <a:prstGeom prst="rect">
            <a:avLst/>
          </a:prstGeom>
          <a:noFill/>
        </p:spPr>
        <p:txBody>
          <a:bodyPr wrap="square" lIns="0" rIns="0" tIns="0" bIns="0">
            <a:spAutoFit/>
          </a:bodyPr>
          <a:lstStyle/>
          <a:p>
            <a:pPr>
              <a:lnSpc>
                <a:spcPct val="112000"/>
              </a:lnSpc>
              <a:spcBef>
                <a:spcPts val="0"/>
              </a:spcBef>
              <a:spcAft>
                <a:spcPts val="500"/>
              </a:spcAft>
              <a:defRPr sz="2100" b="1">
                <a:solidFill>
                  <a:srgbClr val="8BE7B2"/>
                </a:solidFill>
                <a:latin typeface="DejaVu Sans"/>
              </a:defRPr>
            </a:pPr>
            <a:r>
              <a:t>03</a:t>
            </a:r>
          </a:p>
        </p:txBody>
      </p:sp>
      <p:sp>
        <p:nvSpPr>
          <p:cNvPr id="20" name="TextBox 19"/>
          <p:cNvSpPr txBox="1"/>
          <p:nvPr/>
        </p:nvSpPr>
        <p:spPr>
          <a:xfrm>
            <a:off x="6208776" y="2350008"/>
            <a:ext cx="2615184" cy="502920"/>
          </a:xfrm>
          <a:prstGeom prst="rect">
            <a:avLst/>
          </a:prstGeom>
          <a:noFill/>
        </p:spPr>
        <p:txBody>
          <a:bodyPr wrap="square" lIns="0" rIns="0" tIns="0" bIns="0">
            <a:spAutoFit/>
          </a:bodyPr>
          <a:lstStyle/>
          <a:p>
            <a:pPr>
              <a:lnSpc>
                <a:spcPct val="112000"/>
              </a:lnSpc>
              <a:spcBef>
                <a:spcPts val="0"/>
              </a:spcBef>
              <a:spcAft>
                <a:spcPts val="500"/>
              </a:spcAft>
              <a:defRPr sz="1600" b="1">
                <a:solidFill>
                  <a:srgbClr val="F1F5F4"/>
                </a:solidFill>
                <a:latin typeface="DejaVu Sans"/>
              </a:defRPr>
            </a:pPr>
            <a:r>
              <a:t>Patio de vigilancia</a:t>
            </a:r>
          </a:p>
        </p:txBody>
      </p:sp>
      <p:sp>
        <p:nvSpPr>
          <p:cNvPr id="21" name="Rectangle 20"/>
          <p:cNvSpPr/>
          <p:nvPr/>
        </p:nvSpPr>
        <p:spPr>
          <a:xfrm>
            <a:off x="6185916" y="2939796"/>
            <a:ext cx="2633472" cy="2012411"/>
          </a:xfrm>
          <a:prstGeom prst="rect">
            <a:avLst/>
          </a:prstGeom>
          <a:solidFill>
            <a:srgbClr val="3D58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06_patio.png"/>
          <p:cNvPicPr>
            <a:picLocks noChangeAspect="1"/>
          </p:cNvPicPr>
          <p:nvPr/>
        </p:nvPicPr>
        <p:blipFill>
          <a:blip r:embed="rId4"/>
          <a:stretch>
            <a:fillRect/>
          </a:stretch>
        </p:blipFill>
        <p:spPr>
          <a:xfrm>
            <a:off x="6208776" y="2962656"/>
            <a:ext cx="2587752" cy="1966691"/>
          </a:xfrm>
          <a:prstGeom prst="rect">
            <a:avLst/>
          </a:prstGeom>
        </p:spPr>
      </p:pic>
      <p:sp>
        <p:nvSpPr>
          <p:cNvPr id="23" name="TextBox 22"/>
          <p:cNvSpPr txBox="1"/>
          <p:nvPr/>
        </p:nvSpPr>
        <p:spPr>
          <a:xfrm>
            <a:off x="6208776" y="5111496"/>
            <a:ext cx="2651760" cy="777240"/>
          </a:xfrm>
          <a:prstGeom prst="rect">
            <a:avLst/>
          </a:prstGeom>
          <a:noFill/>
        </p:spPr>
        <p:txBody>
          <a:bodyPr wrap="square" lIns="0" rIns="0" tIns="0" bIns="0">
            <a:spAutoFit/>
          </a:bodyPr>
          <a:lstStyle/>
          <a:p>
            <a:pPr>
              <a:lnSpc>
                <a:spcPct val="112000"/>
              </a:lnSpc>
              <a:spcBef>
                <a:spcPts val="0"/>
              </a:spcBef>
              <a:spcAft>
                <a:spcPts val="500"/>
              </a:spcAft>
              <a:defRPr sz="1500" b="0">
                <a:solidFill>
                  <a:srgbClr val="A9BBC6"/>
                </a:solidFill>
                <a:latin typeface="DejaVu Sans"/>
              </a:defRPr>
            </a:pPr>
            <a:r>
              <a:t>La llave abre atajos</a:t>
            </a:r>
          </a:p>
          <a:p>
            <a:pPr>
              <a:lnSpc>
                <a:spcPct val="112000"/>
              </a:lnSpc>
              <a:spcBef>
                <a:spcPts val="0"/>
              </a:spcBef>
              <a:spcAft>
                <a:spcPts val="500"/>
              </a:spcAft>
              <a:defRPr sz="1500" b="0">
                <a:solidFill>
                  <a:srgbClr val="A9BBC6"/>
                </a:solidFill>
                <a:latin typeface="DejaVu Sans"/>
              </a:defRPr>
            </a:pPr>
            <a:r>
              <a:t>para regresar a la salida.</a:t>
            </a:r>
          </a:p>
        </p:txBody>
      </p:sp>
      <p:sp>
        <p:nvSpPr>
          <p:cNvPr id="24" name="TextBox 23"/>
          <p:cNvSpPr txBox="1"/>
          <p:nvPr/>
        </p:nvSpPr>
        <p:spPr>
          <a:xfrm>
            <a:off x="9015984" y="1865376"/>
            <a:ext cx="457200" cy="411480"/>
          </a:xfrm>
          <a:prstGeom prst="rect">
            <a:avLst/>
          </a:prstGeom>
          <a:noFill/>
        </p:spPr>
        <p:txBody>
          <a:bodyPr wrap="square" lIns="0" rIns="0" tIns="0" bIns="0">
            <a:spAutoFit/>
          </a:bodyPr>
          <a:lstStyle/>
          <a:p>
            <a:pPr>
              <a:lnSpc>
                <a:spcPct val="112000"/>
              </a:lnSpc>
              <a:spcBef>
                <a:spcPts val="0"/>
              </a:spcBef>
              <a:spcAft>
                <a:spcPts val="500"/>
              </a:spcAft>
              <a:defRPr sz="2100" b="1">
                <a:solidFill>
                  <a:srgbClr val="FF8E7C"/>
                </a:solidFill>
                <a:latin typeface="DejaVu Sans"/>
              </a:defRPr>
            </a:pPr>
            <a:r>
              <a:t>04</a:t>
            </a:r>
          </a:p>
        </p:txBody>
      </p:sp>
      <p:sp>
        <p:nvSpPr>
          <p:cNvPr id="25" name="TextBox 24"/>
          <p:cNvSpPr txBox="1"/>
          <p:nvPr/>
        </p:nvSpPr>
        <p:spPr>
          <a:xfrm>
            <a:off x="9015984" y="2350008"/>
            <a:ext cx="2615184" cy="502920"/>
          </a:xfrm>
          <a:prstGeom prst="rect">
            <a:avLst/>
          </a:prstGeom>
          <a:noFill/>
        </p:spPr>
        <p:txBody>
          <a:bodyPr wrap="square" lIns="0" rIns="0" tIns="0" bIns="0">
            <a:spAutoFit/>
          </a:bodyPr>
          <a:lstStyle/>
          <a:p>
            <a:pPr>
              <a:lnSpc>
                <a:spcPct val="112000"/>
              </a:lnSpc>
              <a:spcBef>
                <a:spcPts val="0"/>
              </a:spcBef>
              <a:spcAft>
                <a:spcPts val="500"/>
              </a:spcAft>
              <a:defRPr sz="1600" b="1">
                <a:solidFill>
                  <a:srgbClr val="F1F5F4"/>
                </a:solidFill>
                <a:latin typeface="DejaVu Sans"/>
              </a:defRPr>
            </a:pPr>
            <a:r>
              <a:t>El Alcaide</a:t>
            </a:r>
          </a:p>
        </p:txBody>
      </p:sp>
      <p:sp>
        <p:nvSpPr>
          <p:cNvPr id="26" name="Rectangle 25"/>
          <p:cNvSpPr/>
          <p:nvPr/>
        </p:nvSpPr>
        <p:spPr>
          <a:xfrm>
            <a:off x="8993124" y="2939796"/>
            <a:ext cx="2633472" cy="2012411"/>
          </a:xfrm>
          <a:prstGeom prst="rect">
            <a:avLst/>
          </a:prstGeom>
          <a:solidFill>
            <a:srgbClr val="3D58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14_jefe_fase3.png"/>
          <p:cNvPicPr>
            <a:picLocks noChangeAspect="1"/>
          </p:cNvPicPr>
          <p:nvPr/>
        </p:nvPicPr>
        <p:blipFill>
          <a:blip r:embed="rId5"/>
          <a:stretch>
            <a:fillRect/>
          </a:stretch>
        </p:blipFill>
        <p:spPr>
          <a:xfrm>
            <a:off x="9015984" y="2962656"/>
            <a:ext cx="2587752" cy="1966691"/>
          </a:xfrm>
          <a:prstGeom prst="rect">
            <a:avLst/>
          </a:prstGeom>
        </p:spPr>
      </p:pic>
      <p:sp>
        <p:nvSpPr>
          <p:cNvPr id="28" name="TextBox 27"/>
          <p:cNvSpPr txBox="1"/>
          <p:nvPr/>
        </p:nvSpPr>
        <p:spPr>
          <a:xfrm>
            <a:off x="9015984" y="5111496"/>
            <a:ext cx="2651760" cy="777240"/>
          </a:xfrm>
          <a:prstGeom prst="rect">
            <a:avLst/>
          </a:prstGeom>
          <a:noFill/>
        </p:spPr>
        <p:txBody>
          <a:bodyPr wrap="square" lIns="0" rIns="0" tIns="0" bIns="0">
            <a:spAutoFit/>
          </a:bodyPr>
          <a:lstStyle/>
          <a:p>
            <a:pPr>
              <a:lnSpc>
                <a:spcPct val="112000"/>
              </a:lnSpc>
              <a:spcBef>
                <a:spcPts val="0"/>
              </a:spcBef>
              <a:spcAft>
                <a:spcPts val="500"/>
              </a:spcAft>
              <a:defRPr sz="1500" b="0">
                <a:solidFill>
                  <a:srgbClr val="A9BBC6"/>
                </a:solidFill>
                <a:latin typeface="DejaVu Sans"/>
              </a:defRPr>
            </a:pPr>
            <a:r>
              <a:t>Sobrevivir al combate</a:t>
            </a:r>
          </a:p>
          <a:p>
            <a:pPr>
              <a:lnSpc>
                <a:spcPct val="112000"/>
              </a:lnSpc>
              <a:spcBef>
                <a:spcPts val="0"/>
              </a:spcBef>
              <a:spcAft>
                <a:spcPts val="500"/>
              </a:spcAft>
              <a:defRPr sz="1500" b="0">
                <a:solidFill>
                  <a:srgbClr val="A9BBC6"/>
                </a:solidFill>
                <a:latin typeface="DejaVu Sans"/>
              </a:defRPr>
            </a:pPr>
            <a:r>
              <a:t>y conseguir la última llave.</a:t>
            </a:r>
          </a:p>
        </p:txBody>
      </p:sp>
      <p:sp>
        <p:nvSpPr>
          <p:cNvPr id="29" name="Rounded Rectangle 28"/>
          <p:cNvSpPr/>
          <p:nvPr/>
        </p:nvSpPr>
        <p:spPr>
          <a:xfrm>
            <a:off x="594360" y="5907024"/>
            <a:ext cx="11009376" cy="310896"/>
          </a:xfrm>
          <a:prstGeom prst="roundRect">
            <a:avLst>
              <a:gd name="adj" fmla="val 8000"/>
            </a:avLst>
          </a:prstGeom>
          <a:solidFill>
            <a:srgbClr val="203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8952" y="5952744"/>
            <a:ext cx="10652760" cy="228600"/>
          </a:xfrm>
          <a:prstGeom prst="rect">
            <a:avLst/>
          </a:prstGeom>
          <a:noFill/>
        </p:spPr>
        <p:txBody>
          <a:bodyPr wrap="square" lIns="0" rIns="0" tIns="0" bIns="0">
            <a:spAutoFit/>
          </a:bodyPr>
          <a:lstStyle/>
          <a:p>
            <a:pPr algn="ctr">
              <a:lnSpc>
                <a:spcPct val="112000"/>
              </a:lnSpc>
              <a:spcBef>
                <a:spcPts val="0"/>
              </a:spcBef>
              <a:spcAft>
                <a:spcPts val="500"/>
              </a:spcAft>
              <a:defRPr sz="1300" b="1">
                <a:solidFill>
                  <a:srgbClr val="8BE7B2"/>
                </a:solidFill>
                <a:latin typeface="DejaVu Sans"/>
              </a:defRPr>
            </a:pPr>
            <a:r>
              <a:t>4 llaves × 100  +  4 salidas × 500  +  jefe × 1000  =  3400 puntos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1821"/>
        </a:solidFill>
        <a:effectLst/>
      </p:bgPr>
    </p:bg>
    <p:spTree>
      <p:nvGrpSpPr>
        <p:cNvPr id="1" name=""/>
        <p:cNvGrpSpPr/>
        <p:nvPr/>
      </p:nvGrpSpPr>
      <p:grpSpPr/>
      <p:sp>
        <p:nvSpPr>
          <p:cNvPr id="2" name="Rectangle 1"/>
          <p:cNvSpPr/>
          <p:nvPr/>
        </p:nvSpPr>
        <p:spPr>
          <a:xfrm>
            <a:off x="548640" y="320040"/>
            <a:ext cx="292608" cy="50292"/>
          </a:xfrm>
          <a:prstGeom prst="rect">
            <a:avLst/>
          </a:prstGeom>
          <a:solidFill>
            <a:srgbClr val="8BE7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37744"/>
            <a:ext cx="9144000" cy="274320"/>
          </a:xfrm>
          <a:prstGeom prst="rect">
            <a:avLst/>
          </a:prstGeom>
          <a:noFill/>
        </p:spPr>
        <p:txBody>
          <a:bodyPr wrap="square" lIns="0" rIns="0" tIns="0" bIns="0">
            <a:spAutoFit/>
          </a:bodyPr>
          <a:lstStyle/>
          <a:p>
            <a:pPr>
              <a:lnSpc>
                <a:spcPct val="112000"/>
              </a:lnSpc>
              <a:spcBef>
                <a:spcPts val="0"/>
              </a:spcBef>
              <a:spcAft>
                <a:spcPts val="500"/>
              </a:spcAft>
              <a:defRPr sz="1050" b="1">
                <a:solidFill>
                  <a:srgbClr val="8BE7B2"/>
                </a:solidFill>
                <a:latin typeface="DejaVu Sans"/>
              </a:defRPr>
            </a:pPr>
            <a:r>
              <a:t>PROYECTO PARCIAL · POO</a:t>
            </a:r>
          </a:p>
        </p:txBody>
      </p:sp>
      <p:sp>
        <p:nvSpPr>
          <p:cNvPr id="4" name="TextBox 3"/>
          <p:cNvSpPr txBox="1"/>
          <p:nvPr/>
        </p:nvSpPr>
        <p:spPr>
          <a:xfrm>
            <a:off x="548640" y="758952"/>
            <a:ext cx="11064240" cy="960120"/>
          </a:xfrm>
          <a:prstGeom prst="rect">
            <a:avLst/>
          </a:prstGeom>
          <a:noFill/>
        </p:spPr>
        <p:txBody>
          <a:bodyPr wrap="square" lIns="0" rIns="0" tIns="0" bIns="0">
            <a:spAutoFit/>
          </a:bodyPr>
          <a:lstStyle/>
          <a:p>
            <a:pPr>
              <a:lnSpc>
                <a:spcPct val="112000"/>
              </a:lnSpc>
              <a:spcBef>
                <a:spcPts val="0"/>
              </a:spcBef>
              <a:spcAft>
                <a:spcPts val="500"/>
              </a:spcAft>
              <a:defRPr sz="3200" b="1">
                <a:solidFill>
                  <a:srgbClr val="F1F5F4"/>
                </a:solidFill>
                <a:latin typeface="DejaVu Sans"/>
              </a:defRPr>
            </a:pPr>
            <a:r>
              <a:t>25 clases con responsabilidades definidas</a:t>
            </a:r>
          </a:p>
        </p:txBody>
      </p:sp>
      <p:cxnSp>
        <p:nvCxnSpPr>
          <p:cNvPr id="5" name="Connector 4"/>
          <p:cNvCxnSpPr/>
          <p:nvPr/>
        </p:nvCxnSpPr>
        <p:spPr>
          <a:xfrm>
            <a:off x="548640" y="6419088"/>
            <a:ext cx="11091672" cy="0"/>
          </a:xfrm>
          <a:prstGeom prst="line">
            <a:avLst/>
          </a:prstGeom>
          <a:ln w="8255">
            <a:solidFill>
              <a:srgbClr val="3D5867"/>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519672"/>
            <a:ext cx="3017520" cy="173736"/>
          </a:xfrm>
          <a:prstGeom prst="rect">
            <a:avLst/>
          </a:prstGeom>
          <a:noFill/>
        </p:spPr>
        <p:txBody>
          <a:bodyPr wrap="square" lIns="0" rIns="0" tIns="0" bIns="0">
            <a:spAutoFit/>
          </a:bodyPr>
          <a:lstStyle/>
          <a:p>
            <a:pPr>
              <a:lnSpc>
                <a:spcPct val="112000"/>
              </a:lnSpc>
              <a:spcBef>
                <a:spcPts val="0"/>
              </a:spcBef>
              <a:spcAft>
                <a:spcPts val="500"/>
              </a:spcAft>
              <a:defRPr sz="850" b="0">
                <a:solidFill>
                  <a:srgbClr val="A9BBC6"/>
                </a:solidFill>
                <a:latin typeface="DejaVu Sans"/>
              </a:defRPr>
            </a:pPr>
            <a:r>
              <a:t>FUGA DE LA PRISIÓN  /  2026-II</a:t>
            </a:r>
          </a:p>
        </p:txBody>
      </p:sp>
      <p:sp>
        <p:nvSpPr>
          <p:cNvPr id="7" name="TextBox 6"/>
          <p:cNvSpPr txBox="1"/>
          <p:nvPr/>
        </p:nvSpPr>
        <p:spPr>
          <a:xfrm>
            <a:off x="3703320" y="6519672"/>
            <a:ext cx="7132320" cy="182880"/>
          </a:xfrm>
          <a:prstGeom prst="rect">
            <a:avLst/>
          </a:prstGeom>
          <a:noFill/>
        </p:spPr>
        <p:txBody>
          <a:bodyPr wrap="square" lIns="0" rIns="0" tIns="0" bIns="0">
            <a:spAutoFit/>
          </a:bodyPr>
          <a:lstStyle/>
          <a:p>
            <a:pPr algn="r">
              <a:lnSpc>
                <a:spcPct val="112000"/>
              </a:lnSpc>
              <a:spcBef>
                <a:spcPts val="0"/>
              </a:spcBef>
              <a:spcAft>
                <a:spcPts val="500"/>
              </a:spcAft>
              <a:defRPr sz="850" b="0">
                <a:solidFill>
                  <a:srgbClr val="A9BBC6"/>
                </a:solidFill>
                <a:latin typeface="DejaVu Sans"/>
              </a:defRPr>
            </a:pPr>
            <a:r>
              <a:t>Fuentes: src/ · docs/diagramas/modelo_parcial.mmd</a:t>
            </a:r>
          </a:p>
        </p:txBody>
      </p:sp>
      <p:sp>
        <p:nvSpPr>
          <p:cNvPr id="8" name="TextBox 7"/>
          <p:cNvSpPr txBox="1"/>
          <p:nvPr/>
        </p:nvSpPr>
        <p:spPr>
          <a:xfrm>
            <a:off x="11018520" y="6492240"/>
            <a:ext cx="594360" cy="274320"/>
          </a:xfrm>
          <a:prstGeom prst="rect">
            <a:avLst/>
          </a:prstGeom>
          <a:noFill/>
        </p:spPr>
        <p:txBody>
          <a:bodyPr wrap="square" lIns="0" rIns="0" tIns="0" bIns="0">
            <a:spAutoFit/>
          </a:bodyPr>
          <a:lstStyle/>
          <a:p>
            <a:pPr algn="r">
              <a:lnSpc>
                <a:spcPct val="112000"/>
              </a:lnSpc>
              <a:spcBef>
                <a:spcPts val="0"/>
              </a:spcBef>
              <a:spcAft>
                <a:spcPts val="500"/>
              </a:spcAft>
              <a:defRPr sz="1100" b="1">
                <a:solidFill>
                  <a:srgbClr val="8BE7B2"/>
                </a:solidFill>
                <a:latin typeface="DejaVu Sans"/>
              </a:defRPr>
            </a:pPr>
            <a:r>
              <a:t>04</a:t>
            </a:r>
          </a:p>
        </p:txBody>
      </p:sp>
      <p:sp>
        <p:nvSpPr>
          <p:cNvPr id="9" name="Rectangle 8"/>
          <p:cNvSpPr/>
          <p:nvPr/>
        </p:nvSpPr>
        <p:spPr>
          <a:xfrm>
            <a:off x="4553712" y="1691640"/>
            <a:ext cx="3063240" cy="1234440"/>
          </a:xfrm>
          <a:prstGeom prst="rect">
            <a:avLst/>
          </a:prstGeom>
          <a:solidFill>
            <a:srgbClr val="182A35"/>
          </a:solidFill>
          <a:ln w="12700">
            <a:solidFill>
              <a:srgbClr val="3D586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26864" y="1783080"/>
            <a:ext cx="2916936" cy="292608"/>
          </a:xfrm>
          <a:prstGeom prst="rect">
            <a:avLst/>
          </a:prstGeom>
          <a:noFill/>
        </p:spPr>
        <p:txBody>
          <a:bodyPr wrap="square" lIns="0" rIns="0" tIns="0" bIns="0">
            <a:spAutoFit/>
          </a:bodyPr>
          <a:lstStyle/>
          <a:p>
            <a:pPr algn="ctr">
              <a:lnSpc>
                <a:spcPct val="112000"/>
              </a:lnSpc>
              <a:spcBef>
                <a:spcPts val="0"/>
              </a:spcBef>
              <a:spcAft>
                <a:spcPts val="500"/>
              </a:spcAft>
              <a:defRPr sz="1600" b="1">
                <a:solidFill>
                  <a:srgbClr val="8BE7B2"/>
                </a:solidFill>
                <a:latin typeface="DejaVu Sans"/>
              </a:defRPr>
            </a:pPr>
            <a:r>
              <a:t>Juego</a:t>
            </a:r>
          </a:p>
        </p:txBody>
      </p:sp>
      <p:cxnSp>
        <p:nvCxnSpPr>
          <p:cNvPr id="11" name="Connector 10"/>
          <p:cNvCxnSpPr/>
          <p:nvPr/>
        </p:nvCxnSpPr>
        <p:spPr>
          <a:xfrm>
            <a:off x="4553712" y="2148840"/>
            <a:ext cx="3063240" cy="0"/>
          </a:xfrm>
          <a:prstGeom prst="line">
            <a:avLst/>
          </a:prstGeom>
          <a:ln w="10160">
            <a:solidFill>
              <a:srgbClr val="3D5867"/>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672584" y="2249424"/>
            <a:ext cx="2825496" cy="256032"/>
          </a:xfrm>
          <a:prstGeom prst="rect">
            <a:avLst/>
          </a:prstGeom>
          <a:noFill/>
        </p:spPr>
        <p:txBody>
          <a:bodyPr wrap="square" lIns="0" rIns="0" tIns="0" bIns="0">
            <a:spAutoFit/>
          </a:bodyPr>
          <a:lstStyle/>
          <a:p>
            <a:pPr>
              <a:lnSpc>
                <a:spcPct val="112000"/>
              </a:lnSpc>
              <a:spcBef>
                <a:spcPts val="0"/>
              </a:spcBef>
              <a:spcAft>
                <a:spcPts val="500"/>
              </a:spcAft>
              <a:defRPr sz="1150" b="0">
                <a:solidFill>
                  <a:srgbClr val="A9BBC6"/>
                </a:solidFill>
                <a:latin typeface="DejaVu Sans Mono"/>
              </a:defRPr>
            </a:pPr>
            <a:r>
              <a:t>+nivel: Nivel</a:t>
            </a:r>
          </a:p>
        </p:txBody>
      </p:sp>
      <p:cxnSp>
        <p:nvCxnSpPr>
          <p:cNvPr id="13" name="Connector 12"/>
          <p:cNvCxnSpPr/>
          <p:nvPr/>
        </p:nvCxnSpPr>
        <p:spPr>
          <a:xfrm>
            <a:off x="4553712" y="2587752"/>
            <a:ext cx="3063240" cy="0"/>
          </a:xfrm>
          <a:prstGeom prst="line">
            <a:avLst/>
          </a:prstGeom>
          <a:ln w="10160">
            <a:solidFill>
              <a:srgbClr val="3D5867"/>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672584" y="2651760"/>
            <a:ext cx="2825496" cy="228600"/>
          </a:xfrm>
          <a:prstGeom prst="rect">
            <a:avLst/>
          </a:prstGeom>
          <a:noFill/>
        </p:spPr>
        <p:txBody>
          <a:bodyPr wrap="square" lIns="0" rIns="0" tIns="0" bIns="0">
            <a:spAutoFit/>
          </a:bodyPr>
          <a:lstStyle/>
          <a:p>
            <a:pPr>
              <a:lnSpc>
                <a:spcPct val="112000"/>
              </a:lnSpc>
              <a:spcBef>
                <a:spcPts val="0"/>
              </a:spcBef>
              <a:spcAft>
                <a:spcPts val="500"/>
              </a:spcAft>
              <a:defRPr sz="1150" b="0">
                <a:solidFill>
                  <a:srgbClr val="F1F5F4"/>
                </a:solidFill>
                <a:latin typeface="DejaVu Sans Mono"/>
              </a:defRPr>
            </a:pPr>
            <a:r>
              <a:t>+actualizar(dt, teclas)</a:t>
            </a:r>
          </a:p>
        </p:txBody>
      </p:sp>
      <p:sp>
        <p:nvSpPr>
          <p:cNvPr id="15" name="Rectangle 14"/>
          <p:cNvSpPr/>
          <p:nvPr/>
        </p:nvSpPr>
        <p:spPr>
          <a:xfrm>
            <a:off x="621792" y="1691640"/>
            <a:ext cx="2971800" cy="1234440"/>
          </a:xfrm>
          <a:prstGeom prst="rect">
            <a:avLst/>
          </a:prstGeom>
          <a:solidFill>
            <a:srgbClr val="182A35"/>
          </a:solidFill>
          <a:ln w="12700">
            <a:solidFill>
              <a:srgbClr val="3D586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4944" y="1783080"/>
            <a:ext cx="2825496" cy="292608"/>
          </a:xfrm>
          <a:prstGeom prst="rect">
            <a:avLst/>
          </a:prstGeom>
          <a:noFill/>
        </p:spPr>
        <p:txBody>
          <a:bodyPr wrap="square" lIns="0" rIns="0" tIns="0" bIns="0">
            <a:spAutoFit/>
          </a:bodyPr>
          <a:lstStyle/>
          <a:p>
            <a:pPr algn="ctr">
              <a:lnSpc>
                <a:spcPct val="112000"/>
              </a:lnSpc>
              <a:spcBef>
                <a:spcPts val="0"/>
              </a:spcBef>
              <a:spcAft>
                <a:spcPts val="500"/>
              </a:spcAft>
              <a:defRPr sz="1600" b="1">
                <a:solidFill>
                  <a:srgbClr val="94CAEE"/>
                </a:solidFill>
                <a:latin typeface="DejaVu Sans"/>
              </a:defRPr>
            </a:pPr>
            <a:r>
              <a:t>EstadoJuego</a:t>
            </a:r>
          </a:p>
        </p:txBody>
      </p:sp>
      <p:cxnSp>
        <p:nvCxnSpPr>
          <p:cNvPr id="17" name="Connector 16"/>
          <p:cNvCxnSpPr/>
          <p:nvPr/>
        </p:nvCxnSpPr>
        <p:spPr>
          <a:xfrm>
            <a:off x="621792" y="2148840"/>
            <a:ext cx="2971800" cy="0"/>
          </a:xfrm>
          <a:prstGeom prst="line">
            <a:avLst/>
          </a:prstGeom>
          <a:ln w="10160">
            <a:solidFill>
              <a:srgbClr val="3D5867"/>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740664" y="2249424"/>
            <a:ext cx="2734056" cy="256032"/>
          </a:xfrm>
          <a:prstGeom prst="rect">
            <a:avLst/>
          </a:prstGeom>
          <a:noFill/>
        </p:spPr>
        <p:txBody>
          <a:bodyPr wrap="square" lIns="0" rIns="0" tIns="0" bIns="0">
            <a:spAutoFit/>
          </a:bodyPr>
          <a:lstStyle/>
          <a:p>
            <a:pPr>
              <a:lnSpc>
                <a:spcPct val="112000"/>
              </a:lnSpc>
              <a:spcBef>
                <a:spcPts val="0"/>
              </a:spcBef>
              <a:spcAft>
                <a:spcPts val="500"/>
              </a:spcAft>
              <a:defRPr sz="1150" b="0">
                <a:solidFill>
                  <a:srgbClr val="A9BBC6"/>
                </a:solidFill>
                <a:latin typeface="DejaVu Sans Mono"/>
              </a:defRPr>
            </a:pPr>
            <a:r>
              <a:t>+juego: Juego</a:t>
            </a:r>
          </a:p>
        </p:txBody>
      </p:sp>
      <p:cxnSp>
        <p:nvCxnSpPr>
          <p:cNvPr id="19" name="Connector 18"/>
          <p:cNvCxnSpPr/>
          <p:nvPr/>
        </p:nvCxnSpPr>
        <p:spPr>
          <a:xfrm>
            <a:off x="621792" y="2587752"/>
            <a:ext cx="2971800" cy="0"/>
          </a:xfrm>
          <a:prstGeom prst="line">
            <a:avLst/>
          </a:prstGeom>
          <a:ln w="10160">
            <a:solidFill>
              <a:srgbClr val="3D5867"/>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40664" y="2651760"/>
            <a:ext cx="2734056" cy="228600"/>
          </a:xfrm>
          <a:prstGeom prst="rect">
            <a:avLst/>
          </a:prstGeom>
          <a:noFill/>
        </p:spPr>
        <p:txBody>
          <a:bodyPr wrap="square" lIns="0" rIns="0" tIns="0" bIns="0">
            <a:spAutoFit/>
          </a:bodyPr>
          <a:lstStyle/>
          <a:p>
            <a:pPr>
              <a:lnSpc>
                <a:spcPct val="112000"/>
              </a:lnSpc>
              <a:spcBef>
                <a:spcPts val="0"/>
              </a:spcBef>
              <a:spcAft>
                <a:spcPts val="500"/>
              </a:spcAft>
              <a:defRPr sz="1150" b="0">
                <a:solidFill>
                  <a:srgbClr val="F1F5F4"/>
                </a:solidFill>
                <a:latin typeface="DejaVu Sans Mono"/>
              </a:defRPr>
            </a:pPr>
            <a:r>
              <a:t>+actualizar(dt, teclas)</a:t>
            </a:r>
          </a:p>
        </p:txBody>
      </p:sp>
      <p:sp>
        <p:nvSpPr>
          <p:cNvPr id="21" name="Rectangle 20"/>
          <p:cNvSpPr/>
          <p:nvPr/>
        </p:nvSpPr>
        <p:spPr>
          <a:xfrm>
            <a:off x="8577072" y="1691640"/>
            <a:ext cx="2971800" cy="1234440"/>
          </a:xfrm>
          <a:prstGeom prst="rect">
            <a:avLst/>
          </a:prstGeom>
          <a:solidFill>
            <a:srgbClr val="182A35"/>
          </a:solidFill>
          <a:ln w="12700">
            <a:solidFill>
              <a:srgbClr val="3D586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50224" y="1783080"/>
            <a:ext cx="2825496" cy="292608"/>
          </a:xfrm>
          <a:prstGeom prst="rect">
            <a:avLst/>
          </a:prstGeom>
          <a:noFill/>
        </p:spPr>
        <p:txBody>
          <a:bodyPr wrap="square" lIns="0" rIns="0" tIns="0" bIns="0">
            <a:spAutoFit/>
          </a:bodyPr>
          <a:lstStyle/>
          <a:p>
            <a:pPr algn="ctr">
              <a:lnSpc>
                <a:spcPct val="112000"/>
              </a:lnSpc>
              <a:spcBef>
                <a:spcPts val="0"/>
              </a:spcBef>
              <a:spcAft>
                <a:spcPts val="500"/>
              </a:spcAft>
              <a:defRPr sz="1600" b="1">
                <a:solidFill>
                  <a:srgbClr val="FFD36D"/>
                </a:solidFill>
                <a:latin typeface="DejaVu Sans"/>
              </a:defRPr>
            </a:pPr>
            <a:r>
              <a:t>Vista</a:t>
            </a:r>
          </a:p>
        </p:txBody>
      </p:sp>
      <p:cxnSp>
        <p:nvCxnSpPr>
          <p:cNvPr id="23" name="Connector 22"/>
          <p:cNvCxnSpPr/>
          <p:nvPr/>
        </p:nvCxnSpPr>
        <p:spPr>
          <a:xfrm>
            <a:off x="8577072" y="2148840"/>
            <a:ext cx="2971800" cy="0"/>
          </a:xfrm>
          <a:prstGeom prst="line">
            <a:avLst/>
          </a:prstGeom>
          <a:ln w="10160">
            <a:solidFill>
              <a:srgbClr val="3D5867"/>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695944" y="2249424"/>
            <a:ext cx="2734056" cy="256032"/>
          </a:xfrm>
          <a:prstGeom prst="rect">
            <a:avLst/>
          </a:prstGeom>
          <a:noFill/>
        </p:spPr>
        <p:txBody>
          <a:bodyPr wrap="square" lIns="0" rIns="0" tIns="0" bIns="0">
            <a:spAutoFit/>
          </a:bodyPr>
          <a:lstStyle/>
          <a:p>
            <a:pPr>
              <a:lnSpc>
                <a:spcPct val="112000"/>
              </a:lnSpc>
              <a:spcBef>
                <a:spcPts val="0"/>
              </a:spcBef>
              <a:spcAft>
                <a:spcPts val="500"/>
              </a:spcAft>
              <a:defRPr sz="1150" b="0">
                <a:solidFill>
                  <a:srgbClr val="A9BBC6"/>
                </a:solidFill>
                <a:latin typeface="DejaVu Sans Mono"/>
              </a:defRPr>
            </a:pPr>
            <a:r>
              <a:t>+pantalla: Surface</a:t>
            </a:r>
          </a:p>
        </p:txBody>
      </p:sp>
      <p:cxnSp>
        <p:nvCxnSpPr>
          <p:cNvPr id="25" name="Connector 24"/>
          <p:cNvCxnSpPr/>
          <p:nvPr/>
        </p:nvCxnSpPr>
        <p:spPr>
          <a:xfrm>
            <a:off x="8577072" y="2587752"/>
            <a:ext cx="2971800" cy="0"/>
          </a:xfrm>
          <a:prstGeom prst="line">
            <a:avLst/>
          </a:prstGeom>
          <a:ln w="10160">
            <a:solidFill>
              <a:srgbClr val="3D5867"/>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695944" y="2651760"/>
            <a:ext cx="2734056" cy="228600"/>
          </a:xfrm>
          <a:prstGeom prst="rect">
            <a:avLst/>
          </a:prstGeom>
          <a:noFill/>
        </p:spPr>
        <p:txBody>
          <a:bodyPr wrap="square" lIns="0" rIns="0" tIns="0" bIns="0">
            <a:spAutoFit/>
          </a:bodyPr>
          <a:lstStyle/>
          <a:p>
            <a:pPr>
              <a:lnSpc>
                <a:spcPct val="112000"/>
              </a:lnSpc>
              <a:spcBef>
                <a:spcPts val="0"/>
              </a:spcBef>
              <a:spcAft>
                <a:spcPts val="500"/>
              </a:spcAft>
              <a:defRPr sz="1150" b="0">
                <a:solidFill>
                  <a:srgbClr val="F1F5F4"/>
                </a:solidFill>
                <a:latin typeface="DejaVu Sans Mono"/>
              </a:defRPr>
            </a:pPr>
            <a:r>
              <a:t>+dibujar(juego)</a:t>
            </a:r>
          </a:p>
        </p:txBody>
      </p:sp>
      <p:sp>
        <p:nvSpPr>
          <p:cNvPr id="27" name="Rectangle 26"/>
          <p:cNvSpPr/>
          <p:nvPr/>
        </p:nvSpPr>
        <p:spPr>
          <a:xfrm>
            <a:off x="4553712" y="3474720"/>
            <a:ext cx="3063240" cy="1234440"/>
          </a:xfrm>
          <a:prstGeom prst="rect">
            <a:avLst/>
          </a:prstGeom>
          <a:solidFill>
            <a:srgbClr val="182A35"/>
          </a:solidFill>
          <a:ln w="12700">
            <a:solidFill>
              <a:srgbClr val="3D586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26864" y="3566160"/>
            <a:ext cx="2916936" cy="292608"/>
          </a:xfrm>
          <a:prstGeom prst="rect">
            <a:avLst/>
          </a:prstGeom>
          <a:noFill/>
        </p:spPr>
        <p:txBody>
          <a:bodyPr wrap="square" lIns="0" rIns="0" tIns="0" bIns="0">
            <a:spAutoFit/>
          </a:bodyPr>
          <a:lstStyle/>
          <a:p>
            <a:pPr algn="ctr">
              <a:lnSpc>
                <a:spcPct val="112000"/>
              </a:lnSpc>
              <a:spcBef>
                <a:spcPts val="0"/>
              </a:spcBef>
              <a:spcAft>
                <a:spcPts val="500"/>
              </a:spcAft>
              <a:defRPr sz="1600" b="1">
                <a:solidFill>
                  <a:srgbClr val="8BE7B2"/>
                </a:solidFill>
                <a:latin typeface="DejaVu Sans"/>
              </a:defRPr>
            </a:pPr>
            <a:r>
              <a:t>Nivel</a:t>
            </a:r>
          </a:p>
        </p:txBody>
      </p:sp>
      <p:cxnSp>
        <p:nvCxnSpPr>
          <p:cNvPr id="29" name="Connector 28"/>
          <p:cNvCxnSpPr/>
          <p:nvPr/>
        </p:nvCxnSpPr>
        <p:spPr>
          <a:xfrm>
            <a:off x="4553712" y="3931920"/>
            <a:ext cx="3063240" cy="0"/>
          </a:xfrm>
          <a:prstGeom prst="line">
            <a:avLst/>
          </a:prstGeom>
          <a:ln w="10160">
            <a:solidFill>
              <a:srgbClr val="3D5867"/>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4672584" y="4032504"/>
            <a:ext cx="2825496" cy="256032"/>
          </a:xfrm>
          <a:prstGeom prst="rect">
            <a:avLst/>
          </a:prstGeom>
          <a:noFill/>
        </p:spPr>
        <p:txBody>
          <a:bodyPr wrap="square" lIns="0" rIns="0" tIns="0" bIns="0">
            <a:spAutoFit/>
          </a:bodyPr>
          <a:lstStyle/>
          <a:p>
            <a:pPr>
              <a:lnSpc>
                <a:spcPct val="112000"/>
              </a:lnSpc>
              <a:spcBef>
                <a:spcPts val="0"/>
              </a:spcBef>
              <a:spcAft>
                <a:spcPts val="500"/>
              </a:spcAft>
              <a:defRPr sz="1150" b="0">
                <a:solidFill>
                  <a:srgbClr val="A9BBC6"/>
                </a:solidFill>
                <a:latin typeface="DejaVu Sans Mono"/>
              </a:defRPr>
            </a:pPr>
            <a:r>
              <a:t>+mapa: Mapa</a:t>
            </a:r>
          </a:p>
        </p:txBody>
      </p:sp>
      <p:cxnSp>
        <p:nvCxnSpPr>
          <p:cNvPr id="31" name="Connector 30"/>
          <p:cNvCxnSpPr/>
          <p:nvPr/>
        </p:nvCxnSpPr>
        <p:spPr>
          <a:xfrm>
            <a:off x="4553712" y="4370831"/>
            <a:ext cx="3063240" cy="0"/>
          </a:xfrm>
          <a:prstGeom prst="line">
            <a:avLst/>
          </a:prstGeom>
          <a:ln w="10160">
            <a:solidFill>
              <a:srgbClr val="3D5867"/>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4672584" y="4434840"/>
            <a:ext cx="2825496" cy="228600"/>
          </a:xfrm>
          <a:prstGeom prst="rect">
            <a:avLst/>
          </a:prstGeom>
          <a:noFill/>
        </p:spPr>
        <p:txBody>
          <a:bodyPr wrap="square" lIns="0" rIns="0" tIns="0" bIns="0">
            <a:spAutoFit/>
          </a:bodyPr>
          <a:lstStyle/>
          <a:p>
            <a:pPr>
              <a:lnSpc>
                <a:spcPct val="112000"/>
              </a:lnSpc>
              <a:spcBef>
                <a:spcPts val="0"/>
              </a:spcBef>
              <a:spcAft>
                <a:spcPts val="500"/>
              </a:spcAft>
              <a:defRPr sz="1150" b="0">
                <a:solidFill>
                  <a:srgbClr val="F1F5F4"/>
                </a:solidFill>
                <a:latin typeface="DejaVu Sans Mono"/>
              </a:defRPr>
            </a:pPr>
            <a:r>
              <a:t>+actualizar(dt, teclas)</a:t>
            </a:r>
          </a:p>
        </p:txBody>
      </p:sp>
      <p:sp>
        <p:nvSpPr>
          <p:cNvPr id="33" name="Rectangle 32"/>
          <p:cNvSpPr/>
          <p:nvPr/>
        </p:nvSpPr>
        <p:spPr>
          <a:xfrm>
            <a:off x="621792" y="3474720"/>
            <a:ext cx="2971800" cy="1234440"/>
          </a:xfrm>
          <a:prstGeom prst="rect">
            <a:avLst/>
          </a:prstGeom>
          <a:solidFill>
            <a:srgbClr val="182A35"/>
          </a:solidFill>
          <a:ln w="12700">
            <a:solidFill>
              <a:srgbClr val="3D586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4944" y="3566160"/>
            <a:ext cx="2825496" cy="292608"/>
          </a:xfrm>
          <a:prstGeom prst="rect">
            <a:avLst/>
          </a:prstGeom>
          <a:noFill/>
        </p:spPr>
        <p:txBody>
          <a:bodyPr wrap="square" lIns="0" rIns="0" tIns="0" bIns="0">
            <a:spAutoFit/>
          </a:bodyPr>
          <a:lstStyle/>
          <a:p>
            <a:pPr algn="ctr">
              <a:lnSpc>
                <a:spcPct val="112000"/>
              </a:lnSpc>
              <a:spcBef>
                <a:spcPts val="0"/>
              </a:spcBef>
              <a:spcAft>
                <a:spcPts val="500"/>
              </a:spcAft>
              <a:defRPr sz="1600" b="1">
                <a:solidFill>
                  <a:srgbClr val="94CAEE"/>
                </a:solidFill>
                <a:latin typeface="DejaVu Sans"/>
              </a:defRPr>
            </a:pPr>
            <a:r>
              <a:t>Puntaje</a:t>
            </a:r>
          </a:p>
        </p:txBody>
      </p:sp>
      <p:cxnSp>
        <p:nvCxnSpPr>
          <p:cNvPr id="35" name="Connector 34"/>
          <p:cNvCxnSpPr/>
          <p:nvPr/>
        </p:nvCxnSpPr>
        <p:spPr>
          <a:xfrm>
            <a:off x="621792" y="3931920"/>
            <a:ext cx="2971800" cy="0"/>
          </a:xfrm>
          <a:prstGeom prst="line">
            <a:avLst/>
          </a:prstGeom>
          <a:ln w="10160">
            <a:solidFill>
              <a:srgbClr val="3D5867"/>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740664" y="4032504"/>
            <a:ext cx="2734056" cy="256032"/>
          </a:xfrm>
          <a:prstGeom prst="rect">
            <a:avLst/>
          </a:prstGeom>
          <a:noFill/>
        </p:spPr>
        <p:txBody>
          <a:bodyPr wrap="square" lIns="0" rIns="0" tIns="0" bIns="0">
            <a:spAutoFit/>
          </a:bodyPr>
          <a:lstStyle/>
          <a:p>
            <a:pPr>
              <a:lnSpc>
                <a:spcPct val="112000"/>
              </a:lnSpc>
              <a:spcBef>
                <a:spcPts val="0"/>
              </a:spcBef>
              <a:spcAft>
                <a:spcPts val="500"/>
              </a:spcAft>
              <a:defRPr sz="1150" b="0">
                <a:solidFill>
                  <a:srgbClr val="A9BBC6"/>
                </a:solidFill>
                <a:latin typeface="DejaVu Sans Mono"/>
              </a:defRPr>
            </a:pPr>
            <a:r>
              <a:t>_valor: int</a:t>
            </a:r>
          </a:p>
        </p:txBody>
      </p:sp>
      <p:cxnSp>
        <p:nvCxnSpPr>
          <p:cNvPr id="37" name="Connector 36"/>
          <p:cNvCxnSpPr/>
          <p:nvPr/>
        </p:nvCxnSpPr>
        <p:spPr>
          <a:xfrm>
            <a:off x="621792" y="4370831"/>
            <a:ext cx="2971800" cy="0"/>
          </a:xfrm>
          <a:prstGeom prst="line">
            <a:avLst/>
          </a:prstGeom>
          <a:ln w="10160">
            <a:solidFill>
              <a:srgbClr val="3D5867"/>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740664" y="4434840"/>
            <a:ext cx="2734056" cy="228600"/>
          </a:xfrm>
          <a:prstGeom prst="rect">
            <a:avLst/>
          </a:prstGeom>
          <a:noFill/>
        </p:spPr>
        <p:txBody>
          <a:bodyPr wrap="square" lIns="0" rIns="0" tIns="0" bIns="0">
            <a:spAutoFit/>
          </a:bodyPr>
          <a:lstStyle/>
          <a:p>
            <a:pPr>
              <a:lnSpc>
                <a:spcPct val="112000"/>
              </a:lnSpc>
              <a:spcBef>
                <a:spcPts val="0"/>
              </a:spcBef>
              <a:spcAft>
                <a:spcPts val="500"/>
              </a:spcAft>
              <a:defRPr sz="1150" b="0">
                <a:solidFill>
                  <a:srgbClr val="F1F5F4"/>
                </a:solidFill>
                <a:latin typeface="DejaVu Sans Mono"/>
              </a:defRPr>
            </a:pPr>
            <a:r>
              <a:t>+sumar(cantidad)</a:t>
            </a:r>
          </a:p>
        </p:txBody>
      </p:sp>
      <p:sp>
        <p:nvSpPr>
          <p:cNvPr id="39" name="Rectangle 38"/>
          <p:cNvSpPr/>
          <p:nvPr/>
        </p:nvSpPr>
        <p:spPr>
          <a:xfrm>
            <a:off x="8577072" y="3474720"/>
            <a:ext cx="2971800" cy="1234440"/>
          </a:xfrm>
          <a:prstGeom prst="rect">
            <a:avLst/>
          </a:prstGeom>
          <a:solidFill>
            <a:srgbClr val="182A35"/>
          </a:solidFill>
          <a:ln w="12700">
            <a:solidFill>
              <a:srgbClr val="3D586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650224" y="3566160"/>
            <a:ext cx="2825496" cy="292608"/>
          </a:xfrm>
          <a:prstGeom prst="rect">
            <a:avLst/>
          </a:prstGeom>
          <a:noFill/>
        </p:spPr>
        <p:txBody>
          <a:bodyPr wrap="square" lIns="0" rIns="0" tIns="0" bIns="0">
            <a:spAutoFit/>
          </a:bodyPr>
          <a:lstStyle/>
          <a:p>
            <a:pPr algn="ctr">
              <a:lnSpc>
                <a:spcPct val="112000"/>
              </a:lnSpc>
              <a:spcBef>
                <a:spcPts val="0"/>
              </a:spcBef>
              <a:spcAft>
                <a:spcPts val="500"/>
              </a:spcAft>
              <a:defRPr sz="1600" b="1">
                <a:solidFill>
                  <a:srgbClr val="FF8E7C"/>
                </a:solidFill>
                <a:latin typeface="DejaVu Sans"/>
              </a:defRPr>
            </a:pPr>
            <a:r>
              <a:t>Combate</a:t>
            </a:r>
          </a:p>
        </p:txBody>
      </p:sp>
      <p:cxnSp>
        <p:nvCxnSpPr>
          <p:cNvPr id="41" name="Connector 40"/>
          <p:cNvCxnSpPr/>
          <p:nvPr/>
        </p:nvCxnSpPr>
        <p:spPr>
          <a:xfrm>
            <a:off x="8577072" y="3931920"/>
            <a:ext cx="2971800" cy="0"/>
          </a:xfrm>
          <a:prstGeom prst="line">
            <a:avLst/>
          </a:prstGeom>
          <a:ln w="10160">
            <a:solidFill>
              <a:srgbClr val="3D5867"/>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8695944" y="4032504"/>
            <a:ext cx="2734056" cy="256032"/>
          </a:xfrm>
          <a:prstGeom prst="rect">
            <a:avLst/>
          </a:prstGeom>
          <a:noFill/>
        </p:spPr>
        <p:txBody>
          <a:bodyPr wrap="square" lIns="0" rIns="0" tIns="0" bIns="0">
            <a:spAutoFit/>
          </a:bodyPr>
          <a:lstStyle/>
          <a:p>
            <a:pPr>
              <a:lnSpc>
                <a:spcPct val="112000"/>
              </a:lnSpc>
              <a:spcBef>
                <a:spcPts val="0"/>
              </a:spcBef>
              <a:spcAft>
                <a:spcPts val="500"/>
              </a:spcAft>
              <a:defRPr sz="1150" b="0">
                <a:solidFill>
                  <a:srgbClr val="A9BBC6"/>
                </a:solidFill>
                <a:latin typeface="DejaVu Sans Mono"/>
              </a:defRPr>
            </a:pPr>
            <a:r>
              <a:t>+jefe: Alcaide</a:t>
            </a:r>
          </a:p>
        </p:txBody>
      </p:sp>
      <p:cxnSp>
        <p:nvCxnSpPr>
          <p:cNvPr id="43" name="Connector 42"/>
          <p:cNvCxnSpPr/>
          <p:nvPr/>
        </p:nvCxnSpPr>
        <p:spPr>
          <a:xfrm>
            <a:off x="8577072" y="4370831"/>
            <a:ext cx="2971800" cy="0"/>
          </a:xfrm>
          <a:prstGeom prst="line">
            <a:avLst/>
          </a:prstGeom>
          <a:ln w="10160">
            <a:solidFill>
              <a:srgbClr val="3D5867"/>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695944" y="4434840"/>
            <a:ext cx="2734056" cy="228600"/>
          </a:xfrm>
          <a:prstGeom prst="rect">
            <a:avLst/>
          </a:prstGeom>
          <a:noFill/>
        </p:spPr>
        <p:txBody>
          <a:bodyPr wrap="square" lIns="0" rIns="0" tIns="0" bIns="0">
            <a:spAutoFit/>
          </a:bodyPr>
          <a:lstStyle/>
          <a:p>
            <a:pPr>
              <a:lnSpc>
                <a:spcPct val="112000"/>
              </a:lnSpc>
              <a:spcBef>
                <a:spcPts val="0"/>
              </a:spcBef>
              <a:spcAft>
                <a:spcPts val="500"/>
              </a:spcAft>
              <a:defRPr sz="1150" b="0">
                <a:solidFill>
                  <a:srgbClr val="F1F5F4"/>
                </a:solidFill>
                <a:latin typeface="DejaVu Sans Mono"/>
              </a:defRPr>
            </a:pPr>
            <a:r>
              <a:t>+actualizar(dt, teclas)</a:t>
            </a:r>
          </a:p>
        </p:txBody>
      </p:sp>
      <p:cxnSp>
        <p:nvCxnSpPr>
          <p:cNvPr id="45" name="Connector 44"/>
          <p:cNvCxnSpPr/>
          <p:nvPr/>
        </p:nvCxnSpPr>
        <p:spPr>
          <a:xfrm flipH="1">
            <a:off x="3593592" y="2286000"/>
            <a:ext cx="960120" cy="0"/>
          </a:xfrm>
          <a:prstGeom prst="line">
            <a:avLst/>
          </a:prstGeom>
          <a:ln w="19050">
            <a:solidFill>
              <a:srgbClr val="94CAEE"/>
            </a:solidFill>
            <a:tailEnd type="triangle" w="sm" len="sm"/>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3657600" y="1947672"/>
            <a:ext cx="822960" cy="237744"/>
          </a:xfrm>
          <a:prstGeom prst="rect">
            <a:avLst/>
          </a:prstGeom>
          <a:noFill/>
        </p:spPr>
        <p:txBody>
          <a:bodyPr wrap="square" lIns="0" rIns="0" tIns="0" bIns="0">
            <a:spAutoFit/>
          </a:bodyPr>
          <a:lstStyle/>
          <a:p>
            <a:pPr>
              <a:lnSpc>
                <a:spcPct val="112000"/>
              </a:lnSpc>
              <a:spcBef>
                <a:spcPts val="0"/>
              </a:spcBef>
              <a:spcAft>
                <a:spcPts val="500"/>
              </a:spcAft>
              <a:defRPr sz="1000" b="0">
                <a:solidFill>
                  <a:srgbClr val="A9BBC6"/>
                </a:solidFill>
                <a:latin typeface="DejaVu Sans"/>
              </a:defRPr>
            </a:pPr>
            <a:r>
              <a:t>delega</a:t>
            </a:r>
          </a:p>
        </p:txBody>
      </p:sp>
      <p:cxnSp>
        <p:nvCxnSpPr>
          <p:cNvPr id="47" name="Connector 46"/>
          <p:cNvCxnSpPr/>
          <p:nvPr/>
        </p:nvCxnSpPr>
        <p:spPr>
          <a:xfrm flipH="1">
            <a:off x="7616952" y="2286000"/>
            <a:ext cx="960120" cy="0"/>
          </a:xfrm>
          <a:prstGeom prst="line">
            <a:avLst/>
          </a:prstGeom>
          <a:ln w="19050">
            <a:solidFill>
              <a:srgbClr val="FFD36D"/>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7708392" y="1938528"/>
            <a:ext cx="795528" cy="274320"/>
          </a:xfrm>
          <a:prstGeom prst="rect">
            <a:avLst/>
          </a:prstGeom>
          <a:noFill/>
        </p:spPr>
        <p:txBody>
          <a:bodyPr wrap="square" lIns="0" rIns="0" tIns="0" bIns="0">
            <a:spAutoFit/>
          </a:bodyPr>
          <a:lstStyle/>
          <a:p>
            <a:pPr>
              <a:lnSpc>
                <a:spcPct val="112000"/>
              </a:lnSpc>
              <a:spcBef>
                <a:spcPts val="0"/>
              </a:spcBef>
              <a:spcAft>
                <a:spcPts val="500"/>
              </a:spcAft>
              <a:defRPr sz="950" b="0">
                <a:solidFill>
                  <a:srgbClr val="A9BBC6"/>
                </a:solidFill>
                <a:latin typeface="DejaVu Sans"/>
              </a:defRPr>
            </a:pPr>
            <a:r>
              <a:t>consulta</a:t>
            </a:r>
          </a:p>
        </p:txBody>
      </p:sp>
      <p:cxnSp>
        <p:nvCxnSpPr>
          <p:cNvPr id="49" name="Connector 48"/>
          <p:cNvCxnSpPr/>
          <p:nvPr/>
        </p:nvCxnSpPr>
        <p:spPr>
          <a:xfrm>
            <a:off x="6085332" y="2926080"/>
            <a:ext cx="0" cy="548640"/>
          </a:xfrm>
          <a:prstGeom prst="line">
            <a:avLst/>
          </a:prstGeom>
          <a:ln w="19050">
            <a:solidFill>
              <a:srgbClr val="8BE7B2"/>
            </a:solidFill>
          </a:ln>
        </p:spPr>
        <p:style>
          <a:lnRef idx="2">
            <a:schemeClr val="accent1"/>
          </a:lnRef>
          <a:fillRef idx="0">
            <a:schemeClr val="accent1"/>
          </a:fillRef>
          <a:effectRef idx="1">
            <a:schemeClr val="accent1"/>
          </a:effectRef>
          <a:fontRef idx="minor">
            <a:schemeClr val="tx1"/>
          </a:fontRef>
        </p:style>
      </p:cxnSp>
      <p:sp>
        <p:nvSpPr>
          <p:cNvPr id="50" name="Diamond 49"/>
          <p:cNvSpPr/>
          <p:nvPr/>
        </p:nvSpPr>
        <p:spPr>
          <a:xfrm>
            <a:off x="6016752" y="2939796"/>
            <a:ext cx="137160" cy="137160"/>
          </a:xfrm>
          <a:prstGeom prst="diamond">
            <a:avLst/>
          </a:prstGeom>
          <a:solidFill>
            <a:srgbClr val="8BE7B2"/>
          </a:solidFill>
          <a:ln>
            <a:solidFill>
              <a:srgbClr val="8BE7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1" name="Connector 50"/>
          <p:cNvCxnSpPr/>
          <p:nvPr/>
        </p:nvCxnSpPr>
        <p:spPr>
          <a:xfrm flipH="1">
            <a:off x="3593592" y="4087368"/>
            <a:ext cx="960120" cy="0"/>
          </a:xfrm>
          <a:prstGeom prst="line">
            <a:avLst/>
          </a:prstGeom>
          <a:ln w="19050">
            <a:solidFill>
              <a:srgbClr val="94CAEE"/>
            </a:solidFill>
          </a:ln>
        </p:spPr>
        <p:style>
          <a:lnRef idx="2">
            <a:schemeClr val="accent1"/>
          </a:lnRef>
          <a:fillRef idx="0">
            <a:schemeClr val="accent1"/>
          </a:fillRef>
          <a:effectRef idx="1">
            <a:schemeClr val="accent1"/>
          </a:effectRef>
          <a:fontRef idx="minor">
            <a:schemeClr val="tx1"/>
          </a:fontRef>
        </p:style>
      </p:cxnSp>
      <p:sp>
        <p:nvSpPr>
          <p:cNvPr id="52" name="Diamond 51"/>
          <p:cNvSpPr/>
          <p:nvPr/>
        </p:nvSpPr>
        <p:spPr>
          <a:xfrm>
            <a:off x="4393692" y="4018787"/>
            <a:ext cx="137160" cy="137160"/>
          </a:xfrm>
          <a:prstGeom prst="diamond">
            <a:avLst/>
          </a:prstGeom>
          <a:solidFill>
            <a:srgbClr val="182A35"/>
          </a:solidFill>
          <a:ln>
            <a:solidFill>
              <a:srgbClr val="94C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3" name="Connector 52"/>
          <p:cNvCxnSpPr/>
          <p:nvPr/>
        </p:nvCxnSpPr>
        <p:spPr>
          <a:xfrm>
            <a:off x="7616952" y="4087368"/>
            <a:ext cx="960120" cy="0"/>
          </a:xfrm>
          <a:prstGeom prst="line">
            <a:avLst/>
          </a:prstGeom>
          <a:ln w="19050">
            <a:solidFill>
              <a:srgbClr val="FF8E7C"/>
            </a:solidFill>
          </a:ln>
        </p:spPr>
        <p:style>
          <a:lnRef idx="2">
            <a:schemeClr val="accent1"/>
          </a:lnRef>
          <a:fillRef idx="0">
            <a:schemeClr val="accent1"/>
          </a:fillRef>
          <a:effectRef idx="1">
            <a:schemeClr val="accent1"/>
          </a:effectRef>
          <a:fontRef idx="minor">
            <a:schemeClr val="tx1"/>
          </a:fontRef>
        </p:style>
      </p:cxnSp>
      <p:sp>
        <p:nvSpPr>
          <p:cNvPr id="54" name="Diamond 53"/>
          <p:cNvSpPr/>
          <p:nvPr/>
        </p:nvSpPr>
        <p:spPr>
          <a:xfrm>
            <a:off x="7639812" y="4018787"/>
            <a:ext cx="137160" cy="137160"/>
          </a:xfrm>
          <a:prstGeom prst="diamond">
            <a:avLst/>
          </a:prstGeom>
          <a:solidFill>
            <a:srgbClr val="FF8E7C"/>
          </a:solidFill>
          <a:ln>
            <a:solidFill>
              <a:srgbClr val="FF8E7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67512" y="5202936"/>
            <a:ext cx="10881360" cy="868680"/>
          </a:xfrm>
          <a:prstGeom prst="rect">
            <a:avLst/>
          </a:prstGeom>
          <a:noFill/>
        </p:spPr>
        <p:txBody>
          <a:bodyPr wrap="square" lIns="0" rIns="0" tIns="0" bIns="0">
            <a:spAutoFit/>
          </a:bodyPr>
          <a:lstStyle/>
          <a:p>
            <a:pPr>
              <a:lnSpc>
                <a:spcPct val="112000"/>
              </a:lnSpc>
              <a:spcBef>
                <a:spcPts val="0"/>
              </a:spcBef>
              <a:spcAft>
                <a:spcPts val="500"/>
              </a:spcAft>
              <a:defRPr sz="1900" b="0">
                <a:solidFill>
                  <a:srgbClr val="F1F5F4"/>
                </a:solidFill>
                <a:latin typeface="DejaVu Sans"/>
              </a:defRPr>
            </a:pPr>
            <a:r>
              <a:t>Nivel coordina personajes, mapa, ruido, cámaras, llaves y salida.</a:t>
            </a:r>
          </a:p>
          <a:p>
            <a:pPr>
              <a:lnSpc>
                <a:spcPct val="112000"/>
              </a:lnSpc>
              <a:spcBef>
                <a:spcPts val="0"/>
              </a:spcBef>
              <a:spcAft>
                <a:spcPts val="500"/>
              </a:spcAft>
              <a:defRPr sz="1900" b="0">
                <a:solidFill>
                  <a:srgbClr val="F1F5F4"/>
                </a:solidFill>
                <a:latin typeface="DejaVu Sans"/>
              </a:defRPr>
            </a:pPr>
            <a:r>
              <a:t>Vista dibuja el resultado; las reglas permanecen en los objetos del juego.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1821"/>
        </a:solidFill>
        <a:effectLst/>
      </p:bgPr>
    </p:bg>
    <p:spTree>
      <p:nvGrpSpPr>
        <p:cNvPr id="1" name=""/>
        <p:cNvGrpSpPr/>
        <p:nvPr/>
      </p:nvGrpSpPr>
      <p:grpSpPr/>
      <p:sp>
        <p:nvSpPr>
          <p:cNvPr id="2" name="Rectangle 1"/>
          <p:cNvSpPr/>
          <p:nvPr/>
        </p:nvSpPr>
        <p:spPr>
          <a:xfrm>
            <a:off x="548640" y="320040"/>
            <a:ext cx="292608" cy="50292"/>
          </a:xfrm>
          <a:prstGeom prst="rect">
            <a:avLst/>
          </a:prstGeom>
          <a:solidFill>
            <a:srgbClr val="8BE7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37744"/>
            <a:ext cx="9144000" cy="274320"/>
          </a:xfrm>
          <a:prstGeom prst="rect">
            <a:avLst/>
          </a:prstGeom>
          <a:noFill/>
        </p:spPr>
        <p:txBody>
          <a:bodyPr wrap="square" lIns="0" rIns="0" tIns="0" bIns="0">
            <a:spAutoFit/>
          </a:bodyPr>
          <a:lstStyle/>
          <a:p>
            <a:pPr>
              <a:lnSpc>
                <a:spcPct val="112000"/>
              </a:lnSpc>
              <a:spcBef>
                <a:spcPts val="0"/>
              </a:spcBef>
              <a:spcAft>
                <a:spcPts val="500"/>
              </a:spcAft>
              <a:defRPr sz="1050" b="1">
                <a:solidFill>
                  <a:srgbClr val="8BE7B2"/>
                </a:solidFill>
                <a:latin typeface="DejaVu Sans"/>
              </a:defRPr>
            </a:pPr>
            <a:r>
              <a:t>PROYECTO PARCIAL · POO</a:t>
            </a:r>
          </a:p>
        </p:txBody>
      </p:sp>
      <p:sp>
        <p:nvSpPr>
          <p:cNvPr id="4" name="TextBox 3"/>
          <p:cNvSpPr txBox="1"/>
          <p:nvPr/>
        </p:nvSpPr>
        <p:spPr>
          <a:xfrm>
            <a:off x="548640" y="758952"/>
            <a:ext cx="11064240" cy="960120"/>
          </a:xfrm>
          <a:prstGeom prst="rect">
            <a:avLst/>
          </a:prstGeom>
          <a:noFill/>
        </p:spPr>
        <p:txBody>
          <a:bodyPr wrap="square" lIns="0" rIns="0" tIns="0" bIns="0">
            <a:spAutoFit/>
          </a:bodyPr>
          <a:lstStyle/>
          <a:p>
            <a:pPr>
              <a:lnSpc>
                <a:spcPct val="112000"/>
              </a:lnSpc>
              <a:spcBef>
                <a:spcPts val="0"/>
              </a:spcBef>
              <a:spcAft>
                <a:spcPts val="500"/>
              </a:spcAft>
              <a:defRPr sz="3200" b="1">
                <a:solidFill>
                  <a:srgbClr val="F1F5F4"/>
                </a:solidFill>
                <a:latin typeface="DejaVu Sans"/>
              </a:defRPr>
            </a:pPr>
            <a:r>
              <a:t>Compartir y crear objetos son relaciones distintas</a:t>
            </a:r>
          </a:p>
        </p:txBody>
      </p:sp>
      <p:cxnSp>
        <p:nvCxnSpPr>
          <p:cNvPr id="5" name="Connector 4"/>
          <p:cNvCxnSpPr/>
          <p:nvPr/>
        </p:nvCxnSpPr>
        <p:spPr>
          <a:xfrm>
            <a:off x="548640" y="6419088"/>
            <a:ext cx="11091672" cy="0"/>
          </a:xfrm>
          <a:prstGeom prst="line">
            <a:avLst/>
          </a:prstGeom>
          <a:ln w="8255">
            <a:solidFill>
              <a:srgbClr val="3D5867"/>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519672"/>
            <a:ext cx="3017520" cy="173736"/>
          </a:xfrm>
          <a:prstGeom prst="rect">
            <a:avLst/>
          </a:prstGeom>
          <a:noFill/>
        </p:spPr>
        <p:txBody>
          <a:bodyPr wrap="square" lIns="0" rIns="0" tIns="0" bIns="0">
            <a:spAutoFit/>
          </a:bodyPr>
          <a:lstStyle/>
          <a:p>
            <a:pPr>
              <a:lnSpc>
                <a:spcPct val="112000"/>
              </a:lnSpc>
              <a:spcBef>
                <a:spcPts val="0"/>
              </a:spcBef>
              <a:spcAft>
                <a:spcPts val="500"/>
              </a:spcAft>
              <a:defRPr sz="850" b="0">
                <a:solidFill>
                  <a:srgbClr val="A9BBC6"/>
                </a:solidFill>
                <a:latin typeface="DejaVu Sans"/>
              </a:defRPr>
            </a:pPr>
            <a:r>
              <a:t>FUGA DE LA PRISIÓN  /  2026-II</a:t>
            </a:r>
          </a:p>
        </p:txBody>
      </p:sp>
      <p:sp>
        <p:nvSpPr>
          <p:cNvPr id="7" name="TextBox 6"/>
          <p:cNvSpPr txBox="1"/>
          <p:nvPr/>
        </p:nvSpPr>
        <p:spPr>
          <a:xfrm>
            <a:off x="3703320" y="6519672"/>
            <a:ext cx="7132320" cy="182880"/>
          </a:xfrm>
          <a:prstGeom prst="rect">
            <a:avLst/>
          </a:prstGeom>
          <a:noFill/>
        </p:spPr>
        <p:txBody>
          <a:bodyPr wrap="square" lIns="0" rIns="0" tIns="0" bIns="0">
            <a:spAutoFit/>
          </a:bodyPr>
          <a:lstStyle/>
          <a:p>
            <a:pPr algn="r">
              <a:lnSpc>
                <a:spcPct val="112000"/>
              </a:lnSpc>
              <a:spcBef>
                <a:spcPts val="0"/>
              </a:spcBef>
              <a:spcAft>
                <a:spcPts val="500"/>
              </a:spcAft>
              <a:defRPr sz="850" b="0">
                <a:solidFill>
                  <a:srgbClr val="A9BBC6"/>
                </a:solidFill>
                <a:latin typeface="DejaVu Sans"/>
              </a:defRPr>
            </a:pPr>
            <a:r>
              <a:t>Fuentes: src/personajes.py · src/nivel.py · src/juego.py</a:t>
            </a:r>
          </a:p>
        </p:txBody>
      </p:sp>
      <p:sp>
        <p:nvSpPr>
          <p:cNvPr id="8" name="TextBox 7"/>
          <p:cNvSpPr txBox="1"/>
          <p:nvPr/>
        </p:nvSpPr>
        <p:spPr>
          <a:xfrm>
            <a:off x="11018520" y="6492240"/>
            <a:ext cx="594360" cy="274320"/>
          </a:xfrm>
          <a:prstGeom prst="rect">
            <a:avLst/>
          </a:prstGeom>
          <a:noFill/>
        </p:spPr>
        <p:txBody>
          <a:bodyPr wrap="square" lIns="0" rIns="0" tIns="0" bIns="0">
            <a:spAutoFit/>
          </a:bodyPr>
          <a:lstStyle/>
          <a:p>
            <a:pPr algn="r">
              <a:lnSpc>
                <a:spcPct val="112000"/>
              </a:lnSpc>
              <a:spcBef>
                <a:spcPts val="0"/>
              </a:spcBef>
              <a:spcAft>
                <a:spcPts val="500"/>
              </a:spcAft>
              <a:defRPr sz="1100" b="1">
                <a:solidFill>
                  <a:srgbClr val="8BE7B2"/>
                </a:solidFill>
                <a:latin typeface="DejaVu Sans"/>
              </a:defRPr>
            </a:pPr>
            <a:r>
              <a:t>05</a:t>
            </a:r>
          </a:p>
        </p:txBody>
      </p:sp>
      <p:sp>
        <p:nvSpPr>
          <p:cNvPr id="9" name="Rounded Rectangle 8"/>
          <p:cNvSpPr/>
          <p:nvPr/>
        </p:nvSpPr>
        <p:spPr>
          <a:xfrm>
            <a:off x="594360" y="1874519"/>
            <a:ext cx="3456432" cy="3904487"/>
          </a:xfrm>
          <a:prstGeom prst="roundRect">
            <a:avLst>
              <a:gd name="adj" fmla="val 8000"/>
            </a:avLst>
          </a:prstGeom>
          <a:solidFill>
            <a:srgbClr val="182A35"/>
          </a:solidFill>
          <a:ln w="12700">
            <a:solidFill>
              <a:srgbClr val="3D586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2648" y="1984248"/>
            <a:ext cx="41148" cy="3685031"/>
          </a:xfrm>
          <a:prstGeom prst="rect">
            <a:avLst/>
          </a:prstGeom>
          <a:solidFill>
            <a:srgbClr val="94CA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 y="2039112"/>
            <a:ext cx="3090672" cy="411480"/>
          </a:xfrm>
          <a:prstGeom prst="rect">
            <a:avLst/>
          </a:prstGeom>
          <a:noFill/>
        </p:spPr>
        <p:txBody>
          <a:bodyPr wrap="square" lIns="0" rIns="0" tIns="0" bIns="0">
            <a:spAutoFit/>
          </a:bodyPr>
          <a:lstStyle/>
          <a:p>
            <a:pPr>
              <a:lnSpc>
                <a:spcPct val="112000"/>
              </a:lnSpc>
              <a:spcBef>
                <a:spcPts val="0"/>
              </a:spcBef>
              <a:spcAft>
                <a:spcPts val="500"/>
              </a:spcAft>
              <a:defRPr sz="2200" b="1">
                <a:solidFill>
                  <a:srgbClr val="94CAEE"/>
                </a:solidFill>
                <a:latin typeface="DejaVu Sans"/>
              </a:defRPr>
            </a:pPr>
            <a:r>
              <a:t>Asociación</a:t>
            </a:r>
          </a:p>
        </p:txBody>
      </p:sp>
      <p:sp>
        <p:nvSpPr>
          <p:cNvPr id="12" name="TextBox 11"/>
          <p:cNvSpPr txBox="1"/>
          <p:nvPr/>
        </p:nvSpPr>
        <p:spPr>
          <a:xfrm>
            <a:off x="804672" y="2724912"/>
            <a:ext cx="3044952" cy="548640"/>
          </a:xfrm>
          <a:prstGeom prst="rect">
            <a:avLst/>
          </a:prstGeom>
          <a:noFill/>
        </p:spPr>
        <p:txBody>
          <a:bodyPr wrap="square" lIns="0" rIns="0" tIns="0" bIns="0">
            <a:spAutoFit/>
          </a:bodyPr>
          <a:lstStyle/>
          <a:p>
            <a:pPr>
              <a:lnSpc>
                <a:spcPct val="112000"/>
              </a:lnSpc>
              <a:spcBef>
                <a:spcPts val="0"/>
              </a:spcBef>
              <a:spcAft>
                <a:spcPts val="500"/>
              </a:spcAft>
              <a:defRPr sz="1600" b="1">
                <a:solidFill>
                  <a:srgbClr val="94CAEE"/>
                </a:solidFill>
                <a:latin typeface="DejaVu Sans"/>
              </a:defRPr>
            </a:pPr>
            <a:r>
              <a:t>Personaje  →  Nivel</a:t>
            </a:r>
          </a:p>
        </p:txBody>
      </p:sp>
      <p:sp>
        <p:nvSpPr>
          <p:cNvPr id="13" name="TextBox 12"/>
          <p:cNvSpPr txBox="1"/>
          <p:nvPr/>
        </p:nvSpPr>
        <p:spPr>
          <a:xfrm>
            <a:off x="804672" y="3465576"/>
            <a:ext cx="3044952" cy="914400"/>
          </a:xfrm>
          <a:prstGeom prst="rect">
            <a:avLst/>
          </a:prstGeom>
          <a:noFill/>
        </p:spPr>
        <p:txBody>
          <a:bodyPr wrap="square" lIns="0" rIns="0" tIns="0" bIns="0">
            <a:spAutoFit/>
          </a:bodyPr>
          <a:lstStyle/>
          <a:p>
            <a:pPr>
              <a:lnSpc>
                <a:spcPct val="112000"/>
              </a:lnSpc>
              <a:spcBef>
                <a:spcPts val="0"/>
              </a:spcBef>
              <a:spcAft>
                <a:spcPts val="500"/>
              </a:spcAft>
              <a:defRPr sz="1800" b="0">
                <a:solidFill>
                  <a:srgbClr val="F1F5F4"/>
                </a:solidFill>
                <a:latin typeface="DejaVu Sans"/>
              </a:defRPr>
            </a:pPr>
            <a:r>
              <a:t>Guarda una referencia</a:t>
            </a:r>
          </a:p>
          <a:p>
            <a:pPr>
              <a:lnSpc>
                <a:spcPct val="112000"/>
              </a:lnSpc>
              <a:spcBef>
                <a:spcPts val="0"/>
              </a:spcBef>
              <a:spcAft>
                <a:spcPts val="500"/>
              </a:spcAft>
              <a:defRPr sz="1800" b="0">
                <a:solidFill>
                  <a:srgbClr val="F1F5F4"/>
                </a:solidFill>
                <a:latin typeface="DejaVu Sans"/>
              </a:defRPr>
            </a:pPr>
            <a:r>
              <a:t>para consultar el mapa.</a:t>
            </a:r>
          </a:p>
        </p:txBody>
      </p:sp>
      <p:sp>
        <p:nvSpPr>
          <p:cNvPr id="14" name="Rounded Rectangle 13"/>
          <p:cNvSpPr/>
          <p:nvPr/>
        </p:nvSpPr>
        <p:spPr>
          <a:xfrm>
            <a:off x="758952" y="4663440"/>
            <a:ext cx="3127248" cy="868680"/>
          </a:xfrm>
          <a:prstGeom prst="roundRect">
            <a:avLst>
              <a:gd name="adj" fmla="val 8000"/>
            </a:avLst>
          </a:prstGeom>
          <a:solidFill>
            <a:srgbClr val="091118"/>
          </a:solidFill>
          <a:ln w="12700">
            <a:solidFill>
              <a:srgbClr val="3D586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87552" y="4846320"/>
            <a:ext cx="2670048" cy="548640"/>
          </a:xfrm>
          <a:prstGeom prst="rect">
            <a:avLst/>
          </a:prstGeom>
          <a:noFill/>
        </p:spPr>
        <p:txBody>
          <a:bodyPr wrap="square" lIns="0" rIns="0" tIns="0" bIns="0">
            <a:spAutoFit/>
          </a:bodyPr>
          <a:lstStyle/>
          <a:p>
            <a:pPr>
              <a:lnSpc>
                <a:spcPct val="112000"/>
              </a:lnSpc>
              <a:spcBef>
                <a:spcPts val="0"/>
              </a:spcBef>
              <a:spcAft>
                <a:spcPts val="500"/>
              </a:spcAft>
              <a:defRPr sz="1150" b="0">
                <a:solidFill>
                  <a:srgbClr val="8BE7B2"/>
                </a:solidFill>
                <a:latin typeface="DejaVu Sans Mono"/>
              </a:defRPr>
            </a:pPr>
            <a:r>
              <a:t>self.nivel = nivel</a:t>
            </a:r>
          </a:p>
        </p:txBody>
      </p:sp>
      <p:sp>
        <p:nvSpPr>
          <p:cNvPr id="16" name="Rounded Rectangle 15"/>
          <p:cNvSpPr/>
          <p:nvPr/>
        </p:nvSpPr>
        <p:spPr>
          <a:xfrm>
            <a:off x="4370832" y="1874519"/>
            <a:ext cx="3456432" cy="3904487"/>
          </a:xfrm>
          <a:prstGeom prst="roundRect">
            <a:avLst>
              <a:gd name="adj" fmla="val 8000"/>
            </a:avLst>
          </a:prstGeom>
          <a:solidFill>
            <a:srgbClr val="182A35"/>
          </a:solidFill>
          <a:ln w="12700">
            <a:solidFill>
              <a:srgbClr val="3D586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89120" y="1984248"/>
            <a:ext cx="41148" cy="3685031"/>
          </a:xfrm>
          <a:prstGeom prst="rect">
            <a:avLst/>
          </a:prstGeom>
          <a:solidFill>
            <a:srgbClr val="8BE7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2039112"/>
            <a:ext cx="3090672" cy="411480"/>
          </a:xfrm>
          <a:prstGeom prst="rect">
            <a:avLst/>
          </a:prstGeom>
          <a:noFill/>
        </p:spPr>
        <p:txBody>
          <a:bodyPr wrap="square" lIns="0" rIns="0" tIns="0" bIns="0">
            <a:spAutoFit/>
          </a:bodyPr>
          <a:lstStyle/>
          <a:p>
            <a:pPr>
              <a:lnSpc>
                <a:spcPct val="112000"/>
              </a:lnSpc>
              <a:spcBef>
                <a:spcPts val="0"/>
              </a:spcBef>
              <a:spcAft>
                <a:spcPts val="500"/>
              </a:spcAft>
              <a:defRPr sz="2200" b="1">
                <a:solidFill>
                  <a:srgbClr val="8BE7B2"/>
                </a:solidFill>
                <a:latin typeface="DejaVu Sans"/>
              </a:defRPr>
            </a:pPr>
            <a:r>
              <a:t>Agregación</a:t>
            </a:r>
          </a:p>
        </p:txBody>
      </p:sp>
      <p:sp>
        <p:nvSpPr>
          <p:cNvPr id="19" name="TextBox 18"/>
          <p:cNvSpPr txBox="1"/>
          <p:nvPr/>
        </p:nvSpPr>
        <p:spPr>
          <a:xfrm>
            <a:off x="4581144" y="2724912"/>
            <a:ext cx="3044952" cy="548640"/>
          </a:xfrm>
          <a:prstGeom prst="rect">
            <a:avLst/>
          </a:prstGeom>
          <a:noFill/>
        </p:spPr>
        <p:txBody>
          <a:bodyPr wrap="square" lIns="0" rIns="0" tIns="0" bIns="0">
            <a:spAutoFit/>
          </a:bodyPr>
          <a:lstStyle/>
          <a:p>
            <a:pPr>
              <a:lnSpc>
                <a:spcPct val="112000"/>
              </a:lnSpc>
              <a:spcBef>
                <a:spcPts val="0"/>
              </a:spcBef>
              <a:spcAft>
                <a:spcPts val="500"/>
              </a:spcAft>
              <a:defRPr sz="1600" b="1">
                <a:solidFill>
                  <a:srgbClr val="8BE7B2"/>
                </a:solidFill>
                <a:latin typeface="DejaVu Sans"/>
              </a:defRPr>
            </a:pPr>
            <a:r>
              <a:t>Nivel  ◇—  Puntaje</a:t>
            </a:r>
          </a:p>
        </p:txBody>
      </p:sp>
      <p:sp>
        <p:nvSpPr>
          <p:cNvPr id="20" name="TextBox 19"/>
          <p:cNvSpPr txBox="1"/>
          <p:nvPr/>
        </p:nvSpPr>
        <p:spPr>
          <a:xfrm>
            <a:off x="4581144" y="3465576"/>
            <a:ext cx="3044952" cy="914400"/>
          </a:xfrm>
          <a:prstGeom prst="rect">
            <a:avLst/>
          </a:prstGeom>
          <a:noFill/>
        </p:spPr>
        <p:txBody>
          <a:bodyPr wrap="square" lIns="0" rIns="0" tIns="0" bIns="0">
            <a:spAutoFit/>
          </a:bodyPr>
          <a:lstStyle/>
          <a:p>
            <a:pPr>
              <a:lnSpc>
                <a:spcPct val="112000"/>
              </a:lnSpc>
              <a:spcBef>
                <a:spcPts val="0"/>
              </a:spcBef>
              <a:spcAft>
                <a:spcPts val="500"/>
              </a:spcAft>
              <a:defRPr sz="1800" b="0">
                <a:solidFill>
                  <a:srgbClr val="F1F5F4"/>
                </a:solidFill>
                <a:latin typeface="DejaVu Sans"/>
              </a:defRPr>
            </a:pPr>
            <a:r>
              <a:t>Recibe el mismo puntaje</a:t>
            </a:r>
          </a:p>
          <a:p>
            <a:pPr>
              <a:lnSpc>
                <a:spcPct val="112000"/>
              </a:lnSpc>
              <a:spcBef>
                <a:spcPts val="0"/>
              </a:spcBef>
              <a:spcAft>
                <a:spcPts val="500"/>
              </a:spcAft>
              <a:defRPr sz="1800" b="0">
                <a:solidFill>
                  <a:srgbClr val="F1F5F4"/>
                </a:solidFill>
                <a:latin typeface="DejaVu Sans"/>
              </a:defRPr>
            </a:pPr>
            <a:r>
              <a:t>a lo largo de la campaña.</a:t>
            </a:r>
          </a:p>
        </p:txBody>
      </p:sp>
      <p:sp>
        <p:nvSpPr>
          <p:cNvPr id="21" name="Rounded Rectangle 20"/>
          <p:cNvSpPr/>
          <p:nvPr/>
        </p:nvSpPr>
        <p:spPr>
          <a:xfrm>
            <a:off x="4535424" y="4663440"/>
            <a:ext cx="3127248" cy="868680"/>
          </a:xfrm>
          <a:prstGeom prst="roundRect">
            <a:avLst>
              <a:gd name="adj" fmla="val 8000"/>
            </a:avLst>
          </a:prstGeom>
          <a:solidFill>
            <a:srgbClr val="091118"/>
          </a:solidFill>
          <a:ln w="12700">
            <a:solidFill>
              <a:srgbClr val="3D586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64024" y="4846320"/>
            <a:ext cx="2670048" cy="548640"/>
          </a:xfrm>
          <a:prstGeom prst="rect">
            <a:avLst/>
          </a:prstGeom>
          <a:noFill/>
        </p:spPr>
        <p:txBody>
          <a:bodyPr wrap="square" lIns="0" rIns="0" tIns="0" bIns="0">
            <a:spAutoFit/>
          </a:bodyPr>
          <a:lstStyle/>
          <a:p>
            <a:pPr>
              <a:lnSpc>
                <a:spcPct val="112000"/>
              </a:lnSpc>
              <a:spcBef>
                <a:spcPts val="0"/>
              </a:spcBef>
              <a:spcAft>
                <a:spcPts val="500"/>
              </a:spcAft>
              <a:defRPr sz="1150" b="0">
                <a:solidFill>
                  <a:srgbClr val="8BE7B2"/>
                </a:solidFill>
                <a:latin typeface="DejaVu Sans Mono"/>
              </a:defRPr>
            </a:pPr>
            <a:r>
              <a:t>self.puntaje = puntaje</a:t>
            </a:r>
          </a:p>
        </p:txBody>
      </p:sp>
      <p:sp>
        <p:nvSpPr>
          <p:cNvPr id="23" name="Rounded Rectangle 22"/>
          <p:cNvSpPr/>
          <p:nvPr/>
        </p:nvSpPr>
        <p:spPr>
          <a:xfrm>
            <a:off x="8147304" y="1874519"/>
            <a:ext cx="3456432" cy="3904487"/>
          </a:xfrm>
          <a:prstGeom prst="roundRect">
            <a:avLst>
              <a:gd name="adj" fmla="val 8000"/>
            </a:avLst>
          </a:prstGeom>
          <a:solidFill>
            <a:srgbClr val="182A35"/>
          </a:solidFill>
          <a:ln w="12700">
            <a:solidFill>
              <a:srgbClr val="3D586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65592" y="1984248"/>
            <a:ext cx="41148" cy="3685031"/>
          </a:xfrm>
          <a:prstGeom prst="rect">
            <a:avLst/>
          </a:prstGeom>
          <a:solidFill>
            <a:srgbClr val="FFD3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48472" y="2039112"/>
            <a:ext cx="3090672" cy="411480"/>
          </a:xfrm>
          <a:prstGeom prst="rect">
            <a:avLst/>
          </a:prstGeom>
          <a:noFill/>
        </p:spPr>
        <p:txBody>
          <a:bodyPr wrap="square" lIns="0" rIns="0" tIns="0" bIns="0">
            <a:spAutoFit/>
          </a:bodyPr>
          <a:lstStyle/>
          <a:p>
            <a:pPr>
              <a:lnSpc>
                <a:spcPct val="112000"/>
              </a:lnSpc>
              <a:spcBef>
                <a:spcPts val="0"/>
              </a:spcBef>
              <a:spcAft>
                <a:spcPts val="500"/>
              </a:spcAft>
              <a:defRPr sz="2200" b="1">
                <a:solidFill>
                  <a:srgbClr val="FFD36D"/>
                </a:solidFill>
                <a:latin typeface="DejaVu Sans"/>
              </a:defRPr>
            </a:pPr>
            <a:r>
              <a:t>Composición</a:t>
            </a:r>
          </a:p>
        </p:txBody>
      </p:sp>
      <p:sp>
        <p:nvSpPr>
          <p:cNvPr id="26" name="TextBox 25"/>
          <p:cNvSpPr txBox="1"/>
          <p:nvPr/>
        </p:nvSpPr>
        <p:spPr>
          <a:xfrm>
            <a:off x="8357616" y="2724912"/>
            <a:ext cx="3044952" cy="548640"/>
          </a:xfrm>
          <a:prstGeom prst="rect">
            <a:avLst/>
          </a:prstGeom>
          <a:noFill/>
        </p:spPr>
        <p:txBody>
          <a:bodyPr wrap="square" lIns="0" rIns="0" tIns="0" bIns="0">
            <a:spAutoFit/>
          </a:bodyPr>
          <a:lstStyle/>
          <a:p>
            <a:pPr>
              <a:lnSpc>
                <a:spcPct val="112000"/>
              </a:lnSpc>
              <a:spcBef>
                <a:spcPts val="0"/>
              </a:spcBef>
              <a:spcAft>
                <a:spcPts val="500"/>
              </a:spcAft>
              <a:defRPr sz="1600" b="1">
                <a:solidFill>
                  <a:srgbClr val="FFD36D"/>
                </a:solidFill>
                <a:latin typeface="DejaVu Sans"/>
              </a:defRPr>
            </a:pPr>
            <a:r>
              <a:t>Nivel  ◆—  Mapa</a:t>
            </a:r>
          </a:p>
        </p:txBody>
      </p:sp>
      <p:sp>
        <p:nvSpPr>
          <p:cNvPr id="27" name="TextBox 26"/>
          <p:cNvSpPr txBox="1"/>
          <p:nvPr/>
        </p:nvSpPr>
        <p:spPr>
          <a:xfrm>
            <a:off x="8357616" y="3465576"/>
            <a:ext cx="3044952" cy="914400"/>
          </a:xfrm>
          <a:prstGeom prst="rect">
            <a:avLst/>
          </a:prstGeom>
          <a:noFill/>
        </p:spPr>
        <p:txBody>
          <a:bodyPr wrap="square" lIns="0" rIns="0" tIns="0" bIns="0">
            <a:spAutoFit/>
          </a:bodyPr>
          <a:lstStyle/>
          <a:p>
            <a:pPr>
              <a:lnSpc>
                <a:spcPct val="112000"/>
              </a:lnSpc>
              <a:spcBef>
                <a:spcPts val="0"/>
              </a:spcBef>
              <a:spcAft>
                <a:spcPts val="500"/>
              </a:spcAft>
              <a:defRPr sz="1800" b="0">
                <a:solidFill>
                  <a:srgbClr val="F1F5F4"/>
                </a:solidFill>
                <a:latin typeface="DejaVu Sans"/>
              </a:defRPr>
            </a:pPr>
            <a:r>
              <a:t>Crea su propio mapa</a:t>
            </a:r>
          </a:p>
          <a:p>
            <a:pPr>
              <a:lnSpc>
                <a:spcPct val="112000"/>
              </a:lnSpc>
              <a:spcBef>
                <a:spcPts val="0"/>
              </a:spcBef>
              <a:spcAft>
                <a:spcPts val="500"/>
              </a:spcAft>
              <a:defRPr sz="1800" b="0">
                <a:solidFill>
                  <a:srgbClr val="F1F5F4"/>
                </a:solidFill>
                <a:latin typeface="DejaVu Sans"/>
              </a:defRPr>
            </a:pPr>
            <a:r>
              <a:t>al cargar el nivel.</a:t>
            </a:r>
          </a:p>
        </p:txBody>
      </p:sp>
      <p:sp>
        <p:nvSpPr>
          <p:cNvPr id="28" name="Rounded Rectangle 27"/>
          <p:cNvSpPr/>
          <p:nvPr/>
        </p:nvSpPr>
        <p:spPr>
          <a:xfrm>
            <a:off x="8311896" y="4663440"/>
            <a:ext cx="3127248" cy="868680"/>
          </a:xfrm>
          <a:prstGeom prst="roundRect">
            <a:avLst>
              <a:gd name="adj" fmla="val 8000"/>
            </a:avLst>
          </a:prstGeom>
          <a:solidFill>
            <a:srgbClr val="091118"/>
          </a:solidFill>
          <a:ln w="12700">
            <a:solidFill>
              <a:srgbClr val="3D586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40496" y="4846320"/>
            <a:ext cx="2670048" cy="548640"/>
          </a:xfrm>
          <a:prstGeom prst="rect">
            <a:avLst/>
          </a:prstGeom>
          <a:noFill/>
        </p:spPr>
        <p:txBody>
          <a:bodyPr wrap="square" lIns="0" rIns="0" tIns="0" bIns="0">
            <a:spAutoFit/>
          </a:bodyPr>
          <a:lstStyle/>
          <a:p>
            <a:pPr>
              <a:lnSpc>
                <a:spcPct val="112000"/>
              </a:lnSpc>
              <a:spcBef>
                <a:spcPts val="0"/>
              </a:spcBef>
              <a:spcAft>
                <a:spcPts val="500"/>
              </a:spcAft>
              <a:defRPr sz="1150" b="0">
                <a:solidFill>
                  <a:srgbClr val="8BE7B2"/>
                </a:solidFill>
                <a:latin typeface="DejaVu Sans Mono"/>
              </a:defRPr>
            </a:pPr>
            <a:r>
              <a:t>self.mapa = Mapa(</a:t>
            </a:r>
          </a:p>
          <a:p>
            <a:pPr>
              <a:lnSpc>
                <a:spcPct val="112000"/>
              </a:lnSpc>
              <a:spcBef>
                <a:spcPts val="0"/>
              </a:spcBef>
              <a:spcAft>
                <a:spcPts val="500"/>
              </a:spcAft>
              <a:defRPr sz="1150" b="0">
                <a:solidFill>
                  <a:srgbClr val="8BE7B2"/>
                </a:solidFill>
                <a:latin typeface="DejaVu Sans Mono"/>
              </a:defRPr>
            </a:pPr>
            <a:r>
              <a:t>    PLANOS[indice])</a:t>
            </a:r>
          </a:p>
        </p:txBody>
      </p:sp>
      <p:sp>
        <p:nvSpPr>
          <p:cNvPr id="30" name="TextBox 29"/>
          <p:cNvSpPr txBox="1"/>
          <p:nvPr/>
        </p:nvSpPr>
        <p:spPr>
          <a:xfrm>
            <a:off x="621792" y="5998464"/>
            <a:ext cx="10881360" cy="246888"/>
          </a:xfrm>
          <a:prstGeom prst="rect">
            <a:avLst/>
          </a:prstGeom>
          <a:noFill/>
        </p:spPr>
        <p:txBody>
          <a:bodyPr wrap="square" lIns="0" rIns="0" tIns="0" bIns="0">
            <a:spAutoFit/>
          </a:bodyPr>
          <a:lstStyle/>
          <a:p>
            <a:pPr>
              <a:lnSpc>
                <a:spcPct val="112000"/>
              </a:lnSpc>
              <a:spcBef>
                <a:spcPts val="0"/>
              </a:spcBef>
              <a:spcAft>
                <a:spcPts val="500"/>
              </a:spcAft>
              <a:defRPr sz="1400" b="0">
                <a:solidFill>
                  <a:srgbClr val="A9BBC6"/>
                </a:solidFill>
                <a:latin typeface="DejaVu Sans"/>
              </a:defRPr>
            </a:pPr>
            <a:r>
              <a:t>La diferencia está en cómo se obtiene el objeto y quién se ocupa de crearlo.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1821"/>
        </a:solidFill>
        <a:effectLst/>
      </p:bgPr>
    </p:bg>
    <p:spTree>
      <p:nvGrpSpPr>
        <p:cNvPr id="1" name=""/>
        <p:cNvGrpSpPr/>
        <p:nvPr/>
      </p:nvGrpSpPr>
      <p:grpSpPr/>
      <p:sp>
        <p:nvSpPr>
          <p:cNvPr id="2" name="Rectangle 1"/>
          <p:cNvSpPr/>
          <p:nvPr/>
        </p:nvSpPr>
        <p:spPr>
          <a:xfrm>
            <a:off x="548640" y="320040"/>
            <a:ext cx="292608" cy="50292"/>
          </a:xfrm>
          <a:prstGeom prst="rect">
            <a:avLst/>
          </a:prstGeom>
          <a:solidFill>
            <a:srgbClr val="8BE7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37744"/>
            <a:ext cx="9144000" cy="274320"/>
          </a:xfrm>
          <a:prstGeom prst="rect">
            <a:avLst/>
          </a:prstGeom>
          <a:noFill/>
        </p:spPr>
        <p:txBody>
          <a:bodyPr wrap="square" lIns="0" rIns="0" tIns="0" bIns="0">
            <a:spAutoFit/>
          </a:bodyPr>
          <a:lstStyle/>
          <a:p>
            <a:pPr>
              <a:lnSpc>
                <a:spcPct val="112000"/>
              </a:lnSpc>
              <a:spcBef>
                <a:spcPts val="0"/>
              </a:spcBef>
              <a:spcAft>
                <a:spcPts val="500"/>
              </a:spcAft>
              <a:defRPr sz="1050" b="1">
                <a:solidFill>
                  <a:srgbClr val="8BE7B2"/>
                </a:solidFill>
                <a:latin typeface="DejaVu Sans"/>
              </a:defRPr>
            </a:pPr>
            <a:r>
              <a:t>PROYECTO PARCIAL · POO</a:t>
            </a:r>
          </a:p>
        </p:txBody>
      </p:sp>
      <p:sp>
        <p:nvSpPr>
          <p:cNvPr id="4" name="TextBox 3"/>
          <p:cNvSpPr txBox="1"/>
          <p:nvPr/>
        </p:nvSpPr>
        <p:spPr>
          <a:xfrm>
            <a:off x="548640" y="758952"/>
            <a:ext cx="11064240" cy="960120"/>
          </a:xfrm>
          <a:prstGeom prst="rect">
            <a:avLst/>
          </a:prstGeom>
          <a:noFill/>
        </p:spPr>
        <p:txBody>
          <a:bodyPr wrap="square" lIns="0" rIns="0" tIns="0" bIns="0">
            <a:spAutoFit/>
          </a:bodyPr>
          <a:lstStyle/>
          <a:p>
            <a:pPr>
              <a:lnSpc>
                <a:spcPct val="112000"/>
              </a:lnSpc>
              <a:spcBef>
                <a:spcPts val="0"/>
              </a:spcBef>
              <a:spcAft>
                <a:spcPts val="500"/>
              </a:spcAft>
              <a:defRPr sz="3200" b="1">
                <a:solidFill>
                  <a:srgbClr val="F1F5F4"/>
                </a:solidFill>
                <a:latin typeface="DejaVu Sans"/>
              </a:defRPr>
            </a:pPr>
            <a:r>
              <a:t>Una misma llamada, dos comportamientos</a:t>
            </a:r>
          </a:p>
        </p:txBody>
      </p:sp>
      <p:cxnSp>
        <p:nvCxnSpPr>
          <p:cNvPr id="5" name="Connector 4"/>
          <p:cNvCxnSpPr/>
          <p:nvPr/>
        </p:nvCxnSpPr>
        <p:spPr>
          <a:xfrm>
            <a:off x="548640" y="6419088"/>
            <a:ext cx="11091672" cy="0"/>
          </a:xfrm>
          <a:prstGeom prst="line">
            <a:avLst/>
          </a:prstGeom>
          <a:ln w="8255">
            <a:solidFill>
              <a:srgbClr val="3D5867"/>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519672"/>
            <a:ext cx="3017520" cy="173736"/>
          </a:xfrm>
          <a:prstGeom prst="rect">
            <a:avLst/>
          </a:prstGeom>
          <a:noFill/>
        </p:spPr>
        <p:txBody>
          <a:bodyPr wrap="square" lIns="0" rIns="0" tIns="0" bIns="0">
            <a:spAutoFit/>
          </a:bodyPr>
          <a:lstStyle/>
          <a:p>
            <a:pPr>
              <a:lnSpc>
                <a:spcPct val="112000"/>
              </a:lnSpc>
              <a:spcBef>
                <a:spcPts val="0"/>
              </a:spcBef>
              <a:spcAft>
                <a:spcPts val="500"/>
              </a:spcAft>
              <a:defRPr sz="850" b="0">
                <a:solidFill>
                  <a:srgbClr val="A9BBC6"/>
                </a:solidFill>
                <a:latin typeface="DejaVu Sans"/>
              </a:defRPr>
            </a:pPr>
            <a:r>
              <a:t>FUGA DE LA PRISIÓN  /  2026-II</a:t>
            </a:r>
          </a:p>
        </p:txBody>
      </p:sp>
      <p:sp>
        <p:nvSpPr>
          <p:cNvPr id="7" name="TextBox 6"/>
          <p:cNvSpPr txBox="1"/>
          <p:nvPr/>
        </p:nvSpPr>
        <p:spPr>
          <a:xfrm>
            <a:off x="3703320" y="6519672"/>
            <a:ext cx="7132320" cy="182880"/>
          </a:xfrm>
          <a:prstGeom prst="rect">
            <a:avLst/>
          </a:prstGeom>
          <a:noFill/>
        </p:spPr>
        <p:txBody>
          <a:bodyPr wrap="square" lIns="0" rIns="0" tIns="0" bIns="0">
            <a:spAutoFit/>
          </a:bodyPr>
          <a:lstStyle/>
          <a:p>
            <a:pPr algn="r">
              <a:lnSpc>
                <a:spcPct val="112000"/>
              </a:lnSpc>
              <a:spcBef>
                <a:spcPts val="0"/>
              </a:spcBef>
              <a:spcAft>
                <a:spcPts val="500"/>
              </a:spcAft>
              <a:defRPr sz="850" b="0">
                <a:solidFill>
                  <a:srgbClr val="A9BBC6"/>
                </a:solidFill>
                <a:latin typeface="DejaVu Sans"/>
              </a:defRPr>
            </a:pPr>
            <a:r>
              <a:t>Fuentes: src/personajes.py · src/nivel.py: Nivel.actualizar</a:t>
            </a:r>
          </a:p>
        </p:txBody>
      </p:sp>
      <p:sp>
        <p:nvSpPr>
          <p:cNvPr id="8" name="TextBox 7"/>
          <p:cNvSpPr txBox="1"/>
          <p:nvPr/>
        </p:nvSpPr>
        <p:spPr>
          <a:xfrm>
            <a:off x="11018520" y="6492240"/>
            <a:ext cx="594360" cy="274320"/>
          </a:xfrm>
          <a:prstGeom prst="rect">
            <a:avLst/>
          </a:prstGeom>
          <a:noFill/>
        </p:spPr>
        <p:txBody>
          <a:bodyPr wrap="square" lIns="0" rIns="0" tIns="0" bIns="0">
            <a:spAutoFit/>
          </a:bodyPr>
          <a:lstStyle/>
          <a:p>
            <a:pPr algn="r">
              <a:lnSpc>
                <a:spcPct val="112000"/>
              </a:lnSpc>
              <a:spcBef>
                <a:spcPts val="0"/>
              </a:spcBef>
              <a:spcAft>
                <a:spcPts val="500"/>
              </a:spcAft>
              <a:defRPr sz="1100" b="1">
                <a:solidFill>
                  <a:srgbClr val="8BE7B2"/>
                </a:solidFill>
                <a:latin typeface="DejaVu Sans"/>
              </a:defRPr>
            </a:pPr>
            <a:r>
              <a:t>06</a:t>
            </a:r>
          </a:p>
        </p:txBody>
      </p:sp>
      <p:sp>
        <p:nvSpPr>
          <p:cNvPr id="9" name="Rectangle 8"/>
          <p:cNvSpPr/>
          <p:nvPr/>
        </p:nvSpPr>
        <p:spPr>
          <a:xfrm>
            <a:off x="1700784" y="1920240"/>
            <a:ext cx="3291840" cy="1234440"/>
          </a:xfrm>
          <a:prstGeom prst="rect">
            <a:avLst/>
          </a:prstGeom>
          <a:solidFill>
            <a:srgbClr val="182A35"/>
          </a:solidFill>
          <a:ln w="12700">
            <a:solidFill>
              <a:srgbClr val="3D586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773936" y="2011680"/>
            <a:ext cx="3145536" cy="292608"/>
          </a:xfrm>
          <a:prstGeom prst="rect">
            <a:avLst/>
          </a:prstGeom>
          <a:noFill/>
        </p:spPr>
        <p:txBody>
          <a:bodyPr wrap="square" lIns="0" rIns="0" tIns="0" bIns="0">
            <a:spAutoFit/>
          </a:bodyPr>
          <a:lstStyle/>
          <a:p>
            <a:pPr algn="ctr">
              <a:lnSpc>
                <a:spcPct val="112000"/>
              </a:lnSpc>
              <a:spcBef>
                <a:spcPts val="0"/>
              </a:spcBef>
              <a:spcAft>
                <a:spcPts val="500"/>
              </a:spcAft>
              <a:defRPr sz="1600" b="1">
                <a:solidFill>
                  <a:srgbClr val="8BE7B2"/>
                </a:solidFill>
                <a:latin typeface="DejaVu Sans"/>
              </a:defRPr>
            </a:pPr>
            <a:r>
              <a:t>Personaje «abstracta»</a:t>
            </a:r>
          </a:p>
        </p:txBody>
      </p:sp>
      <p:cxnSp>
        <p:nvCxnSpPr>
          <p:cNvPr id="11" name="Connector 10"/>
          <p:cNvCxnSpPr/>
          <p:nvPr/>
        </p:nvCxnSpPr>
        <p:spPr>
          <a:xfrm>
            <a:off x="1700784" y="2377440"/>
            <a:ext cx="3291840" cy="0"/>
          </a:xfrm>
          <a:prstGeom prst="line">
            <a:avLst/>
          </a:prstGeom>
          <a:ln w="10160">
            <a:solidFill>
              <a:srgbClr val="3D5867"/>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1819656" y="2478024"/>
            <a:ext cx="3054096" cy="256032"/>
          </a:xfrm>
          <a:prstGeom prst="rect">
            <a:avLst/>
          </a:prstGeom>
          <a:noFill/>
        </p:spPr>
        <p:txBody>
          <a:bodyPr wrap="square" lIns="0" rIns="0" tIns="0" bIns="0">
            <a:spAutoFit/>
          </a:bodyPr>
          <a:lstStyle/>
          <a:p>
            <a:pPr>
              <a:lnSpc>
                <a:spcPct val="112000"/>
              </a:lnSpc>
              <a:spcBef>
                <a:spcPts val="0"/>
              </a:spcBef>
              <a:spcAft>
                <a:spcPts val="500"/>
              </a:spcAft>
              <a:defRPr sz="1150" b="0">
                <a:solidFill>
                  <a:srgbClr val="A9BBC6"/>
                </a:solidFill>
                <a:latin typeface="DejaVu Sans Mono"/>
              </a:defRPr>
            </a:pPr>
            <a:r>
              <a:t>_x, _y, _velocidad</a:t>
            </a:r>
          </a:p>
        </p:txBody>
      </p:sp>
      <p:cxnSp>
        <p:nvCxnSpPr>
          <p:cNvPr id="13" name="Connector 12"/>
          <p:cNvCxnSpPr/>
          <p:nvPr/>
        </p:nvCxnSpPr>
        <p:spPr>
          <a:xfrm>
            <a:off x="1700784" y="2816352"/>
            <a:ext cx="3291840" cy="0"/>
          </a:xfrm>
          <a:prstGeom prst="line">
            <a:avLst/>
          </a:prstGeom>
          <a:ln w="10160">
            <a:solidFill>
              <a:srgbClr val="3D5867"/>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1819656" y="2880360"/>
            <a:ext cx="3054096" cy="228600"/>
          </a:xfrm>
          <a:prstGeom prst="rect">
            <a:avLst/>
          </a:prstGeom>
          <a:noFill/>
        </p:spPr>
        <p:txBody>
          <a:bodyPr wrap="square" lIns="0" rIns="0" tIns="0" bIns="0">
            <a:spAutoFit/>
          </a:bodyPr>
          <a:lstStyle/>
          <a:p>
            <a:pPr>
              <a:lnSpc>
                <a:spcPct val="112000"/>
              </a:lnSpc>
              <a:spcBef>
                <a:spcPts val="0"/>
              </a:spcBef>
              <a:spcAft>
                <a:spcPts val="500"/>
              </a:spcAft>
              <a:defRPr sz="1150" b="0">
                <a:solidFill>
                  <a:srgbClr val="F1F5F4"/>
                </a:solidFill>
                <a:latin typeface="DejaVu Sans Mono"/>
              </a:defRPr>
            </a:pPr>
            <a:r>
              <a:t>+update() {abstracto}</a:t>
            </a:r>
          </a:p>
        </p:txBody>
      </p:sp>
      <p:sp>
        <p:nvSpPr>
          <p:cNvPr id="15" name="Rectangle 14"/>
          <p:cNvSpPr/>
          <p:nvPr/>
        </p:nvSpPr>
        <p:spPr>
          <a:xfrm>
            <a:off x="594360" y="3959352"/>
            <a:ext cx="2743200" cy="1234440"/>
          </a:xfrm>
          <a:prstGeom prst="rect">
            <a:avLst/>
          </a:prstGeom>
          <a:solidFill>
            <a:srgbClr val="182A35"/>
          </a:solidFill>
          <a:ln w="12700">
            <a:solidFill>
              <a:srgbClr val="3D586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4050791"/>
            <a:ext cx="2596896" cy="292608"/>
          </a:xfrm>
          <a:prstGeom prst="rect">
            <a:avLst/>
          </a:prstGeom>
          <a:noFill/>
        </p:spPr>
        <p:txBody>
          <a:bodyPr wrap="square" lIns="0" rIns="0" tIns="0" bIns="0">
            <a:spAutoFit/>
          </a:bodyPr>
          <a:lstStyle/>
          <a:p>
            <a:pPr algn="ctr">
              <a:lnSpc>
                <a:spcPct val="112000"/>
              </a:lnSpc>
              <a:spcBef>
                <a:spcPts val="0"/>
              </a:spcBef>
              <a:spcAft>
                <a:spcPts val="500"/>
              </a:spcAft>
              <a:defRPr sz="1600" b="1">
                <a:solidFill>
                  <a:srgbClr val="94CAEE"/>
                </a:solidFill>
                <a:latin typeface="DejaVu Sans"/>
              </a:defRPr>
            </a:pPr>
            <a:r>
              <a:t>Prisionero</a:t>
            </a:r>
          </a:p>
        </p:txBody>
      </p:sp>
      <p:cxnSp>
        <p:nvCxnSpPr>
          <p:cNvPr id="17" name="Connector 16"/>
          <p:cNvCxnSpPr/>
          <p:nvPr/>
        </p:nvCxnSpPr>
        <p:spPr>
          <a:xfrm>
            <a:off x="594360" y="4416552"/>
            <a:ext cx="2743200" cy="0"/>
          </a:xfrm>
          <a:prstGeom prst="line">
            <a:avLst/>
          </a:prstGeom>
          <a:ln w="10160">
            <a:solidFill>
              <a:srgbClr val="3D5867"/>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713232" y="4517136"/>
            <a:ext cx="2505456" cy="256032"/>
          </a:xfrm>
          <a:prstGeom prst="rect">
            <a:avLst/>
          </a:prstGeom>
          <a:noFill/>
        </p:spPr>
        <p:txBody>
          <a:bodyPr wrap="square" lIns="0" rIns="0" tIns="0" bIns="0">
            <a:spAutoFit/>
          </a:bodyPr>
          <a:lstStyle/>
          <a:p>
            <a:pPr>
              <a:lnSpc>
                <a:spcPct val="112000"/>
              </a:lnSpc>
              <a:spcBef>
                <a:spcPts val="0"/>
              </a:spcBef>
              <a:spcAft>
                <a:spcPts val="500"/>
              </a:spcAft>
              <a:defRPr sz="1150" b="0">
                <a:solidFill>
                  <a:srgbClr val="A9BBC6"/>
                </a:solidFill>
                <a:latin typeface="DejaVu Sans Mono"/>
              </a:defRPr>
            </a:pPr>
            <a:r>
              <a:t>+carrera: HabilidadCarrera</a:t>
            </a:r>
          </a:p>
        </p:txBody>
      </p:sp>
      <p:cxnSp>
        <p:nvCxnSpPr>
          <p:cNvPr id="19" name="Connector 18"/>
          <p:cNvCxnSpPr/>
          <p:nvPr/>
        </p:nvCxnSpPr>
        <p:spPr>
          <a:xfrm>
            <a:off x="594360" y="4855464"/>
            <a:ext cx="2743200" cy="0"/>
          </a:xfrm>
          <a:prstGeom prst="line">
            <a:avLst/>
          </a:prstGeom>
          <a:ln w="10160">
            <a:solidFill>
              <a:srgbClr val="3D5867"/>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13232" y="4919472"/>
            <a:ext cx="2505456" cy="228600"/>
          </a:xfrm>
          <a:prstGeom prst="rect">
            <a:avLst/>
          </a:prstGeom>
          <a:noFill/>
        </p:spPr>
        <p:txBody>
          <a:bodyPr wrap="square" lIns="0" rIns="0" tIns="0" bIns="0">
            <a:spAutoFit/>
          </a:bodyPr>
          <a:lstStyle/>
          <a:p>
            <a:pPr>
              <a:lnSpc>
                <a:spcPct val="112000"/>
              </a:lnSpc>
              <a:spcBef>
                <a:spcPts val="0"/>
              </a:spcBef>
              <a:spcAft>
                <a:spcPts val="500"/>
              </a:spcAft>
              <a:defRPr sz="1150" b="0">
                <a:solidFill>
                  <a:srgbClr val="F1F5F4"/>
                </a:solidFill>
                <a:latin typeface="DejaVu Sans Mono"/>
              </a:defRPr>
            </a:pPr>
            <a:r>
              <a:t>+update()</a:t>
            </a:r>
          </a:p>
        </p:txBody>
      </p:sp>
      <p:sp>
        <p:nvSpPr>
          <p:cNvPr id="21" name="Rectangle 20"/>
          <p:cNvSpPr/>
          <p:nvPr/>
        </p:nvSpPr>
        <p:spPr>
          <a:xfrm>
            <a:off x="3621024" y="3959352"/>
            <a:ext cx="2743200" cy="1234440"/>
          </a:xfrm>
          <a:prstGeom prst="rect">
            <a:avLst/>
          </a:prstGeom>
          <a:solidFill>
            <a:srgbClr val="182A35"/>
          </a:solidFill>
          <a:ln w="12700">
            <a:solidFill>
              <a:srgbClr val="3D586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94176" y="4050791"/>
            <a:ext cx="2596896" cy="292608"/>
          </a:xfrm>
          <a:prstGeom prst="rect">
            <a:avLst/>
          </a:prstGeom>
          <a:noFill/>
        </p:spPr>
        <p:txBody>
          <a:bodyPr wrap="square" lIns="0" rIns="0" tIns="0" bIns="0">
            <a:spAutoFit/>
          </a:bodyPr>
          <a:lstStyle/>
          <a:p>
            <a:pPr algn="ctr">
              <a:lnSpc>
                <a:spcPct val="112000"/>
              </a:lnSpc>
              <a:spcBef>
                <a:spcPts val="0"/>
              </a:spcBef>
              <a:spcAft>
                <a:spcPts val="500"/>
              </a:spcAft>
              <a:defRPr sz="1600" b="1">
                <a:solidFill>
                  <a:srgbClr val="FF8E7C"/>
                </a:solidFill>
                <a:latin typeface="DejaVu Sans"/>
              </a:defRPr>
            </a:pPr>
            <a:r>
              <a:t>Guardia</a:t>
            </a:r>
          </a:p>
        </p:txBody>
      </p:sp>
      <p:cxnSp>
        <p:nvCxnSpPr>
          <p:cNvPr id="23" name="Connector 22"/>
          <p:cNvCxnSpPr/>
          <p:nvPr/>
        </p:nvCxnSpPr>
        <p:spPr>
          <a:xfrm>
            <a:off x="3621024" y="4416552"/>
            <a:ext cx="2743200" cy="0"/>
          </a:xfrm>
          <a:prstGeom prst="line">
            <a:avLst/>
          </a:prstGeom>
          <a:ln w="10160">
            <a:solidFill>
              <a:srgbClr val="3D5867"/>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739896" y="4517136"/>
            <a:ext cx="2505456" cy="256032"/>
          </a:xfrm>
          <a:prstGeom prst="rect">
            <a:avLst/>
          </a:prstGeom>
          <a:noFill/>
        </p:spPr>
        <p:txBody>
          <a:bodyPr wrap="square" lIns="0" rIns="0" tIns="0" bIns="0">
            <a:spAutoFit/>
          </a:bodyPr>
          <a:lstStyle/>
          <a:p>
            <a:pPr>
              <a:lnSpc>
                <a:spcPct val="112000"/>
              </a:lnSpc>
              <a:spcBef>
                <a:spcPts val="0"/>
              </a:spcBef>
              <a:spcAft>
                <a:spcPts val="500"/>
              </a:spcAft>
              <a:defRPr sz="1150" b="0">
                <a:solidFill>
                  <a:srgbClr val="A9BBC6"/>
                </a:solidFill>
                <a:latin typeface="DejaVu Sans Mono"/>
              </a:defRPr>
            </a:pPr>
            <a:r>
              <a:t>+modo: str</a:t>
            </a:r>
          </a:p>
        </p:txBody>
      </p:sp>
      <p:cxnSp>
        <p:nvCxnSpPr>
          <p:cNvPr id="25" name="Connector 24"/>
          <p:cNvCxnSpPr/>
          <p:nvPr/>
        </p:nvCxnSpPr>
        <p:spPr>
          <a:xfrm>
            <a:off x="3621024" y="4855464"/>
            <a:ext cx="2743200" cy="0"/>
          </a:xfrm>
          <a:prstGeom prst="line">
            <a:avLst/>
          </a:prstGeom>
          <a:ln w="10160">
            <a:solidFill>
              <a:srgbClr val="3D5867"/>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739896" y="4919472"/>
            <a:ext cx="2505456" cy="228600"/>
          </a:xfrm>
          <a:prstGeom prst="rect">
            <a:avLst/>
          </a:prstGeom>
          <a:noFill/>
        </p:spPr>
        <p:txBody>
          <a:bodyPr wrap="square" lIns="0" rIns="0" tIns="0" bIns="0">
            <a:spAutoFit/>
          </a:bodyPr>
          <a:lstStyle/>
          <a:p>
            <a:pPr>
              <a:lnSpc>
                <a:spcPct val="112000"/>
              </a:lnSpc>
              <a:spcBef>
                <a:spcPts val="0"/>
              </a:spcBef>
              <a:spcAft>
                <a:spcPts val="500"/>
              </a:spcAft>
              <a:defRPr sz="1150" b="0">
                <a:solidFill>
                  <a:srgbClr val="F1F5F4"/>
                </a:solidFill>
                <a:latin typeface="DejaVu Sans Mono"/>
              </a:defRPr>
            </a:pPr>
            <a:r>
              <a:t>+update()</a:t>
            </a:r>
          </a:p>
        </p:txBody>
      </p:sp>
      <p:cxnSp>
        <p:nvCxnSpPr>
          <p:cNvPr id="27" name="Connector 26"/>
          <p:cNvCxnSpPr/>
          <p:nvPr/>
        </p:nvCxnSpPr>
        <p:spPr>
          <a:xfrm flipV="1">
            <a:off x="1965960" y="3502152"/>
            <a:ext cx="0" cy="457200"/>
          </a:xfrm>
          <a:prstGeom prst="line">
            <a:avLst/>
          </a:prstGeom>
          <a:ln w="19050">
            <a:solidFill>
              <a:srgbClr val="8BE7B2"/>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4992624" y="3502152"/>
            <a:ext cx="0" cy="457200"/>
          </a:xfrm>
          <a:prstGeom prst="line">
            <a:avLst/>
          </a:prstGeom>
          <a:ln w="19050">
            <a:solidFill>
              <a:srgbClr val="8BE7B2"/>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965960" y="3502152"/>
            <a:ext cx="3026664" cy="0"/>
          </a:xfrm>
          <a:prstGeom prst="line">
            <a:avLst/>
          </a:prstGeom>
          <a:ln w="19050">
            <a:solidFill>
              <a:srgbClr val="8BE7B2"/>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337560" y="3154680"/>
            <a:ext cx="0" cy="347472"/>
          </a:xfrm>
          <a:prstGeom prst="line">
            <a:avLst/>
          </a:prstGeom>
          <a:ln w="19050">
            <a:solidFill>
              <a:srgbClr val="8BE7B2"/>
            </a:solidFill>
          </a:ln>
        </p:spPr>
        <p:style>
          <a:lnRef idx="2">
            <a:schemeClr val="accent1"/>
          </a:lnRef>
          <a:fillRef idx="0">
            <a:schemeClr val="accent1"/>
          </a:fillRef>
          <a:effectRef idx="1">
            <a:schemeClr val="accent1"/>
          </a:effectRef>
          <a:fontRef idx="minor">
            <a:schemeClr val="tx1"/>
          </a:fontRef>
        </p:style>
      </p:cxnSp>
      <p:sp>
        <p:nvSpPr>
          <p:cNvPr id="31" name="Isosceles Triangle 30"/>
          <p:cNvSpPr/>
          <p:nvPr/>
        </p:nvSpPr>
        <p:spPr>
          <a:xfrm>
            <a:off x="3255264" y="3154680"/>
            <a:ext cx="164592" cy="146304"/>
          </a:xfrm>
          <a:prstGeom prst="triangle">
            <a:avLst/>
          </a:prstGeom>
          <a:solidFill>
            <a:srgbClr val="0D1821"/>
          </a:solidFill>
          <a:ln>
            <a:solidFill>
              <a:srgbClr val="8BE7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76656" y="5404104"/>
            <a:ext cx="2560320" cy="548640"/>
          </a:xfrm>
          <a:prstGeom prst="rect">
            <a:avLst/>
          </a:prstGeom>
          <a:noFill/>
        </p:spPr>
        <p:txBody>
          <a:bodyPr wrap="square" lIns="0" rIns="0" tIns="0" bIns="0">
            <a:spAutoFit/>
          </a:bodyPr>
          <a:lstStyle/>
          <a:p>
            <a:pPr>
              <a:lnSpc>
                <a:spcPct val="112000"/>
              </a:lnSpc>
              <a:spcBef>
                <a:spcPts val="0"/>
              </a:spcBef>
              <a:spcAft>
                <a:spcPts val="500"/>
              </a:spcAft>
              <a:defRPr sz="1500" b="0">
                <a:solidFill>
                  <a:srgbClr val="A9BBC6"/>
                </a:solidFill>
                <a:latin typeface="DejaVu Sans"/>
              </a:defRPr>
            </a:pPr>
            <a:r>
              <a:t>Teclado, movimiento</a:t>
            </a:r>
          </a:p>
          <a:p>
            <a:pPr>
              <a:lnSpc>
                <a:spcPct val="112000"/>
              </a:lnSpc>
              <a:spcBef>
                <a:spcPts val="0"/>
              </a:spcBef>
              <a:spcAft>
                <a:spcPts val="500"/>
              </a:spcAft>
              <a:defRPr sz="1500" b="0">
                <a:solidFill>
                  <a:srgbClr val="A9BBC6"/>
                </a:solidFill>
                <a:latin typeface="DejaVu Sans"/>
              </a:defRPr>
            </a:pPr>
            <a:r>
              <a:t>y ruido de pasos.</a:t>
            </a:r>
          </a:p>
        </p:txBody>
      </p:sp>
      <p:sp>
        <p:nvSpPr>
          <p:cNvPr id="33" name="TextBox 32"/>
          <p:cNvSpPr txBox="1"/>
          <p:nvPr/>
        </p:nvSpPr>
        <p:spPr>
          <a:xfrm>
            <a:off x="3703320" y="5404104"/>
            <a:ext cx="2587752" cy="548640"/>
          </a:xfrm>
          <a:prstGeom prst="rect">
            <a:avLst/>
          </a:prstGeom>
          <a:noFill/>
        </p:spPr>
        <p:txBody>
          <a:bodyPr wrap="square" lIns="0" rIns="0" tIns="0" bIns="0">
            <a:spAutoFit/>
          </a:bodyPr>
          <a:lstStyle/>
          <a:p>
            <a:pPr>
              <a:lnSpc>
                <a:spcPct val="112000"/>
              </a:lnSpc>
              <a:spcBef>
                <a:spcPts val="0"/>
              </a:spcBef>
              <a:spcAft>
                <a:spcPts val="500"/>
              </a:spcAft>
              <a:defRPr sz="1500" b="0">
                <a:solidFill>
                  <a:srgbClr val="A9BBC6"/>
                </a:solidFill>
                <a:latin typeface="DejaVu Sans"/>
              </a:defRPr>
            </a:pPr>
            <a:r>
              <a:t>Patrulla, investiga</a:t>
            </a:r>
          </a:p>
          <a:p>
            <a:pPr>
              <a:lnSpc>
                <a:spcPct val="112000"/>
              </a:lnSpc>
              <a:spcBef>
                <a:spcPts val="0"/>
              </a:spcBef>
              <a:spcAft>
                <a:spcPts val="500"/>
              </a:spcAft>
              <a:defRPr sz="1500" b="0">
                <a:solidFill>
                  <a:srgbClr val="A9BBC6"/>
                </a:solidFill>
                <a:latin typeface="DejaVu Sans"/>
              </a:defRPr>
            </a:pPr>
            <a:r>
              <a:t>y persigue.</a:t>
            </a:r>
          </a:p>
        </p:txBody>
      </p:sp>
      <p:sp>
        <p:nvSpPr>
          <p:cNvPr id="34" name="Rounded Rectangle 33"/>
          <p:cNvSpPr/>
          <p:nvPr/>
        </p:nvSpPr>
        <p:spPr>
          <a:xfrm>
            <a:off x="6976872" y="1938528"/>
            <a:ext cx="3337560" cy="310896"/>
          </a:xfrm>
          <a:prstGeom prst="roundRect">
            <a:avLst>
              <a:gd name="adj" fmla="val 8000"/>
            </a:avLst>
          </a:prstGeom>
          <a:solidFill>
            <a:srgbClr val="203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086600" y="1988820"/>
            <a:ext cx="3118104" cy="228600"/>
          </a:xfrm>
          <a:prstGeom prst="rect">
            <a:avLst/>
          </a:prstGeom>
          <a:noFill/>
        </p:spPr>
        <p:txBody>
          <a:bodyPr wrap="square" lIns="0" rIns="0" tIns="0" bIns="0">
            <a:spAutoFit/>
          </a:bodyPr>
          <a:lstStyle/>
          <a:p>
            <a:pPr>
              <a:lnSpc>
                <a:spcPct val="112000"/>
              </a:lnSpc>
              <a:spcBef>
                <a:spcPts val="0"/>
              </a:spcBef>
              <a:spcAft>
                <a:spcPts val="500"/>
              </a:spcAft>
              <a:defRPr sz="1050" b="1">
                <a:solidFill>
                  <a:srgbClr val="8BE7B2"/>
                </a:solidFill>
                <a:latin typeface="DejaVu Sans"/>
              </a:defRPr>
            </a:pPr>
            <a:r>
              <a:t>HERENCIA + POLIMORFISMO</a:t>
            </a:r>
          </a:p>
        </p:txBody>
      </p:sp>
      <p:sp>
        <p:nvSpPr>
          <p:cNvPr id="36" name="Rounded Rectangle 35"/>
          <p:cNvSpPr/>
          <p:nvPr/>
        </p:nvSpPr>
        <p:spPr>
          <a:xfrm>
            <a:off x="6976872" y="2615184"/>
            <a:ext cx="4617720" cy="1572768"/>
          </a:xfrm>
          <a:prstGeom prst="roundRect">
            <a:avLst>
              <a:gd name="adj" fmla="val 8000"/>
            </a:avLst>
          </a:prstGeom>
          <a:solidFill>
            <a:srgbClr val="091118"/>
          </a:solidFill>
          <a:ln w="12700">
            <a:solidFill>
              <a:srgbClr val="3D586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05472" y="2798064"/>
            <a:ext cx="4160520" cy="1252728"/>
          </a:xfrm>
          <a:prstGeom prst="rect">
            <a:avLst/>
          </a:prstGeom>
          <a:noFill/>
        </p:spPr>
        <p:txBody>
          <a:bodyPr wrap="square" lIns="0" rIns="0" tIns="0" bIns="0">
            <a:spAutoFit/>
          </a:bodyPr>
          <a:lstStyle/>
          <a:p>
            <a:pPr>
              <a:lnSpc>
                <a:spcPct val="112000"/>
              </a:lnSpc>
              <a:spcBef>
                <a:spcPts val="0"/>
              </a:spcBef>
              <a:spcAft>
                <a:spcPts val="500"/>
              </a:spcAft>
              <a:defRPr sz="1400" b="0">
                <a:solidFill>
                  <a:srgbClr val="8BE7B2"/>
                </a:solidFill>
                <a:latin typeface="DejaVu Sans Mono"/>
              </a:defRPr>
            </a:pPr>
            <a:r>
              <a:t>for personaje in self.personajes:</a:t>
            </a:r>
          </a:p>
          <a:p>
            <a:pPr>
              <a:lnSpc>
                <a:spcPct val="112000"/>
              </a:lnSpc>
              <a:spcBef>
                <a:spcPts val="0"/>
              </a:spcBef>
              <a:spcAft>
                <a:spcPts val="500"/>
              </a:spcAft>
              <a:defRPr sz="1400" b="0">
                <a:solidFill>
                  <a:srgbClr val="8BE7B2"/>
                </a:solidFill>
                <a:latin typeface="DejaVu Sans Mono"/>
              </a:defRPr>
            </a:pPr>
            <a:r>
              <a:t>    personaje.update()</a:t>
            </a:r>
          </a:p>
        </p:txBody>
      </p:sp>
      <p:sp>
        <p:nvSpPr>
          <p:cNvPr id="38" name="TextBox 37"/>
          <p:cNvSpPr txBox="1"/>
          <p:nvPr/>
        </p:nvSpPr>
        <p:spPr>
          <a:xfrm>
            <a:off x="7013448" y="4590288"/>
            <a:ext cx="4453128" cy="1005840"/>
          </a:xfrm>
          <a:prstGeom prst="rect">
            <a:avLst/>
          </a:prstGeom>
          <a:noFill/>
        </p:spPr>
        <p:txBody>
          <a:bodyPr wrap="square" lIns="0" rIns="0" tIns="0" bIns="0">
            <a:spAutoFit/>
          </a:bodyPr>
          <a:lstStyle/>
          <a:p>
            <a:pPr>
              <a:lnSpc>
                <a:spcPct val="112000"/>
              </a:lnSpc>
              <a:spcBef>
                <a:spcPts val="0"/>
              </a:spcBef>
              <a:spcAft>
                <a:spcPts val="500"/>
              </a:spcAft>
              <a:defRPr sz="2100" b="1">
                <a:solidFill>
                  <a:srgbClr val="F1F5F4"/>
                </a:solidFill>
                <a:latin typeface="DejaVu Sans"/>
              </a:defRPr>
            </a:pPr>
            <a:r>
              <a:t>Nivel usa la misma operación.</a:t>
            </a:r>
          </a:p>
          <a:p>
            <a:pPr>
              <a:lnSpc>
                <a:spcPct val="112000"/>
              </a:lnSpc>
              <a:spcBef>
                <a:spcPts val="0"/>
              </a:spcBef>
              <a:spcAft>
                <a:spcPts val="500"/>
              </a:spcAft>
              <a:defRPr sz="2100" b="1">
                <a:solidFill>
                  <a:srgbClr val="F1F5F4"/>
                </a:solidFill>
                <a:latin typeface="DejaVu Sans"/>
              </a:defRPr>
            </a:pPr>
            <a:r>
              <a:t>Cada clase implementa su</a:t>
            </a:r>
          </a:p>
          <a:p>
            <a:pPr>
              <a:lnSpc>
                <a:spcPct val="112000"/>
              </a:lnSpc>
              <a:spcBef>
                <a:spcPts val="0"/>
              </a:spcBef>
              <a:spcAft>
                <a:spcPts val="500"/>
              </a:spcAft>
              <a:defRPr sz="2100" b="1">
                <a:solidFill>
                  <a:srgbClr val="F1F5F4"/>
                </a:solidFill>
                <a:latin typeface="DejaVu Sans"/>
              </a:defRPr>
            </a:pPr>
            <a:r>
              <a:t>comportamiento.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1821"/>
        </a:solidFill>
        <a:effectLst/>
      </p:bgPr>
    </p:bg>
    <p:spTree>
      <p:nvGrpSpPr>
        <p:cNvPr id="1" name=""/>
        <p:cNvGrpSpPr/>
        <p:nvPr/>
      </p:nvGrpSpPr>
      <p:grpSpPr/>
      <p:sp>
        <p:nvSpPr>
          <p:cNvPr id="2" name="Rectangle 1"/>
          <p:cNvSpPr/>
          <p:nvPr/>
        </p:nvSpPr>
        <p:spPr>
          <a:xfrm>
            <a:off x="548640" y="320040"/>
            <a:ext cx="292608" cy="50292"/>
          </a:xfrm>
          <a:prstGeom prst="rect">
            <a:avLst/>
          </a:prstGeom>
          <a:solidFill>
            <a:srgbClr val="8BE7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37744"/>
            <a:ext cx="9144000" cy="274320"/>
          </a:xfrm>
          <a:prstGeom prst="rect">
            <a:avLst/>
          </a:prstGeom>
          <a:noFill/>
        </p:spPr>
        <p:txBody>
          <a:bodyPr wrap="square" lIns="0" rIns="0" tIns="0" bIns="0">
            <a:spAutoFit/>
          </a:bodyPr>
          <a:lstStyle/>
          <a:p>
            <a:pPr>
              <a:lnSpc>
                <a:spcPct val="112000"/>
              </a:lnSpc>
              <a:spcBef>
                <a:spcPts val="0"/>
              </a:spcBef>
              <a:spcAft>
                <a:spcPts val="500"/>
              </a:spcAft>
              <a:defRPr sz="1050" b="1">
                <a:solidFill>
                  <a:srgbClr val="8BE7B2"/>
                </a:solidFill>
                <a:latin typeface="DejaVu Sans"/>
              </a:defRPr>
            </a:pPr>
            <a:r>
              <a:t>PROYECTO PARCIAL · POO</a:t>
            </a:r>
          </a:p>
        </p:txBody>
      </p:sp>
      <p:sp>
        <p:nvSpPr>
          <p:cNvPr id="4" name="TextBox 3"/>
          <p:cNvSpPr txBox="1"/>
          <p:nvPr/>
        </p:nvSpPr>
        <p:spPr>
          <a:xfrm>
            <a:off x="548640" y="758952"/>
            <a:ext cx="11064240" cy="960120"/>
          </a:xfrm>
          <a:prstGeom prst="rect">
            <a:avLst/>
          </a:prstGeom>
          <a:noFill/>
        </p:spPr>
        <p:txBody>
          <a:bodyPr wrap="square" lIns="0" rIns="0" tIns="0" bIns="0">
            <a:spAutoFit/>
          </a:bodyPr>
          <a:lstStyle/>
          <a:p>
            <a:pPr>
              <a:lnSpc>
                <a:spcPct val="112000"/>
              </a:lnSpc>
              <a:spcBef>
                <a:spcPts val="0"/>
              </a:spcBef>
              <a:spcAft>
                <a:spcPts val="500"/>
              </a:spcAft>
              <a:defRPr sz="3200" b="1">
                <a:solidFill>
                  <a:srgbClr val="F1F5F4"/>
                </a:solidFill>
                <a:latin typeface="DejaVu Sans"/>
              </a:defRPr>
            </a:pPr>
            <a:r>
              <a:t>El puntaje protege sus propias reglas</a:t>
            </a:r>
          </a:p>
        </p:txBody>
      </p:sp>
      <p:cxnSp>
        <p:nvCxnSpPr>
          <p:cNvPr id="5" name="Connector 4"/>
          <p:cNvCxnSpPr/>
          <p:nvPr/>
        </p:nvCxnSpPr>
        <p:spPr>
          <a:xfrm>
            <a:off x="548640" y="6419088"/>
            <a:ext cx="11091672" cy="0"/>
          </a:xfrm>
          <a:prstGeom prst="line">
            <a:avLst/>
          </a:prstGeom>
          <a:ln w="8255">
            <a:solidFill>
              <a:srgbClr val="3D5867"/>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519672"/>
            <a:ext cx="3017520" cy="173736"/>
          </a:xfrm>
          <a:prstGeom prst="rect">
            <a:avLst/>
          </a:prstGeom>
          <a:noFill/>
        </p:spPr>
        <p:txBody>
          <a:bodyPr wrap="square" lIns="0" rIns="0" tIns="0" bIns="0">
            <a:spAutoFit/>
          </a:bodyPr>
          <a:lstStyle/>
          <a:p>
            <a:pPr>
              <a:lnSpc>
                <a:spcPct val="112000"/>
              </a:lnSpc>
              <a:spcBef>
                <a:spcPts val="0"/>
              </a:spcBef>
              <a:spcAft>
                <a:spcPts val="500"/>
              </a:spcAft>
              <a:defRPr sz="850" b="0">
                <a:solidFill>
                  <a:srgbClr val="A9BBC6"/>
                </a:solidFill>
                <a:latin typeface="DejaVu Sans"/>
              </a:defRPr>
            </a:pPr>
            <a:r>
              <a:t>FUGA DE LA PRISIÓN  /  2026-II</a:t>
            </a:r>
          </a:p>
        </p:txBody>
      </p:sp>
      <p:sp>
        <p:nvSpPr>
          <p:cNvPr id="7" name="TextBox 6"/>
          <p:cNvSpPr txBox="1"/>
          <p:nvPr/>
        </p:nvSpPr>
        <p:spPr>
          <a:xfrm>
            <a:off x="3703320" y="6519672"/>
            <a:ext cx="7132320" cy="182880"/>
          </a:xfrm>
          <a:prstGeom prst="rect">
            <a:avLst/>
          </a:prstGeom>
          <a:noFill/>
        </p:spPr>
        <p:txBody>
          <a:bodyPr wrap="square" lIns="0" rIns="0" tIns="0" bIns="0">
            <a:spAutoFit/>
          </a:bodyPr>
          <a:lstStyle/>
          <a:p>
            <a:pPr algn="r">
              <a:lnSpc>
                <a:spcPct val="112000"/>
              </a:lnSpc>
              <a:spcBef>
                <a:spcPts val="0"/>
              </a:spcBef>
              <a:spcAft>
                <a:spcPts val="500"/>
              </a:spcAft>
              <a:defRPr sz="850" b="0">
                <a:solidFill>
                  <a:srgbClr val="A9BBC6"/>
                </a:solidFill>
                <a:latin typeface="DejaVu Sans"/>
              </a:defRPr>
            </a:pPr>
            <a:r>
              <a:t>Fuente: src/puntuacion.py: Puntaje</a:t>
            </a:r>
          </a:p>
        </p:txBody>
      </p:sp>
      <p:sp>
        <p:nvSpPr>
          <p:cNvPr id="8" name="TextBox 7"/>
          <p:cNvSpPr txBox="1"/>
          <p:nvPr/>
        </p:nvSpPr>
        <p:spPr>
          <a:xfrm>
            <a:off x="11018520" y="6492240"/>
            <a:ext cx="594360" cy="274320"/>
          </a:xfrm>
          <a:prstGeom prst="rect">
            <a:avLst/>
          </a:prstGeom>
          <a:noFill/>
        </p:spPr>
        <p:txBody>
          <a:bodyPr wrap="square" lIns="0" rIns="0" tIns="0" bIns="0">
            <a:spAutoFit/>
          </a:bodyPr>
          <a:lstStyle/>
          <a:p>
            <a:pPr algn="r">
              <a:lnSpc>
                <a:spcPct val="112000"/>
              </a:lnSpc>
              <a:spcBef>
                <a:spcPts val="0"/>
              </a:spcBef>
              <a:spcAft>
                <a:spcPts val="500"/>
              </a:spcAft>
              <a:defRPr sz="1100" b="1">
                <a:solidFill>
                  <a:srgbClr val="8BE7B2"/>
                </a:solidFill>
                <a:latin typeface="DejaVu Sans"/>
              </a:defRPr>
            </a:pPr>
            <a:r>
              <a:t>07</a:t>
            </a:r>
          </a:p>
        </p:txBody>
      </p:sp>
      <p:sp>
        <p:nvSpPr>
          <p:cNvPr id="9" name="TextBox 8"/>
          <p:cNvSpPr txBox="1"/>
          <p:nvPr/>
        </p:nvSpPr>
        <p:spPr>
          <a:xfrm>
            <a:off x="621792" y="1920240"/>
            <a:ext cx="4206240" cy="457200"/>
          </a:xfrm>
          <a:prstGeom prst="rect">
            <a:avLst/>
          </a:prstGeom>
          <a:noFill/>
        </p:spPr>
        <p:txBody>
          <a:bodyPr wrap="square" lIns="0" rIns="0" tIns="0" bIns="0">
            <a:spAutoFit/>
          </a:bodyPr>
          <a:lstStyle/>
          <a:p>
            <a:pPr>
              <a:lnSpc>
                <a:spcPct val="112000"/>
              </a:lnSpc>
              <a:spcBef>
                <a:spcPts val="0"/>
              </a:spcBef>
              <a:spcAft>
                <a:spcPts val="500"/>
              </a:spcAft>
              <a:defRPr sz="1200" b="1">
                <a:solidFill>
                  <a:srgbClr val="8BE7B2"/>
                </a:solidFill>
                <a:latin typeface="DejaVu Sans"/>
              </a:defRPr>
            </a:pPr>
            <a:r>
              <a:t>ENCAPSULAMIENTO</a:t>
            </a:r>
          </a:p>
        </p:txBody>
      </p:sp>
      <p:sp>
        <p:nvSpPr>
          <p:cNvPr id="10" name="TextBox 9"/>
          <p:cNvSpPr txBox="1"/>
          <p:nvPr/>
        </p:nvSpPr>
        <p:spPr>
          <a:xfrm>
            <a:off x="621792" y="2478024"/>
            <a:ext cx="4279392" cy="914400"/>
          </a:xfrm>
          <a:prstGeom prst="rect">
            <a:avLst/>
          </a:prstGeom>
          <a:noFill/>
        </p:spPr>
        <p:txBody>
          <a:bodyPr wrap="square" lIns="0" rIns="0" tIns="0" bIns="0">
            <a:spAutoFit/>
          </a:bodyPr>
          <a:lstStyle/>
          <a:p>
            <a:pPr>
              <a:lnSpc>
                <a:spcPct val="112000"/>
              </a:lnSpc>
              <a:spcBef>
                <a:spcPts val="0"/>
              </a:spcBef>
              <a:spcAft>
                <a:spcPts val="500"/>
              </a:spcAft>
              <a:defRPr sz="2500" b="1">
                <a:solidFill>
                  <a:srgbClr val="F1F5F4"/>
                </a:solidFill>
                <a:latin typeface="DejaVu Sans"/>
              </a:defRPr>
            </a:pPr>
            <a:r>
              <a:t>Los puntos siempre son</a:t>
            </a:r>
          </a:p>
          <a:p>
            <a:pPr>
              <a:lnSpc>
                <a:spcPct val="112000"/>
              </a:lnSpc>
              <a:spcBef>
                <a:spcPts val="0"/>
              </a:spcBef>
              <a:spcAft>
                <a:spcPts val="500"/>
              </a:spcAft>
              <a:defRPr sz="2500" b="1">
                <a:solidFill>
                  <a:srgbClr val="F1F5F4"/>
                </a:solidFill>
                <a:latin typeface="DejaVu Sans"/>
              </a:defRPr>
            </a:pPr>
            <a:r>
              <a:t>enteros no negativos.</a:t>
            </a:r>
          </a:p>
        </p:txBody>
      </p:sp>
      <p:sp>
        <p:nvSpPr>
          <p:cNvPr id="11" name="TextBox 10"/>
          <p:cNvSpPr txBox="1"/>
          <p:nvPr/>
        </p:nvSpPr>
        <p:spPr>
          <a:xfrm>
            <a:off x="621792" y="3785615"/>
            <a:ext cx="4297680" cy="320040"/>
          </a:xfrm>
          <a:prstGeom prst="rect">
            <a:avLst/>
          </a:prstGeom>
          <a:noFill/>
        </p:spPr>
        <p:txBody>
          <a:bodyPr wrap="square" lIns="0" rIns="0" tIns="0" bIns="0">
            <a:spAutoFit/>
          </a:bodyPr>
          <a:lstStyle/>
          <a:p>
            <a:pPr>
              <a:lnSpc>
                <a:spcPct val="112000"/>
              </a:lnSpc>
              <a:spcBef>
                <a:spcPts val="0"/>
              </a:spcBef>
              <a:spcAft>
                <a:spcPts val="500"/>
              </a:spcAft>
              <a:defRPr sz="1700" b="1">
                <a:solidFill>
                  <a:srgbClr val="8BE7B2"/>
                </a:solidFill>
                <a:latin typeface="DejaVu Sans Mono"/>
              </a:defRPr>
            </a:pPr>
            <a:r>
              <a:t>_valor</a:t>
            </a:r>
          </a:p>
        </p:txBody>
      </p:sp>
      <p:sp>
        <p:nvSpPr>
          <p:cNvPr id="12" name="TextBox 11"/>
          <p:cNvSpPr txBox="1"/>
          <p:nvPr/>
        </p:nvSpPr>
        <p:spPr>
          <a:xfrm>
            <a:off x="621792" y="4142231"/>
            <a:ext cx="4297680" cy="420624"/>
          </a:xfrm>
          <a:prstGeom prst="rect">
            <a:avLst/>
          </a:prstGeom>
          <a:noFill/>
        </p:spPr>
        <p:txBody>
          <a:bodyPr wrap="square" lIns="0" rIns="0" tIns="0" bIns="0">
            <a:spAutoFit/>
          </a:bodyPr>
          <a:lstStyle/>
          <a:p>
            <a:pPr>
              <a:lnSpc>
                <a:spcPct val="112000"/>
              </a:lnSpc>
              <a:spcBef>
                <a:spcPts val="0"/>
              </a:spcBef>
              <a:spcAft>
                <a:spcPts val="500"/>
              </a:spcAft>
              <a:defRPr sz="1400" b="0">
                <a:solidFill>
                  <a:srgbClr val="A9BBC6"/>
                </a:solidFill>
                <a:latin typeface="DejaVu Sans"/>
              </a:defRPr>
            </a:pPr>
            <a:r>
              <a:t>Dato interno por convención de Python.</a:t>
            </a:r>
          </a:p>
        </p:txBody>
      </p:sp>
      <p:sp>
        <p:nvSpPr>
          <p:cNvPr id="13" name="TextBox 12"/>
          <p:cNvSpPr txBox="1"/>
          <p:nvPr/>
        </p:nvSpPr>
        <p:spPr>
          <a:xfrm>
            <a:off x="621792" y="4599432"/>
            <a:ext cx="4297680" cy="320040"/>
          </a:xfrm>
          <a:prstGeom prst="rect">
            <a:avLst/>
          </a:prstGeom>
          <a:noFill/>
        </p:spPr>
        <p:txBody>
          <a:bodyPr wrap="square" lIns="0" rIns="0" tIns="0" bIns="0">
            <a:spAutoFit/>
          </a:bodyPr>
          <a:lstStyle/>
          <a:p>
            <a:pPr>
              <a:lnSpc>
                <a:spcPct val="112000"/>
              </a:lnSpc>
              <a:spcBef>
                <a:spcPts val="0"/>
              </a:spcBef>
              <a:spcAft>
                <a:spcPts val="500"/>
              </a:spcAft>
              <a:defRPr sz="1700" b="1">
                <a:solidFill>
                  <a:srgbClr val="8BE7B2"/>
                </a:solidFill>
                <a:latin typeface="DejaVu Sans Mono"/>
              </a:defRPr>
            </a:pPr>
            <a:r>
              <a:t>get_valor()</a:t>
            </a:r>
          </a:p>
        </p:txBody>
      </p:sp>
      <p:sp>
        <p:nvSpPr>
          <p:cNvPr id="14" name="TextBox 13"/>
          <p:cNvSpPr txBox="1"/>
          <p:nvPr/>
        </p:nvSpPr>
        <p:spPr>
          <a:xfrm>
            <a:off x="621792" y="4956048"/>
            <a:ext cx="4297680" cy="420624"/>
          </a:xfrm>
          <a:prstGeom prst="rect">
            <a:avLst/>
          </a:prstGeom>
          <a:noFill/>
        </p:spPr>
        <p:txBody>
          <a:bodyPr wrap="square" lIns="0" rIns="0" tIns="0" bIns="0">
            <a:spAutoFit/>
          </a:bodyPr>
          <a:lstStyle/>
          <a:p>
            <a:pPr>
              <a:lnSpc>
                <a:spcPct val="112000"/>
              </a:lnSpc>
              <a:spcBef>
                <a:spcPts val="0"/>
              </a:spcBef>
              <a:spcAft>
                <a:spcPts val="500"/>
              </a:spcAft>
              <a:defRPr sz="1400" b="0">
                <a:solidFill>
                  <a:srgbClr val="A9BBC6"/>
                </a:solidFill>
                <a:latin typeface="DejaVu Sans"/>
              </a:defRPr>
            </a:pPr>
            <a:r>
              <a:t>Consulta el puntaje.</a:t>
            </a:r>
          </a:p>
        </p:txBody>
      </p:sp>
      <p:sp>
        <p:nvSpPr>
          <p:cNvPr id="15" name="TextBox 14"/>
          <p:cNvSpPr txBox="1"/>
          <p:nvPr/>
        </p:nvSpPr>
        <p:spPr>
          <a:xfrm>
            <a:off x="621792" y="5413248"/>
            <a:ext cx="4297680" cy="320040"/>
          </a:xfrm>
          <a:prstGeom prst="rect">
            <a:avLst/>
          </a:prstGeom>
          <a:noFill/>
        </p:spPr>
        <p:txBody>
          <a:bodyPr wrap="square" lIns="0" rIns="0" tIns="0" bIns="0">
            <a:spAutoFit/>
          </a:bodyPr>
          <a:lstStyle/>
          <a:p>
            <a:pPr>
              <a:lnSpc>
                <a:spcPct val="112000"/>
              </a:lnSpc>
              <a:spcBef>
                <a:spcPts val="0"/>
              </a:spcBef>
              <a:spcAft>
                <a:spcPts val="500"/>
              </a:spcAft>
              <a:defRPr sz="1700" b="1">
                <a:solidFill>
                  <a:srgbClr val="8BE7B2"/>
                </a:solidFill>
                <a:latin typeface="DejaVu Sans Mono"/>
              </a:defRPr>
            </a:pPr>
            <a:r>
              <a:t>set_valor(valor)</a:t>
            </a:r>
          </a:p>
        </p:txBody>
      </p:sp>
      <p:sp>
        <p:nvSpPr>
          <p:cNvPr id="16" name="TextBox 15"/>
          <p:cNvSpPr txBox="1"/>
          <p:nvPr/>
        </p:nvSpPr>
        <p:spPr>
          <a:xfrm>
            <a:off x="621792" y="5769864"/>
            <a:ext cx="4297680" cy="420624"/>
          </a:xfrm>
          <a:prstGeom prst="rect">
            <a:avLst/>
          </a:prstGeom>
          <a:noFill/>
        </p:spPr>
        <p:txBody>
          <a:bodyPr wrap="square" lIns="0" rIns="0" tIns="0" bIns="0">
            <a:spAutoFit/>
          </a:bodyPr>
          <a:lstStyle/>
          <a:p>
            <a:pPr>
              <a:lnSpc>
                <a:spcPct val="112000"/>
              </a:lnSpc>
              <a:spcBef>
                <a:spcPts val="0"/>
              </a:spcBef>
              <a:spcAft>
                <a:spcPts val="500"/>
              </a:spcAft>
              <a:defRPr sz="1400" b="0">
                <a:solidFill>
                  <a:srgbClr val="A9BBC6"/>
                </a:solidFill>
                <a:latin typeface="DejaVu Sans"/>
              </a:defRPr>
            </a:pPr>
            <a:r>
              <a:t>Valida el cambio y avisa al panel.</a:t>
            </a:r>
          </a:p>
        </p:txBody>
      </p:sp>
      <p:sp>
        <p:nvSpPr>
          <p:cNvPr id="17" name="Rounded Rectangle 16"/>
          <p:cNvSpPr/>
          <p:nvPr/>
        </p:nvSpPr>
        <p:spPr>
          <a:xfrm>
            <a:off x="5294376" y="1984248"/>
            <a:ext cx="6272784" cy="3364992"/>
          </a:xfrm>
          <a:prstGeom prst="roundRect">
            <a:avLst>
              <a:gd name="adj" fmla="val 8000"/>
            </a:avLst>
          </a:prstGeom>
          <a:solidFill>
            <a:srgbClr val="091118"/>
          </a:solidFill>
          <a:ln w="12700">
            <a:solidFill>
              <a:srgbClr val="3D586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522976" y="2167128"/>
            <a:ext cx="5815584" cy="3044952"/>
          </a:xfrm>
          <a:prstGeom prst="rect">
            <a:avLst/>
          </a:prstGeom>
          <a:noFill/>
        </p:spPr>
        <p:txBody>
          <a:bodyPr wrap="square" lIns="0" rIns="0" tIns="0" bIns="0">
            <a:spAutoFit/>
          </a:bodyPr>
          <a:lstStyle/>
          <a:p>
            <a:pPr>
              <a:lnSpc>
                <a:spcPct val="112000"/>
              </a:lnSpc>
              <a:spcBef>
                <a:spcPts val="0"/>
              </a:spcBef>
              <a:spcAft>
                <a:spcPts val="500"/>
              </a:spcAft>
              <a:defRPr sz="1230" b="0">
                <a:solidFill>
                  <a:srgbClr val="8BE7B2"/>
                </a:solidFill>
                <a:latin typeface="DejaVu Sans Mono"/>
              </a:defRPr>
            </a:pPr>
            <a:r>
              <a:t>def set_valor(self, valor):</a:t>
            </a:r>
          </a:p>
          <a:p>
            <a:pPr>
              <a:lnSpc>
                <a:spcPct val="112000"/>
              </a:lnSpc>
              <a:spcBef>
                <a:spcPts val="0"/>
              </a:spcBef>
              <a:spcAft>
                <a:spcPts val="500"/>
              </a:spcAft>
              <a:defRPr sz="1230" b="0">
                <a:solidFill>
                  <a:srgbClr val="8BE7B2"/>
                </a:solidFill>
                <a:latin typeface="DejaVu Sans Mono"/>
              </a:defRPr>
            </a:pPr>
            <a:r>
              <a:t>    if type(valor) is not int or valor &lt; 0:</a:t>
            </a:r>
          </a:p>
          <a:p>
            <a:pPr>
              <a:lnSpc>
                <a:spcPct val="112000"/>
              </a:lnSpc>
              <a:spcBef>
                <a:spcPts val="0"/>
              </a:spcBef>
              <a:spcAft>
                <a:spcPts val="500"/>
              </a:spcAft>
              <a:defRPr sz="1230" b="0">
                <a:solidFill>
                  <a:srgbClr val="8BE7B2"/>
                </a:solidFill>
                <a:latin typeface="DejaVu Sans Mono"/>
              </a:defRPr>
            </a:pPr>
            <a:r>
              <a:t>        raise ValueError(</a:t>
            </a:r>
          </a:p>
          <a:p>
            <a:pPr>
              <a:lnSpc>
                <a:spcPct val="112000"/>
              </a:lnSpc>
              <a:spcBef>
                <a:spcPts val="0"/>
              </a:spcBef>
              <a:spcAft>
                <a:spcPts val="500"/>
              </a:spcAft>
              <a:defRPr sz="1230" b="0">
                <a:solidFill>
                  <a:srgbClr val="8BE7B2"/>
                </a:solidFill>
                <a:latin typeface="DejaVu Sans Mono"/>
              </a:defRPr>
            </a:pPr>
            <a:r>
              <a:t>            "El puntaje debe ser un entero no negativo.")</a:t>
            </a:r>
          </a:p>
          <a:p>
            <a:pPr>
              <a:lnSpc>
                <a:spcPct val="112000"/>
              </a:lnSpc>
              <a:spcBef>
                <a:spcPts val="0"/>
              </a:spcBef>
              <a:spcAft>
                <a:spcPts val="500"/>
              </a:spcAft>
              <a:defRPr sz="1230" b="0">
                <a:solidFill>
                  <a:srgbClr val="8BE7B2"/>
                </a:solidFill>
                <a:latin typeface="DejaVu Sans Mono"/>
              </a:defRPr>
            </a:pPr>
            <a:r>
              <a:t>    self._valor = valor</a:t>
            </a:r>
          </a:p>
          <a:p>
            <a:pPr>
              <a:lnSpc>
                <a:spcPct val="112000"/>
              </a:lnSpc>
              <a:spcBef>
                <a:spcPts val="0"/>
              </a:spcBef>
              <a:spcAft>
                <a:spcPts val="500"/>
              </a:spcAft>
              <a:defRPr sz="1230" b="0">
                <a:solidFill>
                  <a:srgbClr val="8BE7B2"/>
                </a:solidFill>
                <a:latin typeface="DejaVu Sans Mono"/>
              </a:defRPr>
            </a:pPr>
            <a:r>
              <a:t>    self._notificar()</a:t>
            </a:r>
          </a:p>
        </p:txBody>
      </p:sp>
      <p:sp>
        <p:nvSpPr>
          <p:cNvPr id="19" name="Rounded Rectangle 18"/>
          <p:cNvSpPr/>
          <p:nvPr/>
        </p:nvSpPr>
        <p:spPr>
          <a:xfrm>
            <a:off x="5321808" y="5623560"/>
            <a:ext cx="2752344" cy="310896"/>
          </a:xfrm>
          <a:prstGeom prst="roundRect">
            <a:avLst>
              <a:gd name="adj" fmla="val 8000"/>
            </a:avLst>
          </a:prstGeom>
          <a:solidFill>
            <a:srgbClr val="203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31536" y="5673852"/>
            <a:ext cx="2532887" cy="228600"/>
          </a:xfrm>
          <a:prstGeom prst="rect">
            <a:avLst/>
          </a:prstGeom>
          <a:noFill/>
        </p:spPr>
        <p:txBody>
          <a:bodyPr wrap="square" lIns="0" rIns="0" tIns="0" bIns="0">
            <a:spAutoFit/>
          </a:bodyPr>
          <a:lstStyle/>
          <a:p>
            <a:pPr>
              <a:lnSpc>
                <a:spcPct val="112000"/>
              </a:lnSpc>
              <a:spcBef>
                <a:spcPts val="0"/>
              </a:spcBef>
              <a:spcAft>
                <a:spcPts val="500"/>
              </a:spcAft>
              <a:defRPr sz="1050" b="1">
                <a:solidFill>
                  <a:srgbClr val="8BE7B2"/>
                </a:solidFill>
                <a:latin typeface="DejaVu Sans"/>
              </a:defRPr>
            </a:pPr>
            <a:r>
              <a:t>UNA REGLA, UN SOLO LUGAR</a:t>
            </a:r>
          </a:p>
        </p:txBody>
      </p:sp>
      <p:sp>
        <p:nvSpPr>
          <p:cNvPr id="21" name="TextBox 20"/>
          <p:cNvSpPr txBox="1"/>
          <p:nvPr/>
        </p:nvSpPr>
        <p:spPr>
          <a:xfrm>
            <a:off x="8275320" y="5596128"/>
            <a:ext cx="3200400" cy="457200"/>
          </a:xfrm>
          <a:prstGeom prst="rect">
            <a:avLst/>
          </a:prstGeom>
          <a:noFill/>
        </p:spPr>
        <p:txBody>
          <a:bodyPr wrap="square" lIns="0" rIns="0" tIns="0" bIns="0">
            <a:spAutoFit/>
          </a:bodyPr>
          <a:lstStyle/>
          <a:p>
            <a:pPr>
              <a:lnSpc>
                <a:spcPct val="112000"/>
              </a:lnSpc>
              <a:spcBef>
                <a:spcPts val="0"/>
              </a:spcBef>
              <a:spcAft>
                <a:spcPts val="500"/>
              </a:spcAft>
              <a:defRPr sz="1400" b="0">
                <a:solidFill>
                  <a:srgbClr val="A9BBC6"/>
                </a:solidFill>
                <a:latin typeface="DejaVu Sans"/>
              </a:defRPr>
            </a:pPr>
            <a:r>
              <a:t>Validación + notificación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D1821"/>
        </a:solidFill>
        <a:effectLst/>
      </p:bgPr>
    </p:bg>
    <p:spTree>
      <p:nvGrpSpPr>
        <p:cNvPr id="1" name=""/>
        <p:cNvGrpSpPr/>
        <p:nvPr/>
      </p:nvGrpSpPr>
      <p:grpSpPr/>
      <p:sp>
        <p:nvSpPr>
          <p:cNvPr id="2" name="Rectangle 1"/>
          <p:cNvSpPr/>
          <p:nvPr/>
        </p:nvSpPr>
        <p:spPr>
          <a:xfrm>
            <a:off x="548640" y="320040"/>
            <a:ext cx="292608" cy="50292"/>
          </a:xfrm>
          <a:prstGeom prst="rect">
            <a:avLst/>
          </a:prstGeom>
          <a:solidFill>
            <a:srgbClr val="8BE7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37744"/>
            <a:ext cx="9144000" cy="274320"/>
          </a:xfrm>
          <a:prstGeom prst="rect">
            <a:avLst/>
          </a:prstGeom>
          <a:noFill/>
        </p:spPr>
        <p:txBody>
          <a:bodyPr wrap="square" lIns="0" rIns="0" tIns="0" bIns="0">
            <a:spAutoFit/>
          </a:bodyPr>
          <a:lstStyle/>
          <a:p>
            <a:pPr>
              <a:lnSpc>
                <a:spcPct val="112000"/>
              </a:lnSpc>
              <a:spcBef>
                <a:spcPts val="0"/>
              </a:spcBef>
              <a:spcAft>
                <a:spcPts val="500"/>
              </a:spcAft>
              <a:defRPr sz="1050" b="1">
                <a:solidFill>
                  <a:srgbClr val="8BE7B2"/>
                </a:solidFill>
                <a:latin typeface="DejaVu Sans"/>
              </a:defRPr>
            </a:pPr>
            <a:r>
              <a:t>PROYECTO PARCIAL · POO</a:t>
            </a:r>
          </a:p>
        </p:txBody>
      </p:sp>
      <p:sp>
        <p:nvSpPr>
          <p:cNvPr id="4" name="TextBox 3"/>
          <p:cNvSpPr txBox="1"/>
          <p:nvPr/>
        </p:nvSpPr>
        <p:spPr>
          <a:xfrm>
            <a:off x="548640" y="758952"/>
            <a:ext cx="11064240" cy="960120"/>
          </a:xfrm>
          <a:prstGeom prst="rect">
            <a:avLst/>
          </a:prstGeom>
          <a:noFill/>
        </p:spPr>
        <p:txBody>
          <a:bodyPr wrap="square" lIns="0" rIns="0" tIns="0" bIns="0">
            <a:spAutoFit/>
          </a:bodyPr>
          <a:lstStyle/>
          <a:p>
            <a:pPr>
              <a:lnSpc>
                <a:spcPct val="112000"/>
              </a:lnSpc>
              <a:spcBef>
                <a:spcPts val="0"/>
              </a:spcBef>
              <a:spcAft>
                <a:spcPts val="500"/>
              </a:spcAft>
              <a:defRPr sz="3200" b="1">
                <a:solidFill>
                  <a:srgbClr val="F1F5F4"/>
                </a:solidFill>
                <a:latin typeface="DejaVu Sans"/>
              </a:defRPr>
            </a:pPr>
            <a:r>
              <a:t>State mantiene coherente cada momento</a:t>
            </a:r>
          </a:p>
        </p:txBody>
      </p:sp>
      <p:cxnSp>
        <p:nvCxnSpPr>
          <p:cNvPr id="5" name="Connector 4"/>
          <p:cNvCxnSpPr/>
          <p:nvPr/>
        </p:nvCxnSpPr>
        <p:spPr>
          <a:xfrm>
            <a:off x="548640" y="6419088"/>
            <a:ext cx="11091672" cy="0"/>
          </a:xfrm>
          <a:prstGeom prst="line">
            <a:avLst/>
          </a:prstGeom>
          <a:ln w="8255">
            <a:solidFill>
              <a:srgbClr val="3D5867"/>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519672"/>
            <a:ext cx="3017520" cy="173736"/>
          </a:xfrm>
          <a:prstGeom prst="rect">
            <a:avLst/>
          </a:prstGeom>
          <a:noFill/>
        </p:spPr>
        <p:txBody>
          <a:bodyPr wrap="square" lIns="0" rIns="0" tIns="0" bIns="0">
            <a:spAutoFit/>
          </a:bodyPr>
          <a:lstStyle/>
          <a:p>
            <a:pPr>
              <a:lnSpc>
                <a:spcPct val="112000"/>
              </a:lnSpc>
              <a:spcBef>
                <a:spcPts val="0"/>
              </a:spcBef>
              <a:spcAft>
                <a:spcPts val="500"/>
              </a:spcAft>
              <a:defRPr sz="850" b="0">
                <a:solidFill>
                  <a:srgbClr val="A9BBC6"/>
                </a:solidFill>
                <a:latin typeface="DejaVu Sans"/>
              </a:defRPr>
            </a:pPr>
            <a:r>
              <a:t>FUGA DE LA PRISIÓN  /  2026-II</a:t>
            </a:r>
          </a:p>
        </p:txBody>
      </p:sp>
      <p:sp>
        <p:nvSpPr>
          <p:cNvPr id="7" name="TextBox 6"/>
          <p:cNvSpPr txBox="1"/>
          <p:nvPr/>
        </p:nvSpPr>
        <p:spPr>
          <a:xfrm>
            <a:off x="3703320" y="6519672"/>
            <a:ext cx="7132320" cy="182880"/>
          </a:xfrm>
          <a:prstGeom prst="rect">
            <a:avLst/>
          </a:prstGeom>
          <a:noFill/>
        </p:spPr>
        <p:txBody>
          <a:bodyPr wrap="square" lIns="0" rIns="0" tIns="0" bIns="0">
            <a:spAutoFit/>
          </a:bodyPr>
          <a:lstStyle/>
          <a:p>
            <a:pPr algn="r">
              <a:lnSpc>
                <a:spcPct val="112000"/>
              </a:lnSpc>
              <a:spcBef>
                <a:spcPts val="0"/>
              </a:spcBef>
              <a:spcAft>
                <a:spcPts val="500"/>
              </a:spcAft>
              <a:defRPr sz="850" b="0">
                <a:solidFill>
                  <a:srgbClr val="A9BBC6"/>
                </a:solidFill>
                <a:latin typeface="DejaVu Sans"/>
              </a:defRPr>
            </a:pPr>
            <a:r>
              <a:t>Fuentes: src/estados.py · src/juego.py · main.py</a:t>
            </a:r>
          </a:p>
        </p:txBody>
      </p:sp>
      <p:sp>
        <p:nvSpPr>
          <p:cNvPr id="8" name="TextBox 7"/>
          <p:cNvSpPr txBox="1"/>
          <p:nvPr/>
        </p:nvSpPr>
        <p:spPr>
          <a:xfrm>
            <a:off x="11018520" y="6492240"/>
            <a:ext cx="594360" cy="274320"/>
          </a:xfrm>
          <a:prstGeom prst="rect">
            <a:avLst/>
          </a:prstGeom>
          <a:noFill/>
        </p:spPr>
        <p:txBody>
          <a:bodyPr wrap="square" lIns="0" rIns="0" tIns="0" bIns="0">
            <a:spAutoFit/>
          </a:bodyPr>
          <a:lstStyle/>
          <a:p>
            <a:pPr algn="r">
              <a:lnSpc>
                <a:spcPct val="112000"/>
              </a:lnSpc>
              <a:spcBef>
                <a:spcPts val="0"/>
              </a:spcBef>
              <a:spcAft>
                <a:spcPts val="500"/>
              </a:spcAft>
              <a:defRPr sz="1100" b="1">
                <a:solidFill>
                  <a:srgbClr val="8BE7B2"/>
                </a:solidFill>
                <a:latin typeface="DejaVu Sans"/>
              </a:defRPr>
            </a:pPr>
            <a:r>
              <a:t>08</a:t>
            </a:r>
          </a:p>
        </p:txBody>
      </p:sp>
      <p:sp>
        <p:nvSpPr>
          <p:cNvPr id="9" name="Rounded Rectangle 8"/>
          <p:cNvSpPr/>
          <p:nvPr/>
        </p:nvSpPr>
        <p:spPr>
          <a:xfrm>
            <a:off x="612648" y="1837943"/>
            <a:ext cx="3246120" cy="1344168"/>
          </a:xfrm>
          <a:prstGeom prst="roundRect">
            <a:avLst>
              <a:gd name="adj" fmla="val 8000"/>
            </a:avLst>
          </a:prstGeom>
          <a:solidFill>
            <a:srgbClr val="182A35"/>
          </a:solidFill>
          <a:ln w="12700">
            <a:solidFill>
              <a:srgbClr val="3D586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0936" y="1947672"/>
            <a:ext cx="41148" cy="1124712"/>
          </a:xfrm>
          <a:prstGeom prst="rect">
            <a:avLst/>
          </a:prstGeom>
          <a:solidFill>
            <a:srgbClr val="94CA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3816" y="2002536"/>
            <a:ext cx="2880360" cy="411480"/>
          </a:xfrm>
          <a:prstGeom prst="rect">
            <a:avLst/>
          </a:prstGeom>
          <a:noFill/>
        </p:spPr>
        <p:txBody>
          <a:bodyPr wrap="square" lIns="0" rIns="0" tIns="0" bIns="0">
            <a:spAutoFit/>
          </a:bodyPr>
          <a:lstStyle/>
          <a:p>
            <a:pPr>
              <a:lnSpc>
                <a:spcPct val="112000"/>
              </a:lnSpc>
              <a:spcBef>
                <a:spcPts val="0"/>
              </a:spcBef>
              <a:spcAft>
                <a:spcPts val="500"/>
              </a:spcAft>
              <a:defRPr sz="2000" b="1">
                <a:solidFill>
                  <a:srgbClr val="94CAEE"/>
                </a:solidFill>
                <a:latin typeface="DejaVu Sans"/>
              </a:defRPr>
            </a:pPr>
            <a:r>
              <a:t>EstadoJuego</a:t>
            </a:r>
          </a:p>
        </p:txBody>
      </p:sp>
      <p:sp>
        <p:nvSpPr>
          <p:cNvPr id="12" name="TextBox 11"/>
          <p:cNvSpPr txBox="1"/>
          <p:nvPr/>
        </p:nvSpPr>
        <p:spPr>
          <a:xfrm>
            <a:off x="813816" y="2551176"/>
            <a:ext cx="2852927" cy="539496"/>
          </a:xfrm>
          <a:prstGeom prst="rect">
            <a:avLst/>
          </a:prstGeom>
          <a:noFill/>
        </p:spPr>
        <p:txBody>
          <a:bodyPr wrap="square" lIns="0" rIns="0" tIns="0" bIns="0">
            <a:spAutoFit/>
          </a:bodyPr>
          <a:lstStyle/>
          <a:p>
            <a:pPr>
              <a:lnSpc>
                <a:spcPct val="112000"/>
              </a:lnSpc>
              <a:spcBef>
                <a:spcPts val="0"/>
              </a:spcBef>
              <a:spcAft>
                <a:spcPts val="500"/>
              </a:spcAft>
              <a:defRPr sz="1600" b="0">
                <a:solidFill>
                  <a:srgbClr val="A9BBC6"/>
                </a:solidFill>
                <a:latin typeface="DejaVu Sans"/>
              </a:defRPr>
            </a:pPr>
            <a:r>
              <a:t>Contrato de entrada y actualización.</a:t>
            </a:r>
          </a:p>
        </p:txBody>
      </p:sp>
      <p:sp>
        <p:nvSpPr>
          <p:cNvPr id="13" name="TextBox 12"/>
          <p:cNvSpPr txBox="1"/>
          <p:nvPr/>
        </p:nvSpPr>
        <p:spPr>
          <a:xfrm>
            <a:off x="640080" y="3557016"/>
            <a:ext cx="3172968" cy="1143000"/>
          </a:xfrm>
          <a:prstGeom prst="rect">
            <a:avLst/>
          </a:prstGeom>
          <a:noFill/>
        </p:spPr>
        <p:txBody>
          <a:bodyPr wrap="square" lIns="0" rIns="0" tIns="0" bIns="0">
            <a:spAutoFit/>
          </a:bodyPr>
          <a:lstStyle/>
          <a:p>
            <a:pPr>
              <a:lnSpc>
                <a:spcPct val="112000"/>
              </a:lnSpc>
              <a:spcBef>
                <a:spcPts val="0"/>
              </a:spcBef>
              <a:spcAft>
                <a:spcPts val="500"/>
              </a:spcAft>
              <a:defRPr sz="2400" b="1">
                <a:solidFill>
                  <a:srgbClr val="F1F5F4"/>
                </a:solidFill>
                <a:latin typeface="DejaVu Sans"/>
              </a:defRPr>
            </a:pPr>
            <a:r>
              <a:t>Juego delega en</a:t>
            </a:r>
          </a:p>
          <a:p>
            <a:pPr>
              <a:lnSpc>
                <a:spcPct val="112000"/>
              </a:lnSpc>
              <a:spcBef>
                <a:spcPts val="0"/>
              </a:spcBef>
              <a:spcAft>
                <a:spcPts val="500"/>
              </a:spcAft>
              <a:defRPr sz="2400" b="1">
                <a:solidFill>
                  <a:srgbClr val="F1F5F4"/>
                </a:solidFill>
                <a:latin typeface="DejaVu Sans"/>
              </a:defRPr>
            </a:pPr>
            <a:r>
              <a:t>el estado activo.</a:t>
            </a:r>
          </a:p>
        </p:txBody>
      </p:sp>
      <p:sp>
        <p:nvSpPr>
          <p:cNvPr id="14" name="Rounded Rectangle 13"/>
          <p:cNvSpPr/>
          <p:nvPr/>
        </p:nvSpPr>
        <p:spPr>
          <a:xfrm>
            <a:off x="621792" y="4727448"/>
            <a:ext cx="3246120" cy="1088136"/>
          </a:xfrm>
          <a:prstGeom prst="roundRect">
            <a:avLst>
              <a:gd name="adj" fmla="val 8000"/>
            </a:avLst>
          </a:prstGeom>
          <a:solidFill>
            <a:srgbClr val="091118"/>
          </a:solidFill>
          <a:ln w="12700">
            <a:solidFill>
              <a:srgbClr val="3D586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392" y="4910328"/>
            <a:ext cx="2788920" cy="768096"/>
          </a:xfrm>
          <a:prstGeom prst="rect">
            <a:avLst/>
          </a:prstGeom>
          <a:noFill/>
        </p:spPr>
        <p:txBody>
          <a:bodyPr wrap="square" lIns="0" rIns="0" tIns="0" bIns="0">
            <a:spAutoFit/>
          </a:bodyPr>
          <a:lstStyle/>
          <a:p>
            <a:pPr>
              <a:lnSpc>
                <a:spcPct val="112000"/>
              </a:lnSpc>
              <a:spcBef>
                <a:spcPts val="0"/>
              </a:spcBef>
              <a:spcAft>
                <a:spcPts val="500"/>
              </a:spcAft>
              <a:defRPr sz="1250" b="0">
                <a:solidFill>
                  <a:srgbClr val="8BE7B2"/>
                </a:solidFill>
                <a:latin typeface="DejaVu Sans Mono"/>
              </a:defRPr>
            </a:pPr>
            <a:r>
              <a:t>self.estado.actualizar(</a:t>
            </a:r>
          </a:p>
          <a:p>
            <a:pPr>
              <a:lnSpc>
                <a:spcPct val="112000"/>
              </a:lnSpc>
              <a:spcBef>
                <a:spcPts val="0"/>
              </a:spcBef>
              <a:spcAft>
                <a:spcPts val="500"/>
              </a:spcAft>
              <a:defRPr sz="1250" b="0">
                <a:solidFill>
                  <a:srgbClr val="8BE7B2"/>
                </a:solidFill>
                <a:latin typeface="DejaVu Sans Mono"/>
              </a:defRPr>
            </a:pPr>
            <a:r>
              <a:t>    dt, teclas)</a:t>
            </a:r>
          </a:p>
        </p:txBody>
      </p:sp>
      <p:sp>
        <p:nvSpPr>
          <p:cNvPr id="16" name="Rounded Rectangle 15"/>
          <p:cNvSpPr/>
          <p:nvPr/>
        </p:nvSpPr>
        <p:spPr>
          <a:xfrm>
            <a:off x="4599432" y="3145536"/>
            <a:ext cx="2468880" cy="960120"/>
          </a:xfrm>
          <a:prstGeom prst="roundRect">
            <a:avLst>
              <a:gd name="adj" fmla="val 8000"/>
            </a:avLst>
          </a:prstGeom>
          <a:solidFill>
            <a:srgbClr val="182A35"/>
          </a:solidFill>
          <a:ln w="12700">
            <a:solidFill>
              <a:srgbClr val="3D586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17720" y="3255264"/>
            <a:ext cx="41148" cy="740664"/>
          </a:xfrm>
          <a:prstGeom prst="rect">
            <a:avLst/>
          </a:prstGeom>
          <a:solidFill>
            <a:srgbClr val="8BE7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00600" y="3310128"/>
            <a:ext cx="2103120" cy="411480"/>
          </a:xfrm>
          <a:prstGeom prst="rect">
            <a:avLst/>
          </a:prstGeom>
          <a:noFill/>
        </p:spPr>
        <p:txBody>
          <a:bodyPr wrap="square" lIns="0" rIns="0" tIns="0" bIns="0">
            <a:spAutoFit/>
          </a:bodyPr>
          <a:lstStyle/>
          <a:p>
            <a:pPr>
              <a:lnSpc>
                <a:spcPct val="112000"/>
              </a:lnSpc>
              <a:spcBef>
                <a:spcPts val="0"/>
              </a:spcBef>
              <a:spcAft>
                <a:spcPts val="500"/>
              </a:spcAft>
              <a:defRPr sz="2100" b="1">
                <a:solidFill>
                  <a:srgbClr val="8BE7B2"/>
                </a:solidFill>
                <a:latin typeface="DejaVu Sans"/>
              </a:defRPr>
            </a:pPr>
            <a:r>
              <a:t>Jugando</a:t>
            </a:r>
          </a:p>
        </p:txBody>
      </p:sp>
      <p:sp>
        <p:nvSpPr>
          <p:cNvPr id="19" name="Rounded Rectangle 18"/>
          <p:cNvSpPr/>
          <p:nvPr/>
        </p:nvSpPr>
        <p:spPr>
          <a:xfrm>
            <a:off x="4599432" y="1810512"/>
            <a:ext cx="2468880" cy="777240"/>
          </a:xfrm>
          <a:prstGeom prst="roundRect">
            <a:avLst>
              <a:gd name="adj" fmla="val 8000"/>
            </a:avLst>
          </a:prstGeom>
          <a:solidFill>
            <a:srgbClr val="182A35"/>
          </a:solidFill>
          <a:ln w="12700">
            <a:solidFill>
              <a:srgbClr val="3D586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17720" y="1920240"/>
            <a:ext cx="41148" cy="557784"/>
          </a:xfrm>
          <a:prstGeom prst="rect">
            <a:avLst/>
          </a:prstGeom>
          <a:solidFill>
            <a:srgbClr val="94CA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00600" y="1975104"/>
            <a:ext cx="2103120" cy="411480"/>
          </a:xfrm>
          <a:prstGeom prst="rect">
            <a:avLst/>
          </a:prstGeom>
          <a:noFill/>
        </p:spPr>
        <p:txBody>
          <a:bodyPr wrap="square" lIns="0" rIns="0" tIns="0" bIns="0">
            <a:spAutoFit/>
          </a:bodyPr>
          <a:lstStyle/>
          <a:p>
            <a:pPr>
              <a:lnSpc>
                <a:spcPct val="112000"/>
              </a:lnSpc>
              <a:spcBef>
                <a:spcPts val="0"/>
              </a:spcBef>
              <a:spcAft>
                <a:spcPts val="500"/>
              </a:spcAft>
              <a:defRPr sz="2000" b="1">
                <a:solidFill>
                  <a:srgbClr val="94CAEE"/>
                </a:solidFill>
                <a:latin typeface="DejaVu Sans"/>
              </a:defRPr>
            </a:pPr>
            <a:r>
              <a:t>Pausa</a:t>
            </a:r>
          </a:p>
        </p:txBody>
      </p:sp>
      <p:sp>
        <p:nvSpPr>
          <p:cNvPr id="22" name="Rounded Rectangle 21"/>
          <p:cNvSpPr/>
          <p:nvPr/>
        </p:nvSpPr>
        <p:spPr>
          <a:xfrm>
            <a:off x="8503920" y="1901952"/>
            <a:ext cx="3044952" cy="950976"/>
          </a:xfrm>
          <a:prstGeom prst="roundRect">
            <a:avLst>
              <a:gd name="adj" fmla="val 8000"/>
            </a:avLst>
          </a:prstGeom>
          <a:solidFill>
            <a:srgbClr val="182A35"/>
          </a:solidFill>
          <a:ln w="12700">
            <a:solidFill>
              <a:srgbClr val="3D586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522208" y="2011680"/>
            <a:ext cx="41148" cy="731520"/>
          </a:xfrm>
          <a:prstGeom prst="rect">
            <a:avLst/>
          </a:prstGeom>
          <a:solidFill>
            <a:srgbClr val="FFD3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705088" y="2066544"/>
            <a:ext cx="2679192" cy="411480"/>
          </a:xfrm>
          <a:prstGeom prst="rect">
            <a:avLst/>
          </a:prstGeom>
          <a:noFill/>
        </p:spPr>
        <p:txBody>
          <a:bodyPr wrap="square" lIns="0" rIns="0" tIns="0" bIns="0">
            <a:spAutoFit/>
          </a:bodyPr>
          <a:lstStyle/>
          <a:p>
            <a:pPr>
              <a:lnSpc>
                <a:spcPct val="112000"/>
              </a:lnSpc>
              <a:spcBef>
                <a:spcPts val="0"/>
              </a:spcBef>
              <a:spcAft>
                <a:spcPts val="500"/>
              </a:spcAft>
              <a:defRPr sz="1700" b="1">
                <a:solidFill>
                  <a:srgbClr val="FFD36D"/>
                </a:solidFill>
                <a:latin typeface="DejaVu Sans"/>
              </a:defRPr>
            </a:pPr>
            <a:r>
              <a:t>NivelCompletado</a:t>
            </a:r>
          </a:p>
        </p:txBody>
      </p:sp>
      <p:sp>
        <p:nvSpPr>
          <p:cNvPr id="25" name="Rounded Rectangle 24"/>
          <p:cNvSpPr/>
          <p:nvPr/>
        </p:nvSpPr>
        <p:spPr>
          <a:xfrm>
            <a:off x="8503920" y="3392424"/>
            <a:ext cx="3044952" cy="950976"/>
          </a:xfrm>
          <a:prstGeom prst="roundRect">
            <a:avLst>
              <a:gd name="adj" fmla="val 8000"/>
            </a:avLst>
          </a:prstGeom>
          <a:solidFill>
            <a:srgbClr val="182A35"/>
          </a:solidFill>
          <a:ln w="12700">
            <a:solidFill>
              <a:srgbClr val="3D586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522208" y="3502152"/>
            <a:ext cx="41148" cy="731520"/>
          </a:xfrm>
          <a:prstGeom prst="rect">
            <a:avLst/>
          </a:prstGeom>
          <a:solidFill>
            <a:srgbClr val="FF8E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05088" y="3557016"/>
            <a:ext cx="2679192" cy="411480"/>
          </a:xfrm>
          <a:prstGeom prst="rect">
            <a:avLst/>
          </a:prstGeom>
          <a:noFill/>
        </p:spPr>
        <p:txBody>
          <a:bodyPr wrap="square" lIns="0" rIns="0" tIns="0" bIns="0">
            <a:spAutoFit/>
          </a:bodyPr>
          <a:lstStyle/>
          <a:p>
            <a:pPr>
              <a:lnSpc>
                <a:spcPct val="112000"/>
              </a:lnSpc>
              <a:spcBef>
                <a:spcPts val="0"/>
              </a:spcBef>
              <a:spcAft>
                <a:spcPts val="500"/>
              </a:spcAft>
              <a:defRPr sz="2000" b="1">
                <a:solidFill>
                  <a:srgbClr val="FF8E7C"/>
                </a:solidFill>
                <a:latin typeface="DejaVu Sans"/>
              </a:defRPr>
            </a:pPr>
            <a:r>
              <a:t>Derrota</a:t>
            </a:r>
          </a:p>
        </p:txBody>
      </p:sp>
      <p:sp>
        <p:nvSpPr>
          <p:cNvPr id="28" name="Rounded Rectangle 27"/>
          <p:cNvSpPr/>
          <p:nvPr/>
        </p:nvSpPr>
        <p:spPr>
          <a:xfrm>
            <a:off x="8503920" y="4873752"/>
            <a:ext cx="3044952" cy="950976"/>
          </a:xfrm>
          <a:prstGeom prst="roundRect">
            <a:avLst>
              <a:gd name="adj" fmla="val 8000"/>
            </a:avLst>
          </a:prstGeom>
          <a:solidFill>
            <a:srgbClr val="182A35"/>
          </a:solidFill>
          <a:ln w="12700">
            <a:solidFill>
              <a:srgbClr val="3D586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522208" y="4983480"/>
            <a:ext cx="41148" cy="731520"/>
          </a:xfrm>
          <a:prstGeom prst="rect">
            <a:avLst/>
          </a:prstGeom>
          <a:solidFill>
            <a:srgbClr val="8BE7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05088" y="5038344"/>
            <a:ext cx="2679192" cy="411480"/>
          </a:xfrm>
          <a:prstGeom prst="rect">
            <a:avLst/>
          </a:prstGeom>
          <a:noFill/>
        </p:spPr>
        <p:txBody>
          <a:bodyPr wrap="square" lIns="0" rIns="0" tIns="0" bIns="0">
            <a:spAutoFit/>
          </a:bodyPr>
          <a:lstStyle/>
          <a:p>
            <a:pPr>
              <a:lnSpc>
                <a:spcPct val="112000"/>
              </a:lnSpc>
              <a:spcBef>
                <a:spcPts val="0"/>
              </a:spcBef>
              <a:spcAft>
                <a:spcPts val="500"/>
              </a:spcAft>
              <a:defRPr sz="2000" b="1">
                <a:solidFill>
                  <a:srgbClr val="8BE7B2"/>
                </a:solidFill>
                <a:latin typeface="DejaVu Sans"/>
              </a:defRPr>
            </a:pPr>
            <a:r>
              <a:t>Victoria</a:t>
            </a:r>
          </a:p>
        </p:txBody>
      </p:sp>
      <p:cxnSp>
        <p:nvCxnSpPr>
          <p:cNvPr id="31" name="Connector 30"/>
          <p:cNvCxnSpPr/>
          <p:nvPr/>
        </p:nvCxnSpPr>
        <p:spPr>
          <a:xfrm flipV="1">
            <a:off x="5833872" y="2587752"/>
            <a:ext cx="0" cy="557784"/>
          </a:xfrm>
          <a:prstGeom prst="line">
            <a:avLst/>
          </a:prstGeom>
          <a:ln w="19050">
            <a:solidFill>
              <a:srgbClr val="94CAEE"/>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6080760" y="2587752"/>
            <a:ext cx="0" cy="557784"/>
          </a:xfrm>
          <a:prstGeom prst="line">
            <a:avLst/>
          </a:prstGeom>
          <a:ln w="19050">
            <a:solidFill>
              <a:srgbClr val="94CAEE"/>
            </a:solidFill>
            <a:tailEnd type="triangle" w="sm" len="sm"/>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626864" y="2724912"/>
            <a:ext cx="1005840" cy="228600"/>
          </a:xfrm>
          <a:prstGeom prst="rect">
            <a:avLst/>
          </a:prstGeom>
          <a:noFill/>
        </p:spPr>
        <p:txBody>
          <a:bodyPr wrap="square" lIns="0" rIns="0" tIns="0" bIns="0">
            <a:spAutoFit/>
          </a:bodyPr>
          <a:lstStyle/>
          <a:p>
            <a:pPr>
              <a:lnSpc>
                <a:spcPct val="112000"/>
              </a:lnSpc>
              <a:spcBef>
                <a:spcPts val="0"/>
              </a:spcBef>
              <a:spcAft>
                <a:spcPts val="500"/>
              </a:spcAft>
              <a:defRPr sz="1100" b="0">
                <a:solidFill>
                  <a:srgbClr val="94CAEE"/>
                </a:solidFill>
                <a:latin typeface="DejaVu Sans"/>
              </a:defRPr>
            </a:pPr>
            <a:r>
              <a:t>P / Esc</a:t>
            </a:r>
          </a:p>
        </p:txBody>
      </p:sp>
      <p:cxnSp>
        <p:nvCxnSpPr>
          <p:cNvPr id="34" name="Connector 33"/>
          <p:cNvCxnSpPr/>
          <p:nvPr/>
        </p:nvCxnSpPr>
        <p:spPr>
          <a:xfrm flipV="1">
            <a:off x="7068312" y="2423160"/>
            <a:ext cx="1435608" cy="1024128"/>
          </a:xfrm>
          <a:prstGeom prst="line">
            <a:avLst/>
          </a:prstGeom>
          <a:ln w="19050">
            <a:solidFill>
              <a:srgbClr val="FFD36D"/>
            </a:solidFill>
            <a:tailEnd type="triangle" w="sm" len="sm"/>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7095744" y="2679192"/>
            <a:ext cx="1353312" cy="457200"/>
          </a:xfrm>
          <a:prstGeom prst="rect">
            <a:avLst/>
          </a:prstGeom>
          <a:noFill/>
        </p:spPr>
        <p:txBody>
          <a:bodyPr wrap="square" lIns="0" rIns="0" tIns="0" bIns="0">
            <a:spAutoFit/>
          </a:bodyPr>
          <a:lstStyle/>
          <a:p>
            <a:pPr>
              <a:lnSpc>
                <a:spcPct val="112000"/>
              </a:lnSpc>
              <a:spcBef>
                <a:spcPts val="0"/>
              </a:spcBef>
              <a:spcAft>
                <a:spcPts val="500"/>
              </a:spcAft>
              <a:defRPr sz="1100" b="0">
                <a:solidFill>
                  <a:srgbClr val="FFD36D"/>
                </a:solidFill>
                <a:latin typeface="DejaVu Sans"/>
              </a:defRPr>
            </a:pPr>
            <a:r>
              <a:t>salida de</a:t>
            </a:r>
          </a:p>
          <a:p>
            <a:pPr>
              <a:lnSpc>
                <a:spcPct val="112000"/>
              </a:lnSpc>
              <a:spcBef>
                <a:spcPts val="0"/>
              </a:spcBef>
              <a:spcAft>
                <a:spcPts val="500"/>
              </a:spcAft>
              <a:defRPr sz="1100" b="0">
                <a:solidFill>
                  <a:srgbClr val="FFD36D"/>
                </a:solidFill>
                <a:latin typeface="DejaVu Sans"/>
              </a:defRPr>
            </a:pPr>
            <a:r>
              <a:t>nivel</a:t>
            </a:r>
          </a:p>
        </p:txBody>
      </p:sp>
      <p:cxnSp>
        <p:nvCxnSpPr>
          <p:cNvPr id="36" name="Connector 35"/>
          <p:cNvCxnSpPr/>
          <p:nvPr/>
        </p:nvCxnSpPr>
        <p:spPr>
          <a:xfrm>
            <a:off x="7068312" y="3666744"/>
            <a:ext cx="1435608" cy="182880"/>
          </a:xfrm>
          <a:prstGeom prst="line">
            <a:avLst/>
          </a:prstGeom>
          <a:ln w="19050">
            <a:solidFill>
              <a:srgbClr val="FF8E7C"/>
            </a:solidFill>
            <a:tailEnd type="triangle" w="sm" len="sm"/>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7132320" y="3383280"/>
            <a:ext cx="1280160" cy="228600"/>
          </a:xfrm>
          <a:prstGeom prst="rect">
            <a:avLst/>
          </a:prstGeom>
          <a:noFill/>
        </p:spPr>
        <p:txBody>
          <a:bodyPr wrap="square" lIns="0" rIns="0" tIns="0" bIns="0">
            <a:spAutoFit/>
          </a:bodyPr>
          <a:lstStyle/>
          <a:p>
            <a:pPr>
              <a:lnSpc>
                <a:spcPct val="112000"/>
              </a:lnSpc>
              <a:spcBef>
                <a:spcPts val="0"/>
              </a:spcBef>
              <a:spcAft>
                <a:spcPts val="500"/>
              </a:spcAft>
              <a:defRPr sz="950" b="0">
                <a:solidFill>
                  <a:srgbClr val="FF8E7C"/>
                </a:solidFill>
                <a:latin typeface="DejaVu Sans"/>
              </a:defRPr>
            </a:pPr>
            <a:r>
              <a:t>captura / vida 0</a:t>
            </a:r>
          </a:p>
        </p:txBody>
      </p:sp>
      <p:cxnSp>
        <p:nvCxnSpPr>
          <p:cNvPr id="38" name="Connector 37"/>
          <p:cNvCxnSpPr/>
          <p:nvPr/>
        </p:nvCxnSpPr>
        <p:spPr>
          <a:xfrm>
            <a:off x="6903720" y="4105656"/>
            <a:ext cx="1600200" cy="1225296"/>
          </a:xfrm>
          <a:prstGeom prst="line">
            <a:avLst/>
          </a:prstGeom>
          <a:ln w="19050">
            <a:solidFill>
              <a:srgbClr val="8BE7B2"/>
            </a:solidFill>
            <a:tailEnd type="triangle" w="sm" len="sm"/>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6949440" y="4663440"/>
            <a:ext cx="1417320" cy="457200"/>
          </a:xfrm>
          <a:prstGeom prst="rect">
            <a:avLst/>
          </a:prstGeom>
          <a:noFill/>
        </p:spPr>
        <p:txBody>
          <a:bodyPr wrap="square" lIns="0" rIns="0" tIns="0" bIns="0">
            <a:spAutoFit/>
          </a:bodyPr>
          <a:lstStyle/>
          <a:p>
            <a:pPr>
              <a:lnSpc>
                <a:spcPct val="112000"/>
              </a:lnSpc>
              <a:spcBef>
                <a:spcPts val="0"/>
              </a:spcBef>
              <a:spcAft>
                <a:spcPts val="500"/>
              </a:spcAft>
              <a:defRPr sz="1100" b="0">
                <a:solidFill>
                  <a:srgbClr val="8BE7B2"/>
                </a:solidFill>
                <a:latin typeface="DejaVu Sans"/>
              </a:defRPr>
            </a:pPr>
            <a:r>
              <a:t>salida de</a:t>
            </a:r>
          </a:p>
          <a:p>
            <a:pPr>
              <a:lnSpc>
                <a:spcPct val="112000"/>
              </a:lnSpc>
              <a:spcBef>
                <a:spcPts val="0"/>
              </a:spcBef>
              <a:spcAft>
                <a:spcPts val="500"/>
              </a:spcAft>
              <a:defRPr sz="1100" b="0">
                <a:solidFill>
                  <a:srgbClr val="8BE7B2"/>
                </a:solidFill>
                <a:latin typeface="DejaVu Sans"/>
              </a:defRPr>
            </a:pPr>
            <a:r>
              <a:t>la arena</a:t>
            </a:r>
          </a:p>
        </p:txBody>
      </p:sp>
      <p:sp>
        <p:nvSpPr>
          <p:cNvPr id="40" name="TextBox 39"/>
          <p:cNvSpPr txBox="1"/>
          <p:nvPr/>
        </p:nvSpPr>
        <p:spPr>
          <a:xfrm>
            <a:off x="4553712" y="6044184"/>
            <a:ext cx="7040880" cy="237744"/>
          </a:xfrm>
          <a:prstGeom prst="rect">
            <a:avLst/>
          </a:prstGeom>
          <a:noFill/>
        </p:spPr>
        <p:txBody>
          <a:bodyPr wrap="square" lIns="0" rIns="0" tIns="0" bIns="0">
            <a:spAutoFit/>
          </a:bodyPr>
          <a:lstStyle/>
          <a:p>
            <a:pPr>
              <a:lnSpc>
                <a:spcPct val="112000"/>
              </a:lnSpc>
              <a:spcBef>
                <a:spcPts val="0"/>
              </a:spcBef>
              <a:spcAft>
                <a:spcPts val="500"/>
              </a:spcAft>
              <a:defRPr sz="1300" b="0">
                <a:solidFill>
                  <a:srgbClr val="A9BBC6"/>
                </a:solidFill>
                <a:latin typeface="DejaVu Sans"/>
              </a:defRPr>
            </a:pPr>
            <a:r>
              <a:t>La pausa detiene la simulación: movimiento, vigilancia y combate.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D1821"/>
        </a:solidFill>
        <a:effectLst/>
      </p:bgPr>
    </p:bg>
    <p:spTree>
      <p:nvGrpSpPr>
        <p:cNvPr id="1" name=""/>
        <p:cNvGrpSpPr/>
        <p:nvPr/>
      </p:nvGrpSpPr>
      <p:grpSpPr/>
      <p:sp>
        <p:nvSpPr>
          <p:cNvPr id="2" name="Rectangle 1"/>
          <p:cNvSpPr/>
          <p:nvPr/>
        </p:nvSpPr>
        <p:spPr>
          <a:xfrm>
            <a:off x="548640" y="320040"/>
            <a:ext cx="292608" cy="50292"/>
          </a:xfrm>
          <a:prstGeom prst="rect">
            <a:avLst/>
          </a:prstGeom>
          <a:solidFill>
            <a:srgbClr val="8BE7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37744"/>
            <a:ext cx="9144000" cy="274320"/>
          </a:xfrm>
          <a:prstGeom prst="rect">
            <a:avLst/>
          </a:prstGeom>
          <a:noFill/>
        </p:spPr>
        <p:txBody>
          <a:bodyPr wrap="square" lIns="0" rIns="0" tIns="0" bIns="0">
            <a:spAutoFit/>
          </a:bodyPr>
          <a:lstStyle/>
          <a:p>
            <a:pPr>
              <a:lnSpc>
                <a:spcPct val="112000"/>
              </a:lnSpc>
              <a:spcBef>
                <a:spcPts val="0"/>
              </a:spcBef>
              <a:spcAft>
                <a:spcPts val="500"/>
              </a:spcAft>
              <a:defRPr sz="1050" b="1">
                <a:solidFill>
                  <a:srgbClr val="8BE7B2"/>
                </a:solidFill>
                <a:latin typeface="DejaVu Sans"/>
              </a:defRPr>
            </a:pPr>
            <a:r>
              <a:t>PROYECTO PARCIAL · POO</a:t>
            </a:r>
          </a:p>
        </p:txBody>
      </p:sp>
      <p:sp>
        <p:nvSpPr>
          <p:cNvPr id="4" name="TextBox 3"/>
          <p:cNvSpPr txBox="1"/>
          <p:nvPr/>
        </p:nvSpPr>
        <p:spPr>
          <a:xfrm>
            <a:off x="548640" y="758952"/>
            <a:ext cx="11064240" cy="960120"/>
          </a:xfrm>
          <a:prstGeom prst="rect">
            <a:avLst/>
          </a:prstGeom>
          <a:noFill/>
        </p:spPr>
        <p:txBody>
          <a:bodyPr wrap="square" lIns="0" rIns="0" tIns="0" bIns="0">
            <a:spAutoFit/>
          </a:bodyPr>
          <a:lstStyle/>
          <a:p>
            <a:pPr>
              <a:lnSpc>
                <a:spcPct val="112000"/>
              </a:lnSpc>
              <a:spcBef>
                <a:spcPts val="0"/>
              </a:spcBef>
              <a:spcAft>
                <a:spcPts val="500"/>
              </a:spcAft>
              <a:defRPr sz="3200" b="1">
                <a:solidFill>
                  <a:srgbClr val="F1F5F4"/>
                </a:solidFill>
                <a:latin typeface="DejaVu Sans"/>
              </a:defRPr>
            </a:pPr>
            <a:r>
              <a:t>Observer conecta el puntaje con la interfaz</a:t>
            </a:r>
          </a:p>
        </p:txBody>
      </p:sp>
      <p:cxnSp>
        <p:nvCxnSpPr>
          <p:cNvPr id="5" name="Connector 4"/>
          <p:cNvCxnSpPr/>
          <p:nvPr/>
        </p:nvCxnSpPr>
        <p:spPr>
          <a:xfrm>
            <a:off x="548640" y="6419088"/>
            <a:ext cx="11091672" cy="0"/>
          </a:xfrm>
          <a:prstGeom prst="line">
            <a:avLst/>
          </a:prstGeom>
          <a:ln w="8255">
            <a:solidFill>
              <a:srgbClr val="3D5867"/>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519672"/>
            <a:ext cx="3017520" cy="173736"/>
          </a:xfrm>
          <a:prstGeom prst="rect">
            <a:avLst/>
          </a:prstGeom>
          <a:noFill/>
        </p:spPr>
        <p:txBody>
          <a:bodyPr wrap="square" lIns="0" rIns="0" tIns="0" bIns="0">
            <a:spAutoFit/>
          </a:bodyPr>
          <a:lstStyle/>
          <a:p>
            <a:pPr>
              <a:lnSpc>
                <a:spcPct val="112000"/>
              </a:lnSpc>
              <a:spcBef>
                <a:spcPts val="0"/>
              </a:spcBef>
              <a:spcAft>
                <a:spcPts val="500"/>
              </a:spcAft>
              <a:defRPr sz="850" b="0">
                <a:solidFill>
                  <a:srgbClr val="A9BBC6"/>
                </a:solidFill>
                <a:latin typeface="DejaVu Sans"/>
              </a:defRPr>
            </a:pPr>
            <a:r>
              <a:t>FUGA DE LA PRISIÓN  /  2026-II</a:t>
            </a:r>
          </a:p>
        </p:txBody>
      </p:sp>
      <p:sp>
        <p:nvSpPr>
          <p:cNvPr id="7" name="TextBox 6"/>
          <p:cNvSpPr txBox="1"/>
          <p:nvPr/>
        </p:nvSpPr>
        <p:spPr>
          <a:xfrm>
            <a:off x="3703320" y="6519672"/>
            <a:ext cx="7132320" cy="182880"/>
          </a:xfrm>
          <a:prstGeom prst="rect">
            <a:avLst/>
          </a:prstGeom>
          <a:noFill/>
        </p:spPr>
        <p:txBody>
          <a:bodyPr wrap="square" lIns="0" rIns="0" tIns="0" bIns="0">
            <a:spAutoFit/>
          </a:bodyPr>
          <a:lstStyle/>
          <a:p>
            <a:pPr algn="r">
              <a:lnSpc>
                <a:spcPct val="112000"/>
              </a:lnSpc>
              <a:spcBef>
                <a:spcPts val="0"/>
              </a:spcBef>
              <a:spcAft>
                <a:spcPts val="500"/>
              </a:spcAft>
              <a:defRPr sz="850" b="0">
                <a:solidFill>
                  <a:srgbClr val="A9BBC6"/>
                </a:solidFill>
                <a:latin typeface="DejaVu Sans"/>
              </a:defRPr>
            </a:pPr>
            <a:r>
              <a:t>Fuentes: src/puntuacion.py · src/juego.py · src/vista.py</a:t>
            </a:r>
          </a:p>
        </p:txBody>
      </p:sp>
      <p:sp>
        <p:nvSpPr>
          <p:cNvPr id="8" name="TextBox 7"/>
          <p:cNvSpPr txBox="1"/>
          <p:nvPr/>
        </p:nvSpPr>
        <p:spPr>
          <a:xfrm>
            <a:off x="11018520" y="6492240"/>
            <a:ext cx="594360" cy="274320"/>
          </a:xfrm>
          <a:prstGeom prst="rect">
            <a:avLst/>
          </a:prstGeom>
          <a:noFill/>
        </p:spPr>
        <p:txBody>
          <a:bodyPr wrap="square" lIns="0" rIns="0" tIns="0" bIns="0">
            <a:spAutoFit/>
          </a:bodyPr>
          <a:lstStyle/>
          <a:p>
            <a:pPr algn="r">
              <a:lnSpc>
                <a:spcPct val="112000"/>
              </a:lnSpc>
              <a:spcBef>
                <a:spcPts val="0"/>
              </a:spcBef>
              <a:spcAft>
                <a:spcPts val="500"/>
              </a:spcAft>
              <a:defRPr sz="1100" b="1">
                <a:solidFill>
                  <a:srgbClr val="8BE7B2"/>
                </a:solidFill>
                <a:latin typeface="DejaVu Sans"/>
              </a:defRPr>
            </a:pPr>
            <a:r>
              <a:t>09</a:t>
            </a:r>
          </a:p>
        </p:txBody>
      </p:sp>
      <p:sp>
        <p:nvSpPr>
          <p:cNvPr id="9" name="Rounded Rectangle 8"/>
          <p:cNvSpPr/>
          <p:nvPr/>
        </p:nvSpPr>
        <p:spPr>
          <a:xfrm>
            <a:off x="640080" y="1938528"/>
            <a:ext cx="548640" cy="310896"/>
          </a:xfrm>
          <a:prstGeom prst="roundRect">
            <a:avLst>
              <a:gd name="adj" fmla="val 8000"/>
            </a:avLst>
          </a:prstGeom>
          <a:solidFill>
            <a:srgbClr val="203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988820"/>
            <a:ext cx="329184" cy="228600"/>
          </a:xfrm>
          <a:prstGeom prst="rect">
            <a:avLst/>
          </a:prstGeom>
          <a:noFill/>
        </p:spPr>
        <p:txBody>
          <a:bodyPr wrap="square" lIns="0" rIns="0" tIns="0" bIns="0">
            <a:spAutoFit/>
          </a:bodyPr>
          <a:lstStyle/>
          <a:p>
            <a:pPr>
              <a:lnSpc>
                <a:spcPct val="112000"/>
              </a:lnSpc>
              <a:spcBef>
                <a:spcPts val="0"/>
              </a:spcBef>
              <a:spcAft>
                <a:spcPts val="500"/>
              </a:spcAft>
              <a:defRPr sz="1050" b="1">
                <a:solidFill>
                  <a:srgbClr val="94CAEE"/>
                </a:solidFill>
                <a:latin typeface="DejaVu Sans"/>
              </a:defRPr>
            </a:pPr>
            <a:r>
              <a:t>01</a:t>
            </a:r>
          </a:p>
        </p:txBody>
      </p:sp>
      <p:sp>
        <p:nvSpPr>
          <p:cNvPr id="11" name="Rounded Rectangle 10"/>
          <p:cNvSpPr/>
          <p:nvPr/>
        </p:nvSpPr>
        <p:spPr>
          <a:xfrm>
            <a:off x="640080" y="2560320"/>
            <a:ext cx="3355848" cy="1920240"/>
          </a:xfrm>
          <a:prstGeom prst="roundRect">
            <a:avLst>
              <a:gd name="adj" fmla="val 8000"/>
            </a:avLst>
          </a:prstGeom>
          <a:solidFill>
            <a:srgbClr val="182A35"/>
          </a:solidFill>
          <a:ln w="12700">
            <a:solidFill>
              <a:srgbClr val="3D586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2670048"/>
            <a:ext cx="41148" cy="1700784"/>
          </a:xfrm>
          <a:prstGeom prst="rect">
            <a:avLst/>
          </a:prstGeom>
          <a:solidFill>
            <a:srgbClr val="94CA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7" y="2724912"/>
            <a:ext cx="2990088" cy="411480"/>
          </a:xfrm>
          <a:prstGeom prst="rect">
            <a:avLst/>
          </a:prstGeom>
          <a:noFill/>
        </p:spPr>
        <p:txBody>
          <a:bodyPr wrap="square" lIns="0" rIns="0" tIns="0" bIns="0">
            <a:spAutoFit/>
          </a:bodyPr>
          <a:lstStyle/>
          <a:p>
            <a:pPr>
              <a:lnSpc>
                <a:spcPct val="112000"/>
              </a:lnSpc>
              <a:spcBef>
                <a:spcPts val="0"/>
              </a:spcBef>
              <a:spcAft>
                <a:spcPts val="500"/>
              </a:spcAft>
              <a:defRPr sz="2300" b="1">
                <a:solidFill>
                  <a:srgbClr val="94CAEE"/>
                </a:solidFill>
                <a:latin typeface="DejaVu Sans"/>
              </a:defRPr>
            </a:pPr>
            <a:r>
              <a:t>Nivel</a:t>
            </a:r>
          </a:p>
        </p:txBody>
      </p:sp>
      <p:sp>
        <p:nvSpPr>
          <p:cNvPr id="14" name="TextBox 13"/>
          <p:cNvSpPr txBox="1"/>
          <p:nvPr/>
        </p:nvSpPr>
        <p:spPr>
          <a:xfrm>
            <a:off x="841247" y="3273552"/>
            <a:ext cx="2962656" cy="1115568"/>
          </a:xfrm>
          <a:prstGeom prst="rect">
            <a:avLst/>
          </a:prstGeom>
          <a:noFill/>
        </p:spPr>
        <p:txBody>
          <a:bodyPr wrap="square" lIns="0" rIns="0" tIns="0" bIns="0">
            <a:spAutoFit/>
          </a:bodyPr>
          <a:lstStyle/>
          <a:p>
            <a:pPr>
              <a:lnSpc>
                <a:spcPct val="112000"/>
              </a:lnSpc>
              <a:spcBef>
                <a:spcPts val="0"/>
              </a:spcBef>
              <a:spcAft>
                <a:spcPts val="500"/>
              </a:spcAft>
              <a:defRPr sz="1600" b="0">
                <a:solidFill>
                  <a:srgbClr val="A9BBC6"/>
                </a:solidFill>
                <a:latin typeface="DejaVu Sans"/>
              </a:defRPr>
            </a:pPr>
            <a:r>
              <a:t>Ocurre una acción:</a:t>
            </a:r>
          </a:p>
          <a:p>
            <a:pPr>
              <a:lnSpc>
                <a:spcPct val="112000"/>
              </a:lnSpc>
              <a:spcBef>
                <a:spcPts val="0"/>
              </a:spcBef>
              <a:spcAft>
                <a:spcPts val="500"/>
              </a:spcAft>
              <a:defRPr sz="1600" b="0">
                <a:solidFill>
                  <a:srgbClr val="A9BBC6"/>
                </a:solidFill>
                <a:latin typeface="DejaVu Sans"/>
              </a:defRPr>
            </a:pPr>
            <a:r>
              <a:t>recoger la llave.</a:t>
            </a:r>
          </a:p>
        </p:txBody>
      </p:sp>
      <p:sp>
        <p:nvSpPr>
          <p:cNvPr id="15" name="Rounded Rectangle 14"/>
          <p:cNvSpPr/>
          <p:nvPr/>
        </p:nvSpPr>
        <p:spPr>
          <a:xfrm>
            <a:off x="4425696" y="1938528"/>
            <a:ext cx="548640" cy="310896"/>
          </a:xfrm>
          <a:prstGeom prst="roundRect">
            <a:avLst>
              <a:gd name="adj" fmla="val 8000"/>
            </a:avLst>
          </a:prstGeom>
          <a:solidFill>
            <a:srgbClr val="203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35424" y="1988820"/>
            <a:ext cx="329184" cy="228600"/>
          </a:xfrm>
          <a:prstGeom prst="rect">
            <a:avLst/>
          </a:prstGeom>
          <a:noFill/>
        </p:spPr>
        <p:txBody>
          <a:bodyPr wrap="square" lIns="0" rIns="0" tIns="0" bIns="0">
            <a:spAutoFit/>
          </a:bodyPr>
          <a:lstStyle/>
          <a:p>
            <a:pPr>
              <a:lnSpc>
                <a:spcPct val="112000"/>
              </a:lnSpc>
              <a:spcBef>
                <a:spcPts val="0"/>
              </a:spcBef>
              <a:spcAft>
                <a:spcPts val="500"/>
              </a:spcAft>
              <a:defRPr sz="1050" b="1">
                <a:solidFill>
                  <a:srgbClr val="8BE7B2"/>
                </a:solidFill>
                <a:latin typeface="DejaVu Sans"/>
              </a:defRPr>
            </a:pPr>
            <a:r>
              <a:t>02</a:t>
            </a:r>
          </a:p>
        </p:txBody>
      </p:sp>
      <p:sp>
        <p:nvSpPr>
          <p:cNvPr id="17" name="Rounded Rectangle 16"/>
          <p:cNvSpPr/>
          <p:nvPr/>
        </p:nvSpPr>
        <p:spPr>
          <a:xfrm>
            <a:off x="4425696" y="2560320"/>
            <a:ext cx="3355848" cy="1920240"/>
          </a:xfrm>
          <a:prstGeom prst="roundRect">
            <a:avLst>
              <a:gd name="adj" fmla="val 8000"/>
            </a:avLst>
          </a:prstGeom>
          <a:solidFill>
            <a:srgbClr val="182A35"/>
          </a:solidFill>
          <a:ln w="12700">
            <a:solidFill>
              <a:srgbClr val="3D586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443983" y="2670048"/>
            <a:ext cx="41148" cy="1700784"/>
          </a:xfrm>
          <a:prstGeom prst="rect">
            <a:avLst/>
          </a:prstGeom>
          <a:solidFill>
            <a:srgbClr val="8BE7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26864" y="2724912"/>
            <a:ext cx="2990088" cy="411480"/>
          </a:xfrm>
          <a:prstGeom prst="rect">
            <a:avLst/>
          </a:prstGeom>
          <a:noFill/>
        </p:spPr>
        <p:txBody>
          <a:bodyPr wrap="square" lIns="0" rIns="0" tIns="0" bIns="0">
            <a:spAutoFit/>
          </a:bodyPr>
          <a:lstStyle/>
          <a:p>
            <a:pPr>
              <a:lnSpc>
                <a:spcPct val="112000"/>
              </a:lnSpc>
              <a:spcBef>
                <a:spcPts val="0"/>
              </a:spcBef>
              <a:spcAft>
                <a:spcPts val="500"/>
              </a:spcAft>
              <a:defRPr sz="2300" b="1">
                <a:solidFill>
                  <a:srgbClr val="8BE7B2"/>
                </a:solidFill>
                <a:latin typeface="DejaVu Sans"/>
              </a:defRPr>
            </a:pPr>
            <a:r>
              <a:t>Puntaje</a:t>
            </a:r>
          </a:p>
        </p:txBody>
      </p:sp>
      <p:sp>
        <p:nvSpPr>
          <p:cNvPr id="20" name="TextBox 19"/>
          <p:cNvSpPr txBox="1"/>
          <p:nvPr/>
        </p:nvSpPr>
        <p:spPr>
          <a:xfrm>
            <a:off x="4626864" y="3273552"/>
            <a:ext cx="2962656" cy="1115568"/>
          </a:xfrm>
          <a:prstGeom prst="rect">
            <a:avLst/>
          </a:prstGeom>
          <a:noFill/>
        </p:spPr>
        <p:txBody>
          <a:bodyPr wrap="square" lIns="0" rIns="0" tIns="0" bIns="0">
            <a:spAutoFit/>
          </a:bodyPr>
          <a:lstStyle/>
          <a:p>
            <a:pPr>
              <a:lnSpc>
                <a:spcPct val="112000"/>
              </a:lnSpc>
              <a:spcBef>
                <a:spcPts val="0"/>
              </a:spcBef>
              <a:spcAft>
                <a:spcPts val="500"/>
              </a:spcAft>
              <a:defRPr sz="1600" b="0">
                <a:solidFill>
                  <a:srgbClr val="A9BBC6"/>
                </a:solidFill>
                <a:latin typeface="DejaVu Sans"/>
              </a:defRPr>
            </a:pPr>
            <a:r>
              <a:t>Suma 100 puntos</a:t>
            </a:r>
          </a:p>
          <a:p>
            <a:pPr>
              <a:lnSpc>
                <a:spcPct val="112000"/>
              </a:lnSpc>
              <a:spcBef>
                <a:spcPts val="0"/>
              </a:spcBef>
              <a:spcAft>
                <a:spcPts val="500"/>
              </a:spcAft>
              <a:defRPr sz="1600" b="0">
                <a:solidFill>
                  <a:srgbClr val="A9BBC6"/>
                </a:solidFill>
                <a:latin typeface="DejaVu Sans"/>
              </a:defRPr>
            </a:pPr>
            <a:r>
              <a:t>y notifica.</a:t>
            </a:r>
          </a:p>
        </p:txBody>
      </p:sp>
      <p:sp>
        <p:nvSpPr>
          <p:cNvPr id="21" name="Rounded Rectangle 20"/>
          <p:cNvSpPr/>
          <p:nvPr/>
        </p:nvSpPr>
        <p:spPr>
          <a:xfrm>
            <a:off x="8211312" y="1938528"/>
            <a:ext cx="548640" cy="310896"/>
          </a:xfrm>
          <a:prstGeom prst="roundRect">
            <a:avLst>
              <a:gd name="adj" fmla="val 8000"/>
            </a:avLst>
          </a:prstGeom>
          <a:solidFill>
            <a:srgbClr val="203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21040" y="1988820"/>
            <a:ext cx="329184" cy="228600"/>
          </a:xfrm>
          <a:prstGeom prst="rect">
            <a:avLst/>
          </a:prstGeom>
          <a:noFill/>
        </p:spPr>
        <p:txBody>
          <a:bodyPr wrap="square" lIns="0" rIns="0" tIns="0" bIns="0">
            <a:spAutoFit/>
          </a:bodyPr>
          <a:lstStyle/>
          <a:p>
            <a:pPr>
              <a:lnSpc>
                <a:spcPct val="112000"/>
              </a:lnSpc>
              <a:spcBef>
                <a:spcPts val="0"/>
              </a:spcBef>
              <a:spcAft>
                <a:spcPts val="500"/>
              </a:spcAft>
              <a:defRPr sz="1050" b="1">
                <a:solidFill>
                  <a:srgbClr val="FFD36D"/>
                </a:solidFill>
                <a:latin typeface="DejaVu Sans"/>
              </a:defRPr>
            </a:pPr>
            <a:r>
              <a:t>03</a:t>
            </a:r>
          </a:p>
        </p:txBody>
      </p:sp>
      <p:sp>
        <p:nvSpPr>
          <p:cNvPr id="23" name="Rounded Rectangle 22"/>
          <p:cNvSpPr/>
          <p:nvPr/>
        </p:nvSpPr>
        <p:spPr>
          <a:xfrm>
            <a:off x="8211312" y="2560320"/>
            <a:ext cx="3355848" cy="1920240"/>
          </a:xfrm>
          <a:prstGeom prst="roundRect">
            <a:avLst>
              <a:gd name="adj" fmla="val 8000"/>
            </a:avLst>
          </a:prstGeom>
          <a:solidFill>
            <a:srgbClr val="182A35"/>
          </a:solidFill>
          <a:ln w="12700">
            <a:solidFill>
              <a:srgbClr val="3D586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229600" y="2670048"/>
            <a:ext cx="41148" cy="1700784"/>
          </a:xfrm>
          <a:prstGeom prst="rect">
            <a:avLst/>
          </a:prstGeom>
          <a:solidFill>
            <a:srgbClr val="FFD3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0" y="2724912"/>
            <a:ext cx="2990088" cy="411480"/>
          </a:xfrm>
          <a:prstGeom prst="rect">
            <a:avLst/>
          </a:prstGeom>
          <a:noFill/>
        </p:spPr>
        <p:txBody>
          <a:bodyPr wrap="square" lIns="0" rIns="0" tIns="0" bIns="0">
            <a:spAutoFit/>
          </a:bodyPr>
          <a:lstStyle/>
          <a:p>
            <a:pPr>
              <a:lnSpc>
                <a:spcPct val="112000"/>
              </a:lnSpc>
              <a:spcBef>
                <a:spcPts val="0"/>
              </a:spcBef>
              <a:spcAft>
                <a:spcPts val="500"/>
              </a:spcAft>
              <a:defRPr sz="2300" b="1">
                <a:solidFill>
                  <a:srgbClr val="FFD36D"/>
                </a:solidFill>
                <a:latin typeface="DejaVu Sans"/>
              </a:defRPr>
            </a:pPr>
            <a:r>
              <a:t>PanelPuntaje</a:t>
            </a:r>
          </a:p>
        </p:txBody>
      </p:sp>
      <p:sp>
        <p:nvSpPr>
          <p:cNvPr id="26" name="TextBox 25"/>
          <p:cNvSpPr txBox="1"/>
          <p:nvPr/>
        </p:nvSpPr>
        <p:spPr>
          <a:xfrm>
            <a:off x="8412480" y="3273552"/>
            <a:ext cx="2962656" cy="1115568"/>
          </a:xfrm>
          <a:prstGeom prst="rect">
            <a:avLst/>
          </a:prstGeom>
          <a:noFill/>
        </p:spPr>
        <p:txBody>
          <a:bodyPr wrap="square" lIns="0" rIns="0" tIns="0" bIns="0">
            <a:spAutoFit/>
          </a:bodyPr>
          <a:lstStyle/>
          <a:p>
            <a:pPr>
              <a:lnSpc>
                <a:spcPct val="112000"/>
              </a:lnSpc>
              <a:spcBef>
                <a:spcPts val="0"/>
              </a:spcBef>
              <a:spcAft>
                <a:spcPts val="500"/>
              </a:spcAft>
              <a:defRPr sz="1600" b="0">
                <a:solidFill>
                  <a:srgbClr val="A9BBC6"/>
                </a:solidFill>
                <a:latin typeface="DejaVu Sans"/>
              </a:defRPr>
            </a:pPr>
            <a:r>
              <a:t>Recibe el valor</a:t>
            </a:r>
          </a:p>
          <a:p>
            <a:pPr>
              <a:lnSpc>
                <a:spcPct val="112000"/>
              </a:lnSpc>
              <a:spcBef>
                <a:spcPts val="0"/>
              </a:spcBef>
              <a:spcAft>
                <a:spcPts val="500"/>
              </a:spcAft>
              <a:defRPr sz="1600" b="0">
                <a:solidFill>
                  <a:srgbClr val="A9BBC6"/>
                </a:solidFill>
                <a:latin typeface="DejaVu Sans"/>
              </a:defRPr>
            </a:pPr>
            <a:r>
              <a:t>actualizado.</a:t>
            </a:r>
          </a:p>
        </p:txBody>
      </p:sp>
      <p:cxnSp>
        <p:nvCxnSpPr>
          <p:cNvPr id="27" name="Connector 26"/>
          <p:cNvCxnSpPr/>
          <p:nvPr/>
        </p:nvCxnSpPr>
        <p:spPr>
          <a:xfrm>
            <a:off x="3995928" y="3502152"/>
            <a:ext cx="429768" cy="0"/>
          </a:xfrm>
          <a:prstGeom prst="line">
            <a:avLst/>
          </a:prstGeom>
          <a:ln w="19050">
            <a:solidFill>
              <a:srgbClr val="8BE7B2"/>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781544" y="3502152"/>
            <a:ext cx="429768" cy="0"/>
          </a:xfrm>
          <a:prstGeom prst="line">
            <a:avLst/>
          </a:prstGeom>
          <a:ln w="19050">
            <a:solidFill>
              <a:srgbClr val="8BE7B2"/>
            </a:solidFill>
            <a:tailEnd type="triangle" w="sm" len="sm"/>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40080" y="4901184"/>
            <a:ext cx="6757416" cy="804672"/>
          </a:xfrm>
          <a:prstGeom prst="roundRect">
            <a:avLst>
              <a:gd name="adj" fmla="val 8000"/>
            </a:avLst>
          </a:prstGeom>
          <a:solidFill>
            <a:srgbClr val="091118"/>
          </a:solidFill>
          <a:ln w="12700">
            <a:solidFill>
              <a:srgbClr val="3D586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5084064"/>
            <a:ext cx="6300216" cy="484632"/>
          </a:xfrm>
          <a:prstGeom prst="rect">
            <a:avLst/>
          </a:prstGeom>
          <a:noFill/>
        </p:spPr>
        <p:txBody>
          <a:bodyPr wrap="square" lIns="0" rIns="0" tIns="0" bIns="0">
            <a:spAutoFit/>
          </a:bodyPr>
          <a:lstStyle/>
          <a:p>
            <a:pPr>
              <a:lnSpc>
                <a:spcPct val="112000"/>
              </a:lnSpc>
              <a:spcBef>
                <a:spcPts val="0"/>
              </a:spcBef>
              <a:spcAft>
                <a:spcPts val="500"/>
              </a:spcAft>
              <a:defRPr sz="1700" b="0">
                <a:solidFill>
                  <a:srgbClr val="8BE7B2"/>
                </a:solidFill>
                <a:latin typeface="DejaVu Sans Mono"/>
              </a:defRPr>
            </a:pPr>
            <a:r>
              <a:t>self.puntaje.suscribir(self.panel)</a:t>
            </a:r>
          </a:p>
        </p:txBody>
      </p:sp>
      <p:sp>
        <p:nvSpPr>
          <p:cNvPr id="31" name="TextBox 30"/>
          <p:cNvSpPr txBox="1"/>
          <p:nvPr/>
        </p:nvSpPr>
        <p:spPr>
          <a:xfrm>
            <a:off x="8211312" y="4846320"/>
            <a:ext cx="3328416" cy="1005840"/>
          </a:xfrm>
          <a:prstGeom prst="rect">
            <a:avLst/>
          </a:prstGeom>
          <a:noFill/>
        </p:spPr>
        <p:txBody>
          <a:bodyPr wrap="square" lIns="0" rIns="0" tIns="0" bIns="0">
            <a:spAutoFit/>
          </a:bodyPr>
          <a:lstStyle/>
          <a:p>
            <a:pPr>
              <a:lnSpc>
                <a:spcPct val="112000"/>
              </a:lnSpc>
              <a:spcBef>
                <a:spcPts val="0"/>
              </a:spcBef>
              <a:spcAft>
                <a:spcPts val="500"/>
              </a:spcAft>
              <a:defRPr sz="1900" b="1">
                <a:solidFill>
                  <a:srgbClr val="F1F5F4"/>
                </a:solidFill>
                <a:latin typeface="DejaVu Sans"/>
              </a:defRPr>
            </a:pPr>
            <a:r>
              <a:t>Vista dibuja el valor</a:t>
            </a:r>
          </a:p>
          <a:p>
            <a:pPr>
              <a:lnSpc>
                <a:spcPct val="112000"/>
              </a:lnSpc>
              <a:spcBef>
                <a:spcPts val="0"/>
              </a:spcBef>
              <a:spcAft>
                <a:spcPts val="500"/>
              </a:spcAft>
              <a:defRPr sz="1900" b="1">
                <a:solidFill>
                  <a:srgbClr val="F1F5F4"/>
                </a:solidFill>
                <a:latin typeface="DejaVu Sans"/>
              </a:defRPr>
            </a:pPr>
            <a:r>
              <a:t>que recibió el panel.</a:t>
            </a:r>
          </a:p>
        </p:txBody>
      </p:sp>
      <p:sp>
        <p:nvSpPr>
          <p:cNvPr id="32" name="TextBox 31"/>
          <p:cNvSpPr txBox="1"/>
          <p:nvPr/>
        </p:nvSpPr>
        <p:spPr>
          <a:xfrm>
            <a:off x="685800" y="5998464"/>
            <a:ext cx="10789920" cy="237744"/>
          </a:xfrm>
          <a:prstGeom prst="rect">
            <a:avLst/>
          </a:prstGeom>
          <a:noFill/>
        </p:spPr>
        <p:txBody>
          <a:bodyPr wrap="square" lIns="0" rIns="0" tIns="0" bIns="0">
            <a:spAutoFit/>
          </a:bodyPr>
          <a:lstStyle/>
          <a:p>
            <a:pPr>
              <a:lnSpc>
                <a:spcPct val="112000"/>
              </a:lnSpc>
              <a:spcBef>
                <a:spcPts val="0"/>
              </a:spcBef>
              <a:spcAft>
                <a:spcPts val="500"/>
              </a:spcAft>
              <a:defRPr sz="1500" b="0">
                <a:solidFill>
                  <a:srgbClr val="A9BBC6"/>
                </a:solidFill>
                <a:latin typeface="DejaVu Sans"/>
              </a:defRPr>
            </a:pPr>
            <a:r>
              <a:t>Puntaje conoce observadores; Vista se ocupa de dibujar.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D1821"/>
        </a:solidFill>
        <a:effectLst/>
      </p:bgPr>
    </p:bg>
    <p:spTree>
      <p:nvGrpSpPr>
        <p:cNvPr id="1" name=""/>
        <p:cNvGrpSpPr/>
        <p:nvPr/>
      </p:nvGrpSpPr>
      <p:grpSpPr/>
      <p:sp>
        <p:nvSpPr>
          <p:cNvPr id="2" name="Rectangle 1"/>
          <p:cNvSpPr/>
          <p:nvPr/>
        </p:nvSpPr>
        <p:spPr>
          <a:xfrm>
            <a:off x="548640" y="320040"/>
            <a:ext cx="292608" cy="50292"/>
          </a:xfrm>
          <a:prstGeom prst="rect">
            <a:avLst/>
          </a:prstGeom>
          <a:solidFill>
            <a:srgbClr val="8BE7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37744"/>
            <a:ext cx="9144000" cy="274320"/>
          </a:xfrm>
          <a:prstGeom prst="rect">
            <a:avLst/>
          </a:prstGeom>
          <a:noFill/>
        </p:spPr>
        <p:txBody>
          <a:bodyPr wrap="square" lIns="0" rIns="0" tIns="0" bIns="0">
            <a:spAutoFit/>
          </a:bodyPr>
          <a:lstStyle/>
          <a:p>
            <a:pPr>
              <a:lnSpc>
                <a:spcPct val="112000"/>
              </a:lnSpc>
              <a:spcBef>
                <a:spcPts val="0"/>
              </a:spcBef>
              <a:spcAft>
                <a:spcPts val="500"/>
              </a:spcAft>
              <a:defRPr sz="1050" b="1">
                <a:solidFill>
                  <a:srgbClr val="8BE7B2"/>
                </a:solidFill>
                <a:latin typeface="DejaVu Sans"/>
              </a:defRPr>
            </a:pPr>
            <a:r>
              <a:t>PROYECTO PARCIAL · POO</a:t>
            </a:r>
          </a:p>
        </p:txBody>
      </p:sp>
      <p:sp>
        <p:nvSpPr>
          <p:cNvPr id="4" name="TextBox 3"/>
          <p:cNvSpPr txBox="1"/>
          <p:nvPr/>
        </p:nvSpPr>
        <p:spPr>
          <a:xfrm>
            <a:off x="548640" y="758952"/>
            <a:ext cx="11064240" cy="960120"/>
          </a:xfrm>
          <a:prstGeom prst="rect">
            <a:avLst/>
          </a:prstGeom>
          <a:noFill/>
        </p:spPr>
        <p:txBody>
          <a:bodyPr wrap="square" lIns="0" rIns="0" tIns="0" bIns="0">
            <a:spAutoFit/>
          </a:bodyPr>
          <a:lstStyle/>
          <a:p>
            <a:pPr>
              <a:lnSpc>
                <a:spcPct val="112000"/>
              </a:lnSpc>
              <a:spcBef>
                <a:spcPts val="0"/>
              </a:spcBef>
              <a:spcAft>
                <a:spcPts val="500"/>
              </a:spcAft>
              <a:defRPr sz="3200" b="1">
                <a:solidFill>
                  <a:srgbClr val="F1F5F4"/>
                </a:solidFill>
                <a:latin typeface="DejaVu Sans"/>
              </a:defRPr>
            </a:pPr>
            <a:r>
              <a:t>El jefe cambia de dificultad al perder una capa</a:t>
            </a:r>
          </a:p>
        </p:txBody>
      </p:sp>
      <p:cxnSp>
        <p:nvCxnSpPr>
          <p:cNvPr id="5" name="Connector 4"/>
          <p:cNvCxnSpPr/>
          <p:nvPr/>
        </p:nvCxnSpPr>
        <p:spPr>
          <a:xfrm>
            <a:off x="548640" y="6419088"/>
            <a:ext cx="11091672" cy="0"/>
          </a:xfrm>
          <a:prstGeom prst="line">
            <a:avLst/>
          </a:prstGeom>
          <a:ln w="8255">
            <a:solidFill>
              <a:srgbClr val="3D5867"/>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519672"/>
            <a:ext cx="3017520" cy="173736"/>
          </a:xfrm>
          <a:prstGeom prst="rect">
            <a:avLst/>
          </a:prstGeom>
          <a:noFill/>
        </p:spPr>
        <p:txBody>
          <a:bodyPr wrap="square" lIns="0" rIns="0" tIns="0" bIns="0">
            <a:spAutoFit/>
          </a:bodyPr>
          <a:lstStyle/>
          <a:p>
            <a:pPr>
              <a:lnSpc>
                <a:spcPct val="112000"/>
              </a:lnSpc>
              <a:spcBef>
                <a:spcPts val="0"/>
              </a:spcBef>
              <a:spcAft>
                <a:spcPts val="500"/>
              </a:spcAft>
              <a:defRPr sz="850" b="0">
                <a:solidFill>
                  <a:srgbClr val="A9BBC6"/>
                </a:solidFill>
                <a:latin typeface="DejaVu Sans"/>
              </a:defRPr>
            </a:pPr>
            <a:r>
              <a:t>FUGA DE LA PRISIÓN  /  2026-II</a:t>
            </a:r>
          </a:p>
        </p:txBody>
      </p:sp>
      <p:sp>
        <p:nvSpPr>
          <p:cNvPr id="7" name="TextBox 6"/>
          <p:cNvSpPr txBox="1"/>
          <p:nvPr/>
        </p:nvSpPr>
        <p:spPr>
          <a:xfrm>
            <a:off x="3703320" y="6519672"/>
            <a:ext cx="7132320" cy="182880"/>
          </a:xfrm>
          <a:prstGeom prst="rect">
            <a:avLst/>
          </a:prstGeom>
          <a:noFill/>
        </p:spPr>
        <p:txBody>
          <a:bodyPr wrap="square" lIns="0" rIns="0" tIns="0" bIns="0">
            <a:spAutoFit/>
          </a:bodyPr>
          <a:lstStyle/>
          <a:p>
            <a:pPr algn="r">
              <a:lnSpc>
                <a:spcPct val="112000"/>
              </a:lnSpc>
              <a:spcBef>
                <a:spcPts val="0"/>
              </a:spcBef>
              <a:spcAft>
                <a:spcPts val="500"/>
              </a:spcAft>
              <a:defRPr sz="850" b="0">
                <a:solidFill>
                  <a:srgbClr val="A9BBC6"/>
                </a:solidFill>
                <a:latin typeface="DejaVu Sans"/>
              </a:defRPr>
            </a:pPr>
            <a:r>
              <a:t>Fuentes: src/combate.py: Alcaide · tests/test_campana.py</a:t>
            </a:r>
          </a:p>
        </p:txBody>
      </p:sp>
      <p:sp>
        <p:nvSpPr>
          <p:cNvPr id="8" name="TextBox 7"/>
          <p:cNvSpPr txBox="1"/>
          <p:nvPr/>
        </p:nvSpPr>
        <p:spPr>
          <a:xfrm>
            <a:off x="11018520" y="6492240"/>
            <a:ext cx="594360" cy="274320"/>
          </a:xfrm>
          <a:prstGeom prst="rect">
            <a:avLst/>
          </a:prstGeom>
          <a:noFill/>
        </p:spPr>
        <p:txBody>
          <a:bodyPr wrap="square" lIns="0" rIns="0" tIns="0" bIns="0">
            <a:spAutoFit/>
          </a:bodyPr>
          <a:lstStyle/>
          <a:p>
            <a:pPr algn="r">
              <a:lnSpc>
                <a:spcPct val="112000"/>
              </a:lnSpc>
              <a:spcBef>
                <a:spcPts val="0"/>
              </a:spcBef>
              <a:spcAft>
                <a:spcPts val="500"/>
              </a:spcAft>
              <a:defRPr sz="1100" b="1">
                <a:solidFill>
                  <a:srgbClr val="8BE7B2"/>
                </a:solidFill>
                <a:latin typeface="DejaVu Sans"/>
              </a:defRPr>
            </a:pPr>
            <a:r>
              <a:t>10</a:t>
            </a:r>
          </a:p>
        </p:txBody>
      </p:sp>
      <p:sp>
        <p:nvSpPr>
          <p:cNvPr id="9" name="Rectangle 8"/>
          <p:cNvSpPr/>
          <p:nvPr/>
        </p:nvSpPr>
        <p:spPr>
          <a:xfrm>
            <a:off x="598932" y="1760220"/>
            <a:ext cx="5532120" cy="4215383"/>
          </a:xfrm>
          <a:prstGeom prst="rect">
            <a:avLst/>
          </a:prstGeom>
          <a:solidFill>
            <a:srgbClr val="3D58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14_jefe_fase3.png"/>
          <p:cNvPicPr>
            <a:picLocks noChangeAspect="1"/>
          </p:cNvPicPr>
          <p:nvPr/>
        </p:nvPicPr>
        <p:blipFill>
          <a:blip r:embed="rId2"/>
          <a:stretch>
            <a:fillRect/>
          </a:stretch>
        </p:blipFill>
        <p:spPr>
          <a:xfrm>
            <a:off x="621792" y="1783080"/>
            <a:ext cx="5486400" cy="4169663"/>
          </a:xfrm>
          <a:prstGeom prst="rect">
            <a:avLst/>
          </a:prstGeom>
        </p:spPr>
      </p:pic>
      <p:sp>
        <p:nvSpPr>
          <p:cNvPr id="11" name="TextBox 10"/>
          <p:cNvSpPr txBox="1"/>
          <p:nvPr/>
        </p:nvSpPr>
        <p:spPr>
          <a:xfrm>
            <a:off x="6537960" y="1828800"/>
            <a:ext cx="5029200" cy="502920"/>
          </a:xfrm>
          <a:prstGeom prst="rect">
            <a:avLst/>
          </a:prstGeom>
          <a:noFill/>
        </p:spPr>
        <p:txBody>
          <a:bodyPr wrap="square" lIns="0" rIns="0" tIns="0" bIns="0">
            <a:spAutoFit/>
          </a:bodyPr>
          <a:lstStyle/>
          <a:p>
            <a:pPr>
              <a:lnSpc>
                <a:spcPct val="112000"/>
              </a:lnSpc>
              <a:spcBef>
                <a:spcPts val="0"/>
              </a:spcBef>
              <a:spcAft>
                <a:spcPts val="500"/>
              </a:spcAft>
              <a:defRPr sz="1800" b="1">
                <a:solidFill>
                  <a:srgbClr val="FF8E7C"/>
                </a:solidFill>
                <a:latin typeface="DejaVu Sans"/>
              </a:defRPr>
            </a:pPr>
            <a:r>
              <a:t>3 CAPAS × 72 PUNTOS DE VIDA</a:t>
            </a:r>
          </a:p>
        </p:txBody>
      </p:sp>
      <p:sp>
        <p:nvSpPr>
          <p:cNvPr id="12" name="TextBox 11"/>
          <p:cNvSpPr txBox="1"/>
          <p:nvPr/>
        </p:nvSpPr>
        <p:spPr>
          <a:xfrm>
            <a:off x="6537960" y="2642616"/>
            <a:ext cx="914400" cy="274320"/>
          </a:xfrm>
          <a:prstGeom prst="rect">
            <a:avLst/>
          </a:prstGeom>
          <a:noFill/>
        </p:spPr>
        <p:txBody>
          <a:bodyPr wrap="square" lIns="0" rIns="0" tIns="0" bIns="0">
            <a:spAutoFit/>
          </a:bodyPr>
          <a:lstStyle/>
          <a:p>
            <a:pPr>
              <a:lnSpc>
                <a:spcPct val="112000"/>
              </a:lnSpc>
              <a:spcBef>
                <a:spcPts val="0"/>
              </a:spcBef>
              <a:spcAft>
                <a:spcPts val="500"/>
              </a:spcAft>
              <a:defRPr sz="1100" b="1">
                <a:solidFill>
                  <a:srgbClr val="A9BBC6"/>
                </a:solidFill>
                <a:latin typeface="DejaVu Sans"/>
              </a:defRPr>
            </a:pPr>
            <a:r>
              <a:t>FASE</a:t>
            </a:r>
          </a:p>
        </p:txBody>
      </p:sp>
      <p:sp>
        <p:nvSpPr>
          <p:cNvPr id="13" name="TextBox 12"/>
          <p:cNvSpPr txBox="1"/>
          <p:nvPr/>
        </p:nvSpPr>
        <p:spPr>
          <a:xfrm>
            <a:off x="7735824" y="2642616"/>
            <a:ext cx="1280160" cy="274320"/>
          </a:xfrm>
          <a:prstGeom prst="rect">
            <a:avLst/>
          </a:prstGeom>
          <a:noFill/>
        </p:spPr>
        <p:txBody>
          <a:bodyPr wrap="square" lIns="0" rIns="0" tIns="0" bIns="0">
            <a:spAutoFit/>
          </a:bodyPr>
          <a:lstStyle/>
          <a:p>
            <a:pPr>
              <a:lnSpc>
                <a:spcPct val="112000"/>
              </a:lnSpc>
              <a:spcBef>
                <a:spcPts val="0"/>
              </a:spcBef>
              <a:spcAft>
                <a:spcPts val="500"/>
              </a:spcAft>
              <a:defRPr sz="1100" b="1">
                <a:solidFill>
                  <a:srgbClr val="A9BBC6"/>
                </a:solidFill>
                <a:latin typeface="DejaVu Sans"/>
              </a:defRPr>
            </a:pPr>
            <a:r>
              <a:t>CORONA</a:t>
            </a:r>
          </a:p>
        </p:txBody>
      </p:sp>
      <p:sp>
        <p:nvSpPr>
          <p:cNvPr id="14" name="TextBox 13"/>
          <p:cNvSpPr txBox="1"/>
          <p:nvPr/>
        </p:nvSpPr>
        <p:spPr>
          <a:xfrm>
            <a:off x="9692640" y="2642616"/>
            <a:ext cx="1645920" cy="274320"/>
          </a:xfrm>
          <a:prstGeom prst="rect">
            <a:avLst/>
          </a:prstGeom>
          <a:noFill/>
        </p:spPr>
        <p:txBody>
          <a:bodyPr wrap="square" lIns="0" rIns="0" tIns="0" bIns="0">
            <a:spAutoFit/>
          </a:bodyPr>
          <a:lstStyle/>
          <a:p>
            <a:pPr>
              <a:lnSpc>
                <a:spcPct val="112000"/>
              </a:lnSpc>
              <a:spcBef>
                <a:spcPts val="0"/>
              </a:spcBef>
              <a:spcAft>
                <a:spcPts val="500"/>
              </a:spcAft>
              <a:defRPr sz="1100" b="1">
                <a:solidFill>
                  <a:srgbClr val="A9BBC6"/>
                </a:solidFill>
                <a:latin typeface="DejaVu Sans"/>
              </a:defRPr>
            </a:pPr>
            <a:r>
              <a:t>ESPERA</a:t>
            </a:r>
          </a:p>
        </p:txBody>
      </p:sp>
      <p:cxnSp>
        <p:nvCxnSpPr>
          <p:cNvPr id="15" name="Connector 14"/>
          <p:cNvCxnSpPr/>
          <p:nvPr/>
        </p:nvCxnSpPr>
        <p:spPr>
          <a:xfrm>
            <a:off x="6537960" y="3675888"/>
            <a:ext cx="4956048" cy="0"/>
          </a:xfrm>
          <a:prstGeom prst="line">
            <a:avLst/>
          </a:prstGeom>
          <a:ln w="9525">
            <a:solidFill>
              <a:srgbClr val="3D5867"/>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537960" y="3136392"/>
            <a:ext cx="914400" cy="365760"/>
          </a:xfrm>
          <a:prstGeom prst="rect">
            <a:avLst/>
          </a:prstGeom>
          <a:noFill/>
        </p:spPr>
        <p:txBody>
          <a:bodyPr wrap="square" lIns="0" rIns="0" tIns="0" bIns="0">
            <a:spAutoFit/>
          </a:bodyPr>
          <a:lstStyle/>
          <a:p>
            <a:pPr>
              <a:lnSpc>
                <a:spcPct val="112000"/>
              </a:lnSpc>
              <a:spcBef>
                <a:spcPts val="0"/>
              </a:spcBef>
              <a:spcAft>
                <a:spcPts val="500"/>
              </a:spcAft>
              <a:defRPr sz="2300" b="1">
                <a:solidFill>
                  <a:srgbClr val="8BE7B2"/>
                </a:solidFill>
                <a:latin typeface="DejaVu Sans"/>
              </a:defRPr>
            </a:pPr>
            <a:r>
              <a:t>01</a:t>
            </a:r>
          </a:p>
        </p:txBody>
      </p:sp>
      <p:sp>
        <p:nvSpPr>
          <p:cNvPr id="17" name="TextBox 16"/>
          <p:cNvSpPr txBox="1"/>
          <p:nvPr/>
        </p:nvSpPr>
        <p:spPr>
          <a:xfrm>
            <a:off x="7735824" y="3136392"/>
            <a:ext cx="1554480" cy="365760"/>
          </a:xfrm>
          <a:prstGeom prst="rect">
            <a:avLst/>
          </a:prstGeom>
          <a:noFill/>
        </p:spPr>
        <p:txBody>
          <a:bodyPr wrap="square" lIns="0" rIns="0" tIns="0" bIns="0">
            <a:spAutoFit/>
          </a:bodyPr>
          <a:lstStyle/>
          <a:p>
            <a:pPr>
              <a:lnSpc>
                <a:spcPct val="112000"/>
              </a:lnSpc>
              <a:spcBef>
                <a:spcPts val="0"/>
              </a:spcBef>
              <a:spcAft>
                <a:spcPts val="500"/>
              </a:spcAft>
              <a:defRPr sz="2300" b="1">
                <a:solidFill>
                  <a:srgbClr val="F1F5F4"/>
                </a:solidFill>
                <a:latin typeface="DejaVu Sans"/>
              </a:defRPr>
            </a:pPr>
            <a:r>
              <a:t>12</a:t>
            </a:r>
          </a:p>
        </p:txBody>
      </p:sp>
      <p:sp>
        <p:nvSpPr>
          <p:cNvPr id="18" name="TextBox 17"/>
          <p:cNvSpPr txBox="1"/>
          <p:nvPr/>
        </p:nvSpPr>
        <p:spPr>
          <a:xfrm>
            <a:off x="9692640" y="3136392"/>
            <a:ext cx="1645920" cy="365760"/>
          </a:xfrm>
          <a:prstGeom prst="rect">
            <a:avLst/>
          </a:prstGeom>
          <a:noFill/>
        </p:spPr>
        <p:txBody>
          <a:bodyPr wrap="square" lIns="0" rIns="0" tIns="0" bIns="0">
            <a:spAutoFit/>
          </a:bodyPr>
          <a:lstStyle/>
          <a:p>
            <a:pPr>
              <a:lnSpc>
                <a:spcPct val="112000"/>
              </a:lnSpc>
              <a:spcBef>
                <a:spcPts val="0"/>
              </a:spcBef>
              <a:spcAft>
                <a:spcPts val="500"/>
              </a:spcAft>
              <a:defRPr sz="2300" b="1">
                <a:solidFill>
                  <a:srgbClr val="F1F5F4"/>
                </a:solidFill>
                <a:latin typeface="DejaVu Sans"/>
              </a:defRPr>
            </a:pPr>
            <a:r>
              <a:t>1,45 s</a:t>
            </a:r>
          </a:p>
        </p:txBody>
      </p:sp>
      <p:cxnSp>
        <p:nvCxnSpPr>
          <p:cNvPr id="19" name="Connector 18"/>
          <p:cNvCxnSpPr/>
          <p:nvPr/>
        </p:nvCxnSpPr>
        <p:spPr>
          <a:xfrm>
            <a:off x="6537960" y="4389120"/>
            <a:ext cx="4956048" cy="0"/>
          </a:xfrm>
          <a:prstGeom prst="line">
            <a:avLst/>
          </a:prstGeom>
          <a:ln w="9525">
            <a:solidFill>
              <a:srgbClr val="3D5867"/>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537960" y="3849624"/>
            <a:ext cx="914400" cy="365760"/>
          </a:xfrm>
          <a:prstGeom prst="rect">
            <a:avLst/>
          </a:prstGeom>
          <a:noFill/>
        </p:spPr>
        <p:txBody>
          <a:bodyPr wrap="square" lIns="0" rIns="0" tIns="0" bIns="0">
            <a:spAutoFit/>
          </a:bodyPr>
          <a:lstStyle/>
          <a:p>
            <a:pPr>
              <a:lnSpc>
                <a:spcPct val="112000"/>
              </a:lnSpc>
              <a:spcBef>
                <a:spcPts val="0"/>
              </a:spcBef>
              <a:spcAft>
                <a:spcPts val="500"/>
              </a:spcAft>
              <a:defRPr sz="2300" b="1">
                <a:solidFill>
                  <a:srgbClr val="FFD36D"/>
                </a:solidFill>
                <a:latin typeface="DejaVu Sans"/>
              </a:defRPr>
            </a:pPr>
            <a:r>
              <a:t>02</a:t>
            </a:r>
          </a:p>
        </p:txBody>
      </p:sp>
      <p:sp>
        <p:nvSpPr>
          <p:cNvPr id="21" name="TextBox 20"/>
          <p:cNvSpPr txBox="1"/>
          <p:nvPr/>
        </p:nvSpPr>
        <p:spPr>
          <a:xfrm>
            <a:off x="7735824" y="3849624"/>
            <a:ext cx="1554480" cy="365760"/>
          </a:xfrm>
          <a:prstGeom prst="rect">
            <a:avLst/>
          </a:prstGeom>
          <a:noFill/>
        </p:spPr>
        <p:txBody>
          <a:bodyPr wrap="square" lIns="0" rIns="0" tIns="0" bIns="0">
            <a:spAutoFit/>
          </a:bodyPr>
          <a:lstStyle/>
          <a:p>
            <a:pPr>
              <a:lnSpc>
                <a:spcPct val="112000"/>
              </a:lnSpc>
              <a:spcBef>
                <a:spcPts val="0"/>
              </a:spcBef>
              <a:spcAft>
                <a:spcPts val="500"/>
              </a:spcAft>
              <a:defRPr sz="2300" b="1">
                <a:solidFill>
                  <a:srgbClr val="F1F5F4"/>
                </a:solidFill>
                <a:latin typeface="DejaVu Sans"/>
              </a:defRPr>
            </a:pPr>
            <a:r>
              <a:t>40</a:t>
            </a:r>
          </a:p>
        </p:txBody>
      </p:sp>
      <p:sp>
        <p:nvSpPr>
          <p:cNvPr id="22" name="TextBox 21"/>
          <p:cNvSpPr txBox="1"/>
          <p:nvPr/>
        </p:nvSpPr>
        <p:spPr>
          <a:xfrm>
            <a:off x="9692640" y="3849624"/>
            <a:ext cx="1645920" cy="365760"/>
          </a:xfrm>
          <a:prstGeom prst="rect">
            <a:avLst/>
          </a:prstGeom>
          <a:noFill/>
        </p:spPr>
        <p:txBody>
          <a:bodyPr wrap="square" lIns="0" rIns="0" tIns="0" bIns="0">
            <a:spAutoFit/>
          </a:bodyPr>
          <a:lstStyle/>
          <a:p>
            <a:pPr>
              <a:lnSpc>
                <a:spcPct val="112000"/>
              </a:lnSpc>
              <a:spcBef>
                <a:spcPts val="0"/>
              </a:spcBef>
              <a:spcAft>
                <a:spcPts val="500"/>
              </a:spcAft>
              <a:defRPr sz="2300" b="1">
                <a:solidFill>
                  <a:srgbClr val="F1F5F4"/>
                </a:solidFill>
                <a:latin typeface="DejaVu Sans"/>
              </a:defRPr>
            </a:pPr>
            <a:r>
              <a:t>0,85 s</a:t>
            </a:r>
          </a:p>
        </p:txBody>
      </p:sp>
      <p:cxnSp>
        <p:nvCxnSpPr>
          <p:cNvPr id="23" name="Connector 22"/>
          <p:cNvCxnSpPr/>
          <p:nvPr/>
        </p:nvCxnSpPr>
        <p:spPr>
          <a:xfrm>
            <a:off x="6537960" y="5102352"/>
            <a:ext cx="4956048" cy="0"/>
          </a:xfrm>
          <a:prstGeom prst="line">
            <a:avLst/>
          </a:prstGeom>
          <a:ln w="9525">
            <a:solidFill>
              <a:srgbClr val="3D5867"/>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537960" y="4562856"/>
            <a:ext cx="914400" cy="365760"/>
          </a:xfrm>
          <a:prstGeom prst="rect">
            <a:avLst/>
          </a:prstGeom>
          <a:noFill/>
        </p:spPr>
        <p:txBody>
          <a:bodyPr wrap="square" lIns="0" rIns="0" tIns="0" bIns="0">
            <a:spAutoFit/>
          </a:bodyPr>
          <a:lstStyle/>
          <a:p>
            <a:pPr>
              <a:lnSpc>
                <a:spcPct val="112000"/>
              </a:lnSpc>
              <a:spcBef>
                <a:spcPts val="0"/>
              </a:spcBef>
              <a:spcAft>
                <a:spcPts val="500"/>
              </a:spcAft>
              <a:defRPr sz="2300" b="1">
                <a:solidFill>
                  <a:srgbClr val="FF8E7C"/>
                </a:solidFill>
                <a:latin typeface="DejaVu Sans"/>
              </a:defRPr>
            </a:pPr>
            <a:r>
              <a:t>03</a:t>
            </a:r>
          </a:p>
        </p:txBody>
      </p:sp>
      <p:sp>
        <p:nvSpPr>
          <p:cNvPr id="25" name="TextBox 24"/>
          <p:cNvSpPr txBox="1"/>
          <p:nvPr/>
        </p:nvSpPr>
        <p:spPr>
          <a:xfrm>
            <a:off x="7735824" y="4562856"/>
            <a:ext cx="1554480" cy="365760"/>
          </a:xfrm>
          <a:prstGeom prst="rect">
            <a:avLst/>
          </a:prstGeom>
          <a:noFill/>
        </p:spPr>
        <p:txBody>
          <a:bodyPr wrap="square" lIns="0" rIns="0" tIns="0" bIns="0">
            <a:spAutoFit/>
          </a:bodyPr>
          <a:lstStyle/>
          <a:p>
            <a:pPr>
              <a:lnSpc>
                <a:spcPct val="112000"/>
              </a:lnSpc>
              <a:spcBef>
                <a:spcPts val="0"/>
              </a:spcBef>
              <a:spcAft>
                <a:spcPts val="500"/>
              </a:spcAft>
              <a:defRPr sz="2300" b="1">
                <a:solidFill>
                  <a:srgbClr val="F1F5F4"/>
                </a:solidFill>
                <a:latin typeface="DejaVu Sans"/>
              </a:defRPr>
            </a:pPr>
            <a:r>
              <a:t>84</a:t>
            </a:r>
          </a:p>
        </p:txBody>
      </p:sp>
      <p:sp>
        <p:nvSpPr>
          <p:cNvPr id="26" name="TextBox 25"/>
          <p:cNvSpPr txBox="1"/>
          <p:nvPr/>
        </p:nvSpPr>
        <p:spPr>
          <a:xfrm>
            <a:off x="9692640" y="4562856"/>
            <a:ext cx="1645920" cy="365760"/>
          </a:xfrm>
          <a:prstGeom prst="rect">
            <a:avLst/>
          </a:prstGeom>
          <a:noFill/>
        </p:spPr>
        <p:txBody>
          <a:bodyPr wrap="square" lIns="0" rIns="0" tIns="0" bIns="0">
            <a:spAutoFit/>
          </a:bodyPr>
          <a:lstStyle/>
          <a:p>
            <a:pPr>
              <a:lnSpc>
                <a:spcPct val="112000"/>
              </a:lnSpc>
              <a:spcBef>
                <a:spcPts val="0"/>
              </a:spcBef>
              <a:spcAft>
                <a:spcPts val="500"/>
              </a:spcAft>
              <a:defRPr sz="2300" b="1">
                <a:solidFill>
                  <a:srgbClr val="F1F5F4"/>
                </a:solidFill>
                <a:latin typeface="DejaVu Sans"/>
              </a:defRPr>
            </a:pPr>
            <a:r>
              <a:t>0,45 s</a:t>
            </a:r>
          </a:p>
        </p:txBody>
      </p:sp>
      <p:sp>
        <p:nvSpPr>
          <p:cNvPr id="27" name="TextBox 26"/>
          <p:cNvSpPr txBox="1"/>
          <p:nvPr/>
        </p:nvSpPr>
        <p:spPr>
          <a:xfrm>
            <a:off x="6537960" y="5504688"/>
            <a:ext cx="4983480" cy="640080"/>
          </a:xfrm>
          <a:prstGeom prst="rect">
            <a:avLst/>
          </a:prstGeom>
          <a:noFill/>
        </p:spPr>
        <p:txBody>
          <a:bodyPr wrap="square" lIns="0" rIns="0" tIns="0" bIns="0">
            <a:spAutoFit/>
          </a:bodyPr>
          <a:lstStyle/>
          <a:p>
            <a:pPr>
              <a:lnSpc>
                <a:spcPct val="112000"/>
              </a:lnSpc>
              <a:spcBef>
                <a:spcPts val="0"/>
              </a:spcBef>
              <a:spcAft>
                <a:spcPts val="500"/>
              </a:spcAft>
              <a:defRPr sz="1500" b="0">
                <a:solidFill>
                  <a:srgbClr val="A9BBC6"/>
                </a:solidFill>
                <a:latin typeface="DejaVu Sans"/>
              </a:defRPr>
            </a:pPr>
            <a:r>
              <a:t>La llave aparece al agotar las tres capas.</a:t>
            </a:r>
          </a:p>
          <a:p>
            <a:pPr>
              <a:lnSpc>
                <a:spcPct val="112000"/>
              </a:lnSpc>
              <a:spcBef>
                <a:spcPts val="0"/>
              </a:spcBef>
              <a:spcAft>
                <a:spcPts val="500"/>
              </a:spcAft>
              <a:defRPr sz="1500" b="0">
                <a:solidFill>
                  <a:srgbClr val="A9BBC6"/>
                </a:solidFill>
                <a:latin typeface="DejaVu Sans"/>
              </a:defRPr>
            </a:pPr>
            <a:r>
              <a:t>Cada transición se anuncia durante 1,1 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D1821"/>
        </a:solidFill>
        <a:effectLst/>
      </p:bgPr>
    </p:bg>
    <p:spTree>
      <p:nvGrpSpPr>
        <p:cNvPr id="1" name=""/>
        <p:cNvGrpSpPr/>
        <p:nvPr/>
      </p:nvGrpSpPr>
      <p:grpSpPr/>
      <p:sp>
        <p:nvSpPr>
          <p:cNvPr id="2" name="Rectangle 1"/>
          <p:cNvSpPr/>
          <p:nvPr/>
        </p:nvSpPr>
        <p:spPr>
          <a:xfrm>
            <a:off x="548640" y="320040"/>
            <a:ext cx="292608" cy="50292"/>
          </a:xfrm>
          <a:prstGeom prst="rect">
            <a:avLst/>
          </a:prstGeom>
          <a:solidFill>
            <a:srgbClr val="8BE7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37744"/>
            <a:ext cx="9144000" cy="274320"/>
          </a:xfrm>
          <a:prstGeom prst="rect">
            <a:avLst/>
          </a:prstGeom>
          <a:noFill/>
        </p:spPr>
        <p:txBody>
          <a:bodyPr wrap="square" lIns="0" rIns="0" tIns="0" bIns="0">
            <a:spAutoFit/>
          </a:bodyPr>
          <a:lstStyle/>
          <a:p>
            <a:pPr>
              <a:lnSpc>
                <a:spcPct val="112000"/>
              </a:lnSpc>
              <a:spcBef>
                <a:spcPts val="0"/>
              </a:spcBef>
              <a:spcAft>
                <a:spcPts val="500"/>
              </a:spcAft>
              <a:defRPr sz="1050" b="1">
                <a:solidFill>
                  <a:srgbClr val="8BE7B2"/>
                </a:solidFill>
                <a:latin typeface="DejaVu Sans"/>
              </a:defRPr>
            </a:pPr>
            <a:r>
              <a:t>PROYECTO PARCIAL · POO</a:t>
            </a:r>
          </a:p>
        </p:txBody>
      </p:sp>
      <p:sp>
        <p:nvSpPr>
          <p:cNvPr id="4" name="TextBox 3"/>
          <p:cNvSpPr txBox="1"/>
          <p:nvPr/>
        </p:nvSpPr>
        <p:spPr>
          <a:xfrm>
            <a:off x="548640" y="758952"/>
            <a:ext cx="11064240" cy="960120"/>
          </a:xfrm>
          <a:prstGeom prst="rect">
            <a:avLst/>
          </a:prstGeom>
          <a:noFill/>
        </p:spPr>
        <p:txBody>
          <a:bodyPr wrap="square" lIns="0" rIns="0" tIns="0" bIns="0">
            <a:spAutoFit/>
          </a:bodyPr>
          <a:lstStyle/>
          <a:p>
            <a:pPr>
              <a:lnSpc>
                <a:spcPct val="112000"/>
              </a:lnSpc>
              <a:spcBef>
                <a:spcPts val="0"/>
              </a:spcBef>
              <a:spcAft>
                <a:spcPts val="500"/>
              </a:spcAft>
              <a:defRPr sz="3200" b="1">
                <a:solidFill>
                  <a:srgbClr val="F1F5F4"/>
                </a:solidFill>
                <a:latin typeface="DejaVu Sans"/>
              </a:defRPr>
            </a:pPr>
            <a:r>
              <a:t>La campaña completa está comprobada</a:t>
            </a:r>
          </a:p>
        </p:txBody>
      </p:sp>
      <p:cxnSp>
        <p:nvCxnSpPr>
          <p:cNvPr id="5" name="Connector 4"/>
          <p:cNvCxnSpPr/>
          <p:nvPr/>
        </p:nvCxnSpPr>
        <p:spPr>
          <a:xfrm>
            <a:off x="548640" y="6419088"/>
            <a:ext cx="11091672" cy="0"/>
          </a:xfrm>
          <a:prstGeom prst="line">
            <a:avLst/>
          </a:prstGeom>
          <a:ln w="8255">
            <a:solidFill>
              <a:srgbClr val="3D5867"/>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519672"/>
            <a:ext cx="3017520" cy="173736"/>
          </a:xfrm>
          <a:prstGeom prst="rect">
            <a:avLst/>
          </a:prstGeom>
          <a:noFill/>
        </p:spPr>
        <p:txBody>
          <a:bodyPr wrap="square" lIns="0" rIns="0" tIns="0" bIns="0">
            <a:spAutoFit/>
          </a:bodyPr>
          <a:lstStyle/>
          <a:p>
            <a:pPr>
              <a:lnSpc>
                <a:spcPct val="112000"/>
              </a:lnSpc>
              <a:spcBef>
                <a:spcPts val="0"/>
              </a:spcBef>
              <a:spcAft>
                <a:spcPts val="500"/>
              </a:spcAft>
              <a:defRPr sz="850" b="0">
                <a:solidFill>
                  <a:srgbClr val="A9BBC6"/>
                </a:solidFill>
                <a:latin typeface="DejaVu Sans"/>
              </a:defRPr>
            </a:pPr>
            <a:r>
              <a:t>FUGA DE LA PRISIÓN  /  2026-II</a:t>
            </a:r>
          </a:p>
        </p:txBody>
      </p:sp>
      <p:sp>
        <p:nvSpPr>
          <p:cNvPr id="7" name="TextBox 6"/>
          <p:cNvSpPr txBox="1"/>
          <p:nvPr/>
        </p:nvSpPr>
        <p:spPr>
          <a:xfrm>
            <a:off x="3703320" y="6519672"/>
            <a:ext cx="7132320" cy="182880"/>
          </a:xfrm>
          <a:prstGeom prst="rect">
            <a:avLst/>
          </a:prstGeom>
          <a:noFill/>
        </p:spPr>
        <p:txBody>
          <a:bodyPr wrap="square" lIns="0" rIns="0" tIns="0" bIns="0">
            <a:spAutoFit/>
          </a:bodyPr>
          <a:lstStyle/>
          <a:p>
            <a:pPr algn="r">
              <a:lnSpc>
                <a:spcPct val="112000"/>
              </a:lnSpc>
              <a:spcBef>
                <a:spcPts val="0"/>
              </a:spcBef>
              <a:spcAft>
                <a:spcPts val="500"/>
              </a:spcAft>
              <a:defRPr sz="850" b="0">
                <a:solidFill>
                  <a:srgbClr val="A9BBC6"/>
                </a:solidFill>
                <a:latin typeface="DejaVu Sans"/>
              </a:defRPr>
            </a:pPr>
            <a:r>
              <a:t>Validación en la nube: 16 oct 2026 · tools/verificar.py</a:t>
            </a:r>
          </a:p>
        </p:txBody>
      </p:sp>
      <p:sp>
        <p:nvSpPr>
          <p:cNvPr id="8" name="TextBox 7"/>
          <p:cNvSpPr txBox="1"/>
          <p:nvPr/>
        </p:nvSpPr>
        <p:spPr>
          <a:xfrm>
            <a:off x="11018520" y="6492240"/>
            <a:ext cx="594360" cy="274320"/>
          </a:xfrm>
          <a:prstGeom prst="rect">
            <a:avLst/>
          </a:prstGeom>
          <a:noFill/>
        </p:spPr>
        <p:txBody>
          <a:bodyPr wrap="square" lIns="0" rIns="0" tIns="0" bIns="0">
            <a:spAutoFit/>
          </a:bodyPr>
          <a:lstStyle/>
          <a:p>
            <a:pPr algn="r">
              <a:lnSpc>
                <a:spcPct val="112000"/>
              </a:lnSpc>
              <a:spcBef>
                <a:spcPts val="0"/>
              </a:spcBef>
              <a:spcAft>
                <a:spcPts val="500"/>
              </a:spcAft>
              <a:defRPr sz="1100" b="1">
                <a:solidFill>
                  <a:srgbClr val="8BE7B2"/>
                </a:solidFill>
                <a:latin typeface="DejaVu Sans"/>
              </a:defRPr>
            </a:pPr>
            <a:r>
              <a:t>11</a:t>
            </a:r>
          </a:p>
        </p:txBody>
      </p:sp>
      <p:sp>
        <p:nvSpPr>
          <p:cNvPr id="9" name="Rounded Rectangle 8"/>
          <p:cNvSpPr/>
          <p:nvPr/>
        </p:nvSpPr>
        <p:spPr>
          <a:xfrm>
            <a:off x="640080" y="1874519"/>
            <a:ext cx="3355848" cy="1371600"/>
          </a:xfrm>
          <a:prstGeom prst="roundRect">
            <a:avLst>
              <a:gd name="adj" fmla="val 8000"/>
            </a:avLst>
          </a:prstGeom>
          <a:solidFill>
            <a:srgbClr val="182A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1975104"/>
            <a:ext cx="2953512" cy="731520"/>
          </a:xfrm>
          <a:prstGeom prst="rect">
            <a:avLst/>
          </a:prstGeom>
          <a:noFill/>
        </p:spPr>
        <p:txBody>
          <a:bodyPr wrap="square" lIns="0" rIns="0" tIns="0" bIns="0">
            <a:spAutoFit/>
          </a:bodyPr>
          <a:lstStyle/>
          <a:p>
            <a:pPr>
              <a:lnSpc>
                <a:spcPct val="112000"/>
              </a:lnSpc>
              <a:spcBef>
                <a:spcPts val="0"/>
              </a:spcBef>
              <a:spcAft>
                <a:spcPts val="500"/>
              </a:spcAft>
              <a:defRPr sz="4300" b="1">
                <a:solidFill>
                  <a:srgbClr val="8BE7B2"/>
                </a:solidFill>
                <a:latin typeface="DejaVu Sans"/>
              </a:defRPr>
            </a:pPr>
            <a:r>
              <a:t>54</a:t>
            </a:r>
          </a:p>
        </p:txBody>
      </p:sp>
      <p:sp>
        <p:nvSpPr>
          <p:cNvPr id="11" name="TextBox 10"/>
          <p:cNvSpPr txBox="1"/>
          <p:nvPr/>
        </p:nvSpPr>
        <p:spPr>
          <a:xfrm>
            <a:off x="841247" y="2752344"/>
            <a:ext cx="2953512" cy="228600"/>
          </a:xfrm>
          <a:prstGeom prst="rect">
            <a:avLst/>
          </a:prstGeom>
          <a:noFill/>
        </p:spPr>
        <p:txBody>
          <a:bodyPr wrap="square" lIns="0" rIns="0" tIns="0" bIns="0">
            <a:spAutoFit/>
          </a:bodyPr>
          <a:lstStyle/>
          <a:p>
            <a:pPr>
              <a:lnSpc>
                <a:spcPct val="112000"/>
              </a:lnSpc>
              <a:spcBef>
                <a:spcPts val="0"/>
              </a:spcBef>
              <a:spcAft>
                <a:spcPts val="500"/>
              </a:spcAft>
              <a:defRPr sz="1100" b="1">
                <a:solidFill>
                  <a:srgbClr val="A9BBC6"/>
                </a:solidFill>
                <a:latin typeface="DejaVu Sans"/>
              </a:defRPr>
            </a:pPr>
            <a:r>
              <a:t>PRUEBAS APROBADAS</a:t>
            </a:r>
          </a:p>
        </p:txBody>
      </p:sp>
      <p:sp>
        <p:nvSpPr>
          <p:cNvPr id="12" name="Rounded Rectangle 11"/>
          <p:cNvSpPr/>
          <p:nvPr/>
        </p:nvSpPr>
        <p:spPr>
          <a:xfrm>
            <a:off x="4425696" y="1874519"/>
            <a:ext cx="3355848" cy="1371600"/>
          </a:xfrm>
          <a:prstGeom prst="roundRect">
            <a:avLst>
              <a:gd name="adj" fmla="val 8000"/>
            </a:avLst>
          </a:prstGeom>
          <a:solidFill>
            <a:srgbClr val="182A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26864" y="1975104"/>
            <a:ext cx="2953512" cy="731520"/>
          </a:xfrm>
          <a:prstGeom prst="rect">
            <a:avLst/>
          </a:prstGeom>
          <a:noFill/>
        </p:spPr>
        <p:txBody>
          <a:bodyPr wrap="square" lIns="0" rIns="0" tIns="0" bIns="0">
            <a:spAutoFit/>
          </a:bodyPr>
          <a:lstStyle/>
          <a:p>
            <a:pPr>
              <a:lnSpc>
                <a:spcPct val="112000"/>
              </a:lnSpc>
              <a:spcBef>
                <a:spcPts val="0"/>
              </a:spcBef>
              <a:spcAft>
                <a:spcPts val="500"/>
              </a:spcAft>
              <a:defRPr sz="4300" b="1">
                <a:solidFill>
                  <a:srgbClr val="94CAEE"/>
                </a:solidFill>
                <a:latin typeface="DejaVu Sans"/>
              </a:defRPr>
            </a:pPr>
            <a:r>
              <a:t>4</a:t>
            </a:r>
          </a:p>
        </p:txBody>
      </p:sp>
      <p:sp>
        <p:nvSpPr>
          <p:cNvPr id="14" name="TextBox 13"/>
          <p:cNvSpPr txBox="1"/>
          <p:nvPr/>
        </p:nvSpPr>
        <p:spPr>
          <a:xfrm>
            <a:off x="4626864" y="2752344"/>
            <a:ext cx="2953512" cy="228600"/>
          </a:xfrm>
          <a:prstGeom prst="rect">
            <a:avLst/>
          </a:prstGeom>
          <a:noFill/>
        </p:spPr>
        <p:txBody>
          <a:bodyPr wrap="square" lIns="0" rIns="0" tIns="0" bIns="0">
            <a:spAutoFit/>
          </a:bodyPr>
          <a:lstStyle/>
          <a:p>
            <a:pPr>
              <a:lnSpc>
                <a:spcPct val="112000"/>
              </a:lnSpc>
              <a:spcBef>
                <a:spcPts val="0"/>
              </a:spcBef>
              <a:spcAft>
                <a:spcPts val="500"/>
              </a:spcAft>
              <a:defRPr sz="1100" b="1">
                <a:solidFill>
                  <a:srgbClr val="A9BBC6"/>
                </a:solidFill>
                <a:latin typeface="DejaVu Sans"/>
              </a:defRPr>
            </a:pPr>
            <a:r>
              <a:t>NIVELES COMPLETADOS</a:t>
            </a:r>
          </a:p>
        </p:txBody>
      </p:sp>
      <p:sp>
        <p:nvSpPr>
          <p:cNvPr id="15" name="Rounded Rectangle 14"/>
          <p:cNvSpPr/>
          <p:nvPr/>
        </p:nvSpPr>
        <p:spPr>
          <a:xfrm>
            <a:off x="8211312" y="1874519"/>
            <a:ext cx="3355848" cy="1371600"/>
          </a:xfrm>
          <a:prstGeom prst="roundRect">
            <a:avLst>
              <a:gd name="adj" fmla="val 8000"/>
            </a:avLst>
          </a:prstGeom>
          <a:solidFill>
            <a:srgbClr val="182A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80" y="1975104"/>
            <a:ext cx="2953512" cy="731520"/>
          </a:xfrm>
          <a:prstGeom prst="rect">
            <a:avLst/>
          </a:prstGeom>
          <a:noFill/>
        </p:spPr>
        <p:txBody>
          <a:bodyPr wrap="square" lIns="0" rIns="0" tIns="0" bIns="0">
            <a:spAutoFit/>
          </a:bodyPr>
          <a:lstStyle/>
          <a:p>
            <a:pPr>
              <a:lnSpc>
                <a:spcPct val="112000"/>
              </a:lnSpc>
              <a:spcBef>
                <a:spcPts val="0"/>
              </a:spcBef>
              <a:spcAft>
                <a:spcPts val="500"/>
              </a:spcAft>
              <a:defRPr sz="4300" b="1">
                <a:solidFill>
                  <a:srgbClr val="FFD36D"/>
                </a:solidFill>
                <a:latin typeface="DejaVu Sans"/>
              </a:defRPr>
            </a:pPr>
            <a:r>
              <a:t>14</a:t>
            </a:r>
          </a:p>
        </p:txBody>
      </p:sp>
      <p:sp>
        <p:nvSpPr>
          <p:cNvPr id="17" name="TextBox 16"/>
          <p:cNvSpPr txBox="1"/>
          <p:nvPr/>
        </p:nvSpPr>
        <p:spPr>
          <a:xfrm>
            <a:off x="8412480" y="2752344"/>
            <a:ext cx="2953512" cy="228600"/>
          </a:xfrm>
          <a:prstGeom prst="rect">
            <a:avLst/>
          </a:prstGeom>
          <a:noFill/>
        </p:spPr>
        <p:txBody>
          <a:bodyPr wrap="square" lIns="0" rIns="0" tIns="0" bIns="0">
            <a:spAutoFit/>
          </a:bodyPr>
          <a:lstStyle/>
          <a:p>
            <a:pPr>
              <a:lnSpc>
                <a:spcPct val="112000"/>
              </a:lnSpc>
              <a:spcBef>
                <a:spcPts val="0"/>
              </a:spcBef>
              <a:spcAft>
                <a:spcPts val="500"/>
              </a:spcAft>
              <a:defRPr sz="1100" b="1">
                <a:solidFill>
                  <a:srgbClr val="A9BBC6"/>
                </a:solidFill>
                <a:latin typeface="DejaVu Sans"/>
              </a:defRPr>
            </a:pPr>
            <a:r>
              <a:t>CAPTURAS GENERADAS</a:t>
            </a:r>
          </a:p>
        </p:txBody>
      </p:sp>
      <p:sp>
        <p:nvSpPr>
          <p:cNvPr id="18" name="Rectangle 17"/>
          <p:cNvSpPr/>
          <p:nvPr/>
        </p:nvSpPr>
        <p:spPr>
          <a:xfrm>
            <a:off x="7840979" y="3406140"/>
            <a:ext cx="3703320" cy="2825496"/>
          </a:xfrm>
          <a:prstGeom prst="rect">
            <a:avLst/>
          </a:prstGeom>
          <a:solidFill>
            <a:srgbClr val="3D58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03_victoria.png"/>
          <p:cNvPicPr>
            <a:picLocks noChangeAspect="1"/>
          </p:cNvPicPr>
          <p:nvPr/>
        </p:nvPicPr>
        <p:blipFill>
          <a:blip r:embed="rId2"/>
          <a:stretch>
            <a:fillRect/>
          </a:stretch>
        </p:blipFill>
        <p:spPr>
          <a:xfrm>
            <a:off x="7863840" y="3429000"/>
            <a:ext cx="3657600" cy="2779776"/>
          </a:xfrm>
          <a:prstGeom prst="rect">
            <a:avLst/>
          </a:prstGeom>
        </p:spPr>
      </p:pic>
      <p:sp>
        <p:nvSpPr>
          <p:cNvPr id="20" name="TextBox 19"/>
          <p:cNvSpPr txBox="1"/>
          <p:nvPr/>
        </p:nvSpPr>
        <p:spPr>
          <a:xfrm>
            <a:off x="667512" y="3657600"/>
            <a:ext cx="6035040" cy="384048"/>
          </a:xfrm>
          <a:prstGeom prst="rect">
            <a:avLst/>
          </a:prstGeom>
          <a:noFill/>
        </p:spPr>
        <p:txBody>
          <a:bodyPr wrap="square" lIns="0" rIns="0" tIns="0" bIns="0">
            <a:spAutoFit/>
          </a:bodyPr>
          <a:lstStyle/>
          <a:p>
            <a:pPr>
              <a:lnSpc>
                <a:spcPct val="112000"/>
              </a:lnSpc>
              <a:spcBef>
                <a:spcPts val="0"/>
              </a:spcBef>
              <a:spcAft>
                <a:spcPts val="500"/>
              </a:spcAft>
              <a:defRPr sz="2300" b="1">
                <a:solidFill>
                  <a:srgbClr val="F1F5F4"/>
                </a:solidFill>
                <a:latin typeface="DejaVu Sans"/>
              </a:defRPr>
            </a:pPr>
            <a:r>
              <a:t>¿Qué se comprueba?</a:t>
            </a:r>
          </a:p>
        </p:txBody>
      </p:sp>
      <p:sp>
        <p:nvSpPr>
          <p:cNvPr id="21" name="TextBox 20"/>
          <p:cNvSpPr txBox="1"/>
          <p:nvPr/>
        </p:nvSpPr>
        <p:spPr>
          <a:xfrm>
            <a:off x="667512" y="4343400"/>
            <a:ext cx="6126480" cy="1508760"/>
          </a:xfrm>
          <a:prstGeom prst="rect">
            <a:avLst/>
          </a:prstGeom>
          <a:noFill/>
        </p:spPr>
        <p:txBody>
          <a:bodyPr wrap="square" lIns="0" rIns="0" tIns="0" bIns="0">
            <a:spAutoFit/>
          </a:bodyPr>
          <a:lstStyle/>
          <a:p>
            <a:pPr>
              <a:lnSpc>
                <a:spcPct val="112000"/>
              </a:lnSpc>
              <a:spcBef>
                <a:spcPts val="0"/>
              </a:spcBef>
              <a:spcAft>
                <a:spcPts val="500"/>
              </a:spcAft>
              <a:defRPr sz="1900" b="0">
                <a:solidFill>
                  <a:srgbClr val="A9BBC6"/>
                </a:solidFill>
                <a:latin typeface="DejaVu Sans"/>
              </a:defRPr>
            </a:pPr>
            <a:r>
              <a:t>Paredes y caminos · ruido y persecución</a:t>
            </a:r>
          </a:p>
          <a:p>
            <a:pPr>
              <a:lnSpc>
                <a:spcPct val="112000"/>
              </a:lnSpc>
              <a:spcBef>
                <a:spcPts val="0"/>
              </a:spcBef>
              <a:spcAft>
                <a:spcPts val="500"/>
              </a:spcAft>
              <a:defRPr sz="1900" b="0">
                <a:solidFill>
                  <a:srgbClr val="A9BBC6"/>
                </a:solidFill>
                <a:latin typeface="DejaVu Sans"/>
              </a:defRPr>
            </a:pPr>
            <a:r>
              <a:t>Puntaje y estados · tres capas del jefe</a:t>
            </a:r>
          </a:p>
          <a:p>
            <a:pPr>
              <a:lnSpc>
                <a:spcPct val="112000"/>
              </a:lnSpc>
              <a:spcBef>
                <a:spcPts val="0"/>
              </a:spcBef>
              <a:spcAft>
                <a:spcPts val="500"/>
              </a:spcAft>
              <a:defRPr sz="1900" b="0">
                <a:solidFill>
                  <a:srgbClr val="A9BBC6"/>
                </a:solidFill>
                <a:latin typeface="DejaVu Sans"/>
              </a:defRPr>
            </a:pPr>
            <a:r>
              <a:t>Coherencia entre clases, guía y UML</a:t>
            </a:r>
          </a:p>
        </p:txBody>
      </p:sp>
      <p:sp>
        <p:nvSpPr>
          <p:cNvPr id="22" name="Rounded Rectangle 21"/>
          <p:cNvSpPr/>
          <p:nvPr/>
        </p:nvSpPr>
        <p:spPr>
          <a:xfrm>
            <a:off x="667512" y="5879592"/>
            <a:ext cx="5577840" cy="310896"/>
          </a:xfrm>
          <a:prstGeom prst="roundRect">
            <a:avLst>
              <a:gd name="adj" fmla="val 8000"/>
            </a:avLst>
          </a:prstGeom>
          <a:solidFill>
            <a:srgbClr val="203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5929883"/>
            <a:ext cx="5358383" cy="228600"/>
          </a:xfrm>
          <a:prstGeom prst="rect">
            <a:avLst/>
          </a:prstGeom>
          <a:noFill/>
        </p:spPr>
        <p:txBody>
          <a:bodyPr wrap="square" lIns="0" rIns="0" tIns="0" bIns="0">
            <a:spAutoFit/>
          </a:bodyPr>
          <a:lstStyle/>
          <a:p>
            <a:pPr>
              <a:lnSpc>
                <a:spcPct val="112000"/>
              </a:lnSpc>
              <a:spcBef>
                <a:spcPts val="0"/>
              </a:spcBef>
              <a:spcAft>
                <a:spcPts val="500"/>
              </a:spcAft>
              <a:defRPr sz="1050" b="1">
                <a:solidFill>
                  <a:srgbClr val="8BE7B2"/>
                </a:solidFill>
                <a:latin typeface="DejaVu Sans"/>
              </a:defRPr>
            </a:pPr>
            <a:r>
              <a:t>MOVIMIENTO Y DISPAROS REALES EN LA SIMULACIÓN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D1821"/>
        </a:solidFill>
        <a:effectLst/>
      </p:bgPr>
    </p:bg>
    <p:spTree>
      <p:nvGrpSpPr>
        <p:cNvPr id="1" name=""/>
        <p:cNvGrpSpPr/>
        <p:nvPr/>
      </p:nvGrpSpPr>
      <p:grpSpPr/>
      <p:sp>
        <p:nvSpPr>
          <p:cNvPr id="2" name="Rectangle 1"/>
          <p:cNvSpPr/>
          <p:nvPr/>
        </p:nvSpPr>
        <p:spPr>
          <a:xfrm>
            <a:off x="548640" y="320040"/>
            <a:ext cx="292608" cy="50292"/>
          </a:xfrm>
          <a:prstGeom prst="rect">
            <a:avLst/>
          </a:prstGeom>
          <a:solidFill>
            <a:srgbClr val="8BE7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37744"/>
            <a:ext cx="9144000" cy="274320"/>
          </a:xfrm>
          <a:prstGeom prst="rect">
            <a:avLst/>
          </a:prstGeom>
          <a:noFill/>
        </p:spPr>
        <p:txBody>
          <a:bodyPr wrap="square" lIns="0" rIns="0" tIns="0" bIns="0">
            <a:spAutoFit/>
          </a:bodyPr>
          <a:lstStyle/>
          <a:p>
            <a:pPr>
              <a:lnSpc>
                <a:spcPct val="112000"/>
              </a:lnSpc>
              <a:spcBef>
                <a:spcPts val="0"/>
              </a:spcBef>
              <a:spcAft>
                <a:spcPts val="500"/>
              </a:spcAft>
              <a:defRPr sz="1050" b="1">
                <a:solidFill>
                  <a:srgbClr val="8BE7B2"/>
                </a:solidFill>
                <a:latin typeface="DejaVu Sans"/>
              </a:defRPr>
            </a:pPr>
            <a:r>
              <a:t>PROYECTO PARCIAL · POO</a:t>
            </a:r>
          </a:p>
        </p:txBody>
      </p:sp>
      <p:sp>
        <p:nvSpPr>
          <p:cNvPr id="4" name="TextBox 3"/>
          <p:cNvSpPr txBox="1"/>
          <p:nvPr/>
        </p:nvSpPr>
        <p:spPr>
          <a:xfrm>
            <a:off x="548640" y="758952"/>
            <a:ext cx="11064240" cy="960120"/>
          </a:xfrm>
          <a:prstGeom prst="rect">
            <a:avLst/>
          </a:prstGeom>
          <a:noFill/>
        </p:spPr>
        <p:txBody>
          <a:bodyPr wrap="square" lIns="0" rIns="0" tIns="0" bIns="0">
            <a:spAutoFit/>
          </a:bodyPr>
          <a:lstStyle/>
          <a:p>
            <a:pPr>
              <a:lnSpc>
                <a:spcPct val="112000"/>
              </a:lnSpc>
              <a:spcBef>
                <a:spcPts val="0"/>
              </a:spcBef>
              <a:spcAft>
                <a:spcPts val="500"/>
              </a:spcAft>
              <a:defRPr sz="3200" b="1">
                <a:solidFill>
                  <a:srgbClr val="F1F5F4"/>
                </a:solidFill>
                <a:latin typeface="DejaVu Sans"/>
              </a:defRPr>
            </a:pPr>
            <a:r>
              <a:t>Git conserva la evolución del proyecto</a:t>
            </a:r>
          </a:p>
        </p:txBody>
      </p:sp>
      <p:cxnSp>
        <p:nvCxnSpPr>
          <p:cNvPr id="5" name="Connector 4"/>
          <p:cNvCxnSpPr/>
          <p:nvPr/>
        </p:nvCxnSpPr>
        <p:spPr>
          <a:xfrm>
            <a:off x="548640" y="6419088"/>
            <a:ext cx="11091672" cy="0"/>
          </a:xfrm>
          <a:prstGeom prst="line">
            <a:avLst/>
          </a:prstGeom>
          <a:ln w="8255">
            <a:solidFill>
              <a:srgbClr val="3D5867"/>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519672"/>
            <a:ext cx="3017520" cy="173736"/>
          </a:xfrm>
          <a:prstGeom prst="rect">
            <a:avLst/>
          </a:prstGeom>
          <a:noFill/>
        </p:spPr>
        <p:txBody>
          <a:bodyPr wrap="square" lIns="0" rIns="0" tIns="0" bIns="0">
            <a:spAutoFit/>
          </a:bodyPr>
          <a:lstStyle/>
          <a:p>
            <a:pPr>
              <a:lnSpc>
                <a:spcPct val="112000"/>
              </a:lnSpc>
              <a:spcBef>
                <a:spcPts val="0"/>
              </a:spcBef>
              <a:spcAft>
                <a:spcPts val="500"/>
              </a:spcAft>
              <a:defRPr sz="850" b="0">
                <a:solidFill>
                  <a:srgbClr val="A9BBC6"/>
                </a:solidFill>
                <a:latin typeface="DejaVu Sans"/>
              </a:defRPr>
            </a:pPr>
            <a:r>
              <a:t>FUGA DE LA PRISIÓN  /  2026-II</a:t>
            </a:r>
          </a:p>
        </p:txBody>
      </p:sp>
      <p:sp>
        <p:nvSpPr>
          <p:cNvPr id="7" name="TextBox 6"/>
          <p:cNvSpPr txBox="1"/>
          <p:nvPr/>
        </p:nvSpPr>
        <p:spPr>
          <a:xfrm>
            <a:off x="3703320" y="6519672"/>
            <a:ext cx="7132320" cy="182880"/>
          </a:xfrm>
          <a:prstGeom prst="rect">
            <a:avLst/>
          </a:prstGeom>
          <a:noFill/>
        </p:spPr>
        <p:txBody>
          <a:bodyPr wrap="square" lIns="0" rIns="0" tIns="0" bIns="0">
            <a:spAutoFit/>
          </a:bodyPr>
          <a:lstStyle/>
          <a:p>
            <a:pPr algn="r">
              <a:lnSpc>
                <a:spcPct val="112000"/>
              </a:lnSpc>
              <a:spcBef>
                <a:spcPts val="0"/>
              </a:spcBef>
              <a:spcAft>
                <a:spcPts val="500"/>
              </a:spcAft>
              <a:defRPr sz="850" b="0">
                <a:solidFill>
                  <a:srgbClr val="A9BBC6"/>
                </a:solidFill>
                <a:latin typeface="DejaVu Sans"/>
              </a:defRPr>
            </a:pPr>
            <a:r>
              <a:t>Fuente: git log del checkout main · HEAD 56f629f</a:t>
            </a:r>
          </a:p>
        </p:txBody>
      </p:sp>
      <p:sp>
        <p:nvSpPr>
          <p:cNvPr id="8" name="TextBox 7"/>
          <p:cNvSpPr txBox="1"/>
          <p:nvPr/>
        </p:nvSpPr>
        <p:spPr>
          <a:xfrm>
            <a:off x="11018520" y="6492240"/>
            <a:ext cx="594360" cy="274320"/>
          </a:xfrm>
          <a:prstGeom prst="rect">
            <a:avLst/>
          </a:prstGeom>
          <a:noFill/>
        </p:spPr>
        <p:txBody>
          <a:bodyPr wrap="square" lIns="0" rIns="0" tIns="0" bIns="0">
            <a:spAutoFit/>
          </a:bodyPr>
          <a:lstStyle/>
          <a:p>
            <a:pPr algn="r">
              <a:lnSpc>
                <a:spcPct val="112000"/>
              </a:lnSpc>
              <a:spcBef>
                <a:spcPts val="0"/>
              </a:spcBef>
              <a:spcAft>
                <a:spcPts val="500"/>
              </a:spcAft>
              <a:defRPr sz="1100" b="1">
                <a:solidFill>
                  <a:srgbClr val="8BE7B2"/>
                </a:solidFill>
                <a:latin typeface="DejaVu Sans"/>
              </a:defRPr>
            </a:pPr>
            <a:r>
              <a:t>12</a:t>
            </a:r>
          </a:p>
        </p:txBody>
      </p:sp>
      <p:sp>
        <p:nvSpPr>
          <p:cNvPr id="9" name="TextBox 8"/>
          <p:cNvSpPr txBox="1"/>
          <p:nvPr/>
        </p:nvSpPr>
        <p:spPr>
          <a:xfrm>
            <a:off x="640080" y="1828800"/>
            <a:ext cx="2971800" cy="777240"/>
          </a:xfrm>
          <a:prstGeom prst="rect">
            <a:avLst/>
          </a:prstGeom>
          <a:noFill/>
        </p:spPr>
        <p:txBody>
          <a:bodyPr wrap="square" lIns="0" rIns="0" tIns="0" bIns="0">
            <a:spAutoFit/>
          </a:bodyPr>
          <a:lstStyle/>
          <a:p>
            <a:pPr>
              <a:lnSpc>
                <a:spcPct val="112000"/>
              </a:lnSpc>
              <a:spcBef>
                <a:spcPts val="0"/>
              </a:spcBef>
              <a:spcAft>
                <a:spcPts val="500"/>
              </a:spcAft>
              <a:defRPr sz="4800" b="1">
                <a:solidFill>
                  <a:srgbClr val="8BE7B2"/>
                </a:solidFill>
                <a:latin typeface="DejaVu Sans"/>
              </a:defRPr>
            </a:pPr>
            <a:r>
              <a:t>14</a:t>
            </a:r>
          </a:p>
        </p:txBody>
      </p:sp>
      <p:sp>
        <p:nvSpPr>
          <p:cNvPr id="10" name="TextBox 9"/>
          <p:cNvSpPr txBox="1"/>
          <p:nvPr/>
        </p:nvSpPr>
        <p:spPr>
          <a:xfrm>
            <a:off x="640080" y="2715768"/>
            <a:ext cx="3108960" cy="365760"/>
          </a:xfrm>
          <a:prstGeom prst="rect">
            <a:avLst/>
          </a:prstGeom>
          <a:noFill/>
        </p:spPr>
        <p:txBody>
          <a:bodyPr wrap="square" lIns="0" rIns="0" tIns="0" bIns="0">
            <a:spAutoFit/>
          </a:bodyPr>
          <a:lstStyle/>
          <a:p>
            <a:pPr>
              <a:lnSpc>
                <a:spcPct val="112000"/>
              </a:lnSpc>
              <a:spcBef>
                <a:spcPts val="0"/>
              </a:spcBef>
              <a:spcAft>
                <a:spcPts val="500"/>
              </a:spcAft>
              <a:defRPr sz="1100" b="1">
                <a:solidFill>
                  <a:srgbClr val="A9BBC6"/>
                </a:solidFill>
                <a:latin typeface="DejaVu Sans"/>
              </a:defRPr>
            </a:pPr>
            <a:r>
              <a:t>COMMITS EN EL HISTORIAL</a:t>
            </a:r>
          </a:p>
        </p:txBody>
      </p:sp>
      <p:sp>
        <p:nvSpPr>
          <p:cNvPr id="11" name="TextBox 10"/>
          <p:cNvSpPr txBox="1"/>
          <p:nvPr/>
        </p:nvSpPr>
        <p:spPr>
          <a:xfrm>
            <a:off x="640080" y="3447288"/>
            <a:ext cx="3108960" cy="1078992"/>
          </a:xfrm>
          <a:prstGeom prst="rect">
            <a:avLst/>
          </a:prstGeom>
          <a:noFill/>
        </p:spPr>
        <p:txBody>
          <a:bodyPr wrap="square" lIns="0" rIns="0" tIns="0" bIns="0">
            <a:spAutoFit/>
          </a:bodyPr>
          <a:lstStyle/>
          <a:p>
            <a:pPr>
              <a:lnSpc>
                <a:spcPct val="112000"/>
              </a:lnSpc>
              <a:spcBef>
                <a:spcPts val="0"/>
              </a:spcBef>
              <a:spcAft>
                <a:spcPts val="500"/>
              </a:spcAft>
              <a:defRPr sz="2000" b="1">
                <a:solidFill>
                  <a:srgbClr val="F1F5F4"/>
                </a:solidFill>
                <a:latin typeface="DejaVu Sans"/>
              </a:defRPr>
            </a:pPr>
            <a:r>
              <a:t>Planificación, código</a:t>
            </a:r>
          </a:p>
          <a:p>
            <a:pPr>
              <a:lnSpc>
                <a:spcPct val="112000"/>
              </a:lnSpc>
              <a:spcBef>
                <a:spcPts val="0"/>
              </a:spcBef>
              <a:spcAft>
                <a:spcPts val="500"/>
              </a:spcAft>
              <a:defRPr sz="2000" b="1">
                <a:solidFill>
                  <a:srgbClr val="F1F5F4"/>
                </a:solidFill>
                <a:latin typeface="DejaVu Sans"/>
              </a:defRPr>
            </a:pPr>
            <a:r>
              <a:t>y documentación</a:t>
            </a:r>
          </a:p>
          <a:p>
            <a:pPr>
              <a:lnSpc>
                <a:spcPct val="112000"/>
              </a:lnSpc>
              <a:spcBef>
                <a:spcPts val="0"/>
              </a:spcBef>
              <a:spcAft>
                <a:spcPts val="500"/>
              </a:spcAft>
              <a:defRPr sz="2000" b="1">
                <a:solidFill>
                  <a:srgbClr val="F1F5F4"/>
                </a:solidFill>
                <a:latin typeface="DejaVu Sans"/>
              </a:defRPr>
            </a:pPr>
            <a:r>
              <a:t>quedan registrados.</a:t>
            </a:r>
          </a:p>
        </p:txBody>
      </p:sp>
      <p:cxnSp>
        <p:nvCxnSpPr>
          <p:cNvPr id="12" name="Connector 11"/>
          <p:cNvCxnSpPr/>
          <p:nvPr/>
        </p:nvCxnSpPr>
        <p:spPr>
          <a:xfrm>
            <a:off x="4581144" y="2258568"/>
            <a:ext cx="0" cy="2935224"/>
          </a:xfrm>
          <a:prstGeom prst="line">
            <a:avLst/>
          </a:prstGeom>
          <a:ln w="25400">
            <a:solidFill>
              <a:srgbClr val="8BE7B2"/>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4507992" y="2139696"/>
            <a:ext cx="146304" cy="146304"/>
          </a:xfrm>
          <a:prstGeom prst="ellipse">
            <a:avLst/>
          </a:prstGeom>
          <a:solidFill>
            <a:srgbClr val="8BE7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92624" y="2029968"/>
            <a:ext cx="1645920" cy="320040"/>
          </a:xfrm>
          <a:prstGeom prst="rect">
            <a:avLst/>
          </a:prstGeom>
          <a:noFill/>
        </p:spPr>
        <p:txBody>
          <a:bodyPr wrap="square" lIns="0" rIns="0" tIns="0" bIns="0">
            <a:spAutoFit/>
          </a:bodyPr>
          <a:lstStyle/>
          <a:p>
            <a:pPr>
              <a:lnSpc>
                <a:spcPct val="112000"/>
              </a:lnSpc>
              <a:spcBef>
                <a:spcPts val="0"/>
              </a:spcBef>
              <a:spcAft>
                <a:spcPts val="500"/>
              </a:spcAft>
              <a:defRPr sz="1600" b="1">
                <a:solidFill>
                  <a:srgbClr val="8BE7B2"/>
                </a:solidFill>
                <a:latin typeface="DejaVu Sans Mono"/>
              </a:defRPr>
            </a:pPr>
            <a:r>
              <a:t>cfaba6e</a:t>
            </a:r>
          </a:p>
        </p:txBody>
      </p:sp>
      <p:sp>
        <p:nvSpPr>
          <p:cNvPr id="15" name="TextBox 14"/>
          <p:cNvSpPr txBox="1"/>
          <p:nvPr/>
        </p:nvSpPr>
        <p:spPr>
          <a:xfrm>
            <a:off x="6775704" y="2029968"/>
            <a:ext cx="4617720" cy="566928"/>
          </a:xfrm>
          <a:prstGeom prst="rect">
            <a:avLst/>
          </a:prstGeom>
          <a:noFill/>
        </p:spPr>
        <p:txBody>
          <a:bodyPr wrap="square" lIns="0" rIns="0" tIns="0" bIns="0">
            <a:spAutoFit/>
          </a:bodyPr>
          <a:lstStyle/>
          <a:p>
            <a:pPr>
              <a:lnSpc>
                <a:spcPct val="112000"/>
              </a:lnSpc>
              <a:spcBef>
                <a:spcPts val="0"/>
              </a:spcBef>
              <a:spcAft>
                <a:spcPts val="500"/>
              </a:spcAft>
              <a:defRPr sz="2000" b="0">
                <a:solidFill>
                  <a:srgbClr val="F1F5F4"/>
                </a:solidFill>
                <a:latin typeface="DejaVu Sans"/>
              </a:defRPr>
            </a:pPr>
            <a:r>
              <a:t>Plan inicial del proyecto</a:t>
            </a:r>
          </a:p>
        </p:txBody>
      </p:sp>
      <p:sp>
        <p:nvSpPr>
          <p:cNvPr id="16" name="Oval 15"/>
          <p:cNvSpPr/>
          <p:nvPr/>
        </p:nvSpPr>
        <p:spPr>
          <a:xfrm>
            <a:off x="4507992" y="3099816"/>
            <a:ext cx="146304" cy="146304"/>
          </a:xfrm>
          <a:prstGeom prst="ellipse">
            <a:avLst/>
          </a:prstGeom>
          <a:solidFill>
            <a:srgbClr val="8BE7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92624" y="2990088"/>
            <a:ext cx="1645920" cy="320040"/>
          </a:xfrm>
          <a:prstGeom prst="rect">
            <a:avLst/>
          </a:prstGeom>
          <a:noFill/>
        </p:spPr>
        <p:txBody>
          <a:bodyPr wrap="square" lIns="0" rIns="0" tIns="0" bIns="0">
            <a:spAutoFit/>
          </a:bodyPr>
          <a:lstStyle/>
          <a:p>
            <a:pPr>
              <a:lnSpc>
                <a:spcPct val="112000"/>
              </a:lnSpc>
              <a:spcBef>
                <a:spcPts val="0"/>
              </a:spcBef>
              <a:spcAft>
                <a:spcPts val="500"/>
              </a:spcAft>
              <a:defRPr sz="1600" b="1">
                <a:solidFill>
                  <a:srgbClr val="8BE7B2"/>
                </a:solidFill>
                <a:latin typeface="DejaVu Sans Mono"/>
              </a:defRPr>
            </a:pPr>
            <a:r>
              <a:t>8917f20</a:t>
            </a:r>
          </a:p>
        </p:txBody>
      </p:sp>
      <p:sp>
        <p:nvSpPr>
          <p:cNvPr id="18" name="TextBox 17"/>
          <p:cNvSpPr txBox="1"/>
          <p:nvPr/>
        </p:nvSpPr>
        <p:spPr>
          <a:xfrm>
            <a:off x="6775704" y="2990088"/>
            <a:ext cx="4617720" cy="566928"/>
          </a:xfrm>
          <a:prstGeom prst="rect">
            <a:avLst/>
          </a:prstGeom>
          <a:noFill/>
        </p:spPr>
        <p:txBody>
          <a:bodyPr wrap="square" lIns="0" rIns="0" tIns="0" bIns="0">
            <a:spAutoFit/>
          </a:bodyPr>
          <a:lstStyle/>
          <a:p>
            <a:pPr>
              <a:lnSpc>
                <a:spcPct val="112000"/>
              </a:lnSpc>
              <a:spcBef>
                <a:spcPts val="0"/>
              </a:spcBef>
              <a:spcAft>
                <a:spcPts val="500"/>
              </a:spcAft>
              <a:defRPr sz="2000" b="0">
                <a:solidFill>
                  <a:srgbClr val="F1F5F4"/>
                </a:solidFill>
                <a:latin typeface="DejaVu Sans"/>
              </a:defRPr>
            </a:pPr>
            <a:r>
              <a:t>Prototipo y pruebas</a:t>
            </a:r>
          </a:p>
        </p:txBody>
      </p:sp>
      <p:sp>
        <p:nvSpPr>
          <p:cNvPr id="19" name="Oval 18"/>
          <p:cNvSpPr/>
          <p:nvPr/>
        </p:nvSpPr>
        <p:spPr>
          <a:xfrm>
            <a:off x="4507992" y="4059936"/>
            <a:ext cx="146304" cy="146304"/>
          </a:xfrm>
          <a:prstGeom prst="ellipse">
            <a:avLst/>
          </a:prstGeom>
          <a:solidFill>
            <a:srgbClr val="8BE7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992624" y="3950208"/>
            <a:ext cx="1645920" cy="320040"/>
          </a:xfrm>
          <a:prstGeom prst="rect">
            <a:avLst/>
          </a:prstGeom>
          <a:noFill/>
        </p:spPr>
        <p:txBody>
          <a:bodyPr wrap="square" lIns="0" rIns="0" tIns="0" bIns="0">
            <a:spAutoFit/>
          </a:bodyPr>
          <a:lstStyle/>
          <a:p>
            <a:pPr>
              <a:lnSpc>
                <a:spcPct val="112000"/>
              </a:lnSpc>
              <a:spcBef>
                <a:spcPts val="0"/>
              </a:spcBef>
              <a:spcAft>
                <a:spcPts val="500"/>
              </a:spcAft>
              <a:defRPr sz="1600" b="1">
                <a:solidFill>
                  <a:srgbClr val="8BE7B2"/>
                </a:solidFill>
                <a:latin typeface="DejaVu Sans Mono"/>
              </a:defRPr>
            </a:pPr>
            <a:r>
              <a:t>f3cd9fe</a:t>
            </a:r>
          </a:p>
        </p:txBody>
      </p:sp>
      <p:sp>
        <p:nvSpPr>
          <p:cNvPr id="21" name="TextBox 20"/>
          <p:cNvSpPr txBox="1"/>
          <p:nvPr/>
        </p:nvSpPr>
        <p:spPr>
          <a:xfrm>
            <a:off x="6775704" y="3950208"/>
            <a:ext cx="4617720" cy="566928"/>
          </a:xfrm>
          <a:prstGeom prst="rect">
            <a:avLst/>
          </a:prstGeom>
          <a:noFill/>
        </p:spPr>
        <p:txBody>
          <a:bodyPr wrap="square" lIns="0" rIns="0" tIns="0" bIns="0">
            <a:spAutoFit/>
          </a:bodyPr>
          <a:lstStyle/>
          <a:p>
            <a:pPr>
              <a:lnSpc>
                <a:spcPct val="112000"/>
              </a:lnSpc>
              <a:spcBef>
                <a:spcPts val="0"/>
              </a:spcBef>
              <a:spcAft>
                <a:spcPts val="500"/>
              </a:spcAft>
              <a:defRPr sz="2000" b="0">
                <a:solidFill>
                  <a:srgbClr val="F1F5F4"/>
                </a:solidFill>
                <a:latin typeface="DejaVu Sans"/>
              </a:defRPr>
            </a:pPr>
            <a:r>
              <a:t>Informe, diagramas y guion</a:t>
            </a:r>
          </a:p>
        </p:txBody>
      </p:sp>
      <p:sp>
        <p:nvSpPr>
          <p:cNvPr id="22" name="Oval 21"/>
          <p:cNvSpPr/>
          <p:nvPr/>
        </p:nvSpPr>
        <p:spPr>
          <a:xfrm>
            <a:off x="4507992" y="5020056"/>
            <a:ext cx="146304" cy="146304"/>
          </a:xfrm>
          <a:prstGeom prst="ellipse">
            <a:avLst/>
          </a:prstGeom>
          <a:solidFill>
            <a:srgbClr val="8BE7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992624" y="4910328"/>
            <a:ext cx="1645920" cy="320040"/>
          </a:xfrm>
          <a:prstGeom prst="rect">
            <a:avLst/>
          </a:prstGeom>
          <a:noFill/>
        </p:spPr>
        <p:txBody>
          <a:bodyPr wrap="square" lIns="0" rIns="0" tIns="0" bIns="0">
            <a:spAutoFit/>
          </a:bodyPr>
          <a:lstStyle/>
          <a:p>
            <a:pPr>
              <a:lnSpc>
                <a:spcPct val="112000"/>
              </a:lnSpc>
              <a:spcBef>
                <a:spcPts val="0"/>
              </a:spcBef>
              <a:spcAft>
                <a:spcPts val="500"/>
              </a:spcAft>
              <a:defRPr sz="1600" b="1">
                <a:solidFill>
                  <a:srgbClr val="8BE7B2"/>
                </a:solidFill>
                <a:latin typeface="DejaVu Sans Mono"/>
              </a:defRPr>
            </a:pPr>
            <a:r>
              <a:t>56f629f</a:t>
            </a:r>
          </a:p>
        </p:txBody>
      </p:sp>
      <p:sp>
        <p:nvSpPr>
          <p:cNvPr id="24" name="TextBox 23"/>
          <p:cNvSpPr txBox="1"/>
          <p:nvPr/>
        </p:nvSpPr>
        <p:spPr>
          <a:xfrm>
            <a:off x="6775704" y="4910328"/>
            <a:ext cx="4617720" cy="566928"/>
          </a:xfrm>
          <a:prstGeom prst="rect">
            <a:avLst/>
          </a:prstGeom>
          <a:noFill/>
        </p:spPr>
        <p:txBody>
          <a:bodyPr wrap="square" lIns="0" rIns="0" tIns="0" bIns="0">
            <a:spAutoFit/>
          </a:bodyPr>
          <a:lstStyle/>
          <a:p>
            <a:pPr>
              <a:lnSpc>
                <a:spcPct val="112000"/>
              </a:lnSpc>
              <a:spcBef>
                <a:spcPts val="0"/>
              </a:spcBef>
              <a:spcAft>
                <a:spcPts val="500"/>
              </a:spcAft>
              <a:defRPr sz="2000" b="0">
                <a:solidFill>
                  <a:srgbClr val="F1F5F4"/>
                </a:solidFill>
                <a:latin typeface="DejaVu Sans"/>
              </a:defRPr>
            </a:pPr>
            <a:r>
              <a:t>Estado actual del repositorio</a:t>
            </a:r>
          </a:p>
        </p:txBody>
      </p:sp>
      <p:sp>
        <p:nvSpPr>
          <p:cNvPr id="25" name="Rounded Rectangle 24"/>
          <p:cNvSpPr/>
          <p:nvPr/>
        </p:nvSpPr>
        <p:spPr>
          <a:xfrm>
            <a:off x="640080" y="5641848"/>
            <a:ext cx="10927080" cy="512064"/>
          </a:xfrm>
          <a:prstGeom prst="roundRect">
            <a:avLst>
              <a:gd name="adj" fmla="val 8000"/>
            </a:avLst>
          </a:prstGeom>
          <a:solidFill>
            <a:srgbClr val="203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5769864"/>
            <a:ext cx="10561320" cy="274320"/>
          </a:xfrm>
          <a:prstGeom prst="rect">
            <a:avLst/>
          </a:prstGeom>
          <a:noFill/>
        </p:spPr>
        <p:txBody>
          <a:bodyPr wrap="square" lIns="0" rIns="0" tIns="0" bIns="0">
            <a:spAutoFit/>
          </a:bodyPr>
          <a:lstStyle/>
          <a:p>
            <a:pPr>
              <a:lnSpc>
                <a:spcPct val="112000"/>
              </a:lnSpc>
              <a:spcBef>
                <a:spcPts val="0"/>
              </a:spcBef>
              <a:spcAft>
                <a:spcPts val="500"/>
              </a:spcAft>
              <a:defRPr sz="1400" b="0">
                <a:solidFill>
                  <a:srgbClr val="FFD36D"/>
                </a:solidFill>
                <a:latin typeface="DejaVu Sans"/>
              </a:defRPr>
            </a:pPr>
            <a:r>
              <a:t>En la exposición, cada integrante debe explicar su aporte con evidencia concreta.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D1821"/>
        </a:solidFill>
        <a:effectLst/>
      </p:bgPr>
    </p:bg>
    <p:spTree>
      <p:nvGrpSpPr>
        <p:cNvPr id="1" name=""/>
        <p:cNvGrpSpPr/>
        <p:nvPr/>
      </p:nvGrpSpPr>
      <p:grpSpPr/>
      <p:sp>
        <p:nvSpPr>
          <p:cNvPr id="2" name="Rectangle 1"/>
          <p:cNvSpPr/>
          <p:nvPr/>
        </p:nvSpPr>
        <p:spPr>
          <a:xfrm>
            <a:off x="548640" y="320040"/>
            <a:ext cx="292608" cy="50292"/>
          </a:xfrm>
          <a:prstGeom prst="rect">
            <a:avLst/>
          </a:prstGeom>
          <a:solidFill>
            <a:srgbClr val="8BE7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37744"/>
            <a:ext cx="9144000" cy="274320"/>
          </a:xfrm>
          <a:prstGeom prst="rect">
            <a:avLst/>
          </a:prstGeom>
          <a:noFill/>
        </p:spPr>
        <p:txBody>
          <a:bodyPr wrap="square" lIns="0" rIns="0" tIns="0" bIns="0">
            <a:spAutoFit/>
          </a:bodyPr>
          <a:lstStyle/>
          <a:p>
            <a:pPr>
              <a:lnSpc>
                <a:spcPct val="112000"/>
              </a:lnSpc>
              <a:spcBef>
                <a:spcPts val="0"/>
              </a:spcBef>
              <a:spcAft>
                <a:spcPts val="500"/>
              </a:spcAft>
              <a:defRPr sz="1050" b="1">
                <a:solidFill>
                  <a:srgbClr val="8BE7B2"/>
                </a:solidFill>
                <a:latin typeface="DejaVu Sans"/>
              </a:defRPr>
            </a:pPr>
            <a:r>
              <a:t>PROYECTO PARCIAL · POO</a:t>
            </a:r>
          </a:p>
        </p:txBody>
      </p:sp>
      <p:sp>
        <p:nvSpPr>
          <p:cNvPr id="4" name="TextBox 3"/>
          <p:cNvSpPr txBox="1"/>
          <p:nvPr/>
        </p:nvSpPr>
        <p:spPr>
          <a:xfrm>
            <a:off x="548640" y="758952"/>
            <a:ext cx="11064240" cy="960120"/>
          </a:xfrm>
          <a:prstGeom prst="rect">
            <a:avLst/>
          </a:prstGeom>
          <a:noFill/>
        </p:spPr>
        <p:txBody>
          <a:bodyPr wrap="square" lIns="0" rIns="0" tIns="0" bIns="0">
            <a:spAutoFit/>
          </a:bodyPr>
          <a:lstStyle/>
          <a:p>
            <a:pPr>
              <a:lnSpc>
                <a:spcPct val="112000"/>
              </a:lnSpc>
              <a:spcBef>
                <a:spcPts val="0"/>
              </a:spcBef>
              <a:spcAft>
                <a:spcPts val="500"/>
              </a:spcAft>
              <a:defRPr sz="3200" b="1">
                <a:solidFill>
                  <a:srgbClr val="F1F5F4"/>
                </a:solidFill>
                <a:latin typeface="DejaVu Sans"/>
              </a:defRPr>
            </a:pPr>
            <a:r>
              <a:t>Demostración: de la celda a la salida</a:t>
            </a:r>
          </a:p>
        </p:txBody>
      </p:sp>
      <p:cxnSp>
        <p:nvCxnSpPr>
          <p:cNvPr id="5" name="Connector 4"/>
          <p:cNvCxnSpPr/>
          <p:nvPr/>
        </p:nvCxnSpPr>
        <p:spPr>
          <a:xfrm>
            <a:off x="548640" y="6419088"/>
            <a:ext cx="11091672" cy="0"/>
          </a:xfrm>
          <a:prstGeom prst="line">
            <a:avLst/>
          </a:prstGeom>
          <a:ln w="8255">
            <a:solidFill>
              <a:srgbClr val="3D5867"/>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519672"/>
            <a:ext cx="3017520" cy="173736"/>
          </a:xfrm>
          <a:prstGeom prst="rect">
            <a:avLst/>
          </a:prstGeom>
          <a:noFill/>
        </p:spPr>
        <p:txBody>
          <a:bodyPr wrap="square" lIns="0" rIns="0" tIns="0" bIns="0">
            <a:spAutoFit/>
          </a:bodyPr>
          <a:lstStyle/>
          <a:p>
            <a:pPr>
              <a:lnSpc>
                <a:spcPct val="112000"/>
              </a:lnSpc>
              <a:spcBef>
                <a:spcPts val="0"/>
              </a:spcBef>
              <a:spcAft>
                <a:spcPts val="500"/>
              </a:spcAft>
              <a:defRPr sz="850" b="0">
                <a:solidFill>
                  <a:srgbClr val="A9BBC6"/>
                </a:solidFill>
                <a:latin typeface="DejaVu Sans"/>
              </a:defRPr>
            </a:pPr>
            <a:r>
              <a:t>FUGA DE LA PRISIÓN  /  2026-II</a:t>
            </a:r>
          </a:p>
        </p:txBody>
      </p:sp>
      <p:sp>
        <p:nvSpPr>
          <p:cNvPr id="7" name="TextBox 6"/>
          <p:cNvSpPr txBox="1"/>
          <p:nvPr/>
        </p:nvSpPr>
        <p:spPr>
          <a:xfrm>
            <a:off x="3703320" y="6519672"/>
            <a:ext cx="7132320" cy="182880"/>
          </a:xfrm>
          <a:prstGeom prst="rect">
            <a:avLst/>
          </a:prstGeom>
          <a:noFill/>
        </p:spPr>
        <p:txBody>
          <a:bodyPr wrap="square" lIns="0" rIns="0" tIns="0" bIns="0">
            <a:spAutoFit/>
          </a:bodyPr>
          <a:lstStyle/>
          <a:p>
            <a:pPr algn="r">
              <a:lnSpc>
                <a:spcPct val="112000"/>
              </a:lnSpc>
              <a:spcBef>
                <a:spcPts val="0"/>
              </a:spcBef>
              <a:spcAft>
                <a:spcPts val="500"/>
              </a:spcAft>
              <a:defRPr sz="850" b="0">
                <a:solidFill>
                  <a:srgbClr val="A9BBC6"/>
                </a:solidFill>
                <a:latin typeface="DejaVu Sans"/>
              </a:defRPr>
            </a:pPr>
            <a:r>
              <a:t>Fuentes: main.py · README.md · capturas del verificador</a:t>
            </a:r>
          </a:p>
        </p:txBody>
      </p:sp>
      <p:sp>
        <p:nvSpPr>
          <p:cNvPr id="8" name="TextBox 7"/>
          <p:cNvSpPr txBox="1"/>
          <p:nvPr/>
        </p:nvSpPr>
        <p:spPr>
          <a:xfrm>
            <a:off x="11018520" y="6492240"/>
            <a:ext cx="594360" cy="274320"/>
          </a:xfrm>
          <a:prstGeom prst="rect">
            <a:avLst/>
          </a:prstGeom>
          <a:noFill/>
        </p:spPr>
        <p:txBody>
          <a:bodyPr wrap="square" lIns="0" rIns="0" tIns="0" bIns="0">
            <a:spAutoFit/>
          </a:bodyPr>
          <a:lstStyle/>
          <a:p>
            <a:pPr algn="r">
              <a:lnSpc>
                <a:spcPct val="112000"/>
              </a:lnSpc>
              <a:spcBef>
                <a:spcPts val="0"/>
              </a:spcBef>
              <a:spcAft>
                <a:spcPts val="500"/>
              </a:spcAft>
              <a:defRPr sz="1100" b="1">
                <a:solidFill>
                  <a:srgbClr val="8BE7B2"/>
                </a:solidFill>
                <a:latin typeface="DejaVu Sans"/>
              </a:defRPr>
            </a:pPr>
            <a:r>
              <a:t>13</a:t>
            </a:r>
          </a:p>
        </p:txBody>
      </p:sp>
      <p:sp>
        <p:nvSpPr>
          <p:cNvPr id="9" name="TextBox 8"/>
          <p:cNvSpPr txBox="1"/>
          <p:nvPr/>
        </p:nvSpPr>
        <p:spPr>
          <a:xfrm>
            <a:off x="640080" y="1929384"/>
            <a:ext cx="914400" cy="612648"/>
          </a:xfrm>
          <a:prstGeom prst="rect">
            <a:avLst/>
          </a:prstGeom>
          <a:noFill/>
        </p:spPr>
        <p:txBody>
          <a:bodyPr wrap="square" lIns="0" rIns="0" tIns="0" bIns="0">
            <a:spAutoFit/>
          </a:bodyPr>
          <a:lstStyle/>
          <a:p>
            <a:pPr>
              <a:lnSpc>
                <a:spcPct val="112000"/>
              </a:lnSpc>
              <a:spcBef>
                <a:spcPts val="0"/>
              </a:spcBef>
              <a:spcAft>
                <a:spcPts val="500"/>
              </a:spcAft>
              <a:defRPr sz="3200" b="1">
                <a:solidFill>
                  <a:srgbClr val="8BE7B2"/>
                </a:solidFill>
                <a:latin typeface="DejaVu Sans"/>
              </a:defRPr>
            </a:pPr>
            <a:r>
              <a:t>01</a:t>
            </a:r>
          </a:p>
        </p:txBody>
      </p:sp>
      <p:sp>
        <p:nvSpPr>
          <p:cNvPr id="10" name="Rounded Rectangle 9"/>
          <p:cNvSpPr/>
          <p:nvPr/>
        </p:nvSpPr>
        <p:spPr>
          <a:xfrm>
            <a:off x="640080" y="2752344"/>
            <a:ext cx="3355848" cy="2103120"/>
          </a:xfrm>
          <a:prstGeom prst="roundRect">
            <a:avLst>
              <a:gd name="adj" fmla="val 8000"/>
            </a:avLst>
          </a:prstGeom>
          <a:solidFill>
            <a:srgbClr val="182A35"/>
          </a:solidFill>
          <a:ln w="12700">
            <a:solidFill>
              <a:srgbClr val="3D586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2862072"/>
            <a:ext cx="41148" cy="1883663"/>
          </a:xfrm>
          <a:prstGeom prst="rect">
            <a:avLst/>
          </a:prstGeom>
          <a:solidFill>
            <a:srgbClr val="8BE7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2916936"/>
            <a:ext cx="2990088" cy="411480"/>
          </a:xfrm>
          <a:prstGeom prst="rect">
            <a:avLst/>
          </a:prstGeom>
          <a:noFill/>
        </p:spPr>
        <p:txBody>
          <a:bodyPr wrap="square" lIns="0" rIns="0" tIns="0" bIns="0">
            <a:spAutoFit/>
          </a:bodyPr>
          <a:lstStyle/>
          <a:p>
            <a:pPr>
              <a:lnSpc>
                <a:spcPct val="112000"/>
              </a:lnSpc>
              <a:spcBef>
                <a:spcPts val="0"/>
              </a:spcBef>
              <a:spcAft>
                <a:spcPts val="500"/>
              </a:spcAft>
              <a:defRPr sz="1800" b="1">
                <a:solidFill>
                  <a:srgbClr val="8BE7B2"/>
                </a:solidFill>
                <a:latin typeface="DejaVu Sans"/>
              </a:defRPr>
            </a:pPr>
            <a:r>
              <a:t>Abrir y moverse</a:t>
            </a:r>
          </a:p>
        </p:txBody>
      </p:sp>
      <p:sp>
        <p:nvSpPr>
          <p:cNvPr id="13" name="TextBox 12"/>
          <p:cNvSpPr txBox="1"/>
          <p:nvPr/>
        </p:nvSpPr>
        <p:spPr>
          <a:xfrm>
            <a:off x="841247" y="3465576"/>
            <a:ext cx="2962656" cy="1298448"/>
          </a:xfrm>
          <a:prstGeom prst="rect">
            <a:avLst/>
          </a:prstGeom>
          <a:noFill/>
        </p:spPr>
        <p:txBody>
          <a:bodyPr wrap="square" lIns="0" rIns="0" tIns="0" bIns="0">
            <a:spAutoFit/>
          </a:bodyPr>
          <a:lstStyle/>
          <a:p>
            <a:pPr>
              <a:lnSpc>
                <a:spcPct val="112000"/>
              </a:lnSpc>
              <a:spcBef>
                <a:spcPts val="0"/>
              </a:spcBef>
              <a:spcAft>
                <a:spcPts val="500"/>
              </a:spcAft>
              <a:defRPr sz="1600" b="0">
                <a:solidFill>
                  <a:srgbClr val="A9BBC6"/>
                </a:solidFill>
                <a:latin typeface="DejaVu Sans"/>
              </a:defRPr>
            </a:pPr>
            <a:r>
              <a:t>E durante 2 s.</a:t>
            </a:r>
          </a:p>
          <a:p>
            <a:pPr>
              <a:lnSpc>
                <a:spcPct val="112000"/>
              </a:lnSpc>
              <a:spcBef>
                <a:spcPts val="0"/>
              </a:spcBef>
              <a:spcAft>
                <a:spcPts val="500"/>
              </a:spcAft>
              <a:defRPr sz="1600" b="0">
                <a:solidFill>
                  <a:srgbClr val="A9BBC6"/>
                </a:solidFill>
                <a:latin typeface="DejaVu Sans"/>
              </a:defRPr>
            </a:pPr>
            <a:r>
              <a:t>Moverse contra una pared.</a:t>
            </a:r>
          </a:p>
        </p:txBody>
      </p:sp>
      <p:sp>
        <p:nvSpPr>
          <p:cNvPr id="14" name="TextBox 13"/>
          <p:cNvSpPr txBox="1"/>
          <p:nvPr/>
        </p:nvSpPr>
        <p:spPr>
          <a:xfrm>
            <a:off x="4425696" y="1929384"/>
            <a:ext cx="914400" cy="612648"/>
          </a:xfrm>
          <a:prstGeom prst="rect">
            <a:avLst/>
          </a:prstGeom>
          <a:noFill/>
        </p:spPr>
        <p:txBody>
          <a:bodyPr wrap="square" lIns="0" rIns="0" tIns="0" bIns="0">
            <a:spAutoFit/>
          </a:bodyPr>
          <a:lstStyle/>
          <a:p>
            <a:pPr>
              <a:lnSpc>
                <a:spcPct val="112000"/>
              </a:lnSpc>
              <a:spcBef>
                <a:spcPts val="0"/>
              </a:spcBef>
              <a:spcAft>
                <a:spcPts val="500"/>
              </a:spcAft>
              <a:defRPr sz="3200" b="1">
                <a:solidFill>
                  <a:srgbClr val="FFD36D"/>
                </a:solidFill>
                <a:latin typeface="DejaVu Sans"/>
              </a:defRPr>
            </a:pPr>
            <a:r>
              <a:t>02</a:t>
            </a:r>
          </a:p>
        </p:txBody>
      </p:sp>
      <p:sp>
        <p:nvSpPr>
          <p:cNvPr id="15" name="Rounded Rectangle 14"/>
          <p:cNvSpPr/>
          <p:nvPr/>
        </p:nvSpPr>
        <p:spPr>
          <a:xfrm>
            <a:off x="4425696" y="2752344"/>
            <a:ext cx="3355848" cy="2103120"/>
          </a:xfrm>
          <a:prstGeom prst="roundRect">
            <a:avLst>
              <a:gd name="adj" fmla="val 8000"/>
            </a:avLst>
          </a:prstGeom>
          <a:solidFill>
            <a:srgbClr val="182A35"/>
          </a:solidFill>
          <a:ln w="12700">
            <a:solidFill>
              <a:srgbClr val="3D586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43983" y="2862072"/>
            <a:ext cx="41148" cy="1883663"/>
          </a:xfrm>
          <a:prstGeom prst="rect">
            <a:avLst/>
          </a:prstGeom>
          <a:solidFill>
            <a:srgbClr val="FFD3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26864" y="2916936"/>
            <a:ext cx="2990088" cy="411480"/>
          </a:xfrm>
          <a:prstGeom prst="rect">
            <a:avLst/>
          </a:prstGeom>
          <a:noFill/>
        </p:spPr>
        <p:txBody>
          <a:bodyPr wrap="square" lIns="0" rIns="0" tIns="0" bIns="0">
            <a:spAutoFit/>
          </a:bodyPr>
          <a:lstStyle/>
          <a:p>
            <a:pPr>
              <a:lnSpc>
                <a:spcPct val="112000"/>
              </a:lnSpc>
              <a:spcBef>
                <a:spcPts val="0"/>
              </a:spcBef>
              <a:spcAft>
                <a:spcPts val="500"/>
              </a:spcAft>
              <a:defRPr sz="1800" b="1">
                <a:solidFill>
                  <a:srgbClr val="FFD36D"/>
                </a:solidFill>
                <a:latin typeface="DejaVu Sans"/>
              </a:defRPr>
            </a:pPr>
            <a:r>
              <a:t>Generar ruido</a:t>
            </a:r>
          </a:p>
        </p:txBody>
      </p:sp>
      <p:sp>
        <p:nvSpPr>
          <p:cNvPr id="18" name="TextBox 17"/>
          <p:cNvSpPr txBox="1"/>
          <p:nvPr/>
        </p:nvSpPr>
        <p:spPr>
          <a:xfrm>
            <a:off x="4626864" y="3465576"/>
            <a:ext cx="2962656" cy="1298448"/>
          </a:xfrm>
          <a:prstGeom prst="rect">
            <a:avLst/>
          </a:prstGeom>
          <a:noFill/>
        </p:spPr>
        <p:txBody>
          <a:bodyPr wrap="square" lIns="0" rIns="0" tIns="0" bIns="0">
            <a:spAutoFit/>
          </a:bodyPr>
          <a:lstStyle/>
          <a:p>
            <a:pPr>
              <a:lnSpc>
                <a:spcPct val="112000"/>
              </a:lnSpc>
              <a:spcBef>
                <a:spcPts val="0"/>
              </a:spcBef>
              <a:spcAft>
                <a:spcPts val="500"/>
              </a:spcAft>
              <a:defRPr sz="1600" b="0">
                <a:solidFill>
                  <a:srgbClr val="A9BBC6"/>
                </a:solidFill>
                <a:latin typeface="DejaVu Sans"/>
              </a:defRPr>
            </a:pPr>
            <a:r>
              <a:t>Ctrl reduce el ruido.</a:t>
            </a:r>
          </a:p>
          <a:p>
            <a:pPr>
              <a:lnSpc>
                <a:spcPct val="112000"/>
              </a:lnSpc>
              <a:spcBef>
                <a:spcPts val="0"/>
              </a:spcBef>
              <a:spcAft>
                <a:spcPts val="500"/>
              </a:spcAft>
              <a:defRPr sz="1600" b="0">
                <a:solidFill>
                  <a:srgbClr val="A9BBC6"/>
                </a:solidFill>
                <a:latin typeface="DejaVu Sans"/>
              </a:defRPr>
            </a:pPr>
            <a:r>
              <a:t>Shift permite correr.</a:t>
            </a:r>
          </a:p>
        </p:txBody>
      </p:sp>
      <p:sp>
        <p:nvSpPr>
          <p:cNvPr id="19" name="TextBox 18"/>
          <p:cNvSpPr txBox="1"/>
          <p:nvPr/>
        </p:nvSpPr>
        <p:spPr>
          <a:xfrm>
            <a:off x="8211312" y="1929384"/>
            <a:ext cx="914400" cy="612648"/>
          </a:xfrm>
          <a:prstGeom prst="rect">
            <a:avLst/>
          </a:prstGeom>
          <a:noFill/>
        </p:spPr>
        <p:txBody>
          <a:bodyPr wrap="square" lIns="0" rIns="0" tIns="0" bIns="0">
            <a:spAutoFit/>
          </a:bodyPr>
          <a:lstStyle/>
          <a:p>
            <a:pPr>
              <a:lnSpc>
                <a:spcPct val="112000"/>
              </a:lnSpc>
              <a:spcBef>
                <a:spcPts val="0"/>
              </a:spcBef>
              <a:spcAft>
                <a:spcPts val="500"/>
              </a:spcAft>
              <a:defRPr sz="3200" b="1">
                <a:solidFill>
                  <a:srgbClr val="94CAEE"/>
                </a:solidFill>
                <a:latin typeface="DejaVu Sans"/>
              </a:defRPr>
            </a:pPr>
            <a:r>
              <a:t>03</a:t>
            </a:r>
          </a:p>
        </p:txBody>
      </p:sp>
      <p:sp>
        <p:nvSpPr>
          <p:cNvPr id="20" name="Rounded Rectangle 19"/>
          <p:cNvSpPr/>
          <p:nvPr/>
        </p:nvSpPr>
        <p:spPr>
          <a:xfrm>
            <a:off x="8211312" y="2752344"/>
            <a:ext cx="3355848" cy="2103120"/>
          </a:xfrm>
          <a:prstGeom prst="roundRect">
            <a:avLst>
              <a:gd name="adj" fmla="val 8000"/>
            </a:avLst>
          </a:prstGeom>
          <a:solidFill>
            <a:srgbClr val="182A35"/>
          </a:solidFill>
          <a:ln w="12700">
            <a:solidFill>
              <a:srgbClr val="3D586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9600" y="2862072"/>
            <a:ext cx="41148" cy="1883663"/>
          </a:xfrm>
          <a:prstGeom prst="rect">
            <a:avLst/>
          </a:prstGeom>
          <a:solidFill>
            <a:srgbClr val="94CA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2480" y="2916936"/>
            <a:ext cx="2990088" cy="411480"/>
          </a:xfrm>
          <a:prstGeom prst="rect">
            <a:avLst/>
          </a:prstGeom>
          <a:noFill/>
        </p:spPr>
        <p:txBody>
          <a:bodyPr wrap="square" lIns="0" rIns="0" tIns="0" bIns="0">
            <a:spAutoFit/>
          </a:bodyPr>
          <a:lstStyle/>
          <a:p>
            <a:pPr>
              <a:lnSpc>
                <a:spcPct val="112000"/>
              </a:lnSpc>
              <a:spcBef>
                <a:spcPts val="0"/>
              </a:spcBef>
              <a:spcAft>
                <a:spcPts val="500"/>
              </a:spcAft>
              <a:defRPr sz="1800" b="1">
                <a:solidFill>
                  <a:srgbClr val="94CAEE"/>
                </a:solidFill>
                <a:latin typeface="DejaVu Sans"/>
              </a:defRPr>
            </a:pPr>
            <a:r>
              <a:t>Pausar y continuar</a:t>
            </a:r>
          </a:p>
        </p:txBody>
      </p:sp>
      <p:sp>
        <p:nvSpPr>
          <p:cNvPr id="23" name="TextBox 22"/>
          <p:cNvSpPr txBox="1"/>
          <p:nvPr/>
        </p:nvSpPr>
        <p:spPr>
          <a:xfrm>
            <a:off x="8412480" y="3465576"/>
            <a:ext cx="2962656" cy="1298448"/>
          </a:xfrm>
          <a:prstGeom prst="rect">
            <a:avLst/>
          </a:prstGeom>
          <a:noFill/>
        </p:spPr>
        <p:txBody>
          <a:bodyPr wrap="square" lIns="0" rIns="0" tIns="0" bIns="0">
            <a:spAutoFit/>
          </a:bodyPr>
          <a:lstStyle/>
          <a:p>
            <a:pPr>
              <a:lnSpc>
                <a:spcPct val="112000"/>
              </a:lnSpc>
              <a:spcBef>
                <a:spcPts val="0"/>
              </a:spcBef>
              <a:spcAft>
                <a:spcPts val="500"/>
              </a:spcAft>
              <a:defRPr sz="1600" b="0">
                <a:solidFill>
                  <a:srgbClr val="A9BBC6"/>
                </a:solidFill>
                <a:latin typeface="DejaVu Sans"/>
              </a:defRPr>
            </a:pPr>
            <a:r>
              <a:t>P / Esc pausa.</a:t>
            </a:r>
          </a:p>
          <a:p>
            <a:pPr>
              <a:lnSpc>
                <a:spcPct val="112000"/>
              </a:lnSpc>
              <a:spcBef>
                <a:spcPts val="0"/>
              </a:spcBef>
              <a:spcAft>
                <a:spcPts val="500"/>
              </a:spcAft>
              <a:defRPr sz="1600" b="0">
                <a:solidFill>
                  <a:srgbClr val="A9BBC6"/>
                </a:solidFill>
                <a:latin typeface="DejaVu Sans"/>
              </a:defRPr>
            </a:pPr>
            <a:r>
              <a:t>R reintenta tras perder.</a:t>
            </a:r>
          </a:p>
        </p:txBody>
      </p:sp>
      <p:sp>
        <p:nvSpPr>
          <p:cNvPr id="24" name="TextBox 23"/>
          <p:cNvSpPr txBox="1"/>
          <p:nvPr/>
        </p:nvSpPr>
        <p:spPr>
          <a:xfrm>
            <a:off x="667512" y="5330952"/>
            <a:ext cx="10744200" cy="731520"/>
          </a:xfrm>
          <a:prstGeom prst="rect">
            <a:avLst/>
          </a:prstGeom>
          <a:noFill/>
        </p:spPr>
        <p:txBody>
          <a:bodyPr wrap="square" lIns="0" rIns="0" tIns="0" bIns="0">
            <a:spAutoFit/>
          </a:bodyPr>
          <a:lstStyle/>
          <a:p>
            <a:pPr>
              <a:lnSpc>
                <a:spcPct val="112000"/>
              </a:lnSpc>
              <a:spcBef>
                <a:spcPts val="0"/>
              </a:spcBef>
              <a:spcAft>
                <a:spcPts val="500"/>
              </a:spcAft>
              <a:defRPr sz="1900" b="0">
                <a:solidFill>
                  <a:srgbClr val="F1F5F4"/>
                </a:solidFill>
                <a:latin typeface="DejaVu Sans"/>
              </a:defRPr>
            </a:pPr>
            <a:r>
              <a:t>Al recoger la llave: +100. Al salir: +500.</a:t>
            </a:r>
          </a:p>
          <a:p>
            <a:pPr>
              <a:lnSpc>
                <a:spcPct val="112000"/>
              </a:lnSpc>
              <a:spcBef>
                <a:spcPts val="0"/>
              </a:spcBef>
              <a:spcAft>
                <a:spcPts val="500"/>
              </a:spcAft>
              <a:defRPr sz="1900" b="0">
                <a:solidFill>
                  <a:srgbClr val="F1F5F4"/>
                </a:solidFill>
                <a:latin typeface="DejaVu Sans"/>
              </a:defRPr>
            </a:pPr>
            <a:r>
              <a:t>Si la partida no permite llegar al jefe, usar sus capturas para explicar las fases.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D1821"/>
        </a:solidFill>
        <a:effectLst/>
      </p:bgPr>
    </p:bg>
    <p:spTree>
      <p:nvGrpSpPr>
        <p:cNvPr id="1" name=""/>
        <p:cNvGrpSpPr/>
        <p:nvPr/>
      </p:nvGrpSpPr>
      <p:grpSpPr/>
      <p:sp>
        <p:nvSpPr>
          <p:cNvPr id="2" name="Rectangle 1"/>
          <p:cNvSpPr/>
          <p:nvPr/>
        </p:nvSpPr>
        <p:spPr>
          <a:xfrm>
            <a:off x="548640" y="320040"/>
            <a:ext cx="292608" cy="50292"/>
          </a:xfrm>
          <a:prstGeom prst="rect">
            <a:avLst/>
          </a:prstGeom>
          <a:solidFill>
            <a:srgbClr val="8BE7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37744"/>
            <a:ext cx="9144000" cy="274320"/>
          </a:xfrm>
          <a:prstGeom prst="rect">
            <a:avLst/>
          </a:prstGeom>
          <a:noFill/>
        </p:spPr>
        <p:txBody>
          <a:bodyPr wrap="square" lIns="0" rIns="0" tIns="0" bIns="0">
            <a:spAutoFit/>
          </a:bodyPr>
          <a:lstStyle/>
          <a:p>
            <a:pPr>
              <a:lnSpc>
                <a:spcPct val="112000"/>
              </a:lnSpc>
              <a:spcBef>
                <a:spcPts val="0"/>
              </a:spcBef>
              <a:spcAft>
                <a:spcPts val="500"/>
              </a:spcAft>
              <a:defRPr sz="1050" b="1">
                <a:solidFill>
                  <a:srgbClr val="8BE7B2"/>
                </a:solidFill>
                <a:latin typeface="DejaVu Sans"/>
              </a:defRPr>
            </a:pPr>
            <a:r>
              <a:t>PROYECTO PARCIAL · POO</a:t>
            </a:r>
          </a:p>
        </p:txBody>
      </p:sp>
      <p:sp>
        <p:nvSpPr>
          <p:cNvPr id="4" name="TextBox 3"/>
          <p:cNvSpPr txBox="1"/>
          <p:nvPr/>
        </p:nvSpPr>
        <p:spPr>
          <a:xfrm>
            <a:off x="548640" y="758952"/>
            <a:ext cx="11064240" cy="960120"/>
          </a:xfrm>
          <a:prstGeom prst="rect">
            <a:avLst/>
          </a:prstGeom>
          <a:noFill/>
        </p:spPr>
        <p:txBody>
          <a:bodyPr wrap="square" lIns="0" rIns="0" tIns="0" bIns="0">
            <a:spAutoFit/>
          </a:bodyPr>
          <a:lstStyle/>
          <a:p>
            <a:pPr>
              <a:lnSpc>
                <a:spcPct val="112000"/>
              </a:lnSpc>
              <a:spcBef>
                <a:spcPts val="0"/>
              </a:spcBef>
              <a:spcAft>
                <a:spcPts val="500"/>
              </a:spcAft>
              <a:defRPr sz="3200" b="1">
                <a:solidFill>
                  <a:srgbClr val="F1F5F4"/>
                </a:solidFill>
                <a:latin typeface="DejaVu Sans"/>
              </a:defRPr>
            </a:pPr>
            <a:r>
              <a:t>La arquitectura sostiene la jugabilidad</a:t>
            </a:r>
          </a:p>
        </p:txBody>
      </p:sp>
      <p:cxnSp>
        <p:nvCxnSpPr>
          <p:cNvPr id="5" name="Connector 4"/>
          <p:cNvCxnSpPr/>
          <p:nvPr/>
        </p:nvCxnSpPr>
        <p:spPr>
          <a:xfrm>
            <a:off x="548640" y="6419088"/>
            <a:ext cx="11091672" cy="0"/>
          </a:xfrm>
          <a:prstGeom prst="line">
            <a:avLst/>
          </a:prstGeom>
          <a:ln w="8255">
            <a:solidFill>
              <a:srgbClr val="3D5867"/>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519672"/>
            <a:ext cx="3017520" cy="173736"/>
          </a:xfrm>
          <a:prstGeom prst="rect">
            <a:avLst/>
          </a:prstGeom>
          <a:noFill/>
        </p:spPr>
        <p:txBody>
          <a:bodyPr wrap="square" lIns="0" rIns="0" tIns="0" bIns="0">
            <a:spAutoFit/>
          </a:bodyPr>
          <a:lstStyle/>
          <a:p>
            <a:pPr>
              <a:lnSpc>
                <a:spcPct val="112000"/>
              </a:lnSpc>
              <a:spcBef>
                <a:spcPts val="0"/>
              </a:spcBef>
              <a:spcAft>
                <a:spcPts val="500"/>
              </a:spcAft>
              <a:defRPr sz="850" b="0">
                <a:solidFill>
                  <a:srgbClr val="A9BBC6"/>
                </a:solidFill>
                <a:latin typeface="DejaVu Sans"/>
              </a:defRPr>
            </a:pPr>
            <a:r>
              <a:t>FUGA DE LA PRISIÓN  /  2026-II</a:t>
            </a:r>
          </a:p>
        </p:txBody>
      </p:sp>
      <p:sp>
        <p:nvSpPr>
          <p:cNvPr id="7" name="TextBox 6"/>
          <p:cNvSpPr txBox="1"/>
          <p:nvPr/>
        </p:nvSpPr>
        <p:spPr>
          <a:xfrm>
            <a:off x="3703320" y="6519672"/>
            <a:ext cx="7132320" cy="182880"/>
          </a:xfrm>
          <a:prstGeom prst="rect">
            <a:avLst/>
          </a:prstGeom>
          <a:noFill/>
        </p:spPr>
        <p:txBody>
          <a:bodyPr wrap="square" lIns="0" rIns="0" tIns="0" bIns="0">
            <a:spAutoFit/>
          </a:bodyPr>
          <a:lstStyle/>
          <a:p>
            <a:pPr algn="r">
              <a:lnSpc>
                <a:spcPct val="112000"/>
              </a:lnSpc>
              <a:spcBef>
                <a:spcPts val="0"/>
              </a:spcBef>
              <a:spcAft>
                <a:spcPts val="500"/>
              </a:spcAft>
              <a:defRPr sz="850" b="0">
                <a:solidFill>
                  <a:srgbClr val="A9BBC6"/>
                </a:solidFill>
                <a:latin typeface="DejaVu Sans"/>
              </a:defRPr>
            </a:pPr>
            <a:r>
              <a:t>Conclusiones del proyecto parcial · Programación Orientada a Objetos</a:t>
            </a:r>
          </a:p>
        </p:txBody>
      </p:sp>
      <p:sp>
        <p:nvSpPr>
          <p:cNvPr id="8" name="TextBox 7"/>
          <p:cNvSpPr txBox="1"/>
          <p:nvPr/>
        </p:nvSpPr>
        <p:spPr>
          <a:xfrm>
            <a:off x="11018520" y="6492240"/>
            <a:ext cx="594360" cy="274320"/>
          </a:xfrm>
          <a:prstGeom prst="rect">
            <a:avLst/>
          </a:prstGeom>
          <a:noFill/>
        </p:spPr>
        <p:txBody>
          <a:bodyPr wrap="square" lIns="0" rIns="0" tIns="0" bIns="0">
            <a:spAutoFit/>
          </a:bodyPr>
          <a:lstStyle/>
          <a:p>
            <a:pPr algn="r">
              <a:lnSpc>
                <a:spcPct val="112000"/>
              </a:lnSpc>
              <a:spcBef>
                <a:spcPts val="0"/>
              </a:spcBef>
              <a:spcAft>
                <a:spcPts val="500"/>
              </a:spcAft>
              <a:defRPr sz="1100" b="1">
                <a:solidFill>
                  <a:srgbClr val="8BE7B2"/>
                </a:solidFill>
                <a:latin typeface="DejaVu Sans"/>
              </a:defRPr>
            </a:pPr>
            <a:r>
              <a:t>14</a:t>
            </a:r>
          </a:p>
        </p:txBody>
      </p:sp>
      <p:sp>
        <p:nvSpPr>
          <p:cNvPr id="9" name="TextBox 8"/>
          <p:cNvSpPr txBox="1"/>
          <p:nvPr/>
        </p:nvSpPr>
        <p:spPr>
          <a:xfrm>
            <a:off x="640080" y="1874519"/>
            <a:ext cx="6995160" cy="1143000"/>
          </a:xfrm>
          <a:prstGeom prst="rect">
            <a:avLst/>
          </a:prstGeom>
          <a:noFill/>
        </p:spPr>
        <p:txBody>
          <a:bodyPr wrap="square" lIns="0" rIns="0" tIns="0" bIns="0">
            <a:spAutoFit/>
          </a:bodyPr>
          <a:lstStyle/>
          <a:p>
            <a:pPr>
              <a:lnSpc>
                <a:spcPct val="112000"/>
              </a:lnSpc>
              <a:spcBef>
                <a:spcPts val="0"/>
              </a:spcBef>
              <a:spcAft>
                <a:spcPts val="500"/>
              </a:spcAft>
              <a:defRPr sz="2900" b="1">
                <a:solidFill>
                  <a:srgbClr val="F1F5F4"/>
                </a:solidFill>
                <a:latin typeface="DejaVu Sans"/>
              </a:defRPr>
            </a:pPr>
            <a:r>
              <a:t>Reglas claras.</a:t>
            </a:r>
          </a:p>
          <a:p>
            <a:pPr>
              <a:lnSpc>
                <a:spcPct val="112000"/>
              </a:lnSpc>
              <a:spcBef>
                <a:spcPts val="0"/>
              </a:spcBef>
              <a:spcAft>
                <a:spcPts val="500"/>
              </a:spcAft>
              <a:defRPr sz="2900" b="1">
                <a:solidFill>
                  <a:srgbClr val="F1F5F4"/>
                </a:solidFill>
                <a:latin typeface="DejaVu Sans"/>
              </a:defRPr>
            </a:pPr>
            <a:r>
              <a:t>Objetos con una función.</a:t>
            </a:r>
          </a:p>
        </p:txBody>
      </p:sp>
      <p:sp>
        <p:nvSpPr>
          <p:cNvPr id="10" name="TextBox 9"/>
          <p:cNvSpPr txBox="1"/>
          <p:nvPr/>
        </p:nvSpPr>
        <p:spPr>
          <a:xfrm>
            <a:off x="658368" y="3429000"/>
            <a:ext cx="457200" cy="274320"/>
          </a:xfrm>
          <a:prstGeom prst="rect">
            <a:avLst/>
          </a:prstGeom>
          <a:noFill/>
        </p:spPr>
        <p:txBody>
          <a:bodyPr wrap="square" lIns="0" rIns="0" tIns="0" bIns="0">
            <a:spAutoFit/>
          </a:bodyPr>
          <a:lstStyle/>
          <a:p>
            <a:pPr>
              <a:lnSpc>
                <a:spcPct val="112000"/>
              </a:lnSpc>
              <a:spcBef>
                <a:spcPts val="0"/>
              </a:spcBef>
              <a:spcAft>
                <a:spcPts val="500"/>
              </a:spcAft>
              <a:defRPr sz="1400" b="1">
                <a:solidFill>
                  <a:srgbClr val="8BE7B2"/>
                </a:solidFill>
                <a:latin typeface="DejaVu Sans"/>
              </a:defRPr>
            </a:pPr>
            <a:r>
              <a:t>01</a:t>
            </a:r>
          </a:p>
        </p:txBody>
      </p:sp>
      <p:sp>
        <p:nvSpPr>
          <p:cNvPr id="11" name="TextBox 10"/>
          <p:cNvSpPr txBox="1"/>
          <p:nvPr/>
        </p:nvSpPr>
        <p:spPr>
          <a:xfrm>
            <a:off x="1261872" y="3429000"/>
            <a:ext cx="6492240" cy="594360"/>
          </a:xfrm>
          <a:prstGeom prst="rect">
            <a:avLst/>
          </a:prstGeom>
          <a:noFill/>
        </p:spPr>
        <p:txBody>
          <a:bodyPr wrap="square" lIns="0" rIns="0" tIns="0" bIns="0">
            <a:spAutoFit/>
          </a:bodyPr>
          <a:lstStyle/>
          <a:p>
            <a:pPr>
              <a:lnSpc>
                <a:spcPct val="112000"/>
              </a:lnSpc>
              <a:spcBef>
                <a:spcPts val="0"/>
              </a:spcBef>
              <a:spcAft>
                <a:spcPts val="500"/>
              </a:spcAft>
              <a:defRPr sz="1700" b="0">
                <a:solidFill>
                  <a:srgbClr val="A9BBC6"/>
                </a:solidFill>
                <a:latin typeface="DejaVu Sans"/>
              </a:defRPr>
            </a:pPr>
            <a:r>
              <a:t>Separar mapa, ruido y nivel mantiene coherentes las reglas.</a:t>
            </a:r>
          </a:p>
        </p:txBody>
      </p:sp>
      <p:sp>
        <p:nvSpPr>
          <p:cNvPr id="12" name="TextBox 11"/>
          <p:cNvSpPr txBox="1"/>
          <p:nvPr/>
        </p:nvSpPr>
        <p:spPr>
          <a:xfrm>
            <a:off x="658368" y="4142232"/>
            <a:ext cx="457200" cy="274320"/>
          </a:xfrm>
          <a:prstGeom prst="rect">
            <a:avLst/>
          </a:prstGeom>
          <a:noFill/>
        </p:spPr>
        <p:txBody>
          <a:bodyPr wrap="square" lIns="0" rIns="0" tIns="0" bIns="0">
            <a:spAutoFit/>
          </a:bodyPr>
          <a:lstStyle/>
          <a:p>
            <a:pPr>
              <a:lnSpc>
                <a:spcPct val="112000"/>
              </a:lnSpc>
              <a:spcBef>
                <a:spcPts val="0"/>
              </a:spcBef>
              <a:spcAft>
                <a:spcPts val="500"/>
              </a:spcAft>
              <a:defRPr sz="1400" b="1">
                <a:solidFill>
                  <a:srgbClr val="8BE7B2"/>
                </a:solidFill>
                <a:latin typeface="DejaVu Sans"/>
              </a:defRPr>
            </a:pPr>
            <a:r>
              <a:t>02</a:t>
            </a:r>
          </a:p>
        </p:txBody>
      </p:sp>
      <p:sp>
        <p:nvSpPr>
          <p:cNvPr id="13" name="TextBox 12"/>
          <p:cNvSpPr txBox="1"/>
          <p:nvPr/>
        </p:nvSpPr>
        <p:spPr>
          <a:xfrm>
            <a:off x="1261872" y="4142232"/>
            <a:ext cx="6492240" cy="594360"/>
          </a:xfrm>
          <a:prstGeom prst="rect">
            <a:avLst/>
          </a:prstGeom>
          <a:noFill/>
        </p:spPr>
        <p:txBody>
          <a:bodyPr wrap="square" lIns="0" rIns="0" tIns="0" bIns="0">
            <a:spAutoFit/>
          </a:bodyPr>
          <a:lstStyle/>
          <a:p>
            <a:pPr>
              <a:lnSpc>
                <a:spcPct val="112000"/>
              </a:lnSpc>
              <a:spcBef>
                <a:spcPts val="0"/>
              </a:spcBef>
              <a:spcAft>
                <a:spcPts val="500"/>
              </a:spcAft>
              <a:defRPr sz="1700" b="0">
                <a:solidFill>
                  <a:srgbClr val="A9BBC6"/>
                </a:solidFill>
                <a:latin typeface="DejaVu Sans"/>
              </a:defRPr>
            </a:pPr>
            <a:r>
              <a:t>Herencia y polimorfismo unifican el tratamiento de personajes.</a:t>
            </a:r>
          </a:p>
        </p:txBody>
      </p:sp>
      <p:sp>
        <p:nvSpPr>
          <p:cNvPr id="14" name="TextBox 13"/>
          <p:cNvSpPr txBox="1"/>
          <p:nvPr/>
        </p:nvSpPr>
        <p:spPr>
          <a:xfrm>
            <a:off x="658368" y="4855464"/>
            <a:ext cx="457200" cy="274320"/>
          </a:xfrm>
          <a:prstGeom prst="rect">
            <a:avLst/>
          </a:prstGeom>
          <a:noFill/>
        </p:spPr>
        <p:txBody>
          <a:bodyPr wrap="square" lIns="0" rIns="0" tIns="0" bIns="0">
            <a:spAutoFit/>
          </a:bodyPr>
          <a:lstStyle/>
          <a:p>
            <a:pPr>
              <a:lnSpc>
                <a:spcPct val="112000"/>
              </a:lnSpc>
              <a:spcBef>
                <a:spcPts val="0"/>
              </a:spcBef>
              <a:spcAft>
                <a:spcPts val="500"/>
              </a:spcAft>
              <a:defRPr sz="1400" b="1">
                <a:solidFill>
                  <a:srgbClr val="8BE7B2"/>
                </a:solidFill>
                <a:latin typeface="DejaVu Sans"/>
              </a:defRPr>
            </a:pPr>
            <a:r>
              <a:t>03</a:t>
            </a:r>
          </a:p>
        </p:txBody>
      </p:sp>
      <p:sp>
        <p:nvSpPr>
          <p:cNvPr id="15" name="TextBox 14"/>
          <p:cNvSpPr txBox="1"/>
          <p:nvPr/>
        </p:nvSpPr>
        <p:spPr>
          <a:xfrm>
            <a:off x="1261872" y="4855464"/>
            <a:ext cx="6492240" cy="594360"/>
          </a:xfrm>
          <a:prstGeom prst="rect">
            <a:avLst/>
          </a:prstGeom>
          <a:noFill/>
        </p:spPr>
        <p:txBody>
          <a:bodyPr wrap="square" lIns="0" rIns="0" tIns="0" bIns="0">
            <a:spAutoFit/>
          </a:bodyPr>
          <a:lstStyle/>
          <a:p>
            <a:pPr>
              <a:lnSpc>
                <a:spcPct val="112000"/>
              </a:lnSpc>
              <a:spcBef>
                <a:spcPts val="0"/>
              </a:spcBef>
              <a:spcAft>
                <a:spcPts val="500"/>
              </a:spcAft>
              <a:defRPr sz="1700" b="0">
                <a:solidFill>
                  <a:srgbClr val="A9BBC6"/>
                </a:solidFill>
                <a:latin typeface="DejaVu Sans"/>
              </a:defRPr>
            </a:pPr>
            <a:r>
              <a:t>State y Observer coordinan el flujo y la interfaz.</a:t>
            </a:r>
          </a:p>
        </p:txBody>
      </p:sp>
      <p:sp>
        <p:nvSpPr>
          <p:cNvPr id="16" name="Rounded Rectangle 15"/>
          <p:cNvSpPr/>
          <p:nvPr/>
        </p:nvSpPr>
        <p:spPr>
          <a:xfrm>
            <a:off x="8421624" y="1920240"/>
            <a:ext cx="3127248" cy="3913632"/>
          </a:xfrm>
          <a:prstGeom prst="roundRect">
            <a:avLst>
              <a:gd name="adj" fmla="val 8000"/>
            </a:avLst>
          </a:prstGeom>
          <a:solidFill>
            <a:srgbClr val="182A35"/>
          </a:solidFill>
          <a:ln w="12700">
            <a:solidFill>
              <a:srgbClr val="3D586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59368" y="2286000"/>
            <a:ext cx="2651760" cy="731520"/>
          </a:xfrm>
          <a:prstGeom prst="rect">
            <a:avLst/>
          </a:prstGeom>
          <a:noFill/>
        </p:spPr>
        <p:txBody>
          <a:bodyPr wrap="square" lIns="0" rIns="0" tIns="0" bIns="0">
            <a:spAutoFit/>
          </a:bodyPr>
          <a:lstStyle/>
          <a:p>
            <a:pPr>
              <a:lnSpc>
                <a:spcPct val="112000"/>
              </a:lnSpc>
              <a:spcBef>
                <a:spcPts val="0"/>
              </a:spcBef>
              <a:spcAft>
                <a:spcPts val="500"/>
              </a:spcAft>
              <a:defRPr sz="2700" b="1">
                <a:solidFill>
                  <a:srgbClr val="8BE7B2"/>
                </a:solidFill>
                <a:latin typeface="DejaVu Sans"/>
              </a:defRPr>
            </a:pPr>
            <a:r>
              <a:t>4 niveles</a:t>
            </a:r>
          </a:p>
          <a:p>
            <a:pPr>
              <a:lnSpc>
                <a:spcPct val="112000"/>
              </a:lnSpc>
              <a:spcBef>
                <a:spcPts val="0"/>
              </a:spcBef>
              <a:spcAft>
                <a:spcPts val="500"/>
              </a:spcAft>
              <a:defRPr sz="2700" b="1">
                <a:solidFill>
                  <a:srgbClr val="8BE7B2"/>
                </a:solidFill>
                <a:latin typeface="DejaVu Sans"/>
              </a:defRPr>
            </a:pPr>
            <a:r>
              <a:t>25 clases</a:t>
            </a:r>
          </a:p>
        </p:txBody>
      </p:sp>
      <p:cxnSp>
        <p:nvCxnSpPr>
          <p:cNvPr id="18" name="Connector 17"/>
          <p:cNvCxnSpPr/>
          <p:nvPr/>
        </p:nvCxnSpPr>
        <p:spPr>
          <a:xfrm>
            <a:off x="8668512" y="3803904"/>
            <a:ext cx="2606040" cy="0"/>
          </a:xfrm>
          <a:prstGeom prst="line">
            <a:avLst/>
          </a:prstGeom>
          <a:ln w="19050">
            <a:solidFill>
              <a:srgbClr val="3D5867"/>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659368" y="4197096"/>
            <a:ext cx="2606040" cy="1097280"/>
          </a:xfrm>
          <a:prstGeom prst="rect">
            <a:avLst/>
          </a:prstGeom>
          <a:noFill/>
        </p:spPr>
        <p:txBody>
          <a:bodyPr wrap="square" lIns="0" rIns="0" tIns="0" bIns="0">
            <a:spAutoFit/>
          </a:bodyPr>
          <a:lstStyle/>
          <a:p>
            <a:pPr>
              <a:lnSpc>
                <a:spcPct val="112000"/>
              </a:lnSpc>
              <a:spcBef>
                <a:spcPts val="0"/>
              </a:spcBef>
              <a:spcAft>
                <a:spcPts val="500"/>
              </a:spcAft>
              <a:defRPr sz="2000" b="0">
                <a:solidFill>
                  <a:srgbClr val="F1F5F4"/>
                </a:solidFill>
                <a:latin typeface="DejaVu Sans"/>
              </a:defRPr>
            </a:pPr>
            <a:r>
              <a:t>Diseño explicado.</a:t>
            </a:r>
          </a:p>
          <a:p>
            <a:pPr>
              <a:lnSpc>
                <a:spcPct val="112000"/>
              </a:lnSpc>
              <a:spcBef>
                <a:spcPts val="0"/>
              </a:spcBef>
              <a:spcAft>
                <a:spcPts val="500"/>
              </a:spcAft>
              <a:defRPr sz="2000" b="0">
                <a:solidFill>
                  <a:srgbClr val="F1F5F4"/>
                </a:solidFill>
                <a:latin typeface="DejaVu Sans"/>
              </a:defRPr>
            </a:pPr>
            <a:r>
              <a:t>Comportamiento</a:t>
            </a:r>
          </a:p>
          <a:p>
            <a:pPr>
              <a:lnSpc>
                <a:spcPct val="112000"/>
              </a:lnSpc>
              <a:spcBef>
                <a:spcPts val="0"/>
              </a:spcBef>
              <a:spcAft>
                <a:spcPts val="500"/>
              </a:spcAft>
              <a:defRPr sz="2000" b="0">
                <a:solidFill>
                  <a:srgbClr val="F1F5F4"/>
                </a:solidFill>
                <a:latin typeface="DejaVu Sans"/>
              </a:defRPr>
            </a:pPr>
            <a:r>
              <a:t>comprobado.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D1821"/>
        </a:solidFill>
        <a:effectLst/>
      </p:bgPr>
    </p:bg>
    <p:spTree>
      <p:nvGrpSpPr>
        <p:cNvPr id="1" name=""/>
        <p:cNvGrpSpPr/>
        <p:nvPr/>
      </p:nvGrpSpPr>
      <p:grpSpPr/>
      <p:sp>
        <p:nvSpPr>
          <p:cNvPr id="2" name="Rectangle 1"/>
          <p:cNvSpPr/>
          <p:nvPr/>
        </p:nvSpPr>
        <p:spPr>
          <a:xfrm>
            <a:off x="548640" y="320040"/>
            <a:ext cx="292608" cy="50292"/>
          </a:xfrm>
          <a:prstGeom prst="rect">
            <a:avLst/>
          </a:prstGeom>
          <a:solidFill>
            <a:srgbClr val="8BE7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37744"/>
            <a:ext cx="9144000" cy="274320"/>
          </a:xfrm>
          <a:prstGeom prst="rect">
            <a:avLst/>
          </a:prstGeom>
          <a:noFill/>
        </p:spPr>
        <p:txBody>
          <a:bodyPr wrap="square" lIns="0" rIns="0" tIns="0" bIns="0">
            <a:spAutoFit/>
          </a:bodyPr>
          <a:lstStyle/>
          <a:p>
            <a:pPr>
              <a:lnSpc>
                <a:spcPct val="112000"/>
              </a:lnSpc>
              <a:spcBef>
                <a:spcPts val="0"/>
              </a:spcBef>
              <a:spcAft>
                <a:spcPts val="500"/>
              </a:spcAft>
              <a:defRPr sz="1050" b="1">
                <a:solidFill>
                  <a:srgbClr val="8BE7B2"/>
                </a:solidFill>
                <a:latin typeface="DejaVu Sans"/>
              </a:defRPr>
            </a:pPr>
            <a:r>
              <a:t>MATERIAL DE APOYO · CONSULTA CON ZOOM</a:t>
            </a:r>
          </a:p>
        </p:txBody>
      </p:sp>
      <p:sp>
        <p:nvSpPr>
          <p:cNvPr id="4" name="TextBox 3"/>
          <p:cNvSpPr txBox="1"/>
          <p:nvPr/>
        </p:nvSpPr>
        <p:spPr>
          <a:xfrm>
            <a:off x="548640" y="758952"/>
            <a:ext cx="11064240" cy="960120"/>
          </a:xfrm>
          <a:prstGeom prst="rect">
            <a:avLst/>
          </a:prstGeom>
          <a:noFill/>
        </p:spPr>
        <p:txBody>
          <a:bodyPr wrap="square" lIns="0" rIns="0" tIns="0" bIns="0">
            <a:spAutoFit/>
          </a:bodyPr>
          <a:lstStyle/>
          <a:p>
            <a:pPr>
              <a:lnSpc>
                <a:spcPct val="112000"/>
              </a:lnSpc>
              <a:spcBef>
                <a:spcPts val="0"/>
              </a:spcBef>
              <a:spcAft>
                <a:spcPts val="500"/>
              </a:spcAft>
              <a:defRPr sz="3200" b="1">
                <a:solidFill>
                  <a:srgbClr val="F1F5F4"/>
                </a:solidFill>
                <a:latin typeface="DejaVu Sans"/>
              </a:defRPr>
            </a:pPr>
            <a:r>
              <a:t>Anexo · UML completo de las 25 clases</a:t>
            </a:r>
          </a:p>
        </p:txBody>
      </p:sp>
      <p:cxnSp>
        <p:nvCxnSpPr>
          <p:cNvPr id="5" name="Connector 4"/>
          <p:cNvCxnSpPr/>
          <p:nvPr/>
        </p:nvCxnSpPr>
        <p:spPr>
          <a:xfrm>
            <a:off x="548640" y="6419088"/>
            <a:ext cx="11091672" cy="0"/>
          </a:xfrm>
          <a:prstGeom prst="line">
            <a:avLst/>
          </a:prstGeom>
          <a:ln w="8255">
            <a:solidFill>
              <a:srgbClr val="3D5867"/>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519672"/>
            <a:ext cx="3017520" cy="173736"/>
          </a:xfrm>
          <a:prstGeom prst="rect">
            <a:avLst/>
          </a:prstGeom>
          <a:noFill/>
        </p:spPr>
        <p:txBody>
          <a:bodyPr wrap="square" lIns="0" rIns="0" tIns="0" bIns="0">
            <a:spAutoFit/>
          </a:bodyPr>
          <a:lstStyle/>
          <a:p>
            <a:pPr>
              <a:lnSpc>
                <a:spcPct val="112000"/>
              </a:lnSpc>
              <a:spcBef>
                <a:spcPts val="0"/>
              </a:spcBef>
              <a:spcAft>
                <a:spcPts val="500"/>
              </a:spcAft>
              <a:defRPr sz="850" b="0">
                <a:solidFill>
                  <a:srgbClr val="A9BBC6"/>
                </a:solidFill>
                <a:latin typeface="DejaVu Sans"/>
              </a:defRPr>
            </a:pPr>
            <a:r>
              <a:t>FUGA DE LA PRISIÓN  /  2026-II</a:t>
            </a:r>
          </a:p>
        </p:txBody>
      </p:sp>
      <p:sp>
        <p:nvSpPr>
          <p:cNvPr id="7" name="TextBox 6"/>
          <p:cNvSpPr txBox="1"/>
          <p:nvPr/>
        </p:nvSpPr>
        <p:spPr>
          <a:xfrm>
            <a:off x="3703320" y="6519672"/>
            <a:ext cx="7132320" cy="182880"/>
          </a:xfrm>
          <a:prstGeom prst="rect">
            <a:avLst/>
          </a:prstGeom>
          <a:noFill/>
        </p:spPr>
        <p:txBody>
          <a:bodyPr wrap="square" lIns="0" rIns="0" tIns="0" bIns="0">
            <a:spAutoFit/>
          </a:bodyPr>
          <a:lstStyle/>
          <a:p>
            <a:pPr algn="r">
              <a:lnSpc>
                <a:spcPct val="112000"/>
              </a:lnSpc>
              <a:spcBef>
                <a:spcPts val="0"/>
              </a:spcBef>
              <a:spcAft>
                <a:spcPts val="500"/>
              </a:spcAft>
              <a:defRPr sz="850" b="0">
                <a:solidFill>
                  <a:srgbClr val="A9BBC6"/>
                </a:solidFill>
                <a:latin typeface="DejaVu Sans"/>
              </a:defRPr>
            </a:pPr>
            <a:r>
              <a:t>Fuente: docs/diagramas/modelo_parcial.png</a:t>
            </a:r>
          </a:p>
        </p:txBody>
      </p:sp>
      <p:sp>
        <p:nvSpPr>
          <p:cNvPr id="8" name="TextBox 7"/>
          <p:cNvSpPr txBox="1"/>
          <p:nvPr/>
        </p:nvSpPr>
        <p:spPr>
          <a:xfrm>
            <a:off x="11018520" y="6492240"/>
            <a:ext cx="594360" cy="274320"/>
          </a:xfrm>
          <a:prstGeom prst="rect">
            <a:avLst/>
          </a:prstGeom>
          <a:noFill/>
        </p:spPr>
        <p:txBody>
          <a:bodyPr wrap="square" lIns="0" rIns="0" tIns="0" bIns="0">
            <a:spAutoFit/>
          </a:bodyPr>
          <a:lstStyle/>
          <a:p>
            <a:pPr algn="r">
              <a:lnSpc>
                <a:spcPct val="112000"/>
              </a:lnSpc>
              <a:spcBef>
                <a:spcPts val="0"/>
              </a:spcBef>
              <a:spcAft>
                <a:spcPts val="500"/>
              </a:spcAft>
              <a:defRPr sz="1100" b="1">
                <a:solidFill>
                  <a:srgbClr val="8BE7B2"/>
                </a:solidFill>
                <a:latin typeface="DejaVu Sans"/>
              </a:defRPr>
            </a:pPr>
            <a:r>
              <a:t>15</a:t>
            </a:r>
          </a:p>
        </p:txBody>
      </p:sp>
      <p:pic>
        <p:nvPicPr>
          <p:cNvPr id="9" name="Picture 8" descr="image.png"/>
          <p:cNvPicPr>
            <a:picLocks noChangeAspect="1"/>
          </p:cNvPicPr>
          <p:nvPr/>
        </p:nvPicPr>
        <p:blipFill>
          <a:blip r:embed="rId2"/>
          <a:stretch>
            <a:fillRect/>
          </a:stretch>
        </p:blipFill>
        <p:spPr>
          <a:xfrm>
            <a:off x="640080" y="1764792"/>
            <a:ext cx="5422392" cy="4370832"/>
          </a:xfrm>
          <a:prstGeom prst="rect">
            <a:avLst/>
          </a:prstGeom>
        </p:spPr>
      </p:pic>
      <p:sp>
        <p:nvSpPr>
          <p:cNvPr id="10" name="TextBox 9"/>
          <p:cNvSpPr txBox="1"/>
          <p:nvPr/>
        </p:nvSpPr>
        <p:spPr>
          <a:xfrm>
            <a:off x="6483096" y="1892807"/>
            <a:ext cx="4837176" cy="548640"/>
          </a:xfrm>
          <a:prstGeom prst="rect">
            <a:avLst/>
          </a:prstGeom>
          <a:noFill/>
        </p:spPr>
        <p:txBody>
          <a:bodyPr wrap="square" lIns="0" rIns="0" tIns="0" bIns="0">
            <a:spAutoFit/>
          </a:bodyPr>
          <a:lstStyle/>
          <a:p>
            <a:pPr>
              <a:lnSpc>
                <a:spcPct val="112000"/>
              </a:lnSpc>
              <a:spcBef>
                <a:spcPts val="0"/>
              </a:spcBef>
              <a:spcAft>
                <a:spcPts val="500"/>
              </a:spcAft>
              <a:defRPr sz="2600" b="1">
                <a:solidFill>
                  <a:srgbClr val="8BE7B2"/>
                </a:solidFill>
                <a:latin typeface="DejaVu Sans"/>
              </a:defRPr>
            </a:pPr>
            <a:r>
              <a:t>Cómo leerlo</a:t>
            </a:r>
          </a:p>
        </p:txBody>
      </p:sp>
      <p:sp>
        <p:nvSpPr>
          <p:cNvPr id="11" name="TextBox 10"/>
          <p:cNvSpPr txBox="1"/>
          <p:nvPr/>
        </p:nvSpPr>
        <p:spPr>
          <a:xfrm>
            <a:off x="6492240" y="2770632"/>
            <a:ext cx="4736592" cy="274320"/>
          </a:xfrm>
          <a:prstGeom prst="rect">
            <a:avLst/>
          </a:prstGeom>
          <a:noFill/>
        </p:spPr>
        <p:txBody>
          <a:bodyPr wrap="square" lIns="0" rIns="0" tIns="0" bIns="0">
            <a:spAutoFit/>
          </a:bodyPr>
          <a:lstStyle/>
          <a:p>
            <a:pPr>
              <a:lnSpc>
                <a:spcPct val="112000"/>
              </a:lnSpc>
              <a:spcBef>
                <a:spcPts val="0"/>
              </a:spcBef>
              <a:spcAft>
                <a:spcPts val="500"/>
              </a:spcAft>
              <a:defRPr sz="1700" b="1">
                <a:solidFill>
                  <a:srgbClr val="F1F5F4"/>
                </a:solidFill>
                <a:latin typeface="DejaVu Sans"/>
              </a:defRPr>
            </a:pPr>
            <a:r>
              <a:t>Triángulo vacío</a:t>
            </a:r>
          </a:p>
        </p:txBody>
      </p:sp>
      <p:sp>
        <p:nvSpPr>
          <p:cNvPr id="12" name="TextBox 11"/>
          <p:cNvSpPr txBox="1"/>
          <p:nvPr/>
        </p:nvSpPr>
        <p:spPr>
          <a:xfrm>
            <a:off x="6492240" y="3099815"/>
            <a:ext cx="4736592" cy="457200"/>
          </a:xfrm>
          <a:prstGeom prst="rect">
            <a:avLst/>
          </a:prstGeom>
          <a:noFill/>
        </p:spPr>
        <p:txBody>
          <a:bodyPr wrap="square" lIns="0" rIns="0" tIns="0" bIns="0">
            <a:spAutoFit/>
          </a:bodyPr>
          <a:lstStyle/>
          <a:p>
            <a:pPr>
              <a:lnSpc>
                <a:spcPct val="112000"/>
              </a:lnSpc>
              <a:spcBef>
                <a:spcPts val="0"/>
              </a:spcBef>
              <a:spcAft>
                <a:spcPts val="500"/>
              </a:spcAft>
              <a:defRPr sz="1400" b="0">
                <a:solidFill>
                  <a:srgbClr val="A9BBC6"/>
                </a:solidFill>
                <a:latin typeface="DejaVu Sans"/>
              </a:defRPr>
            </a:pPr>
            <a:r>
              <a:t>Apunta a la clase base: herencia.</a:t>
            </a:r>
          </a:p>
        </p:txBody>
      </p:sp>
      <p:sp>
        <p:nvSpPr>
          <p:cNvPr id="13" name="TextBox 12"/>
          <p:cNvSpPr txBox="1"/>
          <p:nvPr/>
        </p:nvSpPr>
        <p:spPr>
          <a:xfrm>
            <a:off x="6492240" y="3602736"/>
            <a:ext cx="4736592" cy="274320"/>
          </a:xfrm>
          <a:prstGeom prst="rect">
            <a:avLst/>
          </a:prstGeom>
          <a:noFill/>
        </p:spPr>
        <p:txBody>
          <a:bodyPr wrap="square" lIns="0" rIns="0" tIns="0" bIns="0">
            <a:spAutoFit/>
          </a:bodyPr>
          <a:lstStyle/>
          <a:p>
            <a:pPr>
              <a:lnSpc>
                <a:spcPct val="112000"/>
              </a:lnSpc>
              <a:spcBef>
                <a:spcPts val="0"/>
              </a:spcBef>
              <a:spcAft>
                <a:spcPts val="500"/>
              </a:spcAft>
              <a:defRPr sz="1700" b="1">
                <a:solidFill>
                  <a:srgbClr val="F1F5F4"/>
                </a:solidFill>
                <a:latin typeface="DejaVu Sans"/>
              </a:defRPr>
            </a:pPr>
            <a:r>
              <a:t>Rombo negro / blanco</a:t>
            </a:r>
          </a:p>
        </p:txBody>
      </p:sp>
      <p:sp>
        <p:nvSpPr>
          <p:cNvPr id="14" name="TextBox 13"/>
          <p:cNvSpPr txBox="1"/>
          <p:nvPr/>
        </p:nvSpPr>
        <p:spPr>
          <a:xfrm>
            <a:off x="6492240" y="3931920"/>
            <a:ext cx="4736592" cy="457200"/>
          </a:xfrm>
          <a:prstGeom prst="rect">
            <a:avLst/>
          </a:prstGeom>
          <a:noFill/>
        </p:spPr>
        <p:txBody>
          <a:bodyPr wrap="square" lIns="0" rIns="0" tIns="0" bIns="0">
            <a:spAutoFit/>
          </a:bodyPr>
          <a:lstStyle/>
          <a:p>
            <a:pPr>
              <a:lnSpc>
                <a:spcPct val="112000"/>
              </a:lnSpc>
              <a:spcBef>
                <a:spcPts val="0"/>
              </a:spcBef>
              <a:spcAft>
                <a:spcPts val="500"/>
              </a:spcAft>
              <a:defRPr sz="1400" b="0">
                <a:solidFill>
                  <a:srgbClr val="A9BBC6"/>
                </a:solidFill>
                <a:latin typeface="DejaVu Sans"/>
              </a:defRPr>
            </a:pPr>
            <a:r>
              <a:t>Composición / agregación; junto al contenedor.</a:t>
            </a:r>
          </a:p>
        </p:txBody>
      </p:sp>
      <p:sp>
        <p:nvSpPr>
          <p:cNvPr id="15" name="TextBox 14"/>
          <p:cNvSpPr txBox="1"/>
          <p:nvPr/>
        </p:nvSpPr>
        <p:spPr>
          <a:xfrm>
            <a:off x="6492240" y="4434840"/>
            <a:ext cx="4736592" cy="274320"/>
          </a:xfrm>
          <a:prstGeom prst="rect">
            <a:avLst/>
          </a:prstGeom>
          <a:noFill/>
        </p:spPr>
        <p:txBody>
          <a:bodyPr wrap="square" lIns="0" rIns="0" tIns="0" bIns="0">
            <a:spAutoFit/>
          </a:bodyPr>
          <a:lstStyle/>
          <a:p>
            <a:pPr>
              <a:lnSpc>
                <a:spcPct val="112000"/>
              </a:lnSpc>
              <a:spcBef>
                <a:spcPts val="0"/>
              </a:spcBef>
              <a:spcAft>
                <a:spcPts val="500"/>
              </a:spcAft>
              <a:defRPr sz="1700" b="1">
                <a:solidFill>
                  <a:srgbClr val="F1F5F4"/>
                </a:solidFill>
                <a:latin typeface="DejaVu Sans"/>
              </a:defRPr>
            </a:pPr>
            <a:r>
              <a:t>Flecha discontinua</a:t>
            </a:r>
          </a:p>
        </p:txBody>
      </p:sp>
      <p:sp>
        <p:nvSpPr>
          <p:cNvPr id="16" name="TextBox 15"/>
          <p:cNvSpPr txBox="1"/>
          <p:nvPr/>
        </p:nvSpPr>
        <p:spPr>
          <a:xfrm>
            <a:off x="6492240" y="4764024"/>
            <a:ext cx="4736592" cy="457200"/>
          </a:xfrm>
          <a:prstGeom prst="rect">
            <a:avLst/>
          </a:prstGeom>
          <a:noFill/>
        </p:spPr>
        <p:txBody>
          <a:bodyPr wrap="square" lIns="0" rIns="0" tIns="0" bIns="0">
            <a:spAutoFit/>
          </a:bodyPr>
          <a:lstStyle/>
          <a:p>
            <a:pPr>
              <a:lnSpc>
                <a:spcPct val="112000"/>
              </a:lnSpc>
              <a:spcBef>
                <a:spcPts val="0"/>
              </a:spcBef>
              <a:spcAft>
                <a:spcPts val="500"/>
              </a:spcAft>
              <a:defRPr sz="1400" b="0">
                <a:solidFill>
                  <a:srgbClr val="A9BBC6"/>
                </a:solidFill>
                <a:latin typeface="DejaVu Sans"/>
              </a:defRPr>
            </a:pPr>
            <a:r>
              <a:t>Dependencia: utiliza otro objeto.</a:t>
            </a:r>
          </a:p>
        </p:txBody>
      </p:sp>
      <p:sp>
        <p:nvSpPr>
          <p:cNvPr id="17" name="TextBox 16"/>
          <p:cNvSpPr txBox="1"/>
          <p:nvPr/>
        </p:nvSpPr>
        <p:spPr>
          <a:xfrm>
            <a:off x="6492240" y="5266944"/>
            <a:ext cx="4736592" cy="274320"/>
          </a:xfrm>
          <a:prstGeom prst="rect">
            <a:avLst/>
          </a:prstGeom>
          <a:noFill/>
        </p:spPr>
        <p:txBody>
          <a:bodyPr wrap="square" lIns="0" rIns="0" tIns="0" bIns="0">
            <a:spAutoFit/>
          </a:bodyPr>
          <a:lstStyle/>
          <a:p>
            <a:pPr>
              <a:lnSpc>
                <a:spcPct val="112000"/>
              </a:lnSpc>
              <a:spcBef>
                <a:spcPts val="0"/>
              </a:spcBef>
              <a:spcAft>
                <a:spcPts val="500"/>
              </a:spcAft>
              <a:defRPr sz="1700" b="1">
                <a:solidFill>
                  <a:srgbClr val="F1F5F4"/>
                </a:solidFill>
                <a:latin typeface="DejaVu Sans"/>
              </a:defRPr>
            </a:pPr>
            <a:r>
              <a:t>+ / #</a:t>
            </a:r>
          </a:p>
        </p:txBody>
      </p:sp>
      <p:sp>
        <p:nvSpPr>
          <p:cNvPr id="18" name="TextBox 17"/>
          <p:cNvSpPr txBox="1"/>
          <p:nvPr/>
        </p:nvSpPr>
        <p:spPr>
          <a:xfrm>
            <a:off x="6492240" y="5596128"/>
            <a:ext cx="4736592" cy="457200"/>
          </a:xfrm>
          <a:prstGeom prst="rect">
            <a:avLst/>
          </a:prstGeom>
          <a:noFill/>
        </p:spPr>
        <p:txBody>
          <a:bodyPr wrap="square" lIns="0" rIns="0" tIns="0" bIns="0">
            <a:spAutoFit/>
          </a:bodyPr>
          <a:lstStyle/>
          <a:p>
            <a:pPr>
              <a:lnSpc>
                <a:spcPct val="112000"/>
              </a:lnSpc>
              <a:spcBef>
                <a:spcPts val="0"/>
              </a:spcBef>
              <a:spcAft>
                <a:spcPts val="500"/>
              </a:spcAft>
              <a:defRPr sz="1400" b="0">
                <a:solidFill>
                  <a:srgbClr val="A9BBC6"/>
                </a:solidFill>
                <a:latin typeface="DejaVu Sans"/>
              </a:defRPr>
            </a:pPr>
            <a:r>
              <a:t>Miembro público / uso interno por convención.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D1821"/>
        </a:solidFill>
        <a:effectLst/>
      </p:bgPr>
    </p:bg>
    <p:spTree>
      <p:nvGrpSpPr>
        <p:cNvPr id="1" name=""/>
        <p:cNvGrpSpPr/>
        <p:nvPr/>
      </p:nvGrpSpPr>
      <p:grpSpPr/>
      <p:sp>
        <p:nvSpPr>
          <p:cNvPr id="2" name="Rectangle 1"/>
          <p:cNvSpPr/>
          <p:nvPr/>
        </p:nvSpPr>
        <p:spPr>
          <a:xfrm>
            <a:off x="548640" y="320040"/>
            <a:ext cx="292608" cy="50292"/>
          </a:xfrm>
          <a:prstGeom prst="rect">
            <a:avLst/>
          </a:prstGeom>
          <a:solidFill>
            <a:srgbClr val="8BE7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41832" y="237744"/>
            <a:ext cx="9144000" cy="274320"/>
          </a:xfrm>
          <a:prstGeom prst="rect">
            <a:avLst/>
          </a:prstGeom>
          <a:noFill/>
        </p:spPr>
        <p:txBody>
          <a:bodyPr wrap="square" lIns="0" rIns="0" tIns="0" bIns="0">
            <a:spAutoFit/>
          </a:bodyPr>
          <a:lstStyle/>
          <a:p>
            <a:pPr>
              <a:lnSpc>
                <a:spcPct val="112000"/>
              </a:lnSpc>
              <a:spcBef>
                <a:spcPts val="0"/>
              </a:spcBef>
              <a:spcAft>
                <a:spcPts val="500"/>
              </a:spcAft>
              <a:defRPr sz="1050" b="1">
                <a:solidFill>
                  <a:srgbClr val="8BE7B2"/>
                </a:solidFill>
                <a:latin typeface="DejaVu Sans"/>
              </a:defRPr>
            </a:pPr>
            <a:r>
              <a:t>MATERIAL DE APOYO · PREGUNTAS</a:t>
            </a:r>
          </a:p>
        </p:txBody>
      </p:sp>
      <p:sp>
        <p:nvSpPr>
          <p:cNvPr id="4" name="TextBox 3"/>
          <p:cNvSpPr txBox="1"/>
          <p:nvPr/>
        </p:nvSpPr>
        <p:spPr>
          <a:xfrm>
            <a:off x="548640" y="758952"/>
            <a:ext cx="11064240" cy="960120"/>
          </a:xfrm>
          <a:prstGeom prst="rect">
            <a:avLst/>
          </a:prstGeom>
          <a:noFill/>
        </p:spPr>
        <p:txBody>
          <a:bodyPr wrap="square" lIns="0" rIns="0" tIns="0" bIns="0">
            <a:spAutoFit/>
          </a:bodyPr>
          <a:lstStyle/>
          <a:p>
            <a:pPr>
              <a:lnSpc>
                <a:spcPct val="112000"/>
              </a:lnSpc>
              <a:spcBef>
                <a:spcPts val="0"/>
              </a:spcBef>
              <a:spcAft>
                <a:spcPts val="500"/>
              </a:spcAft>
              <a:defRPr sz="3200" b="1">
                <a:solidFill>
                  <a:srgbClr val="F1F5F4"/>
                </a:solidFill>
                <a:latin typeface="DejaVu Sans"/>
              </a:defRPr>
            </a:pPr>
            <a:r>
              <a:t>Anexo · Respuestas que debemos dominar</a:t>
            </a:r>
          </a:p>
        </p:txBody>
      </p:sp>
      <p:cxnSp>
        <p:nvCxnSpPr>
          <p:cNvPr id="5" name="Connector 4"/>
          <p:cNvCxnSpPr/>
          <p:nvPr/>
        </p:nvCxnSpPr>
        <p:spPr>
          <a:xfrm>
            <a:off x="548640" y="6419088"/>
            <a:ext cx="11091672" cy="0"/>
          </a:xfrm>
          <a:prstGeom prst="line">
            <a:avLst/>
          </a:prstGeom>
          <a:ln w="8255">
            <a:solidFill>
              <a:srgbClr val="3D5867"/>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48640" y="6519672"/>
            <a:ext cx="3017520" cy="173736"/>
          </a:xfrm>
          <a:prstGeom prst="rect">
            <a:avLst/>
          </a:prstGeom>
          <a:noFill/>
        </p:spPr>
        <p:txBody>
          <a:bodyPr wrap="square" lIns="0" rIns="0" tIns="0" bIns="0">
            <a:spAutoFit/>
          </a:bodyPr>
          <a:lstStyle/>
          <a:p>
            <a:pPr>
              <a:lnSpc>
                <a:spcPct val="112000"/>
              </a:lnSpc>
              <a:spcBef>
                <a:spcPts val="0"/>
              </a:spcBef>
              <a:spcAft>
                <a:spcPts val="500"/>
              </a:spcAft>
              <a:defRPr sz="850" b="0">
                <a:solidFill>
                  <a:srgbClr val="A9BBC6"/>
                </a:solidFill>
                <a:latin typeface="DejaVu Sans"/>
              </a:defRPr>
            </a:pPr>
            <a:r>
              <a:t>FUGA DE LA PRISIÓN  /  2026-II</a:t>
            </a:r>
          </a:p>
        </p:txBody>
      </p:sp>
      <p:sp>
        <p:nvSpPr>
          <p:cNvPr id="7" name="TextBox 6"/>
          <p:cNvSpPr txBox="1"/>
          <p:nvPr/>
        </p:nvSpPr>
        <p:spPr>
          <a:xfrm>
            <a:off x="3703320" y="6519672"/>
            <a:ext cx="7132320" cy="182880"/>
          </a:xfrm>
          <a:prstGeom prst="rect">
            <a:avLst/>
          </a:prstGeom>
          <a:noFill/>
        </p:spPr>
        <p:txBody>
          <a:bodyPr wrap="square" lIns="0" rIns="0" tIns="0" bIns="0">
            <a:spAutoFit/>
          </a:bodyPr>
          <a:lstStyle/>
          <a:p>
            <a:pPr algn="r">
              <a:lnSpc>
                <a:spcPct val="112000"/>
              </a:lnSpc>
              <a:spcBef>
                <a:spcPts val="0"/>
              </a:spcBef>
              <a:spcAft>
                <a:spcPts val="500"/>
              </a:spcAft>
              <a:defRPr sz="850" b="0">
                <a:solidFill>
                  <a:srgbClr val="A9BBC6"/>
                </a:solidFill>
                <a:latin typeface="DejaVu Sans"/>
              </a:defRPr>
            </a:pPr>
            <a:r>
              <a:t>Fuentes: README.md · src/ · tests/</a:t>
            </a:r>
          </a:p>
        </p:txBody>
      </p:sp>
      <p:sp>
        <p:nvSpPr>
          <p:cNvPr id="8" name="TextBox 7"/>
          <p:cNvSpPr txBox="1"/>
          <p:nvPr/>
        </p:nvSpPr>
        <p:spPr>
          <a:xfrm>
            <a:off x="11018520" y="6492240"/>
            <a:ext cx="594360" cy="274320"/>
          </a:xfrm>
          <a:prstGeom prst="rect">
            <a:avLst/>
          </a:prstGeom>
          <a:noFill/>
        </p:spPr>
        <p:txBody>
          <a:bodyPr wrap="square" lIns="0" rIns="0" tIns="0" bIns="0">
            <a:spAutoFit/>
          </a:bodyPr>
          <a:lstStyle/>
          <a:p>
            <a:pPr algn="r">
              <a:lnSpc>
                <a:spcPct val="112000"/>
              </a:lnSpc>
              <a:spcBef>
                <a:spcPts val="0"/>
              </a:spcBef>
              <a:spcAft>
                <a:spcPts val="500"/>
              </a:spcAft>
              <a:defRPr sz="1100" b="1">
                <a:solidFill>
                  <a:srgbClr val="8BE7B2"/>
                </a:solidFill>
                <a:latin typeface="DejaVu Sans"/>
              </a:defRPr>
            </a:pPr>
            <a:r>
              <a:t>16</a:t>
            </a:r>
          </a:p>
        </p:txBody>
      </p:sp>
      <p:sp>
        <p:nvSpPr>
          <p:cNvPr id="9" name="TextBox 8"/>
          <p:cNvSpPr txBox="1"/>
          <p:nvPr/>
        </p:nvSpPr>
        <p:spPr>
          <a:xfrm>
            <a:off x="658368" y="1874519"/>
            <a:ext cx="7315200" cy="411480"/>
          </a:xfrm>
          <a:prstGeom prst="rect">
            <a:avLst/>
          </a:prstGeom>
          <a:noFill/>
        </p:spPr>
        <p:txBody>
          <a:bodyPr wrap="square" lIns="0" rIns="0" tIns="0" bIns="0">
            <a:spAutoFit/>
          </a:bodyPr>
          <a:lstStyle/>
          <a:p>
            <a:pPr>
              <a:lnSpc>
                <a:spcPct val="112000"/>
              </a:lnSpc>
              <a:spcBef>
                <a:spcPts val="0"/>
              </a:spcBef>
              <a:spcAft>
                <a:spcPts val="500"/>
              </a:spcAft>
              <a:defRPr sz="2000" b="1">
                <a:solidFill>
                  <a:srgbClr val="F1F5F4"/>
                </a:solidFill>
                <a:latin typeface="DejaVu Sans"/>
              </a:defRPr>
            </a:pPr>
            <a:r>
              <a:t>¿Por qué Nivel recibe Puntaje?</a:t>
            </a:r>
          </a:p>
        </p:txBody>
      </p:sp>
      <p:sp>
        <p:nvSpPr>
          <p:cNvPr id="10" name="TextBox 9"/>
          <p:cNvSpPr txBox="1"/>
          <p:nvPr/>
        </p:nvSpPr>
        <p:spPr>
          <a:xfrm>
            <a:off x="658368" y="2331720"/>
            <a:ext cx="7315200" cy="411480"/>
          </a:xfrm>
          <a:prstGeom prst="rect">
            <a:avLst/>
          </a:prstGeom>
          <a:noFill/>
        </p:spPr>
        <p:txBody>
          <a:bodyPr wrap="square" lIns="0" rIns="0" tIns="0" bIns="0">
            <a:spAutoFit/>
          </a:bodyPr>
          <a:lstStyle/>
          <a:p>
            <a:pPr>
              <a:lnSpc>
                <a:spcPct val="112000"/>
              </a:lnSpc>
              <a:spcBef>
                <a:spcPts val="0"/>
              </a:spcBef>
              <a:spcAft>
                <a:spcPts val="500"/>
              </a:spcAft>
              <a:defRPr sz="1600" b="0">
                <a:solidFill>
                  <a:srgbClr val="A9BBC6"/>
                </a:solidFill>
                <a:latin typeface="DejaVu Sans"/>
              </a:defRPr>
            </a:pPr>
            <a:r>
              <a:t>Para conservar el mismo puntaje al cambiar de nivel.</a:t>
            </a:r>
          </a:p>
        </p:txBody>
      </p:sp>
      <p:sp>
        <p:nvSpPr>
          <p:cNvPr id="11" name="TextBox 10"/>
          <p:cNvSpPr txBox="1"/>
          <p:nvPr/>
        </p:nvSpPr>
        <p:spPr>
          <a:xfrm>
            <a:off x="658368" y="2862072"/>
            <a:ext cx="7315200" cy="411480"/>
          </a:xfrm>
          <a:prstGeom prst="rect">
            <a:avLst/>
          </a:prstGeom>
          <a:noFill/>
        </p:spPr>
        <p:txBody>
          <a:bodyPr wrap="square" lIns="0" rIns="0" tIns="0" bIns="0">
            <a:spAutoFit/>
          </a:bodyPr>
          <a:lstStyle/>
          <a:p>
            <a:pPr>
              <a:lnSpc>
                <a:spcPct val="112000"/>
              </a:lnSpc>
              <a:spcBef>
                <a:spcPts val="0"/>
              </a:spcBef>
              <a:spcAft>
                <a:spcPts val="500"/>
              </a:spcAft>
              <a:defRPr sz="2000" b="1">
                <a:solidFill>
                  <a:srgbClr val="F1F5F4"/>
                </a:solidFill>
                <a:latin typeface="DejaVu Sans"/>
              </a:defRPr>
            </a:pPr>
            <a:r>
              <a:t>¿Cómo se entera un guardia?</a:t>
            </a:r>
          </a:p>
        </p:txBody>
      </p:sp>
      <p:sp>
        <p:nvSpPr>
          <p:cNvPr id="12" name="TextBox 11"/>
          <p:cNvSpPr txBox="1"/>
          <p:nvPr/>
        </p:nvSpPr>
        <p:spPr>
          <a:xfrm>
            <a:off x="658368" y="3319272"/>
            <a:ext cx="7315200" cy="411480"/>
          </a:xfrm>
          <a:prstGeom prst="rect">
            <a:avLst/>
          </a:prstGeom>
          <a:noFill/>
        </p:spPr>
        <p:txBody>
          <a:bodyPr wrap="square" lIns="0" rIns="0" tIns="0" bIns="0">
            <a:spAutoFit/>
          </a:bodyPr>
          <a:lstStyle/>
          <a:p>
            <a:pPr>
              <a:lnSpc>
                <a:spcPct val="112000"/>
              </a:lnSpc>
              <a:spcBef>
                <a:spcPts val="0"/>
              </a:spcBef>
              <a:spcAft>
                <a:spcPts val="500"/>
              </a:spcAft>
              <a:defRPr sz="1600" b="0">
                <a:solidFill>
                  <a:srgbClr val="A9BBC6"/>
                </a:solidFill>
                <a:latin typeface="DejaVu Sans"/>
              </a:defRPr>
            </a:pPr>
            <a:r>
              <a:t>Por ruido, visión del jugador o alarma de una cámara.</a:t>
            </a:r>
          </a:p>
        </p:txBody>
      </p:sp>
      <p:sp>
        <p:nvSpPr>
          <p:cNvPr id="13" name="TextBox 12"/>
          <p:cNvSpPr txBox="1"/>
          <p:nvPr/>
        </p:nvSpPr>
        <p:spPr>
          <a:xfrm>
            <a:off x="658368" y="3849624"/>
            <a:ext cx="7315200" cy="411480"/>
          </a:xfrm>
          <a:prstGeom prst="rect">
            <a:avLst/>
          </a:prstGeom>
          <a:noFill/>
        </p:spPr>
        <p:txBody>
          <a:bodyPr wrap="square" lIns="0" rIns="0" tIns="0" bIns="0">
            <a:spAutoFit/>
          </a:bodyPr>
          <a:lstStyle/>
          <a:p>
            <a:pPr>
              <a:lnSpc>
                <a:spcPct val="112000"/>
              </a:lnSpc>
              <a:spcBef>
                <a:spcPts val="0"/>
              </a:spcBef>
              <a:spcAft>
                <a:spcPts val="500"/>
              </a:spcAft>
              <a:defRPr sz="2000" b="1">
                <a:solidFill>
                  <a:srgbClr val="F1F5F4"/>
                </a:solidFill>
                <a:latin typeface="DejaVu Sans"/>
              </a:defRPr>
            </a:pPr>
            <a:r>
              <a:t>¿Qué detiene la pausa?</a:t>
            </a:r>
          </a:p>
        </p:txBody>
      </p:sp>
      <p:sp>
        <p:nvSpPr>
          <p:cNvPr id="14" name="TextBox 13"/>
          <p:cNvSpPr txBox="1"/>
          <p:nvPr/>
        </p:nvSpPr>
        <p:spPr>
          <a:xfrm>
            <a:off x="658368" y="4306824"/>
            <a:ext cx="7315200" cy="411480"/>
          </a:xfrm>
          <a:prstGeom prst="rect">
            <a:avLst/>
          </a:prstGeom>
          <a:noFill/>
        </p:spPr>
        <p:txBody>
          <a:bodyPr wrap="square" lIns="0" rIns="0" tIns="0" bIns="0">
            <a:spAutoFit/>
          </a:bodyPr>
          <a:lstStyle/>
          <a:p>
            <a:pPr>
              <a:lnSpc>
                <a:spcPct val="112000"/>
              </a:lnSpc>
              <a:spcBef>
                <a:spcPts val="0"/>
              </a:spcBef>
              <a:spcAft>
                <a:spcPts val="500"/>
              </a:spcAft>
              <a:defRPr sz="1600" b="0">
                <a:solidFill>
                  <a:srgbClr val="A9BBC6"/>
                </a:solidFill>
                <a:latin typeface="DejaVu Sans"/>
              </a:defRPr>
            </a:pPr>
            <a:r>
              <a:t>La simulación: movimiento, vigilancia y combate.</a:t>
            </a:r>
          </a:p>
        </p:txBody>
      </p:sp>
      <p:sp>
        <p:nvSpPr>
          <p:cNvPr id="15" name="TextBox 14"/>
          <p:cNvSpPr txBox="1"/>
          <p:nvPr/>
        </p:nvSpPr>
        <p:spPr>
          <a:xfrm>
            <a:off x="658368" y="4837176"/>
            <a:ext cx="7315200" cy="411480"/>
          </a:xfrm>
          <a:prstGeom prst="rect">
            <a:avLst/>
          </a:prstGeom>
          <a:noFill/>
        </p:spPr>
        <p:txBody>
          <a:bodyPr wrap="square" lIns="0" rIns="0" tIns="0" bIns="0">
            <a:spAutoFit/>
          </a:bodyPr>
          <a:lstStyle/>
          <a:p>
            <a:pPr>
              <a:lnSpc>
                <a:spcPct val="112000"/>
              </a:lnSpc>
              <a:spcBef>
                <a:spcPts val="0"/>
              </a:spcBef>
              <a:spcAft>
                <a:spcPts val="500"/>
              </a:spcAft>
              <a:defRPr sz="2000" b="1">
                <a:solidFill>
                  <a:srgbClr val="F1F5F4"/>
                </a:solidFill>
                <a:latin typeface="DejaVu Sans"/>
              </a:defRPr>
            </a:pPr>
            <a:r>
              <a:t>¿Cuándo aparece la llave de la arena?</a:t>
            </a:r>
          </a:p>
        </p:txBody>
      </p:sp>
      <p:sp>
        <p:nvSpPr>
          <p:cNvPr id="16" name="TextBox 15"/>
          <p:cNvSpPr txBox="1"/>
          <p:nvPr/>
        </p:nvSpPr>
        <p:spPr>
          <a:xfrm>
            <a:off x="658368" y="5294376"/>
            <a:ext cx="7315200" cy="411480"/>
          </a:xfrm>
          <a:prstGeom prst="rect">
            <a:avLst/>
          </a:prstGeom>
          <a:noFill/>
        </p:spPr>
        <p:txBody>
          <a:bodyPr wrap="square" lIns="0" rIns="0" tIns="0" bIns="0">
            <a:spAutoFit/>
          </a:bodyPr>
          <a:lstStyle/>
          <a:p>
            <a:pPr>
              <a:lnSpc>
                <a:spcPct val="112000"/>
              </a:lnSpc>
              <a:spcBef>
                <a:spcPts val="0"/>
              </a:spcBef>
              <a:spcAft>
                <a:spcPts val="500"/>
              </a:spcAft>
              <a:defRPr sz="1600" b="0">
                <a:solidFill>
                  <a:srgbClr val="A9BBC6"/>
                </a:solidFill>
                <a:latin typeface="DejaVu Sans"/>
              </a:defRPr>
            </a:pPr>
            <a:r>
              <a:t>Cuando se agotan las tres capas de vida del jefe.</a:t>
            </a:r>
          </a:p>
        </p:txBody>
      </p:sp>
      <p:sp>
        <p:nvSpPr>
          <p:cNvPr id="17" name="Rounded Rectangle 16"/>
          <p:cNvSpPr/>
          <p:nvPr/>
        </p:nvSpPr>
        <p:spPr>
          <a:xfrm>
            <a:off x="8503920" y="1901952"/>
            <a:ext cx="3035808" cy="4059936"/>
          </a:xfrm>
          <a:prstGeom prst="roundRect">
            <a:avLst>
              <a:gd name="adj" fmla="val 8000"/>
            </a:avLst>
          </a:prstGeom>
          <a:solidFill>
            <a:srgbClr val="182A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32520" y="2148840"/>
            <a:ext cx="2587752" cy="457200"/>
          </a:xfrm>
          <a:prstGeom prst="rect">
            <a:avLst/>
          </a:prstGeom>
          <a:noFill/>
        </p:spPr>
        <p:txBody>
          <a:bodyPr wrap="square" lIns="0" rIns="0" tIns="0" bIns="0">
            <a:spAutoFit/>
          </a:bodyPr>
          <a:lstStyle/>
          <a:p>
            <a:pPr>
              <a:lnSpc>
                <a:spcPct val="112000"/>
              </a:lnSpc>
              <a:spcBef>
                <a:spcPts val="0"/>
              </a:spcBef>
              <a:spcAft>
                <a:spcPts val="500"/>
              </a:spcAft>
              <a:defRPr sz="1600" b="1">
                <a:solidFill>
                  <a:srgbClr val="8BE7B2"/>
                </a:solidFill>
                <a:latin typeface="DejaVu Sans"/>
              </a:defRPr>
            </a:pPr>
            <a:r>
              <a:t>CONTROLES</a:t>
            </a:r>
          </a:p>
        </p:txBody>
      </p:sp>
      <p:sp>
        <p:nvSpPr>
          <p:cNvPr id="19" name="TextBox 18"/>
          <p:cNvSpPr txBox="1"/>
          <p:nvPr/>
        </p:nvSpPr>
        <p:spPr>
          <a:xfrm>
            <a:off x="8732520" y="2788920"/>
            <a:ext cx="2587752" cy="2834640"/>
          </a:xfrm>
          <a:prstGeom prst="rect">
            <a:avLst/>
          </a:prstGeom>
          <a:noFill/>
        </p:spPr>
        <p:txBody>
          <a:bodyPr wrap="square" lIns="0" rIns="0" tIns="0" bIns="0">
            <a:spAutoFit/>
          </a:bodyPr>
          <a:lstStyle/>
          <a:p>
            <a:pPr>
              <a:lnSpc>
                <a:spcPct val="112000"/>
              </a:lnSpc>
              <a:spcBef>
                <a:spcPts val="0"/>
              </a:spcBef>
              <a:spcAft>
                <a:spcPts val="500"/>
              </a:spcAft>
              <a:defRPr sz="1350" b="0">
                <a:solidFill>
                  <a:srgbClr val="F1F5F4"/>
                </a:solidFill>
                <a:latin typeface="DejaVu Sans"/>
              </a:defRPr>
            </a:pPr>
            <a:r>
              <a:t>WASD / flechas   Mover</a:t>
            </a:r>
          </a:p>
          <a:p>
            <a:pPr>
              <a:lnSpc>
                <a:spcPct val="112000"/>
              </a:lnSpc>
              <a:spcBef>
                <a:spcPts val="0"/>
              </a:spcBef>
              <a:spcAft>
                <a:spcPts val="500"/>
              </a:spcAft>
              <a:defRPr sz="1350" b="0">
                <a:solidFill>
                  <a:srgbClr val="F1F5F4"/>
                </a:solidFill>
                <a:latin typeface="DejaVu Sans"/>
              </a:defRPr>
            </a:pPr>
            <a:r>
              <a:t>E   Abrir la celda</a:t>
            </a:r>
          </a:p>
          <a:p>
            <a:pPr>
              <a:lnSpc>
                <a:spcPct val="112000"/>
              </a:lnSpc>
              <a:spcBef>
                <a:spcPts val="0"/>
              </a:spcBef>
              <a:spcAft>
                <a:spcPts val="500"/>
              </a:spcAft>
              <a:defRPr sz="1350" b="0">
                <a:solidFill>
                  <a:srgbClr val="F1F5F4"/>
                </a:solidFill>
                <a:latin typeface="DejaVu Sans"/>
              </a:defRPr>
            </a:pPr>
            <a:r>
              <a:t>Ctrl   Sigilo</a:t>
            </a:r>
          </a:p>
          <a:p>
            <a:pPr>
              <a:lnSpc>
                <a:spcPct val="112000"/>
              </a:lnSpc>
              <a:spcBef>
                <a:spcPts val="0"/>
              </a:spcBef>
              <a:spcAft>
                <a:spcPts val="500"/>
              </a:spcAft>
              <a:defRPr sz="1350" b="0">
                <a:solidFill>
                  <a:srgbClr val="F1F5F4"/>
                </a:solidFill>
                <a:latin typeface="DejaVu Sans"/>
              </a:defRPr>
            </a:pPr>
            <a:r>
              <a:t>Shift   Correr</a:t>
            </a:r>
          </a:p>
          <a:p>
            <a:pPr>
              <a:lnSpc>
                <a:spcPct val="112000"/>
              </a:lnSpc>
              <a:spcBef>
                <a:spcPts val="0"/>
              </a:spcBef>
              <a:spcAft>
                <a:spcPts val="500"/>
              </a:spcAft>
              <a:defRPr sz="1350" b="0">
                <a:solidFill>
                  <a:srgbClr val="F1F5F4"/>
                </a:solidFill>
                <a:latin typeface="DejaVu Sans"/>
              </a:defRPr>
            </a:pPr>
            <a:r>
              <a:t>P / Esc   Pausar</a:t>
            </a:r>
          </a:p>
          <a:p>
            <a:pPr>
              <a:lnSpc>
                <a:spcPct val="112000"/>
              </a:lnSpc>
              <a:spcBef>
                <a:spcPts val="0"/>
              </a:spcBef>
              <a:spcAft>
                <a:spcPts val="500"/>
              </a:spcAft>
              <a:defRPr sz="1350" b="0">
                <a:solidFill>
                  <a:srgbClr val="F1F5F4"/>
                </a:solidFill>
                <a:latin typeface="DejaVu Sans"/>
              </a:defRPr>
            </a:pPr>
            <a:r>
              <a:t>Espacio / IJKL   Disparar</a:t>
            </a:r>
          </a:p>
          <a:p>
            <a:pPr>
              <a:lnSpc>
                <a:spcPct val="112000"/>
              </a:lnSpc>
              <a:spcBef>
                <a:spcPts val="0"/>
              </a:spcBef>
              <a:spcAft>
                <a:spcPts val="500"/>
              </a:spcAft>
              <a:defRPr sz="1350" b="0">
                <a:solidFill>
                  <a:srgbClr val="F1F5F4"/>
                </a:solidFill>
                <a:latin typeface="DejaVu Sans"/>
              </a:defRPr>
            </a:pPr>
            <a:r>
              <a:t>Enter   Siguiente nivel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Fuga de la Prisión — Exposición del proyecto parcial</dc:title>
  <dc:subject>Programación Orientada a Objetos | Arquitectura, fundamentos y resultados</dc:subject>
  <dc:creator>Equipo Fuga de la Prisión</dc:creator>
  <cp:keywords>POO, Pygame, State, Observer, UML, exposición</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